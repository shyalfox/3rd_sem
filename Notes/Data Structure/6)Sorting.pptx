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17" r:id="rId3"/>
    <p:sldId id="318" r:id="rId4"/>
    <p:sldId id="319" r:id="rId5"/>
    <p:sldId id="320" r:id="rId6"/>
    <p:sldId id="321" r:id="rId7"/>
    <p:sldId id="331" r:id="rId8"/>
    <p:sldId id="257" r:id="rId9"/>
    <p:sldId id="293" r:id="rId10"/>
    <p:sldId id="295" r:id="rId11"/>
    <p:sldId id="297" r:id="rId12"/>
    <p:sldId id="299" r:id="rId13"/>
    <p:sldId id="301" r:id="rId14"/>
    <p:sldId id="303" r:id="rId15"/>
    <p:sldId id="305" r:id="rId16"/>
    <p:sldId id="307" r:id="rId17"/>
    <p:sldId id="309" r:id="rId18"/>
    <p:sldId id="310" r:id="rId19"/>
    <p:sldId id="324" r:id="rId20"/>
    <p:sldId id="291" r:id="rId21"/>
    <p:sldId id="332" r:id="rId22"/>
    <p:sldId id="333" r:id="rId23"/>
    <p:sldId id="334" r:id="rId24"/>
    <p:sldId id="335" r:id="rId25"/>
    <p:sldId id="325" r:id="rId26"/>
    <p:sldId id="327" r:id="rId27"/>
    <p:sldId id="328" r:id="rId28"/>
    <p:sldId id="329" r:id="rId29"/>
    <p:sldId id="330" r:id="rId30"/>
    <p:sldId id="258" r:id="rId31"/>
    <p:sldId id="259" r:id="rId32"/>
    <p:sldId id="260" r:id="rId33"/>
    <p:sldId id="261" r:id="rId34"/>
    <p:sldId id="322" r:id="rId35"/>
    <p:sldId id="262" r:id="rId36"/>
    <p:sldId id="263" r:id="rId37"/>
    <p:sldId id="264" r:id="rId38"/>
    <p:sldId id="312" r:id="rId39"/>
    <p:sldId id="313" r:id="rId40"/>
    <p:sldId id="314" r:id="rId41"/>
    <p:sldId id="315" r:id="rId42"/>
    <p:sldId id="316" r:id="rId43"/>
    <p:sldId id="265" r:id="rId44"/>
    <p:sldId id="266" r:id="rId45"/>
    <p:sldId id="267" r:id="rId46"/>
    <p:sldId id="268" r:id="rId47"/>
    <p:sldId id="269" r:id="rId48"/>
    <p:sldId id="270" r:id="rId49"/>
    <p:sldId id="271" r:id="rId50"/>
    <p:sldId id="272" r:id="rId51"/>
    <p:sldId id="273" r:id="rId52"/>
    <p:sldId id="274" r:id="rId53"/>
    <p:sldId id="275" r:id="rId54"/>
    <p:sldId id="276" r:id="rId55"/>
    <p:sldId id="277" r:id="rId56"/>
    <p:sldId id="278" r:id="rId57"/>
    <p:sldId id="279" r:id="rId58"/>
    <p:sldId id="280" r:id="rId59"/>
    <p:sldId id="282" r:id="rId60"/>
    <p:sldId id="283" r:id="rId61"/>
    <p:sldId id="336" r:id="rId62"/>
    <p:sldId id="284" r:id="rId63"/>
    <p:sldId id="285" r:id="rId64"/>
    <p:sldId id="286" r:id="rId65"/>
    <p:sldId id="287" r:id="rId66"/>
    <p:sldId id="288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6304"/>
            <a:ext cx="11753088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18979" y="381001"/>
            <a:ext cx="109728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844800" y="2819400"/>
            <a:ext cx="8746979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11518603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3504" y="3267456"/>
            <a:ext cx="98755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498230"/>
            <a:ext cx="103632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87713"/>
            <a:ext cx="103632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13670"/>
            <a:ext cx="4003040" cy="274320"/>
          </a:xfrm>
        </p:spPr>
        <p:txBody>
          <a:bodyPr vert="horz" rtlCol="0"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3" y="6513670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13670"/>
            <a:ext cx="5209952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21440" y="6514568"/>
            <a:ext cx="619051" cy="274320"/>
          </a:xfrm>
        </p:spPr>
        <p:txBody>
          <a:bodyPr/>
          <a:lstStyle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22325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6400800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948"/>
            <a:ext cx="109728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21440" y="6514568"/>
            <a:ext cx="619051" cy="274320"/>
          </a:xfrm>
        </p:spPr>
        <p:txBody>
          <a:bodyPr/>
          <a:lstStyle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218"/>
            <a:ext cx="109728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743403" y="105765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7515" y="304800"/>
            <a:ext cx="524256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617515" y="1107560"/>
            <a:ext cx="524256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4800" y="2209800"/>
            <a:ext cx="11555275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416800" y="6513670"/>
            <a:ext cx="4003040" cy="274320"/>
          </a:xfrm>
        </p:spPr>
        <p:txBody>
          <a:bodyPr vert="horz" rtlCol="0"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11518603" y="6513670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133600" y="6513670"/>
            <a:ext cx="5209952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24" y="4724400"/>
            <a:ext cx="73152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53924" y="5388937"/>
            <a:ext cx="73152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406400" y="249864"/>
            <a:ext cx="113792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3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>
            <a:extLst/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7085"/>
            <a:ext cx="11747795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sz="180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727200" y="6400800"/>
            <a:ext cx="5616352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416800" y="6400800"/>
            <a:ext cx="400304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E5C46BFF-4A41-4E8B-9236-7C6D616FDD93}" type="datetimeFigureOut">
              <a:rPr lang="en-US" smtClean="0"/>
              <a:t>2/20/2020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518603" y="6514568"/>
            <a:ext cx="619051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27F1ABC1-1CD7-4F88-A5CA-47734EC395B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46237"/>
            <a:ext cx="109728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Sorting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2971800"/>
            <a:ext cx="6560234" cy="1066800"/>
          </a:xfrm>
        </p:spPr>
        <p:txBody>
          <a:bodyPr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2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00B0F0"/>
                </a:solidFill>
              </a:rPr>
              <a:t>Sorting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Sorting refers to arranging data in a particular format. </a:t>
            </a:r>
            <a:endParaRPr lang="en-US" dirty="0" smtClean="0"/>
          </a:p>
          <a:p>
            <a:r>
              <a:rPr lang="en-US" dirty="0" smtClean="0"/>
              <a:t>Sorting </a:t>
            </a:r>
            <a:r>
              <a:rPr lang="en-US" dirty="0"/>
              <a:t>algorithm specifies the way to arrange data in a particular order. </a:t>
            </a:r>
            <a:endParaRPr lang="en-US" dirty="0" smtClean="0"/>
          </a:p>
          <a:p>
            <a:r>
              <a:rPr lang="en-US" dirty="0" smtClean="0"/>
              <a:t>Most </a:t>
            </a:r>
            <a:r>
              <a:rPr lang="en-US" dirty="0"/>
              <a:t>common orders are numerical or lexicographical order.</a:t>
            </a:r>
          </a:p>
          <a:p>
            <a:r>
              <a:rPr lang="en-US" dirty="0"/>
              <a:t>Importance of sorting lies in the fact that data searching can be optimized to a very high level if data is stored in a sorted manner. </a:t>
            </a:r>
            <a:endParaRPr lang="en-US" dirty="0" smtClean="0"/>
          </a:p>
          <a:p>
            <a:r>
              <a:rPr lang="en-US" dirty="0" smtClean="0"/>
              <a:t>Sorting </a:t>
            </a:r>
            <a:r>
              <a:rPr lang="en-US" dirty="0"/>
              <a:t>is also used to represent data in more readable formats.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of the examples of sorting in real life </a:t>
            </a:r>
          </a:p>
          <a:p>
            <a:pPr lvl="1"/>
            <a:r>
              <a:rPr lang="en-US" b="1" dirty="0"/>
              <a:t>Telephone </a:t>
            </a:r>
            <a:r>
              <a:rPr lang="en-US" b="1" dirty="0" smtClean="0"/>
              <a:t>Directory ,  Dictionary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00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F0"/>
                </a:solidFill>
              </a:rPr>
              <a:t>In-place sorting and </a:t>
            </a:r>
            <a:r>
              <a:rPr lang="en-US" dirty="0" smtClean="0">
                <a:solidFill>
                  <a:srgbClr val="00B0F0"/>
                </a:solidFill>
              </a:rPr>
              <a:t>Not-in-place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5029517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Sorting </a:t>
            </a:r>
            <a:r>
              <a:rPr lang="en-US" dirty="0"/>
              <a:t>algorithms may require some extra space for comparison and temporary storage of few data elements.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algorithms do not require any extra space and sorting is said to be happened in-place, or for example, within the array itself. This is called </a:t>
            </a:r>
            <a:r>
              <a:rPr lang="en-US" b="1" dirty="0"/>
              <a:t>in-place sorting</a:t>
            </a:r>
            <a:r>
              <a:rPr lang="en-US" dirty="0"/>
              <a:t>. Bubble sort is </a:t>
            </a:r>
            <a:r>
              <a:rPr lang="en-US" dirty="0" smtClean="0"/>
              <a:t>an example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in-place sorting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in some sorting algorithms, the program requires space which more than or equal to the elements being sorted. </a:t>
            </a:r>
            <a:endParaRPr lang="en-US" dirty="0" smtClean="0"/>
          </a:p>
          <a:p>
            <a:r>
              <a:rPr lang="en-US" dirty="0" smtClean="0"/>
              <a:t>Sorting </a:t>
            </a:r>
            <a:r>
              <a:rPr lang="en-US" dirty="0"/>
              <a:t>which uses equal or more space are called </a:t>
            </a:r>
            <a:r>
              <a:rPr lang="en-US" b="1" dirty="0"/>
              <a:t>not-in-place sorting</a:t>
            </a:r>
            <a:r>
              <a:rPr lang="en-US" dirty="0"/>
              <a:t>. Merge-sort is an example of </a:t>
            </a:r>
            <a:r>
              <a:rPr lang="en-US" dirty="0">
                <a:solidFill>
                  <a:srgbClr val="FF0000"/>
                </a:solidFill>
              </a:rPr>
              <a:t>not-in-place sorting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6608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00B0F0"/>
                </a:solidFill>
              </a:rPr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1"/>
            <a:ext cx="8229600" cy="5181917"/>
          </a:xfrm>
        </p:spPr>
        <p:txBody>
          <a:bodyPr/>
          <a:lstStyle/>
          <a:p>
            <a:r>
              <a:rPr lang="en-US" dirty="0"/>
              <a:t>Bubble sort is a simple sorting algorithm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This sorting algorithm is comparison based algorithm in which each pair of adjacent elements is compared and elements are swapped if they are not in order.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algorithm is not suitable for large data sets as its average and worst case complexity are of O(n</a:t>
            </a:r>
            <a:r>
              <a:rPr lang="en-US" baseline="30000" dirty="0"/>
              <a:t>2</a:t>
            </a:r>
            <a:r>
              <a:rPr lang="en-US" dirty="0"/>
              <a:t>) where n are no. of items.</a:t>
            </a:r>
          </a:p>
        </p:txBody>
      </p:sp>
    </p:spTree>
    <p:extLst>
      <p:ext uri="{BB962C8B-B14F-4D97-AF65-F5344CB8AC3E}">
        <p14:creationId xmlns:p14="http://schemas.microsoft.com/office/powerpoint/2010/main" val="35365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81326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00B0F0"/>
                </a:solidFill>
                <a:effectLst/>
              </a:rPr>
              <a:t>How bubble sort works</a:t>
            </a:r>
            <a:r>
              <a:rPr lang="en-US" dirty="0" smtClean="0">
                <a:solidFill>
                  <a:srgbClr val="00B0F0"/>
                </a:solidFill>
                <a:effectLst/>
              </a:rPr>
              <a:t>?</a:t>
            </a:r>
            <a:endParaRPr lang="en-US" dirty="0">
              <a:solidFill>
                <a:srgbClr val="00B0F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066800"/>
            <a:ext cx="5791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68910" y="1741608"/>
            <a:ext cx="8077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Bubble sort starts with very first two elements, comparing them to check which one is greater.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442" y="2459958"/>
            <a:ext cx="6434137" cy="578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133600" y="3102114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 this case, value 33 is greater than 14, so it is already in sorted locations. Next, we compare 33 with 27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861619"/>
            <a:ext cx="7086600" cy="86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2133600" y="4876801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We find that 27 is smaller than 33 and these two values must be swapped</a:t>
            </a:r>
          </a:p>
        </p:txBody>
      </p:sp>
    </p:spTree>
    <p:extLst>
      <p:ext uri="{BB962C8B-B14F-4D97-AF65-F5344CB8AC3E}">
        <p14:creationId xmlns:p14="http://schemas.microsoft.com/office/powerpoint/2010/main" val="358408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10972800" cy="563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400" dirty="0"/>
              <a:t>for(i = 0; i &lt;n; i++){</a:t>
            </a:r>
          </a:p>
          <a:p>
            <a:pPr marL="0" indent="0">
              <a:buNone/>
            </a:pPr>
            <a:r>
              <a:rPr lang="pt-BR" sz="4400" dirty="0"/>
              <a:t>   for(j = 0; j &lt;n-1; j++){</a:t>
            </a:r>
          </a:p>
          <a:p>
            <a:pPr marL="0" indent="0">
              <a:buNone/>
            </a:pPr>
            <a:r>
              <a:rPr lang="pt-BR" sz="4400" dirty="0"/>
              <a:t>        if (a[j] &gt; a[j+1]){</a:t>
            </a:r>
          </a:p>
          <a:p>
            <a:pPr marL="0" indent="0">
              <a:buNone/>
            </a:pPr>
            <a:r>
              <a:rPr lang="pt-BR" sz="4400" dirty="0"/>
              <a:t>         temp=a[j];</a:t>
            </a:r>
          </a:p>
          <a:p>
            <a:pPr marL="0" indent="0">
              <a:buNone/>
            </a:pPr>
            <a:r>
              <a:rPr lang="pt-BR" sz="4400" dirty="0"/>
              <a:t>         a[j]=a[j+1];</a:t>
            </a:r>
          </a:p>
          <a:p>
            <a:pPr marL="0" indent="0">
              <a:buNone/>
            </a:pPr>
            <a:r>
              <a:rPr lang="pt-BR" sz="4400" dirty="0"/>
              <a:t>         a[j+1]=temp;</a:t>
            </a:r>
          </a:p>
          <a:p>
            <a:pPr marL="0" indent="0">
              <a:buNone/>
            </a:pPr>
            <a:r>
              <a:rPr lang="pt-BR" sz="4400" dirty="0"/>
              <a:t>       }</a:t>
            </a:r>
          </a:p>
          <a:p>
            <a:pPr marL="0" indent="0">
              <a:buNone/>
            </a:pPr>
            <a:r>
              <a:rPr lang="pt-BR" sz="4400" dirty="0"/>
              <a:t>     }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9811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1125200" cy="5846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13264"/>
            <a:ext cx="10972800" cy="5359253"/>
          </a:xfrm>
        </p:spPr>
        <p:txBody>
          <a:bodyPr numCol="2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void main(){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, j, n, </a:t>
            </a:r>
            <a:r>
              <a:rPr lang="en-US" dirty="0" err="1"/>
              <a:t>temp,p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int</a:t>
            </a:r>
            <a:r>
              <a:rPr lang="en-US" dirty="0"/>
              <a:t> a[10];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("\n enter number n:");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scanf</a:t>
            </a:r>
            <a:r>
              <a:rPr lang="en-US" dirty="0"/>
              <a:t>("%d", &amp;n);</a:t>
            </a:r>
          </a:p>
          <a:p>
            <a:pPr marL="0" indent="0">
              <a:buNone/>
            </a:pPr>
            <a:r>
              <a:rPr lang="en-US" dirty="0"/>
              <a:t>  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("%d", &amp;a[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p=1;</a:t>
            </a:r>
          </a:p>
          <a:p>
            <a:pPr marL="0" indent="0">
              <a:buNone/>
            </a:pPr>
            <a:r>
              <a:rPr lang="en-US" dirty="0"/>
              <a:t>  for(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&lt;n;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marL="0" indent="0">
              <a:buNone/>
            </a:pPr>
            <a:r>
              <a:rPr lang="en-US" dirty="0"/>
              <a:t>   for(j = 0; j &lt;n-1; j++){</a:t>
            </a:r>
          </a:p>
          <a:p>
            <a:pPr marL="0" indent="0">
              <a:buNone/>
            </a:pPr>
            <a:r>
              <a:rPr lang="en-US" dirty="0"/>
              <a:t>        if (a[j] &gt; a[j+1]){</a:t>
            </a:r>
          </a:p>
          <a:p>
            <a:pPr marL="0" indent="0">
              <a:buNone/>
            </a:pPr>
            <a:r>
              <a:rPr lang="en-US" dirty="0"/>
              <a:t>         temp=a[j];</a:t>
            </a:r>
          </a:p>
          <a:p>
            <a:pPr marL="0" indent="0">
              <a:buNone/>
            </a:pPr>
            <a:r>
              <a:rPr lang="en-US" dirty="0"/>
              <a:t>         a[j]=a[j+1];</a:t>
            </a:r>
          </a:p>
          <a:p>
            <a:pPr marL="0" indent="0">
              <a:buNone/>
            </a:pPr>
            <a:r>
              <a:rPr lang="en-US" dirty="0"/>
              <a:t>         a[j+1]=temp;</a:t>
            </a:r>
          </a:p>
          <a:p>
            <a:pPr marL="0" indent="0">
              <a:buNone/>
            </a:pPr>
            <a:r>
              <a:rPr lang="en-US" dirty="0"/>
              <a:t>       }</a:t>
            </a:r>
          </a:p>
          <a:p>
            <a:pPr marL="0" indent="0">
              <a:buNone/>
            </a:pPr>
            <a:r>
              <a:rPr lang="en-US" dirty="0"/>
              <a:t>     }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printf</a:t>
            </a:r>
            <a:r>
              <a:rPr lang="en-US" dirty="0"/>
              <a:t>("\n sorted:%d", a[n-p]);</a:t>
            </a:r>
          </a:p>
          <a:p>
            <a:pPr marL="0" indent="0">
              <a:buNone/>
            </a:pPr>
            <a:r>
              <a:rPr lang="en-US" dirty="0"/>
              <a:t>     p++;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printf</a:t>
            </a:r>
            <a:r>
              <a:rPr lang="en-US" dirty="0"/>
              <a:t>("\n sorted items are:\n");</a:t>
            </a:r>
          </a:p>
          <a:p>
            <a:pPr marL="0" indent="0">
              <a:buNone/>
            </a:pPr>
            <a:r>
              <a:rPr lang="en-US" dirty="0"/>
              <a:t>  for(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&lt;n;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("%d\t", a[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05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53536"/>
            <a:ext cx="9448800" cy="6608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>
                <a:solidFill>
                  <a:srgbClr val="00B0F0"/>
                </a:solidFill>
              </a:rPr>
              <a:t>Insertion Sorting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90600"/>
            <a:ext cx="11125200" cy="5486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/>
              <a:t>Idea:</a:t>
            </a:r>
            <a:r>
              <a:rPr lang="en-US" sz="3400" dirty="0"/>
              <a:t> like sorting a hand of playing cards start with an empty left hand and the cards facing down on the table. </a:t>
            </a:r>
          </a:p>
          <a:p>
            <a:pPr marL="0" indent="0">
              <a:buNone/>
            </a:pPr>
            <a:r>
              <a:rPr lang="en-US" sz="3400" dirty="0"/>
              <a:t>Remove one card at a time from the table, and insert it into the correct position in the left hand. </a:t>
            </a:r>
          </a:p>
          <a:p>
            <a:pPr marL="0" indent="0">
              <a:buNone/>
            </a:pPr>
            <a:r>
              <a:rPr lang="en-US" sz="3400" dirty="0"/>
              <a:t>Compare it with each of the cards already in the hand, from right to left. </a:t>
            </a:r>
          </a:p>
          <a:p>
            <a:pPr marL="0" indent="0">
              <a:buNone/>
            </a:pPr>
            <a:r>
              <a:rPr lang="en-US" sz="3400" dirty="0"/>
              <a:t>The cards held in the left hand are sorted Suppose an array a[n] with n elements. The insertion sort works as follows:</a:t>
            </a:r>
          </a:p>
          <a:p>
            <a:pPr marL="0" indent="0">
              <a:buNone/>
            </a:pPr>
            <a:r>
              <a:rPr lang="en-US" sz="3400" b="1" dirty="0"/>
              <a:t>pass</a:t>
            </a:r>
            <a:r>
              <a:rPr lang="en-US" sz="3400" dirty="0"/>
              <a:t> </a:t>
            </a:r>
            <a:r>
              <a:rPr lang="en-US" sz="3400" b="1" dirty="0"/>
              <a:t>1:</a:t>
            </a:r>
            <a:r>
              <a:rPr lang="en-US" sz="3400" dirty="0"/>
              <a:t> a[0] by itself is trivially sorted.</a:t>
            </a:r>
          </a:p>
          <a:p>
            <a:pPr marL="0" indent="0">
              <a:buNone/>
            </a:pPr>
            <a:r>
              <a:rPr lang="en-US" sz="3400" b="1" dirty="0"/>
              <a:t>Pass</a:t>
            </a:r>
            <a:r>
              <a:rPr lang="en-US" sz="3400" dirty="0"/>
              <a:t> </a:t>
            </a:r>
            <a:r>
              <a:rPr lang="en-US" sz="3400" b="1" dirty="0"/>
              <a:t>2:</a:t>
            </a:r>
            <a:r>
              <a:rPr lang="en-US" sz="3400" dirty="0"/>
              <a:t> a[1] is inserted either before or after a[0] so that a[0], a[1] is sorted.</a:t>
            </a:r>
          </a:p>
          <a:p>
            <a:pPr marL="0" indent="0">
              <a:buNone/>
            </a:pPr>
            <a:r>
              <a:rPr lang="en-US" sz="3400" b="1" dirty="0"/>
              <a:t>Pass</a:t>
            </a:r>
            <a:r>
              <a:rPr lang="en-US" sz="3400" dirty="0"/>
              <a:t> </a:t>
            </a:r>
            <a:r>
              <a:rPr lang="en-US" sz="3400" b="1" dirty="0"/>
              <a:t>3:</a:t>
            </a:r>
            <a:r>
              <a:rPr lang="en-US" sz="3400" dirty="0"/>
              <a:t> a[2] is inserted into its proper place in a[0],a[1] that is before a[0], between a[0] and a[1], or after a[1] so that a[0],a[1],a[2] is sorted.</a:t>
            </a:r>
          </a:p>
          <a:p>
            <a:pPr marL="0" indent="0">
              <a:buNone/>
            </a:pPr>
            <a:r>
              <a:rPr lang="en-US" sz="3400" dirty="0"/>
              <a:t>….....................................................</a:t>
            </a:r>
          </a:p>
          <a:p>
            <a:pPr marL="0" indent="0">
              <a:buNone/>
            </a:pPr>
            <a:r>
              <a:rPr lang="en-US" sz="3400" b="1" dirty="0"/>
              <a:t>pass</a:t>
            </a:r>
            <a:r>
              <a:rPr lang="en-US" sz="3400" dirty="0"/>
              <a:t> </a:t>
            </a:r>
            <a:r>
              <a:rPr lang="en-US" sz="3400" b="1" dirty="0"/>
              <a:t>N:</a:t>
            </a:r>
            <a:r>
              <a:rPr lang="en-US" sz="3400" dirty="0"/>
              <a:t> a[n-1] is inserted into its proper place in a[0],a[1],a[2],........,a[n-2] so that</a:t>
            </a:r>
          </a:p>
          <a:p>
            <a:pPr marL="0" indent="0">
              <a:buNone/>
            </a:pPr>
            <a:r>
              <a:rPr lang="en-US" sz="3400" dirty="0"/>
              <a:t>a[0],a[1],a[2],............,a[n-1] is sorted with n elements.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9020426D-0C0B-476A-B181-BF440726CC75}" type="slidenum">
              <a:rPr lang="en-US"/>
              <a:pPr/>
              <a:t>9</a:t>
            </a:fld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sp>
        <p:nvSpPr>
          <p:cNvPr id="15382" name="Oval 22"/>
          <p:cNvSpPr>
            <a:spLocks noChangeArrowheads="1"/>
          </p:cNvSpPr>
          <p:nvPr/>
        </p:nvSpPr>
        <p:spPr bwMode="auto">
          <a:xfrm>
            <a:off x="4495800" y="1600200"/>
            <a:ext cx="533400" cy="5334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3657600" y="152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4644718" y="1629364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5486400" y="152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5379" name="Text Box 19"/>
          <p:cNvSpPr txBox="1">
            <a:spLocks noChangeArrowheads="1"/>
          </p:cNvSpPr>
          <p:nvPr/>
        </p:nvSpPr>
        <p:spPr bwMode="auto">
          <a:xfrm>
            <a:off x="6400800" y="152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15380" name="Text Box 20"/>
          <p:cNvSpPr txBox="1">
            <a:spLocks noChangeArrowheads="1"/>
          </p:cNvSpPr>
          <p:nvPr/>
        </p:nvSpPr>
        <p:spPr bwMode="auto">
          <a:xfrm>
            <a:off x="7315200" y="152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5381" name="Text Box 21"/>
          <p:cNvSpPr txBox="1">
            <a:spLocks noChangeArrowheads="1"/>
          </p:cNvSpPr>
          <p:nvPr/>
        </p:nvSpPr>
        <p:spPr bwMode="auto">
          <a:xfrm>
            <a:off x="8229600" y="152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7087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D6A0A6E1-97EA-4270-A360-46F97A4B5CDE}" type="slidenum">
              <a:rPr lang="en-US"/>
              <a:pPr/>
              <a:t>10</a:t>
            </a:fld>
            <a:endParaRPr lang="en-US"/>
          </a:p>
        </p:txBody>
      </p:sp>
      <p:sp>
        <p:nvSpPr>
          <p:cNvPr id="3891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grpSp>
        <p:nvGrpSpPr>
          <p:cNvPr id="38915" name="Group 2051"/>
          <p:cNvGrpSpPr>
            <a:grpSpLocks/>
          </p:cNvGrpSpPr>
          <p:nvPr/>
        </p:nvGrpSpPr>
        <p:grpSpPr bwMode="auto">
          <a:xfrm>
            <a:off x="3422651" y="1755776"/>
            <a:ext cx="5667915" cy="987425"/>
            <a:chOff x="1056" y="1152"/>
            <a:chExt cx="3148" cy="478"/>
          </a:xfrm>
        </p:grpSpPr>
        <p:sp>
          <p:nvSpPr>
            <p:cNvPr id="38916" name="Oval 2052"/>
            <p:cNvSpPr>
              <a:spLocks noChangeArrowheads="1"/>
            </p:cNvSpPr>
            <p:nvPr/>
          </p:nvSpPr>
          <p:spPr bwMode="auto">
            <a:xfrm>
              <a:off x="1680" y="120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17" name="Text Box 2053"/>
            <p:cNvSpPr txBox="1">
              <a:spLocks noChangeArrowheads="1"/>
            </p:cNvSpPr>
            <p:nvPr/>
          </p:nvSpPr>
          <p:spPr bwMode="auto">
            <a:xfrm>
              <a:off x="1152" y="1152"/>
              <a:ext cx="1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8</a:t>
              </a:r>
            </a:p>
          </p:txBody>
        </p:sp>
        <p:sp>
          <p:nvSpPr>
            <p:cNvPr id="38918" name="Text Box 2054"/>
            <p:cNvSpPr txBox="1">
              <a:spLocks noChangeArrowheads="1"/>
            </p:cNvSpPr>
            <p:nvPr/>
          </p:nvSpPr>
          <p:spPr bwMode="auto">
            <a:xfrm>
              <a:off x="1762" y="1244"/>
              <a:ext cx="1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38919" name="Text Box 2055"/>
            <p:cNvSpPr txBox="1">
              <a:spLocks noChangeArrowheads="1"/>
            </p:cNvSpPr>
            <p:nvPr/>
          </p:nvSpPr>
          <p:spPr bwMode="auto">
            <a:xfrm>
              <a:off x="2304" y="1152"/>
              <a:ext cx="1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4</a:t>
              </a:r>
            </a:p>
          </p:txBody>
        </p:sp>
        <p:sp>
          <p:nvSpPr>
            <p:cNvPr id="38920" name="Text Box 2056"/>
            <p:cNvSpPr txBox="1">
              <a:spLocks noChangeArrowheads="1"/>
            </p:cNvSpPr>
            <p:nvPr/>
          </p:nvSpPr>
          <p:spPr bwMode="auto">
            <a:xfrm>
              <a:off x="2880" y="1152"/>
              <a:ext cx="1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9</a:t>
              </a:r>
            </a:p>
          </p:txBody>
        </p:sp>
        <p:sp>
          <p:nvSpPr>
            <p:cNvPr id="38921" name="Text Box 2057"/>
            <p:cNvSpPr txBox="1">
              <a:spLocks noChangeArrowheads="1"/>
            </p:cNvSpPr>
            <p:nvPr/>
          </p:nvSpPr>
          <p:spPr bwMode="auto">
            <a:xfrm>
              <a:off x="3456" y="1152"/>
              <a:ext cx="1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38922" name="Text Box 2058"/>
            <p:cNvSpPr txBox="1">
              <a:spLocks noChangeArrowheads="1"/>
            </p:cNvSpPr>
            <p:nvPr/>
          </p:nvSpPr>
          <p:spPr bwMode="auto">
            <a:xfrm>
              <a:off x="4032" y="1152"/>
              <a:ext cx="17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</a:p>
          </p:txBody>
        </p:sp>
        <p:sp>
          <p:nvSpPr>
            <p:cNvPr id="38923" name="Arc 2059"/>
            <p:cNvSpPr>
              <a:spLocks/>
            </p:cNvSpPr>
            <p:nvPr/>
          </p:nvSpPr>
          <p:spPr bwMode="auto">
            <a:xfrm rot="-10800000">
              <a:off x="1056" y="144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265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4F40C6ED-3593-4A2E-A36C-9B1AA1A2526C}" type="slidenum">
              <a:rPr lang="en-US"/>
              <a:pPr/>
              <a:t>11</a:t>
            </a:fld>
            <a:endParaRPr lang="en-US"/>
          </a:p>
        </p:txBody>
      </p:sp>
      <p:sp>
        <p:nvSpPr>
          <p:cNvPr id="378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grpSp>
        <p:nvGrpSpPr>
          <p:cNvPr id="37891" name="Group 1027"/>
          <p:cNvGrpSpPr>
            <a:grpSpLocks/>
          </p:cNvGrpSpPr>
          <p:nvPr/>
        </p:nvGrpSpPr>
        <p:grpSpPr bwMode="auto">
          <a:xfrm>
            <a:off x="3505201" y="1524001"/>
            <a:ext cx="5033963" cy="758825"/>
            <a:chOff x="1056" y="1152"/>
            <a:chExt cx="3171" cy="478"/>
          </a:xfrm>
        </p:grpSpPr>
        <p:sp>
          <p:nvSpPr>
            <p:cNvPr id="37892" name="Oval 1028"/>
            <p:cNvSpPr>
              <a:spLocks noChangeArrowheads="1"/>
            </p:cNvSpPr>
            <p:nvPr/>
          </p:nvSpPr>
          <p:spPr bwMode="auto">
            <a:xfrm>
              <a:off x="1680" y="120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893" name="Text Box 1029"/>
            <p:cNvSpPr txBox="1">
              <a:spLocks noChangeArrowheads="1"/>
            </p:cNvSpPr>
            <p:nvPr/>
          </p:nvSpPr>
          <p:spPr bwMode="auto">
            <a:xfrm>
              <a:off x="115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8</a:t>
              </a:r>
            </a:p>
          </p:txBody>
        </p:sp>
        <p:sp>
          <p:nvSpPr>
            <p:cNvPr id="37894" name="Text Box 1030"/>
            <p:cNvSpPr txBox="1">
              <a:spLocks noChangeArrowheads="1"/>
            </p:cNvSpPr>
            <p:nvPr/>
          </p:nvSpPr>
          <p:spPr bwMode="auto">
            <a:xfrm>
              <a:off x="1728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2</a:t>
              </a:r>
            </a:p>
          </p:txBody>
        </p:sp>
        <p:sp>
          <p:nvSpPr>
            <p:cNvPr id="37895" name="Text Box 1031"/>
            <p:cNvSpPr txBox="1">
              <a:spLocks noChangeArrowheads="1"/>
            </p:cNvSpPr>
            <p:nvPr/>
          </p:nvSpPr>
          <p:spPr bwMode="auto">
            <a:xfrm>
              <a:off x="2304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4</a:t>
              </a:r>
            </a:p>
          </p:txBody>
        </p:sp>
        <p:sp>
          <p:nvSpPr>
            <p:cNvPr id="37896" name="Text Box 1032"/>
            <p:cNvSpPr txBox="1">
              <a:spLocks noChangeArrowheads="1"/>
            </p:cNvSpPr>
            <p:nvPr/>
          </p:nvSpPr>
          <p:spPr bwMode="auto">
            <a:xfrm>
              <a:off x="2880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9</a:t>
              </a:r>
            </a:p>
          </p:txBody>
        </p:sp>
        <p:sp>
          <p:nvSpPr>
            <p:cNvPr id="37897" name="Text Box 1033"/>
            <p:cNvSpPr txBox="1">
              <a:spLocks noChangeArrowheads="1"/>
            </p:cNvSpPr>
            <p:nvPr/>
          </p:nvSpPr>
          <p:spPr bwMode="auto">
            <a:xfrm>
              <a:off x="3456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37898" name="Text Box 1034"/>
            <p:cNvSpPr txBox="1">
              <a:spLocks noChangeArrowheads="1"/>
            </p:cNvSpPr>
            <p:nvPr/>
          </p:nvSpPr>
          <p:spPr bwMode="auto">
            <a:xfrm>
              <a:off x="403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</a:t>
              </a:r>
            </a:p>
          </p:txBody>
        </p:sp>
        <p:sp>
          <p:nvSpPr>
            <p:cNvPr id="37899" name="Arc 1035"/>
            <p:cNvSpPr>
              <a:spLocks/>
            </p:cNvSpPr>
            <p:nvPr/>
          </p:nvSpPr>
          <p:spPr bwMode="auto">
            <a:xfrm rot="-10800000">
              <a:off x="1056" y="144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901" name="Oval 1037"/>
          <p:cNvSpPr>
            <a:spLocks noChangeArrowheads="1"/>
          </p:cNvSpPr>
          <p:nvPr/>
        </p:nvSpPr>
        <p:spPr bwMode="auto">
          <a:xfrm>
            <a:off x="5410200" y="2362200"/>
            <a:ext cx="533400" cy="5334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Text Box 1038"/>
          <p:cNvSpPr txBox="1">
            <a:spLocks noChangeArrowheads="1"/>
          </p:cNvSpPr>
          <p:nvPr/>
        </p:nvSpPr>
        <p:spPr bwMode="auto">
          <a:xfrm>
            <a:off x="3657600" y="2286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37903" name="Text Box 1039"/>
          <p:cNvSpPr txBox="1">
            <a:spLocks noChangeArrowheads="1"/>
          </p:cNvSpPr>
          <p:nvPr/>
        </p:nvSpPr>
        <p:spPr bwMode="auto">
          <a:xfrm>
            <a:off x="4572000" y="2286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8</a:t>
            </a:r>
          </a:p>
        </p:txBody>
      </p:sp>
      <p:sp>
        <p:nvSpPr>
          <p:cNvPr id="37904" name="Text Box 1040"/>
          <p:cNvSpPr txBox="1">
            <a:spLocks noChangeArrowheads="1"/>
          </p:cNvSpPr>
          <p:nvPr/>
        </p:nvSpPr>
        <p:spPr bwMode="auto">
          <a:xfrm>
            <a:off x="5486400" y="2286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9999"/>
                </a:solidFill>
              </a:rPr>
              <a:t>4</a:t>
            </a:r>
          </a:p>
        </p:txBody>
      </p:sp>
      <p:sp>
        <p:nvSpPr>
          <p:cNvPr id="37905" name="Text Box 1041"/>
          <p:cNvSpPr txBox="1">
            <a:spLocks noChangeArrowheads="1"/>
          </p:cNvSpPr>
          <p:nvPr/>
        </p:nvSpPr>
        <p:spPr bwMode="auto">
          <a:xfrm>
            <a:off x="6400800" y="2286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9</a:t>
            </a:r>
          </a:p>
        </p:txBody>
      </p:sp>
      <p:sp>
        <p:nvSpPr>
          <p:cNvPr id="37906" name="Text Box 1042"/>
          <p:cNvSpPr txBox="1">
            <a:spLocks noChangeArrowheads="1"/>
          </p:cNvSpPr>
          <p:nvPr/>
        </p:nvSpPr>
        <p:spPr bwMode="auto">
          <a:xfrm>
            <a:off x="7315200" y="2286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3</a:t>
            </a:r>
          </a:p>
        </p:txBody>
      </p:sp>
      <p:sp>
        <p:nvSpPr>
          <p:cNvPr id="37907" name="Text Box 1043"/>
          <p:cNvSpPr txBox="1">
            <a:spLocks noChangeArrowheads="1"/>
          </p:cNvSpPr>
          <p:nvPr/>
        </p:nvSpPr>
        <p:spPr bwMode="auto">
          <a:xfrm>
            <a:off x="8229600" y="2286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5239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E3E581F4-832E-4ED2-AAC5-1C46A464AA5B}" type="slidenum">
              <a:rPr lang="en-US"/>
              <a:pPr/>
              <a:t>12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grpSp>
        <p:nvGrpSpPr>
          <p:cNvPr id="40963" name="Group 3"/>
          <p:cNvGrpSpPr>
            <a:grpSpLocks/>
          </p:cNvGrpSpPr>
          <p:nvPr/>
        </p:nvGrpSpPr>
        <p:grpSpPr bwMode="auto">
          <a:xfrm>
            <a:off x="3505201" y="1524001"/>
            <a:ext cx="5033963" cy="758825"/>
            <a:chOff x="1056" y="1152"/>
            <a:chExt cx="3171" cy="478"/>
          </a:xfrm>
        </p:grpSpPr>
        <p:sp>
          <p:nvSpPr>
            <p:cNvPr id="40964" name="Oval 4"/>
            <p:cNvSpPr>
              <a:spLocks noChangeArrowheads="1"/>
            </p:cNvSpPr>
            <p:nvPr/>
          </p:nvSpPr>
          <p:spPr bwMode="auto">
            <a:xfrm>
              <a:off x="1680" y="120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65" name="Text Box 5"/>
            <p:cNvSpPr txBox="1">
              <a:spLocks noChangeArrowheads="1"/>
            </p:cNvSpPr>
            <p:nvPr/>
          </p:nvSpPr>
          <p:spPr bwMode="auto">
            <a:xfrm>
              <a:off x="115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0966" name="Text Box 6"/>
            <p:cNvSpPr txBox="1">
              <a:spLocks noChangeArrowheads="1"/>
            </p:cNvSpPr>
            <p:nvPr/>
          </p:nvSpPr>
          <p:spPr bwMode="auto">
            <a:xfrm>
              <a:off x="1728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0967" name="Text Box 7"/>
            <p:cNvSpPr txBox="1">
              <a:spLocks noChangeArrowheads="1"/>
            </p:cNvSpPr>
            <p:nvPr/>
          </p:nvSpPr>
          <p:spPr bwMode="auto">
            <a:xfrm>
              <a:off x="2304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0968" name="Text Box 8"/>
            <p:cNvSpPr txBox="1">
              <a:spLocks noChangeArrowheads="1"/>
            </p:cNvSpPr>
            <p:nvPr/>
          </p:nvSpPr>
          <p:spPr bwMode="auto">
            <a:xfrm>
              <a:off x="2880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0969" name="Text Box 9"/>
            <p:cNvSpPr txBox="1">
              <a:spLocks noChangeArrowheads="1"/>
            </p:cNvSpPr>
            <p:nvPr/>
          </p:nvSpPr>
          <p:spPr bwMode="auto">
            <a:xfrm>
              <a:off x="3456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0970" name="Text Box 10"/>
            <p:cNvSpPr txBox="1">
              <a:spLocks noChangeArrowheads="1"/>
            </p:cNvSpPr>
            <p:nvPr/>
          </p:nvSpPr>
          <p:spPr bwMode="auto">
            <a:xfrm>
              <a:off x="403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0971" name="Arc 11"/>
            <p:cNvSpPr>
              <a:spLocks/>
            </p:cNvSpPr>
            <p:nvPr/>
          </p:nvSpPr>
          <p:spPr bwMode="auto">
            <a:xfrm rot="-10800000">
              <a:off x="1056" y="144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0972" name="Group 12"/>
          <p:cNvGrpSpPr>
            <a:grpSpLocks/>
          </p:cNvGrpSpPr>
          <p:nvPr/>
        </p:nvGrpSpPr>
        <p:grpSpPr bwMode="auto">
          <a:xfrm>
            <a:off x="3657601" y="2286001"/>
            <a:ext cx="4881563" cy="758825"/>
            <a:chOff x="1152" y="1632"/>
            <a:chExt cx="3075" cy="478"/>
          </a:xfrm>
        </p:grpSpPr>
        <p:sp>
          <p:nvSpPr>
            <p:cNvPr id="40973" name="Oval 13"/>
            <p:cNvSpPr>
              <a:spLocks noChangeArrowheads="1"/>
            </p:cNvSpPr>
            <p:nvPr/>
          </p:nvSpPr>
          <p:spPr bwMode="auto">
            <a:xfrm>
              <a:off x="2256" y="168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974" name="Text Box 14"/>
            <p:cNvSpPr txBox="1">
              <a:spLocks noChangeArrowheads="1"/>
            </p:cNvSpPr>
            <p:nvPr/>
          </p:nvSpPr>
          <p:spPr bwMode="auto">
            <a:xfrm>
              <a:off x="115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0975" name="Text Box 15"/>
            <p:cNvSpPr txBox="1">
              <a:spLocks noChangeArrowheads="1"/>
            </p:cNvSpPr>
            <p:nvPr/>
          </p:nvSpPr>
          <p:spPr bwMode="auto">
            <a:xfrm>
              <a:off x="1728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0976" name="Text Box 16"/>
            <p:cNvSpPr txBox="1">
              <a:spLocks noChangeArrowheads="1"/>
            </p:cNvSpPr>
            <p:nvPr/>
          </p:nvSpPr>
          <p:spPr bwMode="auto">
            <a:xfrm>
              <a:off x="2304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0977" name="Text Box 17"/>
            <p:cNvSpPr txBox="1">
              <a:spLocks noChangeArrowheads="1"/>
            </p:cNvSpPr>
            <p:nvPr/>
          </p:nvSpPr>
          <p:spPr bwMode="auto">
            <a:xfrm>
              <a:off x="2880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0978" name="Text Box 18"/>
            <p:cNvSpPr txBox="1">
              <a:spLocks noChangeArrowheads="1"/>
            </p:cNvSpPr>
            <p:nvPr/>
          </p:nvSpPr>
          <p:spPr bwMode="auto">
            <a:xfrm>
              <a:off x="3456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0979" name="Text Box 19"/>
            <p:cNvSpPr txBox="1">
              <a:spLocks noChangeArrowheads="1"/>
            </p:cNvSpPr>
            <p:nvPr/>
          </p:nvSpPr>
          <p:spPr bwMode="auto">
            <a:xfrm>
              <a:off x="403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0980" name="Arc 20"/>
            <p:cNvSpPr>
              <a:spLocks/>
            </p:cNvSpPr>
            <p:nvPr/>
          </p:nvSpPr>
          <p:spPr bwMode="auto">
            <a:xfrm rot="-10800000">
              <a:off x="1632" y="192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001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12CFF04A-6497-48E9-B611-144FC41ED590}" type="slidenum">
              <a:rPr lang="en-US"/>
              <a:pPr/>
              <a:t>13</a:t>
            </a:fld>
            <a:endParaRPr lang="en-US"/>
          </a:p>
        </p:txBody>
      </p:sp>
      <p:sp>
        <p:nvSpPr>
          <p:cNvPr id="399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grpSp>
        <p:nvGrpSpPr>
          <p:cNvPr id="39939" name="Group 1027"/>
          <p:cNvGrpSpPr>
            <a:grpSpLocks/>
          </p:cNvGrpSpPr>
          <p:nvPr/>
        </p:nvGrpSpPr>
        <p:grpSpPr bwMode="auto">
          <a:xfrm>
            <a:off x="3505201" y="1524001"/>
            <a:ext cx="5033963" cy="758825"/>
            <a:chOff x="1056" y="1152"/>
            <a:chExt cx="3171" cy="478"/>
          </a:xfrm>
        </p:grpSpPr>
        <p:sp>
          <p:nvSpPr>
            <p:cNvPr id="39940" name="Oval 1028"/>
            <p:cNvSpPr>
              <a:spLocks noChangeArrowheads="1"/>
            </p:cNvSpPr>
            <p:nvPr/>
          </p:nvSpPr>
          <p:spPr bwMode="auto">
            <a:xfrm>
              <a:off x="1680" y="120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1" name="Text Box 1029"/>
            <p:cNvSpPr txBox="1">
              <a:spLocks noChangeArrowheads="1"/>
            </p:cNvSpPr>
            <p:nvPr/>
          </p:nvSpPr>
          <p:spPr bwMode="auto">
            <a:xfrm>
              <a:off x="115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39942" name="Text Box 1030"/>
            <p:cNvSpPr txBox="1">
              <a:spLocks noChangeArrowheads="1"/>
            </p:cNvSpPr>
            <p:nvPr/>
          </p:nvSpPr>
          <p:spPr bwMode="auto">
            <a:xfrm>
              <a:off x="1728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39943" name="Text Box 1031"/>
            <p:cNvSpPr txBox="1">
              <a:spLocks noChangeArrowheads="1"/>
            </p:cNvSpPr>
            <p:nvPr/>
          </p:nvSpPr>
          <p:spPr bwMode="auto">
            <a:xfrm>
              <a:off x="2304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39944" name="Text Box 1032"/>
            <p:cNvSpPr txBox="1">
              <a:spLocks noChangeArrowheads="1"/>
            </p:cNvSpPr>
            <p:nvPr/>
          </p:nvSpPr>
          <p:spPr bwMode="auto">
            <a:xfrm>
              <a:off x="2880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39945" name="Text Box 1033"/>
            <p:cNvSpPr txBox="1">
              <a:spLocks noChangeArrowheads="1"/>
            </p:cNvSpPr>
            <p:nvPr/>
          </p:nvSpPr>
          <p:spPr bwMode="auto">
            <a:xfrm>
              <a:off x="3456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39946" name="Text Box 1034"/>
            <p:cNvSpPr txBox="1">
              <a:spLocks noChangeArrowheads="1"/>
            </p:cNvSpPr>
            <p:nvPr/>
          </p:nvSpPr>
          <p:spPr bwMode="auto">
            <a:xfrm>
              <a:off x="403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39947" name="Arc 1035"/>
            <p:cNvSpPr>
              <a:spLocks/>
            </p:cNvSpPr>
            <p:nvPr/>
          </p:nvSpPr>
          <p:spPr bwMode="auto">
            <a:xfrm rot="-10800000">
              <a:off x="1056" y="144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948" name="Group 1036"/>
          <p:cNvGrpSpPr>
            <a:grpSpLocks/>
          </p:cNvGrpSpPr>
          <p:nvPr/>
        </p:nvGrpSpPr>
        <p:grpSpPr bwMode="auto">
          <a:xfrm>
            <a:off x="3657601" y="2286001"/>
            <a:ext cx="4881563" cy="758825"/>
            <a:chOff x="1152" y="1632"/>
            <a:chExt cx="3075" cy="478"/>
          </a:xfrm>
        </p:grpSpPr>
        <p:sp>
          <p:nvSpPr>
            <p:cNvPr id="39949" name="Oval 1037"/>
            <p:cNvSpPr>
              <a:spLocks noChangeArrowheads="1"/>
            </p:cNvSpPr>
            <p:nvPr/>
          </p:nvSpPr>
          <p:spPr bwMode="auto">
            <a:xfrm>
              <a:off x="2256" y="168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0" name="Text Box 1038"/>
            <p:cNvSpPr txBox="1">
              <a:spLocks noChangeArrowheads="1"/>
            </p:cNvSpPr>
            <p:nvPr/>
          </p:nvSpPr>
          <p:spPr bwMode="auto">
            <a:xfrm>
              <a:off x="115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39951" name="Text Box 1039"/>
            <p:cNvSpPr txBox="1">
              <a:spLocks noChangeArrowheads="1"/>
            </p:cNvSpPr>
            <p:nvPr/>
          </p:nvSpPr>
          <p:spPr bwMode="auto">
            <a:xfrm>
              <a:off x="1728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39952" name="Text Box 1040"/>
            <p:cNvSpPr txBox="1">
              <a:spLocks noChangeArrowheads="1"/>
            </p:cNvSpPr>
            <p:nvPr/>
          </p:nvSpPr>
          <p:spPr bwMode="auto">
            <a:xfrm>
              <a:off x="2304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39953" name="Text Box 1041"/>
            <p:cNvSpPr txBox="1">
              <a:spLocks noChangeArrowheads="1"/>
            </p:cNvSpPr>
            <p:nvPr/>
          </p:nvSpPr>
          <p:spPr bwMode="auto">
            <a:xfrm>
              <a:off x="2880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39954" name="Text Box 1042"/>
            <p:cNvSpPr txBox="1">
              <a:spLocks noChangeArrowheads="1"/>
            </p:cNvSpPr>
            <p:nvPr/>
          </p:nvSpPr>
          <p:spPr bwMode="auto">
            <a:xfrm>
              <a:off x="3456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39955" name="Text Box 1043"/>
            <p:cNvSpPr txBox="1">
              <a:spLocks noChangeArrowheads="1"/>
            </p:cNvSpPr>
            <p:nvPr/>
          </p:nvSpPr>
          <p:spPr bwMode="auto">
            <a:xfrm>
              <a:off x="403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39956" name="Arc 1044"/>
            <p:cNvSpPr>
              <a:spLocks/>
            </p:cNvSpPr>
            <p:nvPr/>
          </p:nvSpPr>
          <p:spPr bwMode="auto">
            <a:xfrm rot="-10800000">
              <a:off x="1632" y="192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58" name="Oval 1046"/>
          <p:cNvSpPr>
            <a:spLocks noChangeArrowheads="1"/>
          </p:cNvSpPr>
          <p:nvPr/>
        </p:nvSpPr>
        <p:spPr bwMode="auto">
          <a:xfrm>
            <a:off x="6324600" y="3124200"/>
            <a:ext cx="533400" cy="5334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9" name="Text Box 1047"/>
          <p:cNvSpPr txBox="1">
            <a:spLocks noChangeArrowheads="1"/>
          </p:cNvSpPr>
          <p:nvPr/>
        </p:nvSpPr>
        <p:spPr bwMode="auto">
          <a:xfrm>
            <a:off x="3657600" y="3048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39960" name="Text Box 1048"/>
          <p:cNvSpPr txBox="1">
            <a:spLocks noChangeArrowheads="1"/>
          </p:cNvSpPr>
          <p:nvPr/>
        </p:nvSpPr>
        <p:spPr bwMode="auto">
          <a:xfrm>
            <a:off x="4572000" y="3048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4</a:t>
            </a:r>
          </a:p>
        </p:txBody>
      </p:sp>
      <p:sp>
        <p:nvSpPr>
          <p:cNvPr id="39961" name="Text Box 1049"/>
          <p:cNvSpPr txBox="1">
            <a:spLocks noChangeArrowheads="1"/>
          </p:cNvSpPr>
          <p:nvPr/>
        </p:nvSpPr>
        <p:spPr bwMode="auto">
          <a:xfrm>
            <a:off x="5486400" y="3048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8</a:t>
            </a:r>
          </a:p>
        </p:txBody>
      </p:sp>
      <p:sp>
        <p:nvSpPr>
          <p:cNvPr id="39962" name="Text Box 1050"/>
          <p:cNvSpPr txBox="1">
            <a:spLocks noChangeArrowheads="1"/>
          </p:cNvSpPr>
          <p:nvPr/>
        </p:nvSpPr>
        <p:spPr bwMode="auto">
          <a:xfrm>
            <a:off x="6400800" y="3048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9</a:t>
            </a:r>
          </a:p>
        </p:txBody>
      </p:sp>
      <p:sp>
        <p:nvSpPr>
          <p:cNvPr id="39963" name="Text Box 1051"/>
          <p:cNvSpPr txBox="1">
            <a:spLocks noChangeArrowheads="1"/>
          </p:cNvSpPr>
          <p:nvPr/>
        </p:nvSpPr>
        <p:spPr bwMode="auto">
          <a:xfrm>
            <a:off x="7315200" y="3048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3</a:t>
            </a:r>
          </a:p>
        </p:txBody>
      </p:sp>
      <p:sp>
        <p:nvSpPr>
          <p:cNvPr id="39964" name="Text Box 1052"/>
          <p:cNvSpPr txBox="1">
            <a:spLocks noChangeArrowheads="1"/>
          </p:cNvSpPr>
          <p:nvPr/>
        </p:nvSpPr>
        <p:spPr bwMode="auto">
          <a:xfrm>
            <a:off x="8229600" y="3048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3160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A5DF14F8-5F4B-487C-94B7-36758CDB1AC4}" type="slidenum">
              <a:rPr lang="en-US"/>
              <a:pPr/>
              <a:t>14</a:t>
            </a:fld>
            <a:endParaRPr lang="en-US"/>
          </a:p>
        </p:txBody>
      </p:sp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grpSp>
        <p:nvGrpSpPr>
          <p:cNvPr id="43011" name="Group 1027"/>
          <p:cNvGrpSpPr>
            <a:grpSpLocks/>
          </p:cNvGrpSpPr>
          <p:nvPr/>
        </p:nvGrpSpPr>
        <p:grpSpPr bwMode="auto">
          <a:xfrm>
            <a:off x="3505201" y="1524001"/>
            <a:ext cx="5033963" cy="758825"/>
            <a:chOff x="1056" y="1152"/>
            <a:chExt cx="3171" cy="478"/>
          </a:xfrm>
        </p:grpSpPr>
        <p:sp>
          <p:nvSpPr>
            <p:cNvPr id="43012" name="Oval 1028"/>
            <p:cNvSpPr>
              <a:spLocks noChangeArrowheads="1"/>
            </p:cNvSpPr>
            <p:nvPr/>
          </p:nvSpPr>
          <p:spPr bwMode="auto">
            <a:xfrm>
              <a:off x="1680" y="120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3" name="Text Box 1029"/>
            <p:cNvSpPr txBox="1">
              <a:spLocks noChangeArrowheads="1"/>
            </p:cNvSpPr>
            <p:nvPr/>
          </p:nvSpPr>
          <p:spPr bwMode="auto">
            <a:xfrm>
              <a:off x="115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3014" name="Text Box 1030"/>
            <p:cNvSpPr txBox="1">
              <a:spLocks noChangeArrowheads="1"/>
            </p:cNvSpPr>
            <p:nvPr/>
          </p:nvSpPr>
          <p:spPr bwMode="auto">
            <a:xfrm>
              <a:off x="1728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3015" name="Text Box 1031"/>
            <p:cNvSpPr txBox="1">
              <a:spLocks noChangeArrowheads="1"/>
            </p:cNvSpPr>
            <p:nvPr/>
          </p:nvSpPr>
          <p:spPr bwMode="auto">
            <a:xfrm>
              <a:off x="2304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3016" name="Text Box 1032"/>
            <p:cNvSpPr txBox="1">
              <a:spLocks noChangeArrowheads="1"/>
            </p:cNvSpPr>
            <p:nvPr/>
          </p:nvSpPr>
          <p:spPr bwMode="auto">
            <a:xfrm>
              <a:off x="2880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3017" name="Text Box 1033"/>
            <p:cNvSpPr txBox="1">
              <a:spLocks noChangeArrowheads="1"/>
            </p:cNvSpPr>
            <p:nvPr/>
          </p:nvSpPr>
          <p:spPr bwMode="auto">
            <a:xfrm>
              <a:off x="3456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3018" name="Text Box 1034"/>
            <p:cNvSpPr txBox="1">
              <a:spLocks noChangeArrowheads="1"/>
            </p:cNvSpPr>
            <p:nvPr/>
          </p:nvSpPr>
          <p:spPr bwMode="auto">
            <a:xfrm>
              <a:off x="403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3019" name="Arc 1035"/>
            <p:cNvSpPr>
              <a:spLocks/>
            </p:cNvSpPr>
            <p:nvPr/>
          </p:nvSpPr>
          <p:spPr bwMode="auto">
            <a:xfrm rot="-10800000">
              <a:off x="1056" y="144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020" name="Group 1036"/>
          <p:cNvGrpSpPr>
            <a:grpSpLocks/>
          </p:cNvGrpSpPr>
          <p:nvPr/>
        </p:nvGrpSpPr>
        <p:grpSpPr bwMode="auto">
          <a:xfrm>
            <a:off x="3657601" y="2286001"/>
            <a:ext cx="4881563" cy="758825"/>
            <a:chOff x="1152" y="1632"/>
            <a:chExt cx="3075" cy="478"/>
          </a:xfrm>
        </p:grpSpPr>
        <p:sp>
          <p:nvSpPr>
            <p:cNvPr id="43021" name="Oval 1037"/>
            <p:cNvSpPr>
              <a:spLocks noChangeArrowheads="1"/>
            </p:cNvSpPr>
            <p:nvPr/>
          </p:nvSpPr>
          <p:spPr bwMode="auto">
            <a:xfrm>
              <a:off x="2256" y="168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2" name="Text Box 1038"/>
            <p:cNvSpPr txBox="1">
              <a:spLocks noChangeArrowheads="1"/>
            </p:cNvSpPr>
            <p:nvPr/>
          </p:nvSpPr>
          <p:spPr bwMode="auto">
            <a:xfrm>
              <a:off x="115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3023" name="Text Box 1039"/>
            <p:cNvSpPr txBox="1">
              <a:spLocks noChangeArrowheads="1"/>
            </p:cNvSpPr>
            <p:nvPr/>
          </p:nvSpPr>
          <p:spPr bwMode="auto">
            <a:xfrm>
              <a:off x="1728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3024" name="Text Box 1040"/>
            <p:cNvSpPr txBox="1">
              <a:spLocks noChangeArrowheads="1"/>
            </p:cNvSpPr>
            <p:nvPr/>
          </p:nvSpPr>
          <p:spPr bwMode="auto">
            <a:xfrm>
              <a:off x="2304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3025" name="Text Box 1041"/>
            <p:cNvSpPr txBox="1">
              <a:spLocks noChangeArrowheads="1"/>
            </p:cNvSpPr>
            <p:nvPr/>
          </p:nvSpPr>
          <p:spPr bwMode="auto">
            <a:xfrm>
              <a:off x="2880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3026" name="Text Box 1042"/>
            <p:cNvSpPr txBox="1">
              <a:spLocks noChangeArrowheads="1"/>
            </p:cNvSpPr>
            <p:nvPr/>
          </p:nvSpPr>
          <p:spPr bwMode="auto">
            <a:xfrm>
              <a:off x="3456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3027" name="Text Box 1043"/>
            <p:cNvSpPr txBox="1">
              <a:spLocks noChangeArrowheads="1"/>
            </p:cNvSpPr>
            <p:nvPr/>
          </p:nvSpPr>
          <p:spPr bwMode="auto">
            <a:xfrm>
              <a:off x="403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3028" name="Arc 1044"/>
            <p:cNvSpPr>
              <a:spLocks/>
            </p:cNvSpPr>
            <p:nvPr/>
          </p:nvSpPr>
          <p:spPr bwMode="auto">
            <a:xfrm rot="-10800000">
              <a:off x="1632" y="192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029" name="Group 1045"/>
          <p:cNvGrpSpPr>
            <a:grpSpLocks/>
          </p:cNvGrpSpPr>
          <p:nvPr/>
        </p:nvGrpSpPr>
        <p:grpSpPr bwMode="auto">
          <a:xfrm>
            <a:off x="3657601" y="3048001"/>
            <a:ext cx="4881563" cy="758825"/>
            <a:chOff x="1152" y="2112"/>
            <a:chExt cx="3075" cy="478"/>
          </a:xfrm>
        </p:grpSpPr>
        <p:sp>
          <p:nvSpPr>
            <p:cNvPr id="43030" name="Oval 1046"/>
            <p:cNvSpPr>
              <a:spLocks noChangeArrowheads="1"/>
            </p:cNvSpPr>
            <p:nvPr/>
          </p:nvSpPr>
          <p:spPr bwMode="auto">
            <a:xfrm>
              <a:off x="2832" y="216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1" name="Text Box 1047"/>
            <p:cNvSpPr txBox="1">
              <a:spLocks noChangeArrowheads="1"/>
            </p:cNvSpPr>
            <p:nvPr/>
          </p:nvSpPr>
          <p:spPr bwMode="auto">
            <a:xfrm>
              <a:off x="1152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3032" name="Text Box 1048"/>
            <p:cNvSpPr txBox="1">
              <a:spLocks noChangeArrowheads="1"/>
            </p:cNvSpPr>
            <p:nvPr/>
          </p:nvSpPr>
          <p:spPr bwMode="auto">
            <a:xfrm>
              <a:off x="1728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3033" name="Text Box 1049"/>
            <p:cNvSpPr txBox="1">
              <a:spLocks noChangeArrowheads="1"/>
            </p:cNvSpPr>
            <p:nvPr/>
          </p:nvSpPr>
          <p:spPr bwMode="auto">
            <a:xfrm>
              <a:off x="2304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3034" name="Text Box 1050"/>
            <p:cNvSpPr txBox="1">
              <a:spLocks noChangeArrowheads="1"/>
            </p:cNvSpPr>
            <p:nvPr/>
          </p:nvSpPr>
          <p:spPr bwMode="auto">
            <a:xfrm>
              <a:off x="2880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3035" name="Text Box 1051"/>
            <p:cNvSpPr txBox="1">
              <a:spLocks noChangeArrowheads="1"/>
            </p:cNvSpPr>
            <p:nvPr/>
          </p:nvSpPr>
          <p:spPr bwMode="auto">
            <a:xfrm>
              <a:off x="3456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3036" name="Text Box 1052"/>
            <p:cNvSpPr txBox="1">
              <a:spLocks noChangeArrowheads="1"/>
            </p:cNvSpPr>
            <p:nvPr/>
          </p:nvSpPr>
          <p:spPr bwMode="auto">
            <a:xfrm>
              <a:off x="4032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3037" name="Arc 1053"/>
            <p:cNvSpPr>
              <a:spLocks/>
            </p:cNvSpPr>
            <p:nvPr/>
          </p:nvSpPr>
          <p:spPr bwMode="auto">
            <a:xfrm rot="-10800000">
              <a:off x="2640" y="2404"/>
              <a:ext cx="318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667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A5DF14F8-5F4B-487C-94B7-36758CDB1AC4}" type="slidenum">
              <a:rPr lang="en-US"/>
              <a:pPr/>
              <a:t>15</a:t>
            </a:fld>
            <a:endParaRPr lang="en-US"/>
          </a:p>
        </p:txBody>
      </p:sp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grpSp>
        <p:nvGrpSpPr>
          <p:cNvPr id="43011" name="Group 1027"/>
          <p:cNvGrpSpPr>
            <a:grpSpLocks/>
          </p:cNvGrpSpPr>
          <p:nvPr/>
        </p:nvGrpSpPr>
        <p:grpSpPr bwMode="auto">
          <a:xfrm>
            <a:off x="3505201" y="1524001"/>
            <a:ext cx="5033963" cy="758825"/>
            <a:chOff x="1056" y="1152"/>
            <a:chExt cx="3171" cy="478"/>
          </a:xfrm>
        </p:grpSpPr>
        <p:sp>
          <p:nvSpPr>
            <p:cNvPr id="43012" name="Oval 1028"/>
            <p:cNvSpPr>
              <a:spLocks noChangeArrowheads="1"/>
            </p:cNvSpPr>
            <p:nvPr/>
          </p:nvSpPr>
          <p:spPr bwMode="auto">
            <a:xfrm>
              <a:off x="1680" y="120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3" name="Text Box 1029"/>
            <p:cNvSpPr txBox="1">
              <a:spLocks noChangeArrowheads="1"/>
            </p:cNvSpPr>
            <p:nvPr/>
          </p:nvSpPr>
          <p:spPr bwMode="auto">
            <a:xfrm>
              <a:off x="115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3014" name="Text Box 1030"/>
            <p:cNvSpPr txBox="1">
              <a:spLocks noChangeArrowheads="1"/>
            </p:cNvSpPr>
            <p:nvPr/>
          </p:nvSpPr>
          <p:spPr bwMode="auto">
            <a:xfrm>
              <a:off x="1728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3015" name="Text Box 1031"/>
            <p:cNvSpPr txBox="1">
              <a:spLocks noChangeArrowheads="1"/>
            </p:cNvSpPr>
            <p:nvPr/>
          </p:nvSpPr>
          <p:spPr bwMode="auto">
            <a:xfrm>
              <a:off x="2304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3016" name="Text Box 1032"/>
            <p:cNvSpPr txBox="1">
              <a:spLocks noChangeArrowheads="1"/>
            </p:cNvSpPr>
            <p:nvPr/>
          </p:nvSpPr>
          <p:spPr bwMode="auto">
            <a:xfrm>
              <a:off x="2880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3017" name="Text Box 1033"/>
            <p:cNvSpPr txBox="1">
              <a:spLocks noChangeArrowheads="1"/>
            </p:cNvSpPr>
            <p:nvPr/>
          </p:nvSpPr>
          <p:spPr bwMode="auto">
            <a:xfrm>
              <a:off x="3456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3018" name="Text Box 1034"/>
            <p:cNvSpPr txBox="1">
              <a:spLocks noChangeArrowheads="1"/>
            </p:cNvSpPr>
            <p:nvPr/>
          </p:nvSpPr>
          <p:spPr bwMode="auto">
            <a:xfrm>
              <a:off x="403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3019" name="Arc 1035"/>
            <p:cNvSpPr>
              <a:spLocks/>
            </p:cNvSpPr>
            <p:nvPr/>
          </p:nvSpPr>
          <p:spPr bwMode="auto">
            <a:xfrm rot="-10800000">
              <a:off x="1056" y="144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020" name="Group 1036"/>
          <p:cNvGrpSpPr>
            <a:grpSpLocks/>
          </p:cNvGrpSpPr>
          <p:nvPr/>
        </p:nvGrpSpPr>
        <p:grpSpPr bwMode="auto">
          <a:xfrm>
            <a:off x="3657601" y="2286001"/>
            <a:ext cx="4881563" cy="758825"/>
            <a:chOff x="1152" y="1632"/>
            <a:chExt cx="3075" cy="478"/>
          </a:xfrm>
        </p:grpSpPr>
        <p:sp>
          <p:nvSpPr>
            <p:cNvPr id="43021" name="Oval 1037"/>
            <p:cNvSpPr>
              <a:spLocks noChangeArrowheads="1"/>
            </p:cNvSpPr>
            <p:nvPr/>
          </p:nvSpPr>
          <p:spPr bwMode="auto">
            <a:xfrm>
              <a:off x="2256" y="168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2" name="Text Box 1038"/>
            <p:cNvSpPr txBox="1">
              <a:spLocks noChangeArrowheads="1"/>
            </p:cNvSpPr>
            <p:nvPr/>
          </p:nvSpPr>
          <p:spPr bwMode="auto">
            <a:xfrm>
              <a:off x="115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3023" name="Text Box 1039"/>
            <p:cNvSpPr txBox="1">
              <a:spLocks noChangeArrowheads="1"/>
            </p:cNvSpPr>
            <p:nvPr/>
          </p:nvSpPr>
          <p:spPr bwMode="auto">
            <a:xfrm>
              <a:off x="1728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3024" name="Text Box 1040"/>
            <p:cNvSpPr txBox="1">
              <a:spLocks noChangeArrowheads="1"/>
            </p:cNvSpPr>
            <p:nvPr/>
          </p:nvSpPr>
          <p:spPr bwMode="auto">
            <a:xfrm>
              <a:off x="2304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3025" name="Text Box 1041"/>
            <p:cNvSpPr txBox="1">
              <a:spLocks noChangeArrowheads="1"/>
            </p:cNvSpPr>
            <p:nvPr/>
          </p:nvSpPr>
          <p:spPr bwMode="auto">
            <a:xfrm>
              <a:off x="2880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3026" name="Text Box 1042"/>
            <p:cNvSpPr txBox="1">
              <a:spLocks noChangeArrowheads="1"/>
            </p:cNvSpPr>
            <p:nvPr/>
          </p:nvSpPr>
          <p:spPr bwMode="auto">
            <a:xfrm>
              <a:off x="3456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3027" name="Text Box 1043"/>
            <p:cNvSpPr txBox="1">
              <a:spLocks noChangeArrowheads="1"/>
            </p:cNvSpPr>
            <p:nvPr/>
          </p:nvSpPr>
          <p:spPr bwMode="auto">
            <a:xfrm>
              <a:off x="403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3028" name="Arc 1044"/>
            <p:cNvSpPr>
              <a:spLocks/>
            </p:cNvSpPr>
            <p:nvPr/>
          </p:nvSpPr>
          <p:spPr bwMode="auto">
            <a:xfrm rot="-10800000">
              <a:off x="1632" y="192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029" name="Group 1045"/>
          <p:cNvGrpSpPr>
            <a:grpSpLocks/>
          </p:cNvGrpSpPr>
          <p:nvPr/>
        </p:nvGrpSpPr>
        <p:grpSpPr bwMode="auto">
          <a:xfrm>
            <a:off x="3657601" y="3048001"/>
            <a:ext cx="4881563" cy="758825"/>
            <a:chOff x="1152" y="2112"/>
            <a:chExt cx="3075" cy="478"/>
          </a:xfrm>
        </p:grpSpPr>
        <p:sp>
          <p:nvSpPr>
            <p:cNvPr id="43030" name="Oval 1046"/>
            <p:cNvSpPr>
              <a:spLocks noChangeArrowheads="1"/>
            </p:cNvSpPr>
            <p:nvPr/>
          </p:nvSpPr>
          <p:spPr bwMode="auto">
            <a:xfrm>
              <a:off x="2832" y="216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31" name="Text Box 1047"/>
            <p:cNvSpPr txBox="1">
              <a:spLocks noChangeArrowheads="1"/>
            </p:cNvSpPr>
            <p:nvPr/>
          </p:nvSpPr>
          <p:spPr bwMode="auto">
            <a:xfrm>
              <a:off x="1152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3032" name="Text Box 1048"/>
            <p:cNvSpPr txBox="1">
              <a:spLocks noChangeArrowheads="1"/>
            </p:cNvSpPr>
            <p:nvPr/>
          </p:nvSpPr>
          <p:spPr bwMode="auto">
            <a:xfrm>
              <a:off x="1728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3033" name="Text Box 1049"/>
            <p:cNvSpPr txBox="1">
              <a:spLocks noChangeArrowheads="1"/>
            </p:cNvSpPr>
            <p:nvPr/>
          </p:nvSpPr>
          <p:spPr bwMode="auto">
            <a:xfrm>
              <a:off x="2304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3034" name="Text Box 1050"/>
            <p:cNvSpPr txBox="1">
              <a:spLocks noChangeArrowheads="1"/>
            </p:cNvSpPr>
            <p:nvPr/>
          </p:nvSpPr>
          <p:spPr bwMode="auto">
            <a:xfrm>
              <a:off x="2880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3035" name="Text Box 1051"/>
            <p:cNvSpPr txBox="1">
              <a:spLocks noChangeArrowheads="1"/>
            </p:cNvSpPr>
            <p:nvPr/>
          </p:nvSpPr>
          <p:spPr bwMode="auto">
            <a:xfrm>
              <a:off x="3456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3036" name="Text Box 1052"/>
            <p:cNvSpPr txBox="1">
              <a:spLocks noChangeArrowheads="1"/>
            </p:cNvSpPr>
            <p:nvPr/>
          </p:nvSpPr>
          <p:spPr bwMode="auto">
            <a:xfrm>
              <a:off x="4032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3037" name="Arc 1053"/>
            <p:cNvSpPr>
              <a:spLocks/>
            </p:cNvSpPr>
            <p:nvPr/>
          </p:nvSpPr>
          <p:spPr bwMode="auto">
            <a:xfrm rot="-10800000">
              <a:off x="2640" y="2404"/>
              <a:ext cx="318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358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4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3EE74F01-9D17-4688-93C4-14CFF1B3969F}" type="slidenum">
              <a:rPr lang="en-US"/>
              <a:pPr/>
              <a:t>16</a:t>
            </a:fld>
            <a:endParaRPr 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grpSp>
        <p:nvGrpSpPr>
          <p:cNvPr id="44035" name="Group 3"/>
          <p:cNvGrpSpPr>
            <a:grpSpLocks/>
          </p:cNvGrpSpPr>
          <p:nvPr/>
        </p:nvGrpSpPr>
        <p:grpSpPr bwMode="auto">
          <a:xfrm>
            <a:off x="3505201" y="1524001"/>
            <a:ext cx="5033963" cy="758825"/>
            <a:chOff x="1056" y="1152"/>
            <a:chExt cx="3171" cy="478"/>
          </a:xfrm>
        </p:grpSpPr>
        <p:sp>
          <p:nvSpPr>
            <p:cNvPr id="44036" name="Oval 4"/>
            <p:cNvSpPr>
              <a:spLocks noChangeArrowheads="1"/>
            </p:cNvSpPr>
            <p:nvPr/>
          </p:nvSpPr>
          <p:spPr bwMode="auto">
            <a:xfrm>
              <a:off x="1680" y="120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7" name="Text Box 5"/>
            <p:cNvSpPr txBox="1">
              <a:spLocks noChangeArrowheads="1"/>
            </p:cNvSpPr>
            <p:nvPr/>
          </p:nvSpPr>
          <p:spPr bwMode="auto">
            <a:xfrm>
              <a:off x="115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4038" name="Text Box 6"/>
            <p:cNvSpPr txBox="1">
              <a:spLocks noChangeArrowheads="1"/>
            </p:cNvSpPr>
            <p:nvPr/>
          </p:nvSpPr>
          <p:spPr bwMode="auto">
            <a:xfrm>
              <a:off x="1728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4039" name="Text Box 7"/>
            <p:cNvSpPr txBox="1">
              <a:spLocks noChangeArrowheads="1"/>
            </p:cNvSpPr>
            <p:nvPr/>
          </p:nvSpPr>
          <p:spPr bwMode="auto">
            <a:xfrm>
              <a:off x="2304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4040" name="Text Box 8"/>
            <p:cNvSpPr txBox="1">
              <a:spLocks noChangeArrowheads="1"/>
            </p:cNvSpPr>
            <p:nvPr/>
          </p:nvSpPr>
          <p:spPr bwMode="auto">
            <a:xfrm>
              <a:off x="2880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4041" name="Text Box 9"/>
            <p:cNvSpPr txBox="1">
              <a:spLocks noChangeArrowheads="1"/>
            </p:cNvSpPr>
            <p:nvPr/>
          </p:nvSpPr>
          <p:spPr bwMode="auto">
            <a:xfrm>
              <a:off x="3456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4042" name="Text Box 10"/>
            <p:cNvSpPr txBox="1">
              <a:spLocks noChangeArrowheads="1"/>
            </p:cNvSpPr>
            <p:nvPr/>
          </p:nvSpPr>
          <p:spPr bwMode="auto">
            <a:xfrm>
              <a:off x="403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4043" name="Arc 11"/>
            <p:cNvSpPr>
              <a:spLocks/>
            </p:cNvSpPr>
            <p:nvPr/>
          </p:nvSpPr>
          <p:spPr bwMode="auto">
            <a:xfrm rot="-10800000">
              <a:off x="1056" y="144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044" name="Group 12"/>
          <p:cNvGrpSpPr>
            <a:grpSpLocks/>
          </p:cNvGrpSpPr>
          <p:nvPr/>
        </p:nvGrpSpPr>
        <p:grpSpPr bwMode="auto">
          <a:xfrm>
            <a:off x="3657601" y="2286001"/>
            <a:ext cx="4881563" cy="758825"/>
            <a:chOff x="1152" y="1632"/>
            <a:chExt cx="3075" cy="478"/>
          </a:xfrm>
        </p:grpSpPr>
        <p:sp>
          <p:nvSpPr>
            <p:cNvPr id="44045" name="Oval 13"/>
            <p:cNvSpPr>
              <a:spLocks noChangeArrowheads="1"/>
            </p:cNvSpPr>
            <p:nvPr/>
          </p:nvSpPr>
          <p:spPr bwMode="auto">
            <a:xfrm>
              <a:off x="2256" y="168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46" name="Text Box 14"/>
            <p:cNvSpPr txBox="1">
              <a:spLocks noChangeArrowheads="1"/>
            </p:cNvSpPr>
            <p:nvPr/>
          </p:nvSpPr>
          <p:spPr bwMode="auto">
            <a:xfrm>
              <a:off x="115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4047" name="Text Box 15"/>
            <p:cNvSpPr txBox="1">
              <a:spLocks noChangeArrowheads="1"/>
            </p:cNvSpPr>
            <p:nvPr/>
          </p:nvSpPr>
          <p:spPr bwMode="auto">
            <a:xfrm>
              <a:off x="1728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4048" name="Text Box 16"/>
            <p:cNvSpPr txBox="1">
              <a:spLocks noChangeArrowheads="1"/>
            </p:cNvSpPr>
            <p:nvPr/>
          </p:nvSpPr>
          <p:spPr bwMode="auto">
            <a:xfrm>
              <a:off x="2304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4049" name="Text Box 17"/>
            <p:cNvSpPr txBox="1">
              <a:spLocks noChangeArrowheads="1"/>
            </p:cNvSpPr>
            <p:nvPr/>
          </p:nvSpPr>
          <p:spPr bwMode="auto">
            <a:xfrm>
              <a:off x="2880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4050" name="Text Box 18"/>
            <p:cNvSpPr txBox="1">
              <a:spLocks noChangeArrowheads="1"/>
            </p:cNvSpPr>
            <p:nvPr/>
          </p:nvSpPr>
          <p:spPr bwMode="auto">
            <a:xfrm>
              <a:off x="3456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4051" name="Text Box 19"/>
            <p:cNvSpPr txBox="1">
              <a:spLocks noChangeArrowheads="1"/>
            </p:cNvSpPr>
            <p:nvPr/>
          </p:nvSpPr>
          <p:spPr bwMode="auto">
            <a:xfrm>
              <a:off x="403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4052" name="Arc 20"/>
            <p:cNvSpPr>
              <a:spLocks/>
            </p:cNvSpPr>
            <p:nvPr/>
          </p:nvSpPr>
          <p:spPr bwMode="auto">
            <a:xfrm rot="-10800000">
              <a:off x="1632" y="192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4053" name="Group 21"/>
          <p:cNvGrpSpPr>
            <a:grpSpLocks/>
          </p:cNvGrpSpPr>
          <p:nvPr/>
        </p:nvGrpSpPr>
        <p:grpSpPr bwMode="auto">
          <a:xfrm>
            <a:off x="3657601" y="3048001"/>
            <a:ext cx="4881563" cy="758825"/>
            <a:chOff x="1152" y="2112"/>
            <a:chExt cx="3075" cy="478"/>
          </a:xfrm>
        </p:grpSpPr>
        <p:sp>
          <p:nvSpPr>
            <p:cNvPr id="44054" name="Oval 22"/>
            <p:cNvSpPr>
              <a:spLocks noChangeArrowheads="1"/>
            </p:cNvSpPr>
            <p:nvPr/>
          </p:nvSpPr>
          <p:spPr bwMode="auto">
            <a:xfrm>
              <a:off x="2832" y="216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55" name="Text Box 23"/>
            <p:cNvSpPr txBox="1">
              <a:spLocks noChangeArrowheads="1"/>
            </p:cNvSpPr>
            <p:nvPr/>
          </p:nvSpPr>
          <p:spPr bwMode="auto">
            <a:xfrm>
              <a:off x="1152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4056" name="Text Box 24"/>
            <p:cNvSpPr txBox="1">
              <a:spLocks noChangeArrowheads="1"/>
            </p:cNvSpPr>
            <p:nvPr/>
          </p:nvSpPr>
          <p:spPr bwMode="auto">
            <a:xfrm>
              <a:off x="1728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4057" name="Text Box 25"/>
            <p:cNvSpPr txBox="1">
              <a:spLocks noChangeArrowheads="1"/>
            </p:cNvSpPr>
            <p:nvPr/>
          </p:nvSpPr>
          <p:spPr bwMode="auto">
            <a:xfrm>
              <a:off x="2304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4058" name="Text Box 26"/>
            <p:cNvSpPr txBox="1">
              <a:spLocks noChangeArrowheads="1"/>
            </p:cNvSpPr>
            <p:nvPr/>
          </p:nvSpPr>
          <p:spPr bwMode="auto">
            <a:xfrm>
              <a:off x="2880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4059" name="Text Box 27"/>
            <p:cNvSpPr txBox="1">
              <a:spLocks noChangeArrowheads="1"/>
            </p:cNvSpPr>
            <p:nvPr/>
          </p:nvSpPr>
          <p:spPr bwMode="auto">
            <a:xfrm>
              <a:off x="3456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4060" name="Text Box 28"/>
            <p:cNvSpPr txBox="1">
              <a:spLocks noChangeArrowheads="1"/>
            </p:cNvSpPr>
            <p:nvPr/>
          </p:nvSpPr>
          <p:spPr bwMode="auto">
            <a:xfrm>
              <a:off x="4032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4061" name="Arc 29"/>
            <p:cNvSpPr>
              <a:spLocks/>
            </p:cNvSpPr>
            <p:nvPr/>
          </p:nvSpPr>
          <p:spPr bwMode="auto">
            <a:xfrm rot="-10800000">
              <a:off x="2640" y="2404"/>
              <a:ext cx="318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062" name="Oval 30"/>
          <p:cNvSpPr>
            <a:spLocks noChangeArrowheads="1"/>
          </p:cNvSpPr>
          <p:nvPr/>
        </p:nvSpPr>
        <p:spPr bwMode="auto">
          <a:xfrm>
            <a:off x="7239000" y="3886200"/>
            <a:ext cx="533400" cy="5334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3" name="Text Box 31"/>
          <p:cNvSpPr txBox="1">
            <a:spLocks noChangeArrowheads="1"/>
          </p:cNvSpPr>
          <p:nvPr/>
        </p:nvSpPr>
        <p:spPr bwMode="auto">
          <a:xfrm>
            <a:off x="36576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44064" name="Text Box 32"/>
          <p:cNvSpPr txBox="1">
            <a:spLocks noChangeArrowheads="1"/>
          </p:cNvSpPr>
          <p:nvPr/>
        </p:nvSpPr>
        <p:spPr bwMode="auto">
          <a:xfrm>
            <a:off x="45720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4</a:t>
            </a:r>
          </a:p>
        </p:txBody>
      </p:sp>
      <p:sp>
        <p:nvSpPr>
          <p:cNvPr id="44065" name="Text Box 33"/>
          <p:cNvSpPr txBox="1">
            <a:spLocks noChangeArrowheads="1"/>
          </p:cNvSpPr>
          <p:nvPr/>
        </p:nvSpPr>
        <p:spPr bwMode="auto">
          <a:xfrm>
            <a:off x="54864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8</a:t>
            </a:r>
          </a:p>
        </p:txBody>
      </p:sp>
      <p:sp>
        <p:nvSpPr>
          <p:cNvPr id="44066" name="Text Box 34"/>
          <p:cNvSpPr txBox="1">
            <a:spLocks noChangeArrowheads="1"/>
          </p:cNvSpPr>
          <p:nvPr/>
        </p:nvSpPr>
        <p:spPr bwMode="auto">
          <a:xfrm>
            <a:off x="64008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9</a:t>
            </a:r>
          </a:p>
        </p:txBody>
      </p:sp>
      <p:sp>
        <p:nvSpPr>
          <p:cNvPr id="44067" name="Text Box 35"/>
          <p:cNvSpPr txBox="1">
            <a:spLocks noChangeArrowheads="1"/>
          </p:cNvSpPr>
          <p:nvPr/>
        </p:nvSpPr>
        <p:spPr bwMode="auto">
          <a:xfrm>
            <a:off x="73152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3</a:t>
            </a:r>
          </a:p>
        </p:txBody>
      </p:sp>
      <p:sp>
        <p:nvSpPr>
          <p:cNvPr id="44068" name="Text Box 36"/>
          <p:cNvSpPr txBox="1">
            <a:spLocks noChangeArrowheads="1"/>
          </p:cNvSpPr>
          <p:nvPr/>
        </p:nvSpPr>
        <p:spPr bwMode="auto">
          <a:xfrm>
            <a:off x="82296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6</a:t>
            </a:r>
          </a:p>
        </p:txBody>
      </p:sp>
      <p:sp>
        <p:nvSpPr>
          <p:cNvPr id="44069" name="Arc 37"/>
          <p:cNvSpPr>
            <a:spLocks/>
          </p:cNvSpPr>
          <p:nvPr/>
        </p:nvSpPr>
        <p:spPr bwMode="auto">
          <a:xfrm rot="-10800000">
            <a:off x="4343401" y="4273551"/>
            <a:ext cx="3095625" cy="295275"/>
          </a:xfrm>
          <a:custGeom>
            <a:avLst/>
            <a:gdLst>
              <a:gd name="G0" fmla="+- 20587 0 0"/>
              <a:gd name="G1" fmla="+- 21600 0 0"/>
              <a:gd name="G2" fmla="+- 21600 0 0"/>
              <a:gd name="T0" fmla="*/ 0 w 42180"/>
              <a:gd name="T1" fmla="*/ 15061 h 21600"/>
              <a:gd name="T2" fmla="*/ 42180 w 42180"/>
              <a:gd name="T3" fmla="*/ 21052 h 21600"/>
              <a:gd name="T4" fmla="*/ 20587 w 4218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80" h="21600" fill="none" extrusionOk="0">
                <a:moveTo>
                  <a:pt x="0" y="15061"/>
                </a:moveTo>
                <a:cubicBezTo>
                  <a:pt x="2849" y="6092"/>
                  <a:pt x="11176" y="-1"/>
                  <a:pt x="20587" y="0"/>
                </a:cubicBezTo>
                <a:cubicBezTo>
                  <a:pt x="32302" y="0"/>
                  <a:pt x="41882" y="9339"/>
                  <a:pt x="42180" y="21051"/>
                </a:cubicBezTo>
              </a:path>
              <a:path w="42180" h="21600" stroke="0" extrusionOk="0">
                <a:moveTo>
                  <a:pt x="0" y="15061"/>
                </a:moveTo>
                <a:cubicBezTo>
                  <a:pt x="2849" y="6092"/>
                  <a:pt x="11176" y="-1"/>
                  <a:pt x="20587" y="0"/>
                </a:cubicBezTo>
                <a:cubicBezTo>
                  <a:pt x="32302" y="0"/>
                  <a:pt x="41882" y="9339"/>
                  <a:pt x="42180" y="21051"/>
                </a:cubicBezTo>
                <a:lnTo>
                  <a:pt x="20587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70" name="Oval 38"/>
          <p:cNvSpPr>
            <a:spLocks noChangeArrowheads="1"/>
          </p:cNvSpPr>
          <p:nvPr/>
        </p:nvSpPr>
        <p:spPr bwMode="auto">
          <a:xfrm>
            <a:off x="8153400" y="4648200"/>
            <a:ext cx="533400" cy="5334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71" name="Text Box 39"/>
          <p:cNvSpPr txBox="1">
            <a:spLocks noChangeArrowheads="1"/>
          </p:cNvSpPr>
          <p:nvPr/>
        </p:nvSpPr>
        <p:spPr bwMode="auto">
          <a:xfrm>
            <a:off x="36576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44072" name="Text Box 40"/>
          <p:cNvSpPr txBox="1">
            <a:spLocks noChangeArrowheads="1"/>
          </p:cNvSpPr>
          <p:nvPr/>
        </p:nvSpPr>
        <p:spPr bwMode="auto">
          <a:xfrm>
            <a:off x="45720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3</a:t>
            </a:r>
          </a:p>
        </p:txBody>
      </p:sp>
      <p:sp>
        <p:nvSpPr>
          <p:cNvPr id="44073" name="Text Box 41"/>
          <p:cNvSpPr txBox="1">
            <a:spLocks noChangeArrowheads="1"/>
          </p:cNvSpPr>
          <p:nvPr/>
        </p:nvSpPr>
        <p:spPr bwMode="auto">
          <a:xfrm>
            <a:off x="54864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4</a:t>
            </a:r>
          </a:p>
        </p:txBody>
      </p:sp>
      <p:sp>
        <p:nvSpPr>
          <p:cNvPr id="44074" name="Text Box 42"/>
          <p:cNvSpPr txBox="1">
            <a:spLocks noChangeArrowheads="1"/>
          </p:cNvSpPr>
          <p:nvPr/>
        </p:nvSpPr>
        <p:spPr bwMode="auto">
          <a:xfrm>
            <a:off x="64008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8</a:t>
            </a:r>
          </a:p>
        </p:txBody>
      </p:sp>
      <p:sp>
        <p:nvSpPr>
          <p:cNvPr id="44075" name="Text Box 43"/>
          <p:cNvSpPr txBox="1">
            <a:spLocks noChangeArrowheads="1"/>
          </p:cNvSpPr>
          <p:nvPr/>
        </p:nvSpPr>
        <p:spPr bwMode="auto">
          <a:xfrm>
            <a:off x="73152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9</a:t>
            </a:r>
          </a:p>
        </p:txBody>
      </p:sp>
      <p:sp>
        <p:nvSpPr>
          <p:cNvPr id="44076" name="Text Box 44"/>
          <p:cNvSpPr txBox="1">
            <a:spLocks noChangeArrowheads="1"/>
          </p:cNvSpPr>
          <p:nvPr/>
        </p:nvSpPr>
        <p:spPr bwMode="auto">
          <a:xfrm>
            <a:off x="82296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6461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lide Number Placeholder 5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L1.</a:t>
            </a:r>
            <a:fld id="{52716731-3C1D-486C-BD98-8C1607CC0397}" type="slidenum">
              <a:rPr lang="en-US"/>
              <a:pPr/>
              <a:t>17</a:t>
            </a:fld>
            <a:endParaRPr lang="en-US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insertion sort</a:t>
            </a:r>
          </a:p>
        </p:txBody>
      </p:sp>
      <p:grpSp>
        <p:nvGrpSpPr>
          <p:cNvPr id="46083" name="Group 3"/>
          <p:cNvGrpSpPr>
            <a:grpSpLocks/>
          </p:cNvGrpSpPr>
          <p:nvPr/>
        </p:nvGrpSpPr>
        <p:grpSpPr bwMode="auto">
          <a:xfrm>
            <a:off x="3505201" y="1524001"/>
            <a:ext cx="5033963" cy="758825"/>
            <a:chOff x="1056" y="1152"/>
            <a:chExt cx="3171" cy="478"/>
          </a:xfrm>
        </p:grpSpPr>
        <p:sp>
          <p:nvSpPr>
            <p:cNvPr id="46084" name="Oval 4"/>
            <p:cNvSpPr>
              <a:spLocks noChangeArrowheads="1"/>
            </p:cNvSpPr>
            <p:nvPr/>
          </p:nvSpPr>
          <p:spPr bwMode="auto">
            <a:xfrm>
              <a:off x="1680" y="120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85" name="Text Box 5"/>
            <p:cNvSpPr txBox="1">
              <a:spLocks noChangeArrowheads="1"/>
            </p:cNvSpPr>
            <p:nvPr/>
          </p:nvSpPr>
          <p:spPr bwMode="auto">
            <a:xfrm>
              <a:off x="115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6086" name="Text Box 6"/>
            <p:cNvSpPr txBox="1">
              <a:spLocks noChangeArrowheads="1"/>
            </p:cNvSpPr>
            <p:nvPr/>
          </p:nvSpPr>
          <p:spPr bwMode="auto">
            <a:xfrm>
              <a:off x="1728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6087" name="Text Box 7"/>
            <p:cNvSpPr txBox="1">
              <a:spLocks noChangeArrowheads="1"/>
            </p:cNvSpPr>
            <p:nvPr/>
          </p:nvSpPr>
          <p:spPr bwMode="auto">
            <a:xfrm>
              <a:off x="2304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6088" name="Text Box 8"/>
            <p:cNvSpPr txBox="1">
              <a:spLocks noChangeArrowheads="1"/>
            </p:cNvSpPr>
            <p:nvPr/>
          </p:nvSpPr>
          <p:spPr bwMode="auto">
            <a:xfrm>
              <a:off x="2880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6089" name="Text Box 9"/>
            <p:cNvSpPr txBox="1">
              <a:spLocks noChangeArrowheads="1"/>
            </p:cNvSpPr>
            <p:nvPr/>
          </p:nvSpPr>
          <p:spPr bwMode="auto">
            <a:xfrm>
              <a:off x="3456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6090" name="Text Box 10"/>
            <p:cNvSpPr txBox="1">
              <a:spLocks noChangeArrowheads="1"/>
            </p:cNvSpPr>
            <p:nvPr/>
          </p:nvSpPr>
          <p:spPr bwMode="auto">
            <a:xfrm>
              <a:off x="4032" y="115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6091" name="Arc 11"/>
            <p:cNvSpPr>
              <a:spLocks/>
            </p:cNvSpPr>
            <p:nvPr/>
          </p:nvSpPr>
          <p:spPr bwMode="auto">
            <a:xfrm rot="-10800000">
              <a:off x="1056" y="144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092" name="Group 12"/>
          <p:cNvGrpSpPr>
            <a:grpSpLocks/>
          </p:cNvGrpSpPr>
          <p:nvPr/>
        </p:nvGrpSpPr>
        <p:grpSpPr bwMode="auto">
          <a:xfrm>
            <a:off x="3657601" y="2286001"/>
            <a:ext cx="4881563" cy="758825"/>
            <a:chOff x="1152" y="1632"/>
            <a:chExt cx="3075" cy="478"/>
          </a:xfrm>
        </p:grpSpPr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2256" y="168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4" name="Text Box 14"/>
            <p:cNvSpPr txBox="1">
              <a:spLocks noChangeArrowheads="1"/>
            </p:cNvSpPr>
            <p:nvPr/>
          </p:nvSpPr>
          <p:spPr bwMode="auto">
            <a:xfrm>
              <a:off x="115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6095" name="Text Box 15"/>
            <p:cNvSpPr txBox="1">
              <a:spLocks noChangeArrowheads="1"/>
            </p:cNvSpPr>
            <p:nvPr/>
          </p:nvSpPr>
          <p:spPr bwMode="auto">
            <a:xfrm>
              <a:off x="1728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6096" name="Text Box 16"/>
            <p:cNvSpPr txBox="1">
              <a:spLocks noChangeArrowheads="1"/>
            </p:cNvSpPr>
            <p:nvPr/>
          </p:nvSpPr>
          <p:spPr bwMode="auto">
            <a:xfrm>
              <a:off x="2304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6097" name="Text Box 17"/>
            <p:cNvSpPr txBox="1">
              <a:spLocks noChangeArrowheads="1"/>
            </p:cNvSpPr>
            <p:nvPr/>
          </p:nvSpPr>
          <p:spPr bwMode="auto">
            <a:xfrm>
              <a:off x="2880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6098" name="Text Box 18"/>
            <p:cNvSpPr txBox="1">
              <a:spLocks noChangeArrowheads="1"/>
            </p:cNvSpPr>
            <p:nvPr/>
          </p:nvSpPr>
          <p:spPr bwMode="auto">
            <a:xfrm>
              <a:off x="3456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6099" name="Text Box 19"/>
            <p:cNvSpPr txBox="1">
              <a:spLocks noChangeArrowheads="1"/>
            </p:cNvSpPr>
            <p:nvPr/>
          </p:nvSpPr>
          <p:spPr bwMode="auto">
            <a:xfrm>
              <a:off x="4032" y="163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6100" name="Arc 20"/>
            <p:cNvSpPr>
              <a:spLocks/>
            </p:cNvSpPr>
            <p:nvPr/>
          </p:nvSpPr>
          <p:spPr bwMode="auto">
            <a:xfrm rot="-10800000">
              <a:off x="1632" y="1924"/>
              <a:ext cx="750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6101" name="Group 21"/>
          <p:cNvGrpSpPr>
            <a:grpSpLocks/>
          </p:cNvGrpSpPr>
          <p:nvPr/>
        </p:nvGrpSpPr>
        <p:grpSpPr bwMode="auto">
          <a:xfrm>
            <a:off x="3657601" y="3048001"/>
            <a:ext cx="4881563" cy="758825"/>
            <a:chOff x="1152" y="2112"/>
            <a:chExt cx="3075" cy="478"/>
          </a:xfrm>
        </p:grpSpPr>
        <p:sp>
          <p:nvSpPr>
            <p:cNvPr id="46102" name="Oval 22"/>
            <p:cNvSpPr>
              <a:spLocks noChangeArrowheads="1"/>
            </p:cNvSpPr>
            <p:nvPr/>
          </p:nvSpPr>
          <p:spPr bwMode="auto">
            <a:xfrm>
              <a:off x="2832" y="2160"/>
              <a:ext cx="336" cy="33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3" name="Text Box 23"/>
            <p:cNvSpPr txBox="1">
              <a:spLocks noChangeArrowheads="1"/>
            </p:cNvSpPr>
            <p:nvPr/>
          </p:nvSpPr>
          <p:spPr bwMode="auto">
            <a:xfrm>
              <a:off x="1152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2</a:t>
              </a:r>
            </a:p>
          </p:txBody>
        </p:sp>
        <p:sp>
          <p:nvSpPr>
            <p:cNvPr id="46104" name="Text Box 24"/>
            <p:cNvSpPr txBox="1">
              <a:spLocks noChangeArrowheads="1"/>
            </p:cNvSpPr>
            <p:nvPr/>
          </p:nvSpPr>
          <p:spPr bwMode="auto">
            <a:xfrm>
              <a:off x="1728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4</a:t>
              </a:r>
            </a:p>
          </p:txBody>
        </p:sp>
        <p:sp>
          <p:nvSpPr>
            <p:cNvPr id="46105" name="Text Box 25"/>
            <p:cNvSpPr txBox="1">
              <a:spLocks noChangeArrowheads="1"/>
            </p:cNvSpPr>
            <p:nvPr/>
          </p:nvSpPr>
          <p:spPr bwMode="auto">
            <a:xfrm>
              <a:off x="2304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8</a:t>
              </a:r>
            </a:p>
          </p:txBody>
        </p:sp>
        <p:sp>
          <p:nvSpPr>
            <p:cNvPr id="46106" name="Text Box 26"/>
            <p:cNvSpPr txBox="1">
              <a:spLocks noChangeArrowheads="1"/>
            </p:cNvSpPr>
            <p:nvPr/>
          </p:nvSpPr>
          <p:spPr bwMode="auto">
            <a:xfrm>
              <a:off x="2880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9</a:t>
              </a:r>
            </a:p>
          </p:txBody>
        </p:sp>
        <p:sp>
          <p:nvSpPr>
            <p:cNvPr id="46107" name="Text Box 27"/>
            <p:cNvSpPr txBox="1">
              <a:spLocks noChangeArrowheads="1"/>
            </p:cNvSpPr>
            <p:nvPr/>
          </p:nvSpPr>
          <p:spPr bwMode="auto">
            <a:xfrm>
              <a:off x="3456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3</a:t>
              </a:r>
            </a:p>
          </p:txBody>
        </p:sp>
        <p:sp>
          <p:nvSpPr>
            <p:cNvPr id="46108" name="Text Box 28"/>
            <p:cNvSpPr txBox="1">
              <a:spLocks noChangeArrowheads="1"/>
            </p:cNvSpPr>
            <p:nvPr/>
          </p:nvSpPr>
          <p:spPr bwMode="auto">
            <a:xfrm>
              <a:off x="4032" y="2112"/>
              <a:ext cx="19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009999"/>
                  </a:solidFill>
                </a:rPr>
                <a:t>6</a:t>
              </a:r>
            </a:p>
          </p:txBody>
        </p:sp>
        <p:sp>
          <p:nvSpPr>
            <p:cNvPr id="46109" name="Arc 29"/>
            <p:cNvSpPr>
              <a:spLocks/>
            </p:cNvSpPr>
            <p:nvPr/>
          </p:nvSpPr>
          <p:spPr bwMode="auto">
            <a:xfrm rot="-10800000">
              <a:off x="2640" y="2404"/>
              <a:ext cx="318" cy="186"/>
            </a:xfrm>
            <a:custGeom>
              <a:avLst/>
              <a:gdLst>
                <a:gd name="G0" fmla="+- 20587 0 0"/>
                <a:gd name="G1" fmla="+- 21600 0 0"/>
                <a:gd name="G2" fmla="+- 21600 0 0"/>
                <a:gd name="T0" fmla="*/ 0 w 42180"/>
                <a:gd name="T1" fmla="*/ 15061 h 21600"/>
                <a:gd name="T2" fmla="*/ 42180 w 42180"/>
                <a:gd name="T3" fmla="*/ 21052 h 21600"/>
                <a:gd name="T4" fmla="*/ 20587 w 4218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180" h="21600" fill="none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</a:path>
                <a:path w="42180" h="21600" stroke="0" extrusionOk="0">
                  <a:moveTo>
                    <a:pt x="0" y="15061"/>
                  </a:moveTo>
                  <a:cubicBezTo>
                    <a:pt x="2849" y="6092"/>
                    <a:pt x="11176" y="-1"/>
                    <a:pt x="20587" y="0"/>
                  </a:cubicBezTo>
                  <a:cubicBezTo>
                    <a:pt x="32302" y="0"/>
                    <a:pt x="41882" y="9339"/>
                    <a:pt x="42180" y="21051"/>
                  </a:cubicBezTo>
                  <a:lnTo>
                    <a:pt x="20587" y="216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110" name="Oval 30"/>
          <p:cNvSpPr>
            <a:spLocks noChangeArrowheads="1"/>
          </p:cNvSpPr>
          <p:nvPr/>
        </p:nvSpPr>
        <p:spPr bwMode="auto">
          <a:xfrm>
            <a:off x="7239000" y="3886200"/>
            <a:ext cx="533400" cy="5334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11" name="Text Box 31"/>
          <p:cNvSpPr txBox="1">
            <a:spLocks noChangeArrowheads="1"/>
          </p:cNvSpPr>
          <p:nvPr/>
        </p:nvSpPr>
        <p:spPr bwMode="auto">
          <a:xfrm>
            <a:off x="36576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46112" name="Text Box 32"/>
          <p:cNvSpPr txBox="1">
            <a:spLocks noChangeArrowheads="1"/>
          </p:cNvSpPr>
          <p:nvPr/>
        </p:nvSpPr>
        <p:spPr bwMode="auto">
          <a:xfrm>
            <a:off x="45720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4</a:t>
            </a:r>
          </a:p>
        </p:txBody>
      </p:sp>
      <p:sp>
        <p:nvSpPr>
          <p:cNvPr id="46113" name="Text Box 33"/>
          <p:cNvSpPr txBox="1">
            <a:spLocks noChangeArrowheads="1"/>
          </p:cNvSpPr>
          <p:nvPr/>
        </p:nvSpPr>
        <p:spPr bwMode="auto">
          <a:xfrm>
            <a:off x="54864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8</a:t>
            </a:r>
          </a:p>
        </p:txBody>
      </p:sp>
      <p:sp>
        <p:nvSpPr>
          <p:cNvPr id="46114" name="Text Box 34"/>
          <p:cNvSpPr txBox="1">
            <a:spLocks noChangeArrowheads="1"/>
          </p:cNvSpPr>
          <p:nvPr/>
        </p:nvSpPr>
        <p:spPr bwMode="auto">
          <a:xfrm>
            <a:off x="64008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9</a:t>
            </a:r>
          </a:p>
        </p:txBody>
      </p:sp>
      <p:sp>
        <p:nvSpPr>
          <p:cNvPr id="46115" name="Text Box 35"/>
          <p:cNvSpPr txBox="1">
            <a:spLocks noChangeArrowheads="1"/>
          </p:cNvSpPr>
          <p:nvPr/>
        </p:nvSpPr>
        <p:spPr bwMode="auto">
          <a:xfrm>
            <a:off x="73152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3</a:t>
            </a:r>
          </a:p>
        </p:txBody>
      </p:sp>
      <p:sp>
        <p:nvSpPr>
          <p:cNvPr id="46116" name="Text Box 36"/>
          <p:cNvSpPr txBox="1">
            <a:spLocks noChangeArrowheads="1"/>
          </p:cNvSpPr>
          <p:nvPr/>
        </p:nvSpPr>
        <p:spPr bwMode="auto">
          <a:xfrm>
            <a:off x="8229600" y="3810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6</a:t>
            </a:r>
          </a:p>
        </p:txBody>
      </p:sp>
      <p:sp>
        <p:nvSpPr>
          <p:cNvPr id="46117" name="Arc 37"/>
          <p:cNvSpPr>
            <a:spLocks/>
          </p:cNvSpPr>
          <p:nvPr/>
        </p:nvSpPr>
        <p:spPr bwMode="auto">
          <a:xfrm rot="-10800000">
            <a:off x="4343401" y="4273551"/>
            <a:ext cx="3095625" cy="295275"/>
          </a:xfrm>
          <a:custGeom>
            <a:avLst/>
            <a:gdLst>
              <a:gd name="G0" fmla="+- 20587 0 0"/>
              <a:gd name="G1" fmla="+- 21600 0 0"/>
              <a:gd name="G2" fmla="+- 21600 0 0"/>
              <a:gd name="T0" fmla="*/ 0 w 42180"/>
              <a:gd name="T1" fmla="*/ 15061 h 21600"/>
              <a:gd name="T2" fmla="*/ 42180 w 42180"/>
              <a:gd name="T3" fmla="*/ 21052 h 21600"/>
              <a:gd name="T4" fmla="*/ 20587 w 4218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80" h="21600" fill="none" extrusionOk="0">
                <a:moveTo>
                  <a:pt x="0" y="15061"/>
                </a:moveTo>
                <a:cubicBezTo>
                  <a:pt x="2849" y="6092"/>
                  <a:pt x="11176" y="-1"/>
                  <a:pt x="20587" y="0"/>
                </a:cubicBezTo>
                <a:cubicBezTo>
                  <a:pt x="32302" y="0"/>
                  <a:pt x="41882" y="9339"/>
                  <a:pt x="42180" y="21051"/>
                </a:cubicBezTo>
              </a:path>
              <a:path w="42180" h="21600" stroke="0" extrusionOk="0">
                <a:moveTo>
                  <a:pt x="0" y="15061"/>
                </a:moveTo>
                <a:cubicBezTo>
                  <a:pt x="2849" y="6092"/>
                  <a:pt x="11176" y="-1"/>
                  <a:pt x="20587" y="0"/>
                </a:cubicBezTo>
                <a:cubicBezTo>
                  <a:pt x="32302" y="0"/>
                  <a:pt x="41882" y="9339"/>
                  <a:pt x="42180" y="21051"/>
                </a:cubicBezTo>
                <a:lnTo>
                  <a:pt x="20587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18" name="Oval 38"/>
          <p:cNvSpPr>
            <a:spLocks noChangeArrowheads="1"/>
          </p:cNvSpPr>
          <p:nvPr/>
        </p:nvSpPr>
        <p:spPr bwMode="auto">
          <a:xfrm>
            <a:off x="8153400" y="4648200"/>
            <a:ext cx="533400" cy="533400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19" name="Text Box 39"/>
          <p:cNvSpPr txBox="1">
            <a:spLocks noChangeArrowheads="1"/>
          </p:cNvSpPr>
          <p:nvPr/>
        </p:nvSpPr>
        <p:spPr bwMode="auto">
          <a:xfrm>
            <a:off x="36576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46120" name="Text Box 40"/>
          <p:cNvSpPr txBox="1">
            <a:spLocks noChangeArrowheads="1"/>
          </p:cNvSpPr>
          <p:nvPr/>
        </p:nvSpPr>
        <p:spPr bwMode="auto">
          <a:xfrm>
            <a:off x="45720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3</a:t>
            </a:r>
          </a:p>
        </p:txBody>
      </p:sp>
      <p:sp>
        <p:nvSpPr>
          <p:cNvPr id="46121" name="Text Box 41"/>
          <p:cNvSpPr txBox="1">
            <a:spLocks noChangeArrowheads="1"/>
          </p:cNvSpPr>
          <p:nvPr/>
        </p:nvSpPr>
        <p:spPr bwMode="auto">
          <a:xfrm>
            <a:off x="54864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4</a:t>
            </a:r>
          </a:p>
        </p:txBody>
      </p:sp>
      <p:sp>
        <p:nvSpPr>
          <p:cNvPr id="46122" name="Text Box 42"/>
          <p:cNvSpPr txBox="1">
            <a:spLocks noChangeArrowheads="1"/>
          </p:cNvSpPr>
          <p:nvPr/>
        </p:nvSpPr>
        <p:spPr bwMode="auto">
          <a:xfrm>
            <a:off x="64008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8</a:t>
            </a:r>
          </a:p>
        </p:txBody>
      </p:sp>
      <p:sp>
        <p:nvSpPr>
          <p:cNvPr id="46123" name="Text Box 43"/>
          <p:cNvSpPr txBox="1">
            <a:spLocks noChangeArrowheads="1"/>
          </p:cNvSpPr>
          <p:nvPr/>
        </p:nvSpPr>
        <p:spPr bwMode="auto">
          <a:xfrm>
            <a:off x="73152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9</a:t>
            </a:r>
          </a:p>
        </p:txBody>
      </p:sp>
      <p:sp>
        <p:nvSpPr>
          <p:cNvPr id="46124" name="Text Box 44"/>
          <p:cNvSpPr txBox="1">
            <a:spLocks noChangeArrowheads="1"/>
          </p:cNvSpPr>
          <p:nvPr/>
        </p:nvSpPr>
        <p:spPr bwMode="auto">
          <a:xfrm>
            <a:off x="8229600" y="4572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6</a:t>
            </a:r>
          </a:p>
        </p:txBody>
      </p:sp>
      <p:sp>
        <p:nvSpPr>
          <p:cNvPr id="46125" name="Arc 45"/>
          <p:cNvSpPr>
            <a:spLocks/>
          </p:cNvSpPr>
          <p:nvPr/>
        </p:nvSpPr>
        <p:spPr bwMode="auto">
          <a:xfrm rot="-10800000">
            <a:off x="6096001" y="5035551"/>
            <a:ext cx="2257425" cy="295275"/>
          </a:xfrm>
          <a:custGeom>
            <a:avLst/>
            <a:gdLst>
              <a:gd name="G0" fmla="+- 20587 0 0"/>
              <a:gd name="G1" fmla="+- 21600 0 0"/>
              <a:gd name="G2" fmla="+- 21600 0 0"/>
              <a:gd name="T0" fmla="*/ 0 w 42180"/>
              <a:gd name="T1" fmla="*/ 15061 h 21600"/>
              <a:gd name="T2" fmla="*/ 42180 w 42180"/>
              <a:gd name="T3" fmla="*/ 21052 h 21600"/>
              <a:gd name="T4" fmla="*/ 20587 w 4218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80" h="21600" fill="none" extrusionOk="0">
                <a:moveTo>
                  <a:pt x="0" y="15061"/>
                </a:moveTo>
                <a:cubicBezTo>
                  <a:pt x="2849" y="6092"/>
                  <a:pt x="11176" y="-1"/>
                  <a:pt x="20587" y="0"/>
                </a:cubicBezTo>
                <a:cubicBezTo>
                  <a:pt x="32302" y="0"/>
                  <a:pt x="41882" y="9339"/>
                  <a:pt x="42180" y="21051"/>
                </a:cubicBezTo>
              </a:path>
              <a:path w="42180" h="21600" stroke="0" extrusionOk="0">
                <a:moveTo>
                  <a:pt x="0" y="15061"/>
                </a:moveTo>
                <a:cubicBezTo>
                  <a:pt x="2849" y="6092"/>
                  <a:pt x="11176" y="-1"/>
                  <a:pt x="20587" y="0"/>
                </a:cubicBezTo>
                <a:cubicBezTo>
                  <a:pt x="32302" y="0"/>
                  <a:pt x="41882" y="9339"/>
                  <a:pt x="42180" y="21051"/>
                </a:cubicBezTo>
                <a:lnTo>
                  <a:pt x="20587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26" name="Text Box 46"/>
          <p:cNvSpPr txBox="1">
            <a:spLocks noChangeArrowheads="1"/>
          </p:cNvSpPr>
          <p:nvPr/>
        </p:nvSpPr>
        <p:spPr bwMode="auto">
          <a:xfrm>
            <a:off x="3657600" y="533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46127" name="Text Box 47"/>
          <p:cNvSpPr txBox="1">
            <a:spLocks noChangeArrowheads="1"/>
          </p:cNvSpPr>
          <p:nvPr/>
        </p:nvSpPr>
        <p:spPr bwMode="auto">
          <a:xfrm>
            <a:off x="4572000" y="533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3</a:t>
            </a:r>
          </a:p>
        </p:txBody>
      </p:sp>
      <p:sp>
        <p:nvSpPr>
          <p:cNvPr id="46128" name="Text Box 48"/>
          <p:cNvSpPr txBox="1">
            <a:spLocks noChangeArrowheads="1"/>
          </p:cNvSpPr>
          <p:nvPr/>
        </p:nvSpPr>
        <p:spPr bwMode="auto">
          <a:xfrm>
            <a:off x="5486400" y="533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4</a:t>
            </a:r>
          </a:p>
        </p:txBody>
      </p:sp>
      <p:sp>
        <p:nvSpPr>
          <p:cNvPr id="46129" name="Text Box 49"/>
          <p:cNvSpPr txBox="1">
            <a:spLocks noChangeArrowheads="1"/>
          </p:cNvSpPr>
          <p:nvPr/>
        </p:nvSpPr>
        <p:spPr bwMode="auto">
          <a:xfrm>
            <a:off x="6400800" y="533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6</a:t>
            </a:r>
          </a:p>
        </p:txBody>
      </p:sp>
      <p:sp>
        <p:nvSpPr>
          <p:cNvPr id="46130" name="Text Box 50"/>
          <p:cNvSpPr txBox="1">
            <a:spLocks noChangeArrowheads="1"/>
          </p:cNvSpPr>
          <p:nvPr/>
        </p:nvSpPr>
        <p:spPr bwMode="auto">
          <a:xfrm>
            <a:off x="7315200" y="533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8</a:t>
            </a:r>
          </a:p>
        </p:txBody>
      </p:sp>
      <p:sp>
        <p:nvSpPr>
          <p:cNvPr id="46131" name="Text Box 51"/>
          <p:cNvSpPr txBox="1">
            <a:spLocks noChangeArrowheads="1"/>
          </p:cNvSpPr>
          <p:nvPr/>
        </p:nvSpPr>
        <p:spPr bwMode="auto">
          <a:xfrm>
            <a:off x="8229600" y="5334000"/>
            <a:ext cx="3097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9999"/>
                </a:solidFill>
              </a:rPr>
              <a:t>9</a:t>
            </a:r>
          </a:p>
        </p:txBody>
      </p:sp>
      <p:sp>
        <p:nvSpPr>
          <p:cNvPr id="46132" name="Text Box 52"/>
          <p:cNvSpPr txBox="1">
            <a:spLocks noChangeArrowheads="1"/>
          </p:cNvSpPr>
          <p:nvPr/>
        </p:nvSpPr>
        <p:spPr bwMode="auto">
          <a:xfrm>
            <a:off x="8730139" y="5334000"/>
            <a:ext cx="7232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b="1" i="1" dirty="0">
                <a:solidFill>
                  <a:schemeClr val="tx1">
                    <a:lumMod val="95000"/>
                  </a:schemeClr>
                </a:solidFill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36541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218"/>
            <a:ext cx="8229600" cy="58498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Algorithm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0" y="990601"/>
            <a:ext cx="7315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Step 1: Repeat 2 to 4 for p=1 to n-1</a:t>
            </a:r>
          </a:p>
          <a:p>
            <a:r>
              <a:rPr lang="en-US" sz="3600" dirty="0"/>
              <a:t>Step 2: set key = a[p],  j= p-1</a:t>
            </a:r>
          </a:p>
          <a:p>
            <a:r>
              <a:rPr lang="en-US" sz="3600" dirty="0"/>
              <a:t>Step 3: Repeat while temp &lt;A[j]</a:t>
            </a:r>
          </a:p>
          <a:p>
            <a:r>
              <a:rPr lang="en-US" sz="3600" dirty="0"/>
              <a:t>   	-a[j+1]=a[j];</a:t>
            </a:r>
          </a:p>
          <a:p>
            <a:pPr lvl="1"/>
            <a:r>
              <a:rPr lang="en-US" sz="3600" dirty="0"/>
              <a:t>	-J=J-1 [end loop]</a:t>
            </a:r>
          </a:p>
          <a:p>
            <a:r>
              <a:rPr lang="en-US" sz="3600" dirty="0"/>
              <a:t>Step 4: a[j+1]=temp;</a:t>
            </a:r>
          </a:p>
          <a:p>
            <a:r>
              <a:rPr lang="en-US" sz="3600" dirty="0"/>
              <a:t>Step 5: Return	 </a:t>
            </a:r>
          </a:p>
        </p:txBody>
      </p:sp>
    </p:spTree>
    <p:extLst>
      <p:ext uri="{BB962C8B-B14F-4D97-AF65-F5344CB8AC3E}">
        <p14:creationId xmlns:p14="http://schemas.microsoft.com/office/powerpoint/2010/main" val="265891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67000" y="533400"/>
            <a:ext cx="80772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Insertsort</a:t>
            </a:r>
            <a:r>
              <a:rPr lang="en-US" sz="2800" dirty="0"/>
              <a:t>(</a:t>
            </a:r>
            <a:r>
              <a:rPr lang="en-US" sz="2800" dirty="0" err="1"/>
              <a:t>int</a:t>
            </a:r>
            <a:r>
              <a:rPr lang="en-US" sz="2800" dirty="0"/>
              <a:t> a[], </a:t>
            </a:r>
            <a:r>
              <a:rPr lang="en-US" sz="2800" dirty="0" err="1"/>
              <a:t>int</a:t>
            </a:r>
            <a:r>
              <a:rPr lang="en-US" sz="2800" dirty="0"/>
              <a:t> n)</a:t>
            </a:r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int</a:t>
            </a:r>
            <a:r>
              <a:rPr lang="en-US" sz="2800" dirty="0"/>
              <a:t> p, j, temp;</a:t>
            </a:r>
          </a:p>
          <a:p>
            <a:r>
              <a:rPr lang="en-US" sz="2800" dirty="0"/>
              <a:t>	for(p=1; p&lt;n; p++)</a:t>
            </a:r>
          </a:p>
          <a:p>
            <a:r>
              <a:rPr lang="en-US" sz="2800" dirty="0"/>
              <a:t>	{</a:t>
            </a:r>
          </a:p>
          <a:p>
            <a:r>
              <a:rPr lang="en-US" sz="2800" dirty="0"/>
              <a:t>  		temp=a[p];</a:t>
            </a:r>
          </a:p>
          <a:p>
            <a:r>
              <a:rPr lang="en-US" sz="2800" dirty="0"/>
              <a:t>		</a:t>
            </a:r>
            <a:r>
              <a:rPr lang="en-US" sz="2800" b="1" i="1" dirty="0"/>
              <a:t>for(j=p-1; j&gt;=0&amp;&amp;temp&lt;a[j]; j--)</a:t>
            </a:r>
          </a:p>
          <a:p>
            <a:r>
              <a:rPr lang="en-US" sz="2800" dirty="0"/>
              <a:t>			a[j+1]= a[j]</a:t>
            </a:r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	 a[j+1]=temp;</a:t>
            </a:r>
          </a:p>
          <a:p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768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9753600" cy="737064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dirty="0"/>
              <a:t>Time Complexity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0" y="1524000"/>
            <a:ext cx="10972800" cy="4724717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Wort</a:t>
            </a:r>
            <a:r>
              <a:rPr lang="en-US" dirty="0"/>
              <a:t> case Analysis: Array elements are in reverse sorted order </a:t>
            </a:r>
          </a:p>
          <a:p>
            <a:pPr marL="0" indent="0">
              <a:buNone/>
            </a:pPr>
            <a:r>
              <a:rPr lang="en-US" dirty="0"/>
              <a:t>Inner loop executes for 1 times when </a:t>
            </a:r>
            <a:r>
              <a:rPr lang="en-US" dirty="0" err="1"/>
              <a:t>i</a:t>
            </a:r>
            <a:r>
              <a:rPr lang="en-US" dirty="0"/>
              <a:t>=1, 2, times when </a:t>
            </a:r>
            <a:r>
              <a:rPr lang="en-US" dirty="0" err="1"/>
              <a:t>i</a:t>
            </a:r>
            <a:r>
              <a:rPr lang="en-US" dirty="0"/>
              <a:t>=2…. And n-1 times when </a:t>
            </a:r>
            <a:r>
              <a:rPr lang="en-US" dirty="0" err="1"/>
              <a:t>i</a:t>
            </a:r>
            <a:r>
              <a:rPr lang="en-US" dirty="0"/>
              <a:t>=n-1;</a:t>
            </a:r>
          </a:p>
          <a:p>
            <a:r>
              <a:rPr lang="en-US" dirty="0"/>
              <a:t>Time complexity=1+2+3+………………+(n-2)+(n-1</a:t>
            </a:r>
            <a:r>
              <a:rPr lang="en-US" dirty="0" smtClean="0"/>
              <a:t>)=n(n-1)/2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=O(n2)</a:t>
            </a:r>
          </a:p>
          <a:p>
            <a:pPr marL="0" indent="0">
              <a:buNone/>
            </a:pPr>
            <a:r>
              <a:rPr lang="en-US" dirty="0"/>
              <a:t>Best Case Analysis:</a:t>
            </a:r>
          </a:p>
          <a:p>
            <a:pPr marL="0" indent="0">
              <a:buNone/>
            </a:pPr>
            <a:r>
              <a:rPr lang="en-US" dirty="0"/>
              <a:t>Array elements are already sorted </a:t>
            </a:r>
            <a:r>
              <a:rPr lang="en-US" dirty="0" smtClean="0"/>
              <a:t>, the inner loop has single comparison, so inner loop is constant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Inner loop executes for 1 times when </a:t>
            </a:r>
            <a:r>
              <a:rPr lang="en-US" dirty="0" err="1"/>
              <a:t>i</a:t>
            </a:r>
            <a:r>
              <a:rPr lang="en-US" dirty="0"/>
              <a:t>=1, 1 times when </a:t>
            </a:r>
            <a:r>
              <a:rPr lang="en-US" dirty="0" err="1"/>
              <a:t>i</a:t>
            </a:r>
            <a:r>
              <a:rPr lang="en-US" dirty="0"/>
              <a:t>=2………………….. And 1 times when </a:t>
            </a:r>
            <a:r>
              <a:rPr lang="en-US" dirty="0" err="1"/>
              <a:t>i</a:t>
            </a:r>
            <a:r>
              <a:rPr lang="en-US" dirty="0"/>
              <a:t>=n-1</a:t>
            </a:r>
            <a:r>
              <a:rPr lang="en-US" dirty="0" smtClean="0"/>
              <a:t>; O(n)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Time complexity =1+2+3+………………1+1</a:t>
            </a:r>
          </a:p>
          <a:p>
            <a:pPr marL="0" indent="0">
              <a:buNone/>
            </a:pPr>
            <a:r>
              <a:rPr lang="en-US" dirty="0"/>
              <a:t>Space complexity:</a:t>
            </a:r>
          </a:p>
          <a:p>
            <a:pPr marL="0" indent="0">
              <a:buNone/>
            </a:pPr>
            <a:r>
              <a:rPr lang="en-US" dirty="0"/>
              <a:t>No extra space besides 5 variables is needed for sorting </a:t>
            </a:r>
          </a:p>
          <a:p>
            <a:pPr marL="0" indent="0">
              <a:buNone/>
            </a:pPr>
            <a:r>
              <a:rPr lang="en-US" dirty="0"/>
              <a:t>Space complexity =</a:t>
            </a:r>
            <a:r>
              <a:rPr lang="en-US" dirty="0" smtClean="0"/>
              <a:t>O(1).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07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7370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Shell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81917"/>
          </a:xfrm>
        </p:spPr>
        <p:txBody>
          <a:bodyPr>
            <a:normAutofit/>
          </a:bodyPr>
          <a:lstStyle/>
          <a:p>
            <a:r>
              <a:rPr lang="en-US" dirty="0" smtClean="0"/>
              <a:t>Shell sort is an improvement on the simple insertion sort.</a:t>
            </a:r>
          </a:p>
          <a:p>
            <a:r>
              <a:rPr lang="en-US" dirty="0" smtClean="0"/>
              <a:t>It is also called as diminishing increment sort.</a:t>
            </a:r>
          </a:p>
          <a:p>
            <a:r>
              <a:rPr lang="en-US" dirty="0"/>
              <a:t>In insertion sort, we move elements only one position ahead.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an element has to be moved far ahead, many movements are involved.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idea of </a:t>
            </a:r>
            <a:r>
              <a:rPr lang="en-US" dirty="0" smtClean="0"/>
              <a:t>shell Sort </a:t>
            </a:r>
            <a:r>
              <a:rPr lang="en-US" dirty="0"/>
              <a:t>is to allow exchange of far items.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4238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7370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18191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25	   57		48		37		12		92	 86	 33</a:t>
            </a:r>
          </a:p>
          <a:p>
            <a:pPr marL="0" indent="0">
              <a:buNone/>
            </a:pPr>
            <a:r>
              <a:rPr lang="en-US" dirty="0" smtClean="0"/>
              <a:t>First find the interval let’s say gap =(floor)N/2 =8/2=4</a:t>
            </a:r>
          </a:p>
          <a:p>
            <a:pPr marL="0" indent="0">
              <a:buNone/>
            </a:pPr>
            <a:r>
              <a:rPr lang="en-US" dirty="0" smtClean="0"/>
              <a:t>Here gap is 4 at pass 1 we compare and swap </a:t>
            </a:r>
          </a:p>
          <a:p>
            <a:pPr marL="0" indent="0">
              <a:buNone/>
            </a:pPr>
            <a:r>
              <a:rPr lang="en-US" dirty="0" smtClean="0"/>
              <a:t>(0, 4) , (1, 5), (2, 6), (3, 7)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47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6608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562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</a:t>
            </a:r>
            <a:r>
              <a:rPr lang="en-US" dirty="0" smtClean="0"/>
              <a:t>or(gap=n/2; gap&gt;=1; gap/2){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for(j=gap; j&lt;n; j++){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for(</a:t>
            </a:r>
            <a:r>
              <a:rPr lang="en-US" dirty="0" err="1" smtClean="0"/>
              <a:t>i</a:t>
            </a:r>
            <a:r>
              <a:rPr lang="en-US" dirty="0" smtClean="0"/>
              <a:t>=j-gap; </a:t>
            </a:r>
            <a:r>
              <a:rPr lang="en-US" dirty="0" err="1" smtClean="0"/>
              <a:t>i</a:t>
            </a:r>
            <a:r>
              <a:rPr lang="en-US" dirty="0" smtClean="0"/>
              <a:t>&gt;=0; </a:t>
            </a:r>
            <a:r>
              <a:rPr lang="en-US" dirty="0" err="1" smtClean="0"/>
              <a:t>i</a:t>
            </a:r>
            <a:r>
              <a:rPr lang="en-US" dirty="0" smtClean="0"/>
              <a:t>=</a:t>
            </a:r>
            <a:r>
              <a:rPr lang="en-US" dirty="0" err="1" smtClean="0"/>
              <a:t>i</a:t>
            </a:r>
            <a:r>
              <a:rPr lang="en-US" dirty="0" smtClean="0"/>
              <a:t>-gap){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if(a[</a:t>
            </a:r>
            <a:r>
              <a:rPr lang="en-US" dirty="0" err="1" smtClean="0"/>
              <a:t>i+gap</a:t>
            </a:r>
            <a:r>
              <a:rPr lang="en-US" dirty="0" smtClean="0"/>
              <a:t>]&gt;a[</a:t>
            </a:r>
            <a:r>
              <a:rPr lang="en-US" dirty="0" err="1" smtClean="0"/>
              <a:t>i</a:t>
            </a:r>
            <a:r>
              <a:rPr lang="en-US" dirty="0" smtClean="0"/>
              <a:t>]){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   break;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 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        else{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     </a:t>
            </a:r>
            <a:r>
              <a:rPr lang="en-US" dirty="0" err="1" smtClean="0"/>
              <a:t>int</a:t>
            </a:r>
            <a:r>
              <a:rPr lang="en-US" dirty="0" smtClean="0"/>
              <a:t> temp;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temp=a[</a:t>
            </a:r>
            <a:r>
              <a:rPr lang="en-US" dirty="0" err="1" smtClean="0"/>
              <a:t>i+gap</a:t>
            </a:r>
            <a:r>
              <a:rPr lang="en-US" dirty="0" smtClean="0"/>
              <a:t>];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a[</a:t>
            </a:r>
            <a:r>
              <a:rPr lang="en-US" dirty="0" err="1" smtClean="0"/>
              <a:t>i+gap</a:t>
            </a:r>
            <a:r>
              <a:rPr lang="en-US" dirty="0" smtClean="0"/>
              <a:t>]=a[</a:t>
            </a:r>
            <a:r>
              <a:rPr lang="en-US" dirty="0" err="1" smtClean="0"/>
              <a:t>i</a:t>
            </a:r>
            <a:r>
              <a:rPr lang="en-US" dirty="0" smtClean="0"/>
              <a:t>];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     a[</a:t>
            </a:r>
            <a:r>
              <a:rPr lang="en-US" dirty="0" err="1" smtClean="0"/>
              <a:t>i</a:t>
            </a:r>
            <a:r>
              <a:rPr lang="en-US" dirty="0" smtClean="0"/>
              <a:t>]=temp;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}}}</a:t>
            </a:r>
          </a:p>
        </p:txBody>
      </p:sp>
    </p:spTree>
    <p:extLst>
      <p:ext uri="{BB962C8B-B14F-4D97-AF65-F5344CB8AC3E}">
        <p14:creationId xmlns:p14="http://schemas.microsoft.com/office/powerpoint/2010/main" val="2015876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Time Complexity:</a:t>
            </a:r>
            <a:r>
              <a:rPr lang="en-US" dirty="0"/>
              <a:t> Time complexity of above implementation of </a:t>
            </a:r>
            <a:r>
              <a:rPr lang="en-US" dirty="0" smtClean="0"/>
              <a:t>shell sort </a:t>
            </a:r>
            <a:r>
              <a:rPr lang="en-US" dirty="0"/>
              <a:t>is O(n</a:t>
            </a:r>
            <a:r>
              <a:rPr lang="en-US" baseline="30000" dirty="0"/>
              <a:t>2</a:t>
            </a:r>
            <a:r>
              <a:rPr lang="en-US" dirty="0"/>
              <a:t>).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above implementation gap is reduce by half in every iteration. There are many other ways to reduce gap which lead to better time complexity.</a:t>
            </a:r>
          </a:p>
        </p:txBody>
      </p:sp>
    </p:spTree>
    <p:extLst>
      <p:ext uri="{BB962C8B-B14F-4D97-AF65-F5344CB8AC3E}">
        <p14:creationId xmlns:p14="http://schemas.microsoft.com/office/powerpoint/2010/main" val="327194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813264"/>
          </a:xfrm>
        </p:spPr>
        <p:txBody>
          <a:bodyPr/>
          <a:lstStyle/>
          <a:p>
            <a:pPr algn="l"/>
            <a:r>
              <a:rPr lang="en-US" dirty="0" smtClean="0"/>
              <a:t>Selection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10571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Consider an array a with n elements a[0] to a[n-1].</a:t>
            </a:r>
          </a:p>
          <a:p>
            <a:r>
              <a:rPr lang="en-US" dirty="0" smtClean="0"/>
              <a:t>The selection sort algorithm for sorting a[] works as:</a:t>
            </a:r>
          </a:p>
          <a:p>
            <a:r>
              <a:rPr lang="en-US" dirty="0" smtClean="0"/>
              <a:t>First find the smallest elements in the list and put it in the first position.</a:t>
            </a:r>
          </a:p>
          <a:p>
            <a:r>
              <a:rPr lang="en-US" dirty="0" smtClean="0"/>
              <a:t>Then find the second smallest element and put it in second position and so on i.e.</a:t>
            </a:r>
          </a:p>
          <a:p>
            <a:pPr marL="0" indent="0">
              <a:buNone/>
            </a:pPr>
            <a:r>
              <a:rPr lang="en-US" b="1" i="1" dirty="0" smtClean="0">
                <a:solidFill>
                  <a:srgbClr val="FF0000"/>
                </a:solidFill>
              </a:rPr>
              <a:t>In first pass</a:t>
            </a:r>
            <a:r>
              <a:rPr lang="en-US" i="1" dirty="0" smtClean="0"/>
              <a:t> find the location L o </a:t>
            </a:r>
            <a:r>
              <a:rPr lang="en-US" i="1" dirty="0" err="1" smtClean="0"/>
              <a:t>fthe</a:t>
            </a:r>
            <a:r>
              <a:rPr lang="en-US" i="1" dirty="0" smtClean="0"/>
              <a:t> smallest in the list of n elements and then interchange a[L] with a[0]. So a[0] is sorted.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In </a:t>
            </a:r>
            <a:r>
              <a:rPr lang="en-US" b="1" dirty="0" smtClean="0">
                <a:solidFill>
                  <a:srgbClr val="7030A0"/>
                </a:solidFill>
              </a:rPr>
              <a:t>Second </a:t>
            </a:r>
            <a:r>
              <a:rPr lang="en-US" b="1" dirty="0">
                <a:solidFill>
                  <a:srgbClr val="7030A0"/>
                </a:solidFill>
              </a:rPr>
              <a:t>pass</a:t>
            </a:r>
            <a:r>
              <a:rPr lang="en-US" dirty="0"/>
              <a:t> find the location L </a:t>
            </a:r>
            <a:r>
              <a:rPr lang="en-US" dirty="0" smtClean="0"/>
              <a:t>of the </a:t>
            </a:r>
            <a:r>
              <a:rPr lang="en-US" dirty="0"/>
              <a:t>smallest in the list of </a:t>
            </a:r>
            <a:r>
              <a:rPr lang="en-US" dirty="0" smtClean="0"/>
              <a:t>n-1 </a:t>
            </a:r>
            <a:r>
              <a:rPr lang="en-US" dirty="0"/>
              <a:t>elements and then interchange a[L] with </a:t>
            </a:r>
            <a:r>
              <a:rPr lang="en-US" dirty="0" smtClean="0"/>
              <a:t>a[1]. </a:t>
            </a:r>
            <a:r>
              <a:rPr lang="en-US" dirty="0"/>
              <a:t>So </a:t>
            </a:r>
            <a:r>
              <a:rPr lang="en-US" dirty="0" smtClean="0"/>
              <a:t>a[1] </a:t>
            </a:r>
            <a:r>
              <a:rPr lang="en-US" dirty="0"/>
              <a:t>is </a:t>
            </a:r>
            <a:r>
              <a:rPr lang="en-US" dirty="0" smtClean="0"/>
              <a:t>sorted i.e. a[0]&lt;=a[1] and so 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47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6608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Algorithm :Selection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2581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Input: An array a of n elements</a:t>
            </a:r>
          </a:p>
          <a:p>
            <a:pPr marL="0" indent="0">
              <a:buNone/>
            </a:pPr>
            <a:r>
              <a:rPr lang="en-US" dirty="0" smtClean="0"/>
              <a:t>Output: sorted a of n elements. </a:t>
            </a:r>
          </a:p>
          <a:p>
            <a:pPr marL="0" indent="0">
              <a:buNone/>
            </a:pPr>
            <a:r>
              <a:rPr lang="en-US" dirty="0" smtClean="0"/>
              <a:t>1. Loop for pass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Repeat step 2 to 4 for pass=0 to n-2</a:t>
            </a:r>
          </a:p>
          <a:p>
            <a:pPr marL="0" indent="0">
              <a:buNone/>
            </a:pPr>
            <a:r>
              <a:rPr lang="en-US" dirty="0" smtClean="0"/>
              <a:t>2. Initialize 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min_index</a:t>
            </a:r>
            <a:r>
              <a:rPr lang="en-US" dirty="0" smtClean="0"/>
              <a:t>=pass.</a:t>
            </a:r>
          </a:p>
          <a:p>
            <a:pPr marL="0" indent="0">
              <a:buNone/>
            </a:pPr>
            <a:r>
              <a:rPr lang="en-US" dirty="0" smtClean="0"/>
              <a:t>	min=a[pass];</a:t>
            </a:r>
          </a:p>
          <a:p>
            <a:pPr marL="0" indent="0">
              <a:buNone/>
            </a:pPr>
            <a:r>
              <a:rPr lang="en-US" dirty="0" smtClean="0"/>
              <a:t>3. For </a:t>
            </a:r>
            <a:r>
              <a:rPr lang="en-US" dirty="0" err="1" smtClean="0"/>
              <a:t>i</a:t>
            </a:r>
            <a:r>
              <a:rPr lang="en-US" dirty="0" smtClean="0"/>
              <a:t>=pass+1 to n-1 do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if a[</a:t>
            </a:r>
            <a:r>
              <a:rPr lang="en-US" dirty="0" err="1" smtClean="0"/>
              <a:t>i</a:t>
            </a:r>
            <a:r>
              <a:rPr lang="en-US" dirty="0" smtClean="0"/>
              <a:t>]&lt;a[</a:t>
            </a:r>
            <a:r>
              <a:rPr lang="en-US" dirty="0" err="1" smtClean="0"/>
              <a:t>min_index</a:t>
            </a:r>
            <a:r>
              <a:rPr lang="en-US" dirty="0" smtClean="0"/>
              <a:t>] then </a:t>
            </a:r>
            <a:r>
              <a:rPr lang="en-US" dirty="0" err="1" smtClean="0"/>
              <a:t>min_index</a:t>
            </a:r>
            <a:r>
              <a:rPr lang="en-US" dirty="0" smtClean="0"/>
              <a:t>=I;</a:t>
            </a:r>
          </a:p>
          <a:p>
            <a:pPr marL="0" indent="0">
              <a:buNone/>
            </a:pPr>
            <a:r>
              <a:rPr lang="en-US" dirty="0" smtClean="0"/>
              <a:t>4. Exchange if(</a:t>
            </a:r>
            <a:r>
              <a:rPr lang="en-US" dirty="0" err="1" smtClean="0"/>
              <a:t>min_index</a:t>
            </a:r>
            <a:r>
              <a:rPr lang="en-US" dirty="0" smtClean="0"/>
              <a:t>!=pass) then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a[pass]=a[</a:t>
            </a:r>
            <a:r>
              <a:rPr lang="en-US" dirty="0" err="1" smtClean="0"/>
              <a:t>min_index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5. Return a[</a:t>
            </a:r>
            <a:r>
              <a:rPr lang="en-US" dirty="0" err="1" smtClean="0"/>
              <a:t>min_index</a:t>
            </a:r>
            <a:r>
              <a:rPr lang="en-US" dirty="0" smtClean="0"/>
              <a:t>]=min;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9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432264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Tracing Algorithm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37064"/>
            <a:ext cx="11658600" cy="5968536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/>
              <a:t>  A[]={40, 66, 93, 8, 12, 44, 6, 88, 60}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479391"/>
              </p:ext>
            </p:extLst>
          </p:nvPr>
        </p:nvGraphicFramePr>
        <p:xfrm>
          <a:off x="457200" y="1295399"/>
          <a:ext cx="11125211" cy="5181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914400"/>
                <a:gridCol w="914400"/>
                <a:gridCol w="838202"/>
                <a:gridCol w="990600"/>
                <a:gridCol w="838201"/>
                <a:gridCol w="1066801"/>
                <a:gridCol w="990601"/>
                <a:gridCol w="990595"/>
                <a:gridCol w="990611"/>
              </a:tblGrid>
              <a:tr h="575733">
                <a:tc>
                  <a:txBody>
                    <a:bodyPr/>
                    <a:lstStyle/>
                    <a:p>
                      <a:r>
                        <a:rPr lang="en-US" dirty="0" smtClean="0"/>
                        <a:t>Pass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a[2]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a[3]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a[4]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a[5]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a[6]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a[7]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a[8]</a:t>
                      </a:r>
                      <a:endParaRPr lang="en-US" dirty="0"/>
                    </a:p>
                  </a:txBody>
                  <a:tcPr/>
                </a:tc>
              </a:tr>
              <a:tr h="575733">
                <a:tc>
                  <a:txBody>
                    <a:bodyPr/>
                    <a:lstStyle/>
                    <a:p>
                      <a:r>
                        <a:rPr lang="en-US" dirty="0" smtClean="0"/>
                        <a:t>pass=0,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min_index</a:t>
                      </a:r>
                      <a:r>
                        <a:rPr lang="en-US" baseline="0" dirty="0" smtClean="0"/>
                        <a:t>=6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40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</a:tr>
              <a:tr h="5757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pass=1,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min_index</a:t>
                      </a:r>
                      <a:r>
                        <a:rPr lang="en-US" baseline="0" dirty="0" smtClean="0"/>
                        <a:t>=3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</a:tr>
              <a:tr h="5757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pass=2,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min_index</a:t>
                      </a:r>
                      <a:r>
                        <a:rPr lang="en-US" baseline="0" dirty="0" smtClean="0"/>
                        <a:t>=4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6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8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93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66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12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44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40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88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60</a:t>
                      </a:r>
                      <a:endParaRPr lang="en-US" b="0" dirty="0"/>
                    </a:p>
                  </a:txBody>
                  <a:tcPr/>
                </a:tc>
              </a:tr>
              <a:tr h="5757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pass=3,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min_index</a:t>
                      </a:r>
                      <a:r>
                        <a:rPr lang="en-US" baseline="0" dirty="0" smtClean="0"/>
                        <a:t>=6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6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8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66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93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44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40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88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60</a:t>
                      </a:r>
                      <a:endParaRPr lang="en-US" b="0" dirty="0"/>
                    </a:p>
                  </a:txBody>
                  <a:tcPr/>
                </a:tc>
              </a:tr>
              <a:tr h="5757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pass=4,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min_index</a:t>
                      </a:r>
                      <a:r>
                        <a:rPr lang="en-US" baseline="0" dirty="0" smtClean="0"/>
                        <a:t>=5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57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pass=5,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min_index</a:t>
                      </a:r>
                      <a:r>
                        <a:rPr lang="en-US" baseline="0" dirty="0" smtClean="0"/>
                        <a:t>=8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57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pass=6,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min_index</a:t>
                      </a:r>
                      <a:r>
                        <a:rPr lang="en-US" baseline="0" dirty="0" smtClean="0"/>
                        <a:t>=-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573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pass=7,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min_index</a:t>
                      </a:r>
                      <a:r>
                        <a:rPr lang="en-US" baseline="0" dirty="0" smtClean="0"/>
                        <a:t>=-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61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6608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C function for selection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638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selectionSort</a:t>
            </a:r>
            <a:r>
              <a:rPr lang="en-US" dirty="0" smtClean="0"/>
              <a:t>(in a[], </a:t>
            </a:r>
            <a:r>
              <a:rPr lang="en-US" dirty="0" err="1" smtClean="0"/>
              <a:t>int</a:t>
            </a:r>
            <a:r>
              <a:rPr lang="en-US" dirty="0" smtClean="0"/>
              <a:t> n){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pass, </a:t>
            </a:r>
            <a:r>
              <a:rPr lang="en-US" dirty="0" err="1" smtClean="0"/>
              <a:t>min_index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, min;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for(pass=0; pass&lt;n-1; pass++){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 err="1" smtClean="0"/>
              <a:t>min_index</a:t>
            </a:r>
            <a:r>
              <a:rPr lang="en-US" dirty="0" smtClean="0"/>
              <a:t>=pass;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 min=a[pass];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for(</a:t>
            </a:r>
            <a:r>
              <a:rPr lang="en-US" dirty="0" err="1" smtClean="0"/>
              <a:t>i</a:t>
            </a:r>
            <a:r>
              <a:rPr lang="en-US" dirty="0" smtClean="0"/>
              <a:t>=</a:t>
            </a:r>
            <a:r>
              <a:rPr lang="en-US" dirty="0" err="1" smtClean="0"/>
              <a:t>pass+i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&lt;n-1; </a:t>
            </a:r>
            <a:r>
              <a:rPr lang="en-US" dirty="0" err="1" smtClean="0"/>
              <a:t>i</a:t>
            </a:r>
            <a:r>
              <a:rPr lang="en-US" dirty="0" smtClean="0"/>
              <a:t>++){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		if(a[</a:t>
            </a:r>
            <a:r>
              <a:rPr lang="en-US" dirty="0" err="1" smtClean="0"/>
              <a:t>i</a:t>
            </a:r>
            <a:r>
              <a:rPr lang="en-US" dirty="0" smtClean="0"/>
              <a:t>]&lt;a[</a:t>
            </a:r>
            <a:r>
              <a:rPr lang="en-US" dirty="0" err="1" smtClean="0"/>
              <a:t>min_index</a:t>
            </a:r>
            <a:r>
              <a:rPr lang="en-US" dirty="0" smtClean="0"/>
              <a:t>]){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	</a:t>
            </a:r>
            <a:r>
              <a:rPr lang="en-US" dirty="0" err="1" smtClean="0"/>
              <a:t>min_index</a:t>
            </a:r>
            <a:r>
              <a:rPr lang="en-US" dirty="0" smtClean="0"/>
              <a:t>=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}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if(</a:t>
            </a:r>
            <a:r>
              <a:rPr lang="en-US" dirty="0" err="1" smtClean="0"/>
              <a:t>min_index</a:t>
            </a:r>
            <a:r>
              <a:rPr lang="en-US" dirty="0" smtClean="0"/>
              <a:t>!=pass){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a[pass]=a[</a:t>
            </a:r>
            <a:r>
              <a:rPr lang="en-US" dirty="0" err="1" smtClean="0"/>
              <a:t>min_index</a:t>
            </a:r>
            <a:r>
              <a:rPr lang="en-US" dirty="0" smtClean="0"/>
              <a:t>];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a[</a:t>
            </a:r>
            <a:r>
              <a:rPr lang="en-US" dirty="0" err="1" smtClean="0"/>
              <a:t>min_index</a:t>
            </a:r>
            <a:r>
              <a:rPr lang="en-US" dirty="0" smtClean="0"/>
              <a:t>]=min;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}   //for end</a:t>
            </a:r>
          </a:p>
          <a:p>
            <a:pPr marL="0" indent="0">
              <a:buNone/>
            </a:pPr>
            <a:r>
              <a:rPr lang="en-US" dirty="0" smtClean="0"/>
              <a:t>}   //end selection sort</a:t>
            </a:r>
          </a:p>
        </p:txBody>
      </p:sp>
    </p:spTree>
    <p:extLst>
      <p:ext uri="{BB962C8B-B14F-4D97-AF65-F5344CB8AC3E}">
        <p14:creationId xmlns:p14="http://schemas.microsoft.com/office/powerpoint/2010/main" val="331629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813264"/>
          </a:xfrm>
        </p:spPr>
        <p:txBody>
          <a:bodyPr/>
          <a:lstStyle/>
          <a:p>
            <a:pPr algn="l"/>
            <a:r>
              <a:rPr lang="en-US" dirty="0" smtClean="0"/>
              <a:t>Complexity for selection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10571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first pass makes n-1 comparison second pass makes n-2 comparisons and son on. </a:t>
            </a:r>
          </a:p>
          <a:p>
            <a:pPr marL="0" indent="0">
              <a:buNone/>
            </a:pPr>
            <a:r>
              <a:rPr lang="en-US" dirty="0" smtClean="0"/>
              <a:t>The total of</a:t>
            </a:r>
          </a:p>
          <a:p>
            <a:pPr marL="0" indent="0">
              <a:buNone/>
            </a:pPr>
            <a:r>
              <a:rPr lang="en-US" dirty="0" smtClean="0"/>
              <a:t>F(n)=(n-1)+(n-2)+ ………. +2+1 = n*(n-1)/2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= O(n2).</a:t>
            </a:r>
          </a:p>
          <a:p>
            <a:pPr marL="0" indent="0">
              <a:buNone/>
            </a:pPr>
            <a:r>
              <a:rPr lang="en-US" dirty="0" smtClean="0"/>
              <a:t>No improvements if the input is completely sorted or unsorted since testing is made in each case.</a:t>
            </a:r>
          </a:p>
          <a:p>
            <a:pPr marL="0" indent="0">
              <a:buNone/>
            </a:pPr>
            <a:r>
              <a:rPr lang="en-US" dirty="0" smtClean="0"/>
              <a:t>It is suitable for small 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88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Quick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</a:t>
            </a:r>
            <a:r>
              <a:rPr lang="en-US" dirty="0"/>
              <a:t>practice this is </a:t>
            </a:r>
            <a:r>
              <a:rPr lang="en-US" dirty="0" smtClean="0"/>
              <a:t>the</a:t>
            </a:r>
            <a:r>
              <a:rPr lang="en-US" dirty="0"/>
              <a:t> </a:t>
            </a:r>
            <a:r>
              <a:rPr lang="en-US" dirty="0" smtClean="0">
                <a:solidFill>
                  <a:srgbClr val="00B0F0"/>
                </a:solidFill>
              </a:rPr>
              <a:t>fastest </a:t>
            </a:r>
            <a:r>
              <a:rPr lang="en-US" dirty="0">
                <a:solidFill>
                  <a:srgbClr val="00B0F0"/>
                </a:solidFill>
              </a:rPr>
              <a:t>sorting method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possesses </a:t>
            </a:r>
            <a:r>
              <a:rPr lang="en-US" dirty="0">
                <a:solidFill>
                  <a:srgbClr val="00B0F0"/>
                </a:solidFill>
              </a:rPr>
              <a:t>very good average</a:t>
            </a:r>
            <a:r>
              <a:rPr lang="en-US" dirty="0"/>
              <a:t> case complexity among all the </a:t>
            </a:r>
            <a:r>
              <a:rPr lang="en-US" dirty="0" smtClean="0"/>
              <a:t>sorting algorithms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algorithm is based on the divide and conquer paradigm.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main </a:t>
            </a:r>
            <a:r>
              <a:rPr lang="en-US" dirty="0" smtClean="0"/>
              <a:t>idea behind </a:t>
            </a:r>
            <a:r>
              <a:rPr lang="en-US" dirty="0"/>
              <a:t>this sorting is partitioning of the elements.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3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i="1" dirty="0">
                <a:effectLst/>
              </a:rPr>
              <a:t>Steps</a:t>
            </a:r>
            <a:r>
              <a:rPr lang="en-US" sz="4000" dirty="0">
                <a:effectLst/>
              </a:rPr>
              <a:t> </a:t>
            </a:r>
            <a:r>
              <a:rPr lang="en-US" sz="4000" b="1" i="1" dirty="0">
                <a:effectLst/>
              </a:rPr>
              <a:t>for</a:t>
            </a:r>
            <a:r>
              <a:rPr lang="en-US" sz="4000" dirty="0">
                <a:effectLst/>
              </a:rPr>
              <a:t> </a:t>
            </a:r>
            <a:r>
              <a:rPr lang="en-US" sz="4000" b="1" i="1" dirty="0">
                <a:effectLst/>
              </a:rPr>
              <a:t>Quick</a:t>
            </a:r>
            <a:r>
              <a:rPr lang="en-US" sz="4000" dirty="0">
                <a:effectLst/>
              </a:rPr>
              <a:t> </a:t>
            </a:r>
            <a:r>
              <a:rPr lang="en-US" sz="4000" b="1" i="1" dirty="0">
                <a:effectLst/>
              </a:rPr>
              <a:t>Sort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Divide</a:t>
            </a:r>
            <a:r>
              <a:rPr lang="en-US" b="1" dirty="0"/>
              <a:t>:</a:t>
            </a:r>
            <a:r>
              <a:rPr lang="en-US" dirty="0"/>
              <a:t> partition the array into two nonempty sub arrays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>
                <a:solidFill>
                  <a:srgbClr val="00B0F0"/>
                </a:solidFill>
              </a:rPr>
              <a:t>Conquer</a:t>
            </a:r>
            <a:r>
              <a:rPr lang="en-US" b="1" dirty="0"/>
              <a:t>:</a:t>
            </a:r>
            <a:r>
              <a:rPr lang="en-US" dirty="0"/>
              <a:t> two sub arrays are sorted recursively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i="1" dirty="0">
                <a:solidFill>
                  <a:srgbClr val="00B0F0"/>
                </a:solidFill>
              </a:rPr>
              <a:t>Combine</a:t>
            </a:r>
            <a:r>
              <a:rPr lang="en-US" b="1" dirty="0"/>
              <a:t>:</a:t>
            </a:r>
            <a:r>
              <a:rPr lang="en-US" dirty="0"/>
              <a:t> two sub arrays are already sorted in place so no need to combine.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0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24001"/>
            <a:ext cx="6248400" cy="2080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591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381000"/>
            <a:ext cx="8229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QuickSort</a:t>
            </a:r>
            <a:r>
              <a:rPr lang="en-US" dirty="0"/>
              <a:t>(</a:t>
            </a:r>
            <a:r>
              <a:rPr lang="en-US" dirty="0" err="1"/>
              <a:t>A,l,r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f(l&lt;r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p </a:t>
            </a:r>
            <a:r>
              <a:rPr lang="en-US" dirty="0"/>
              <a:t>= Partition(</a:t>
            </a:r>
            <a:r>
              <a:rPr lang="en-US" dirty="0" err="1"/>
              <a:t>A,l,r</a:t>
            </a:r>
            <a:r>
              <a:rPr lang="en-US" dirty="0"/>
              <a:t>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QuickSort</a:t>
            </a:r>
            <a:r>
              <a:rPr lang="en-US" dirty="0" smtClean="0"/>
              <a:t>(A,l,p-1</a:t>
            </a:r>
            <a:r>
              <a:rPr lang="en-US" dirty="0"/>
              <a:t>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QuickSort</a:t>
            </a:r>
            <a:r>
              <a:rPr lang="en-US" dirty="0" smtClean="0"/>
              <a:t>(A,p+1,r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smtClean="0"/>
              <a:t>	} 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55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33400"/>
            <a:ext cx="10972800" cy="5943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Partition(</a:t>
            </a:r>
            <a:r>
              <a:rPr lang="en-US" dirty="0" err="1"/>
              <a:t>A,l,r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x =l; y =r ;</a:t>
            </a:r>
          </a:p>
          <a:p>
            <a:pPr marL="0" indent="0">
              <a:buNone/>
            </a:pPr>
            <a:r>
              <a:rPr lang="en-US" dirty="0"/>
              <a:t>	p = A[l]; </a:t>
            </a:r>
          </a:p>
          <a:p>
            <a:pPr marL="0" indent="0">
              <a:buNone/>
            </a:pPr>
            <a:r>
              <a:rPr lang="en-US" dirty="0"/>
              <a:t>	while(x&lt;y) 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while(A[x] &lt;= p) </a:t>
            </a:r>
          </a:p>
          <a:p>
            <a:pPr marL="0" indent="0">
              <a:buNone/>
            </a:pPr>
            <a:r>
              <a:rPr lang="en-US" dirty="0"/>
              <a:t>	x++;</a:t>
            </a:r>
          </a:p>
          <a:p>
            <a:pPr marL="0" indent="0">
              <a:buNone/>
            </a:pPr>
            <a:r>
              <a:rPr lang="en-US" dirty="0"/>
              <a:t>	while(A[y] &gt;=p) </a:t>
            </a:r>
          </a:p>
          <a:p>
            <a:pPr marL="0" indent="0">
              <a:buNone/>
            </a:pPr>
            <a:r>
              <a:rPr lang="en-US" dirty="0"/>
              <a:t>	y--;</a:t>
            </a:r>
          </a:p>
          <a:p>
            <a:pPr marL="0" indent="0">
              <a:buNone/>
            </a:pPr>
            <a:r>
              <a:rPr lang="en-US" dirty="0"/>
              <a:t>	if(x&lt;y)</a:t>
            </a:r>
          </a:p>
          <a:p>
            <a:pPr marL="0" indent="0">
              <a:buNone/>
            </a:pPr>
            <a:r>
              <a:rPr lang="en-US" dirty="0"/>
              <a:t>	 swap(A[x],A[y]);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A[l] = A[y]; A[y] = p;</a:t>
            </a:r>
          </a:p>
          <a:p>
            <a:pPr marL="0" indent="0">
              <a:buNone/>
            </a:pPr>
            <a:r>
              <a:rPr lang="en-US" dirty="0"/>
              <a:t>return y;	//return position of pivot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79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1" dirty="0"/>
              <a:t>Time </a:t>
            </a:r>
            <a:r>
              <a:rPr lang="en-US" b="1" i="1" dirty="0" smtClean="0"/>
              <a:t>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Best </a:t>
            </a:r>
            <a:r>
              <a:rPr lang="en-US" b="1" dirty="0">
                <a:solidFill>
                  <a:srgbClr val="00B0F0"/>
                </a:solidFill>
              </a:rPr>
              <a:t>Case: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Divides the array into two partitions of equal size, </a:t>
            </a:r>
            <a:r>
              <a:rPr lang="en-US" dirty="0" smtClean="0"/>
              <a:t>therefore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T(n</a:t>
            </a:r>
            <a:r>
              <a:rPr lang="en-US" dirty="0"/>
              <a:t>) = 2T(n/2) + O(n) ,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Solving </a:t>
            </a:r>
            <a:r>
              <a:rPr lang="en-US" dirty="0"/>
              <a:t>this recurrence we get,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T(n</a:t>
            </a:r>
            <a:r>
              <a:rPr lang="en-US" dirty="0"/>
              <a:t>)=O(</a:t>
            </a:r>
            <a:r>
              <a:rPr lang="en-US" dirty="0" err="1"/>
              <a:t>nlogn</a:t>
            </a:r>
            <a:r>
              <a:rPr lang="en-US" dirty="0" smtClean="0"/>
              <a:t>)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W</a:t>
            </a:r>
            <a:r>
              <a:rPr lang="en-US" b="1" dirty="0">
                <a:solidFill>
                  <a:srgbClr val="00B0F0"/>
                </a:solidFill>
              </a:rPr>
              <a:t>orst case: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when one partition contains the n-1 elements and another partition contains only one element. Therefore its recurrence relation is:</a:t>
            </a:r>
          </a:p>
          <a:p>
            <a:pPr marL="0" indent="0">
              <a:buNone/>
            </a:pPr>
            <a:r>
              <a:rPr lang="en-US" dirty="0" smtClean="0"/>
              <a:t>	T(n</a:t>
            </a:r>
            <a:r>
              <a:rPr lang="en-US" dirty="0"/>
              <a:t>) = T(n-1) + O(n</a:t>
            </a:r>
            <a:r>
              <a:rPr lang="en-US" dirty="0" smtClean="0"/>
              <a:t>),</a:t>
            </a:r>
          </a:p>
          <a:p>
            <a:pPr marL="0" indent="0">
              <a:buNone/>
            </a:pPr>
            <a:r>
              <a:rPr lang="en-US" dirty="0" smtClean="0"/>
              <a:t> 	Solving </a:t>
            </a:r>
            <a:r>
              <a:rPr lang="en-US" dirty="0"/>
              <a:t>this recurrence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we </a:t>
            </a:r>
            <a:r>
              <a:rPr lang="en-US" dirty="0"/>
              <a:t>get T(n)=O(n2)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9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Average </a:t>
            </a:r>
            <a:r>
              <a:rPr lang="en-US" b="1" dirty="0" smtClean="0"/>
              <a:t>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Good </a:t>
            </a:r>
            <a:r>
              <a:rPr lang="en-US" dirty="0"/>
              <a:t>and bad splits are randomly distributed across throughout the tree T1(n)= 2T'(n/2) + O(n) Balanced</a:t>
            </a:r>
          </a:p>
          <a:p>
            <a:r>
              <a:rPr lang="en-US" dirty="0"/>
              <a:t>T'(n)= T(n –1) + O(n) </a:t>
            </a:r>
            <a:r>
              <a:rPr lang="en-US" dirty="0" smtClean="0"/>
              <a:t>Unbalanced</a:t>
            </a:r>
          </a:p>
          <a:p>
            <a:r>
              <a:rPr lang="en-US" dirty="0" smtClean="0"/>
              <a:t>Solving</a:t>
            </a:r>
            <a:r>
              <a:rPr lang="en-US" dirty="0"/>
              <a:t>:</a:t>
            </a:r>
          </a:p>
          <a:p>
            <a:r>
              <a:rPr lang="en-US" dirty="0"/>
              <a:t>B(n)= 2(B(n/2 –1) + Θ(n/2)) + Θ(n) = 2B(n/2 –1) + Θ(n)</a:t>
            </a:r>
          </a:p>
          <a:p>
            <a:r>
              <a:rPr lang="en-US" dirty="0"/>
              <a:t>= O(</a:t>
            </a:r>
            <a:r>
              <a:rPr lang="en-US" dirty="0" err="1"/>
              <a:t>nlogn</a:t>
            </a:r>
            <a:r>
              <a:rPr lang="en-US" dirty="0"/>
              <a:t>) =&gt;T(n)=O(</a:t>
            </a:r>
            <a:r>
              <a:rPr lang="en-US" dirty="0" err="1"/>
              <a:t>nlogn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68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effectLst/>
              </a:rPr>
              <a:t>Merge </a:t>
            </a:r>
            <a:r>
              <a:rPr lang="en-US" b="1" dirty="0" smtClean="0">
                <a:effectLst/>
              </a:rPr>
              <a:t>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Divide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 smtClean="0"/>
              <a:t> </a:t>
            </a:r>
            <a:r>
              <a:rPr lang="en-US" dirty="0"/>
              <a:t>Divide the n-element sequence to be sorted into two sub-sequences of n/2 elements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Conquer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 smtClean="0"/>
              <a:t>Sort </a:t>
            </a:r>
            <a:r>
              <a:rPr lang="en-US" dirty="0"/>
              <a:t>the sub-sequences recursively using merge sort.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the size of the sequences is 1 there is nothing more to do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Combine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Merge the two sorted sub-sequences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07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sz="3600" dirty="0">
                <a:effectLst/>
              </a:rPr>
              <a:t>Example: a[]={4, 7, 2, 6, 1, 4, 7, 3, 5, 2, 6}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03722"/>
            <a:ext cx="7391400" cy="489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201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03744"/>
            <a:ext cx="7315200" cy="4720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324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132" y="1524000"/>
            <a:ext cx="7977069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533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914400"/>
            <a:ext cx="7467600" cy="539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934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33400"/>
            <a:ext cx="70104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983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effectLst/>
              </a:rPr>
              <a:t>Time Complexity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Recurrence Relation for Merge sort</a:t>
            </a:r>
            <a:r>
              <a:rPr lang="en-US" dirty="0" smtClean="0"/>
              <a:t>: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smtClean="0"/>
              <a:t>	T(n</a:t>
            </a:r>
            <a:r>
              <a:rPr lang="en-US" dirty="0"/>
              <a:t>) = 1 if </a:t>
            </a:r>
            <a:r>
              <a:rPr lang="en-US" dirty="0" smtClean="0"/>
              <a:t>n=1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T(n</a:t>
            </a:r>
            <a:r>
              <a:rPr lang="en-US" dirty="0"/>
              <a:t>) = 2 T(n/2) + O(n)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if </a:t>
            </a:r>
            <a:r>
              <a:rPr lang="en-US" dirty="0"/>
              <a:t>n&gt;1 Solving this recurrence we get </a:t>
            </a:r>
            <a:r>
              <a:rPr lang="en-US" dirty="0" smtClean="0"/>
              <a:t>	T(n</a:t>
            </a:r>
            <a:r>
              <a:rPr lang="en-US" dirty="0"/>
              <a:t>) = O(</a:t>
            </a:r>
            <a:r>
              <a:rPr lang="en-US" dirty="0" err="1"/>
              <a:t>nlogn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Space Complexity</a:t>
            </a:r>
            <a:r>
              <a:rPr lang="en-US" b="1" u="sng" dirty="0" smtClean="0"/>
              <a:t>:</a:t>
            </a:r>
            <a:r>
              <a:rPr lang="en-US" dirty="0"/>
              <a:t> </a:t>
            </a:r>
          </a:p>
          <a:p>
            <a:r>
              <a:rPr lang="en-US" dirty="0"/>
              <a:t>It uses one extra array and some extra variables during sorting, therefore Space Complexity= 2n + c = O(n)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18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b="1" dirty="0">
                <a:effectLst/>
              </a:rPr>
              <a:t>Sorting Comparison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074" y="1600200"/>
            <a:ext cx="8075083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243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b="1" dirty="0"/>
              <a:t>Searching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</a:t>
            </a:r>
            <a:r>
              <a:rPr lang="en-US" dirty="0"/>
              <a:t>) Introduction</a:t>
            </a:r>
          </a:p>
          <a:p>
            <a:pPr marL="0" indent="0">
              <a:buNone/>
            </a:pPr>
            <a:r>
              <a:rPr lang="en-US" dirty="0"/>
              <a:t>b) Sequential search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</a:t>
            </a:r>
            <a:r>
              <a:rPr lang="en-US" dirty="0"/>
              <a:t>) Binary search</a:t>
            </a:r>
          </a:p>
          <a:p>
            <a:pPr marL="0" indent="0">
              <a:buNone/>
            </a:pPr>
            <a:r>
              <a:rPr lang="en-US" dirty="0"/>
              <a:t>d) Comparison and efficiency of searching e) </a:t>
            </a:r>
            <a:r>
              <a:rPr lang="en-US" dirty="0" smtClean="0"/>
              <a:t>Hashing</a:t>
            </a:r>
            <a:endParaRPr lang="en-US" dirty="0"/>
          </a:p>
          <a:p>
            <a:pPr marL="411480" lvl="1" indent="0">
              <a:buNone/>
            </a:pPr>
            <a:r>
              <a:rPr lang="en-US" dirty="0" smtClean="0"/>
              <a:t>	probing </a:t>
            </a:r>
            <a:r>
              <a:rPr lang="en-US" dirty="0"/>
              <a:t>(Linear and Quadratic)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1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304800"/>
            <a:ext cx="76962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>
                <a:effectLst/>
              </a:rPr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4102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u="sng" dirty="0"/>
              <a:t>Sequential Search:</a:t>
            </a:r>
            <a:endParaRPr lang="en-US" dirty="0"/>
          </a:p>
          <a:p>
            <a:r>
              <a:rPr lang="en-US" dirty="0"/>
              <a:t>In linear search, access each element of an array one by one sequentially and </a:t>
            </a:r>
            <a:r>
              <a:rPr lang="en-US" dirty="0" smtClean="0"/>
              <a:t>see</a:t>
            </a:r>
            <a:r>
              <a:rPr lang="en-US" dirty="0"/>
              <a:t> </a:t>
            </a:r>
            <a:r>
              <a:rPr lang="en-US" dirty="0" smtClean="0"/>
              <a:t>whether </a:t>
            </a:r>
            <a:r>
              <a:rPr lang="en-US" dirty="0"/>
              <a:t>it is desired element or not.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search will be unsuccessful if all the elements </a:t>
            </a:r>
            <a:r>
              <a:rPr lang="en-US" dirty="0" smtClean="0"/>
              <a:t>are accessed </a:t>
            </a:r>
            <a:r>
              <a:rPr lang="en-US" dirty="0"/>
              <a:t>and the desired element is not found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In brief, Simply search for the given element left to right and return the index of the element, </a:t>
            </a:r>
            <a:r>
              <a:rPr lang="en-US" dirty="0" smtClean="0"/>
              <a:t>if</a:t>
            </a:r>
            <a:r>
              <a:rPr lang="en-US" dirty="0"/>
              <a:t> </a:t>
            </a:r>
            <a:r>
              <a:rPr lang="en-US" dirty="0" smtClean="0"/>
              <a:t>found</a:t>
            </a:r>
            <a:r>
              <a:rPr lang="en-US" dirty="0"/>
              <a:t>. Otherwise return “Not Found</a:t>
            </a:r>
            <a:r>
              <a:rPr lang="en-US" dirty="0" smtClean="0"/>
              <a:t>”.</a:t>
            </a:r>
            <a:endParaRPr lang="en-US" dirty="0"/>
          </a:p>
          <a:p>
            <a:r>
              <a:rPr lang="en-US" dirty="0" smtClean="0"/>
              <a:t>Searching </a:t>
            </a:r>
            <a:r>
              <a:rPr lang="en-US" dirty="0"/>
              <a:t>is a process of finding an element within the list of elements stored in any order </a:t>
            </a:r>
            <a:r>
              <a:rPr lang="en-US" dirty="0" smtClean="0"/>
              <a:t>or</a:t>
            </a:r>
            <a:r>
              <a:rPr lang="en-US" dirty="0"/>
              <a:t> </a:t>
            </a:r>
            <a:r>
              <a:rPr lang="en-US" dirty="0" smtClean="0"/>
              <a:t>randomly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Searching </a:t>
            </a:r>
            <a:r>
              <a:rPr lang="en-US" dirty="0"/>
              <a:t>is divided into two categories </a:t>
            </a:r>
            <a:r>
              <a:rPr lang="en-US" dirty="0">
                <a:solidFill>
                  <a:srgbClr val="00B0F0"/>
                </a:solidFill>
              </a:rPr>
              <a:t>Linear and Binary search</a:t>
            </a:r>
            <a:r>
              <a:rPr lang="en-US" dirty="0" smtClean="0">
                <a:solidFill>
                  <a:srgbClr val="00B0F0"/>
                </a:solidFill>
              </a:rPr>
              <a:t>.</a:t>
            </a:r>
            <a:endParaRPr 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703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737064"/>
          </a:xfrm>
        </p:spPr>
        <p:txBody>
          <a:bodyPr/>
          <a:lstStyle/>
          <a:p>
            <a:pPr algn="l"/>
            <a:r>
              <a:rPr lang="en-US" sz="4000" b="1" dirty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45262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 smtClean="0"/>
              <a:t>LinearSearch</a:t>
            </a:r>
            <a:r>
              <a:rPr lang="en-US" dirty="0" smtClean="0"/>
              <a:t>(A</a:t>
            </a:r>
            <a:r>
              <a:rPr lang="en-US" dirty="0"/>
              <a:t>, </a:t>
            </a:r>
            <a:r>
              <a:rPr lang="en-US" dirty="0" smtClean="0"/>
              <a:t> n, key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for(i=0</a:t>
            </a:r>
            <a:r>
              <a:rPr lang="en-US" dirty="0" smtClean="0"/>
              <a:t>; i&lt;n; i</a:t>
            </a:r>
            <a:r>
              <a:rPr lang="en-US" dirty="0"/>
              <a:t>++)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if(A[i</a:t>
            </a:r>
            <a:r>
              <a:rPr lang="en-US" dirty="0"/>
              <a:t>] == key)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return </a:t>
            </a:r>
            <a:r>
              <a:rPr lang="en-US" dirty="0"/>
              <a:t>i;</a:t>
            </a:r>
          </a:p>
          <a:p>
            <a:pPr marL="0" indent="0">
              <a:buNone/>
            </a:pPr>
            <a:r>
              <a:rPr lang="en-US" dirty="0" smtClean="0"/>
              <a:t>	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return -1</a:t>
            </a:r>
            <a:r>
              <a:rPr lang="en-US" dirty="0" smtClean="0"/>
              <a:t>;	//-</a:t>
            </a:r>
            <a:r>
              <a:rPr lang="en-US" dirty="0"/>
              <a:t>1 indicates unsuccessful search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</a:rPr>
              <a:t>Analysis</a:t>
            </a:r>
            <a:endParaRPr lang="en-US" sz="28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dirty="0"/>
              <a:t>Time complexity = O(n)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75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762000"/>
          </a:xfrm>
        </p:spPr>
        <p:txBody>
          <a:bodyPr>
            <a:normAutofit/>
          </a:bodyPr>
          <a:lstStyle/>
          <a:p>
            <a:pPr algn="l"/>
            <a:r>
              <a:rPr lang="en-US" sz="4400" b="1" i="1" dirty="0"/>
              <a:t>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53317"/>
          </a:xfrm>
        </p:spPr>
        <p:txBody>
          <a:bodyPr/>
          <a:lstStyle/>
          <a:p>
            <a:r>
              <a:rPr lang="en-US" dirty="0" smtClean="0"/>
              <a:t>Binary </a:t>
            </a:r>
            <a:r>
              <a:rPr lang="en-US" dirty="0"/>
              <a:t>search is an extremely efficient algorithm. This search technique searches the given item in minimum possible comparisons.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do this binary search, first we need to sort the array elements.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878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63246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The </a:t>
            </a:r>
            <a:r>
              <a:rPr lang="en-US" dirty="0" smtClean="0"/>
              <a:t>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1"/>
            <a:ext cx="8229600" cy="518191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First find the middle element of the array </a:t>
            </a:r>
            <a:r>
              <a:rPr lang="en-US" dirty="0" smtClean="0"/>
              <a:t> </a:t>
            </a:r>
            <a:r>
              <a:rPr lang="en-US" dirty="0"/>
              <a:t>compare the middle element with an </a:t>
            </a:r>
            <a:r>
              <a:rPr lang="en-US" dirty="0" smtClean="0"/>
              <a:t>item.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There </a:t>
            </a:r>
            <a:r>
              <a:rPr lang="en-US" b="1" dirty="0">
                <a:solidFill>
                  <a:srgbClr val="00B0F0"/>
                </a:solidFill>
              </a:rPr>
              <a:t>are three </a:t>
            </a:r>
            <a:r>
              <a:rPr lang="en-US" b="1" dirty="0" smtClean="0">
                <a:solidFill>
                  <a:srgbClr val="00B0F0"/>
                </a:solidFill>
              </a:rPr>
              <a:t>cases</a:t>
            </a:r>
            <a:endParaRPr lang="en-US" b="1" dirty="0"/>
          </a:p>
          <a:p>
            <a:r>
              <a:rPr lang="en-US" dirty="0" smtClean="0"/>
              <a:t>If </a:t>
            </a:r>
            <a:r>
              <a:rPr lang="en-US" dirty="0"/>
              <a:t>it is a desired element then search is successful</a:t>
            </a:r>
          </a:p>
          <a:p>
            <a:r>
              <a:rPr lang="en-US" dirty="0" smtClean="0"/>
              <a:t>If </a:t>
            </a:r>
            <a:r>
              <a:rPr lang="en-US" dirty="0"/>
              <a:t>it is less than desired item then search only the first half of the array.</a:t>
            </a:r>
          </a:p>
          <a:p>
            <a:r>
              <a:rPr lang="en-US" dirty="0" smtClean="0"/>
              <a:t>If </a:t>
            </a:r>
            <a:r>
              <a:rPr lang="en-US" dirty="0"/>
              <a:t>it is greater than the desired element, search in the second half of the array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Repeat the same process until element is </a:t>
            </a:r>
            <a:r>
              <a:rPr lang="en-US" dirty="0" smtClean="0"/>
              <a:t>found.</a:t>
            </a:r>
            <a:endParaRPr lang="en-US" dirty="0"/>
          </a:p>
          <a:p>
            <a:r>
              <a:rPr lang="en-US" dirty="0"/>
              <a:t>In this algorithm every time we are reducing the search area.</a:t>
            </a:r>
          </a:p>
        </p:txBody>
      </p:sp>
    </p:spTree>
    <p:extLst>
      <p:ext uri="{BB962C8B-B14F-4D97-AF65-F5344CB8AC3E}">
        <p14:creationId xmlns:p14="http://schemas.microsoft.com/office/powerpoint/2010/main" val="220589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500" y="1600200"/>
            <a:ext cx="7801501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251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400" dirty="0">
                <a:effectLst/>
              </a:rPr>
              <a:t>Take input array 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a[] = {2 , 5 , 7, 9 ,18, 45 ,53, 59, 67, 72, 88, 95, 101, 104}</a:t>
            </a:r>
            <a:endParaRPr lang="en-US" sz="24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20490"/>
            <a:ext cx="8153400" cy="343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709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8229600" cy="863136"/>
          </a:xfrm>
        </p:spPr>
        <p:txBody>
          <a:bodyPr>
            <a:noAutofit/>
          </a:bodyPr>
          <a:lstStyle/>
          <a:p>
            <a:r>
              <a:rPr lang="en-US" sz="2400" dirty="0">
                <a:effectLst/>
              </a:rPr>
              <a:t>a[] = {2 , 5 , 7, 9 ,18, 45 ,53, 59, 67, 72, 88, 95, 101, 104}</a:t>
            </a:r>
            <a:endParaRPr lang="en-US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76400"/>
            <a:ext cx="8229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95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660864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BinarySearch</a:t>
            </a:r>
            <a:r>
              <a:rPr lang="en-US" dirty="0" smtClean="0"/>
              <a:t>(</a:t>
            </a:r>
            <a:r>
              <a:rPr lang="en-US" dirty="0" err="1" smtClean="0"/>
              <a:t>A,l,r</a:t>
            </a:r>
            <a:r>
              <a:rPr lang="en-US" dirty="0"/>
              <a:t>, key)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if(l</a:t>
            </a:r>
            <a:r>
              <a:rPr lang="en-US" dirty="0"/>
              <a:t>= = r) //only one element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if(key </a:t>
            </a:r>
            <a:r>
              <a:rPr lang="en-US" dirty="0"/>
              <a:t>= = A[l])</a:t>
            </a:r>
          </a:p>
          <a:p>
            <a:pPr marL="0" indent="0">
              <a:buNone/>
            </a:pPr>
            <a:r>
              <a:rPr lang="en-US" dirty="0" smtClean="0"/>
              <a:t>		return </a:t>
            </a:r>
            <a:r>
              <a:rPr lang="en-US" dirty="0"/>
              <a:t>l+1;	//index starts from 0 else</a:t>
            </a:r>
          </a:p>
          <a:p>
            <a:pPr marL="0" indent="0">
              <a:buNone/>
            </a:pPr>
            <a:r>
              <a:rPr lang="en-US" dirty="0" smtClean="0"/>
              <a:t>		return </a:t>
            </a:r>
            <a:r>
              <a:rPr lang="en-US" dirty="0"/>
              <a:t>0;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else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m </a:t>
            </a:r>
            <a:r>
              <a:rPr lang="en-US" dirty="0"/>
              <a:t>= (l + r) /2 ;	//integer division </a:t>
            </a:r>
            <a:r>
              <a:rPr lang="en-US" dirty="0" smtClean="0"/>
              <a:t>				if(key </a:t>
            </a:r>
            <a:r>
              <a:rPr lang="en-US" dirty="0"/>
              <a:t>= = A[m]</a:t>
            </a:r>
          </a:p>
          <a:p>
            <a:pPr marL="0" indent="0">
              <a:buNone/>
            </a:pPr>
            <a:r>
              <a:rPr lang="en-US" dirty="0" smtClean="0"/>
              <a:t>		return </a:t>
            </a:r>
            <a:r>
              <a:rPr lang="en-US" dirty="0"/>
              <a:t>m+1;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else </a:t>
            </a:r>
            <a:r>
              <a:rPr lang="en-US" dirty="0"/>
              <a:t>if (key &lt; A[m])</a:t>
            </a:r>
          </a:p>
          <a:p>
            <a:pPr marL="0" indent="0">
              <a:buNone/>
            </a:pPr>
            <a:r>
              <a:rPr lang="en-US" dirty="0" smtClean="0"/>
              <a:t>		return </a:t>
            </a:r>
            <a:r>
              <a:rPr lang="en-US" dirty="0" err="1"/>
              <a:t>BinarySearch</a:t>
            </a:r>
            <a:r>
              <a:rPr lang="en-US" dirty="0"/>
              <a:t>(l, m-1, key) 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else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return </a:t>
            </a:r>
            <a:r>
              <a:rPr lang="en-US" dirty="0" err="1"/>
              <a:t>BinarySearch</a:t>
            </a:r>
            <a:r>
              <a:rPr lang="en-US" dirty="0"/>
              <a:t>(m+1, r, key) 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91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813264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Efficiency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1"/>
            <a:ext cx="8229600" cy="510571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From </a:t>
            </a:r>
            <a:r>
              <a:rPr lang="en-US" dirty="0"/>
              <a:t>the above algorithm we can say that the running time of the algorithm </a:t>
            </a:r>
            <a:r>
              <a:rPr lang="en-US" dirty="0" smtClean="0"/>
              <a:t>is</a:t>
            </a:r>
          </a:p>
          <a:p>
            <a:r>
              <a:rPr lang="en-US" dirty="0" smtClean="0"/>
              <a:t>T(n</a:t>
            </a:r>
            <a:r>
              <a:rPr lang="en-US" dirty="0"/>
              <a:t>) = T(n/2) + (1</a:t>
            </a:r>
            <a:r>
              <a:rPr lang="en-US" dirty="0" smtClean="0"/>
              <a:t>)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smtClean="0"/>
              <a:t>	= </a:t>
            </a:r>
            <a:r>
              <a:rPr lang="en-US" dirty="0"/>
              <a:t>(</a:t>
            </a:r>
            <a:r>
              <a:rPr lang="en-US" dirty="0" err="1"/>
              <a:t>logn</a:t>
            </a:r>
            <a:r>
              <a:rPr lang="en-US" dirty="0"/>
              <a:t>) (verify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/>
              <a:t>In the best case output is obtained at one run i.e. (1) time if the key is at middle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In the worst case the output is at the end of the array so running time is (</a:t>
            </a:r>
            <a:r>
              <a:rPr lang="en-US" dirty="0" err="1"/>
              <a:t>logn</a:t>
            </a:r>
            <a:r>
              <a:rPr lang="en-US" dirty="0"/>
              <a:t>) </a:t>
            </a:r>
            <a:r>
              <a:rPr lang="en-US" dirty="0" err="1" smtClean="0"/>
              <a:t>time.ith</a:t>
            </a:r>
            <a:endParaRPr lang="en-US" dirty="0"/>
          </a:p>
          <a:p>
            <a:r>
              <a:rPr lang="en-US" dirty="0"/>
              <a:t>In the average case also running time is (</a:t>
            </a:r>
            <a:r>
              <a:rPr lang="en-US" dirty="0" err="1"/>
              <a:t>logn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dirty="0"/>
              <a:t>For unsuccessful search best, worst and average time complexity is (</a:t>
            </a:r>
            <a:r>
              <a:rPr lang="en-US" dirty="0" err="1"/>
              <a:t>logn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61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737064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Hashing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90601"/>
            <a:ext cx="8229600" cy="5181917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It </a:t>
            </a:r>
            <a:r>
              <a:rPr lang="en-US" dirty="0"/>
              <a:t>is an efficient searching technique in which key is placed in direct accessible address for rapid search.</a:t>
            </a:r>
          </a:p>
          <a:p>
            <a:r>
              <a:rPr lang="en-US" dirty="0"/>
              <a:t>Hashing provides the direct access of records from the file no matter where the record is in the file. Due to which it reduces the unnecessary comparisons. This technique uses a hashing function say h which maps the key with the corresponding key address or location.</a:t>
            </a:r>
          </a:p>
          <a:p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i="1" dirty="0"/>
              <a:t>function</a:t>
            </a:r>
            <a:r>
              <a:rPr lang="en-US" dirty="0"/>
              <a:t> </a:t>
            </a:r>
            <a:r>
              <a:rPr lang="en-US" i="1" dirty="0"/>
              <a:t>that</a:t>
            </a:r>
            <a:r>
              <a:rPr lang="en-US" dirty="0"/>
              <a:t> </a:t>
            </a:r>
            <a:r>
              <a:rPr lang="en-US" i="1" dirty="0"/>
              <a:t>transforms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i="1" dirty="0"/>
              <a:t>key</a:t>
            </a:r>
            <a:r>
              <a:rPr lang="en-US" dirty="0"/>
              <a:t> </a:t>
            </a:r>
            <a:r>
              <a:rPr lang="en-US" i="1" dirty="0"/>
              <a:t>into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i="1" dirty="0"/>
              <a:t>table</a:t>
            </a:r>
            <a:r>
              <a:rPr lang="en-US" dirty="0"/>
              <a:t> </a:t>
            </a:r>
            <a:r>
              <a:rPr lang="en-US" i="1" dirty="0"/>
              <a:t>index</a:t>
            </a:r>
            <a:r>
              <a:rPr lang="en-US" dirty="0"/>
              <a:t> </a:t>
            </a:r>
            <a:r>
              <a:rPr lang="en-US" i="1" dirty="0"/>
              <a:t>is</a:t>
            </a:r>
            <a:r>
              <a:rPr lang="en-US" dirty="0"/>
              <a:t> </a:t>
            </a:r>
            <a:r>
              <a:rPr lang="en-US" i="1" dirty="0"/>
              <a:t>called</a:t>
            </a:r>
            <a:r>
              <a:rPr lang="en-US" dirty="0"/>
              <a:t> </a:t>
            </a:r>
            <a:r>
              <a:rPr lang="en-US" i="1" dirty="0"/>
              <a:t>a</a:t>
            </a:r>
            <a:r>
              <a:rPr lang="en-US" dirty="0"/>
              <a:t> </a:t>
            </a:r>
            <a:r>
              <a:rPr lang="en-US" i="1" dirty="0"/>
              <a:t>hash</a:t>
            </a:r>
            <a:r>
              <a:rPr lang="en-US" dirty="0"/>
              <a:t> </a:t>
            </a:r>
            <a:r>
              <a:rPr lang="en-US" i="1" dirty="0"/>
              <a:t>function.</a:t>
            </a:r>
            <a:r>
              <a:rPr lang="en-US" dirty="0"/>
              <a:t> A common hash function </a:t>
            </a:r>
            <a:r>
              <a:rPr lang="en-US" dirty="0" smtClean="0"/>
              <a:t>is  </a:t>
            </a:r>
            <a:r>
              <a:rPr lang="en-US" dirty="0" smtClean="0">
                <a:solidFill>
                  <a:srgbClr val="00B0F0"/>
                </a:solidFill>
              </a:rPr>
              <a:t>h(x</a:t>
            </a:r>
            <a:r>
              <a:rPr lang="en-US" dirty="0">
                <a:solidFill>
                  <a:srgbClr val="00B0F0"/>
                </a:solidFill>
              </a:rPr>
              <a:t>)=x mod SIZE</a:t>
            </a:r>
          </a:p>
          <a:p>
            <a:r>
              <a:rPr lang="en-US" dirty="0"/>
              <a:t>if key=27 and SIZE=10 then hash address=27%10=7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58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400" b="1" dirty="0">
                <a:effectLst/>
              </a:rPr>
              <a:t>Hash-table principles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762" y="1524001"/>
            <a:ext cx="7724838" cy="464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927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737064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Hash collision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066801"/>
            <a:ext cx="8229600" cy="510571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If </a:t>
            </a:r>
            <a:r>
              <a:rPr lang="en-US" dirty="0"/>
              <a:t>two or more than two records trying to insert in a single index of a hash table then such a situation is called hash collision.</a:t>
            </a:r>
          </a:p>
          <a:p>
            <a:r>
              <a:rPr lang="en-US" dirty="0"/>
              <a:t>Some popular methods for minimizing collision are: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Linear probing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Quadratic probing </a:t>
            </a:r>
            <a:endParaRPr lang="en-US" dirty="0" smtClean="0"/>
          </a:p>
          <a:p>
            <a:pPr lvl="1"/>
            <a:r>
              <a:rPr lang="en-US" dirty="0" smtClean="0"/>
              <a:t> </a:t>
            </a:r>
            <a:r>
              <a:rPr lang="en-US" dirty="0"/>
              <a:t>Rehashing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Chaining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Hashing using buckets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But here we need only first two methods for minimizing collision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34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889464"/>
          </a:xfrm>
        </p:spPr>
        <p:txBody>
          <a:bodyPr/>
          <a:lstStyle/>
          <a:p>
            <a:pPr algn="l"/>
            <a:r>
              <a:rPr lang="en-US" sz="4000" b="1" dirty="0"/>
              <a:t>Linear probing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229600" cy="495331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</a:t>
            </a:r>
            <a:r>
              <a:rPr lang="en-US" dirty="0"/>
              <a:t>hash-table in which a collision is resolved by putting the item in the next empty place within the occupied array space.</a:t>
            </a:r>
          </a:p>
          <a:p>
            <a:r>
              <a:rPr lang="en-US" dirty="0"/>
              <a:t>It starts with a location where the collision occurred and does a sequential search through a hash table for the desired empty location.</a:t>
            </a:r>
          </a:p>
          <a:p>
            <a:r>
              <a:rPr lang="en-US" dirty="0"/>
              <a:t>Hence this method searches in straight line, and it is therefore called linear probing. </a:t>
            </a:r>
            <a:endParaRPr lang="en-US" dirty="0" smtClean="0"/>
          </a:p>
          <a:p>
            <a:pPr marL="0" indent="0">
              <a:buNone/>
            </a:pPr>
            <a:endParaRPr lang="en-US" b="1" i="1" dirty="0" smtClean="0"/>
          </a:p>
          <a:p>
            <a:pPr marL="0" indent="0">
              <a:buNone/>
            </a:pPr>
            <a:r>
              <a:rPr lang="en-US" i="1" dirty="0" smtClean="0">
                <a:solidFill>
                  <a:srgbClr val="00B0F0"/>
                </a:solidFill>
              </a:rPr>
              <a:t>Disadvantage</a:t>
            </a:r>
            <a:r>
              <a:rPr lang="en-US" i="1" dirty="0">
                <a:solidFill>
                  <a:srgbClr val="00B0F0"/>
                </a:solidFill>
              </a:rPr>
              <a:t>: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Clustering </a:t>
            </a:r>
            <a:r>
              <a:rPr lang="en-US" dirty="0" smtClean="0"/>
              <a:t>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2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374" y="1524001"/>
            <a:ext cx="7722426" cy="1889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837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8229600" cy="58466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 smtClean="0"/>
              <a:t>Eg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1"/>
            <a:ext cx="9906000" cy="5714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/>
              <a:t>Insert</a:t>
            </a:r>
            <a:r>
              <a:rPr lang="en-US" dirty="0"/>
              <a:t> </a:t>
            </a:r>
            <a:r>
              <a:rPr lang="en-US" b="1" i="1" dirty="0"/>
              <a:t>keys</a:t>
            </a:r>
            <a:r>
              <a:rPr lang="en-US" dirty="0"/>
              <a:t> </a:t>
            </a:r>
            <a:r>
              <a:rPr lang="en-US" b="1" i="1" dirty="0"/>
              <a:t>{89,</a:t>
            </a:r>
            <a:r>
              <a:rPr lang="en-US" dirty="0"/>
              <a:t> </a:t>
            </a:r>
            <a:r>
              <a:rPr lang="en-US" b="1" i="1" dirty="0"/>
              <a:t>18,</a:t>
            </a:r>
            <a:r>
              <a:rPr lang="en-US" dirty="0"/>
              <a:t> </a:t>
            </a:r>
            <a:r>
              <a:rPr lang="en-US" b="1" i="1" dirty="0"/>
              <a:t>49,</a:t>
            </a:r>
            <a:r>
              <a:rPr lang="en-US" dirty="0"/>
              <a:t> </a:t>
            </a:r>
            <a:r>
              <a:rPr lang="en-US" b="1" i="1" dirty="0"/>
              <a:t>58,</a:t>
            </a:r>
            <a:r>
              <a:rPr lang="en-US" dirty="0"/>
              <a:t> </a:t>
            </a:r>
            <a:r>
              <a:rPr lang="en-US" b="1" i="1" dirty="0"/>
              <a:t>69}</a:t>
            </a:r>
            <a:r>
              <a:rPr lang="en-US" dirty="0"/>
              <a:t> </a:t>
            </a:r>
            <a:r>
              <a:rPr lang="en-US" b="1" i="1" dirty="0"/>
              <a:t>with</a:t>
            </a:r>
            <a:r>
              <a:rPr lang="en-US" dirty="0"/>
              <a:t> </a:t>
            </a:r>
            <a:r>
              <a:rPr lang="en-US" b="1" i="1" dirty="0"/>
              <a:t>the</a:t>
            </a:r>
            <a:r>
              <a:rPr lang="en-US" dirty="0"/>
              <a:t> </a:t>
            </a:r>
            <a:r>
              <a:rPr lang="en-US" b="1" i="1" dirty="0"/>
              <a:t>hash</a:t>
            </a:r>
            <a:r>
              <a:rPr lang="en-US" dirty="0"/>
              <a:t> </a:t>
            </a:r>
            <a:r>
              <a:rPr lang="en-US" b="1" i="1" dirty="0"/>
              <a:t>function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b="1" i="1" dirty="0" smtClean="0"/>
              <a:t>h(x</a:t>
            </a:r>
            <a:r>
              <a:rPr lang="en-US" b="1" i="1" dirty="0"/>
              <a:t>)=x</a:t>
            </a:r>
            <a:r>
              <a:rPr lang="en-US" dirty="0"/>
              <a:t> </a:t>
            </a:r>
            <a:r>
              <a:rPr lang="en-US" b="1" i="1" dirty="0"/>
              <a:t>mod</a:t>
            </a:r>
            <a:r>
              <a:rPr lang="en-US" dirty="0"/>
              <a:t> </a:t>
            </a:r>
            <a:r>
              <a:rPr lang="en-US" b="1" i="1" dirty="0"/>
              <a:t>10</a:t>
            </a:r>
            <a:r>
              <a:rPr lang="en-US" dirty="0"/>
              <a:t> </a:t>
            </a:r>
            <a:r>
              <a:rPr lang="en-US" b="1" i="1" dirty="0"/>
              <a:t>using</a:t>
            </a:r>
            <a:r>
              <a:rPr lang="en-US" dirty="0"/>
              <a:t> </a:t>
            </a:r>
            <a:r>
              <a:rPr lang="en-US" b="1" i="1" dirty="0"/>
              <a:t>linear</a:t>
            </a:r>
            <a:r>
              <a:rPr lang="en-US" dirty="0"/>
              <a:t> </a:t>
            </a:r>
            <a:r>
              <a:rPr lang="en-US" b="1" i="1" dirty="0"/>
              <a:t>probing.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solution:</a:t>
            </a:r>
          </a:p>
          <a:p>
            <a:pPr marL="0" indent="0">
              <a:buNone/>
            </a:pP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x=89: h(89)=89%10=9</a:t>
            </a:r>
          </a:p>
          <a:p>
            <a:pPr marL="0" indent="0">
              <a:buNone/>
            </a:pPr>
            <a:r>
              <a:rPr lang="en-US" dirty="0"/>
              <a:t>insert key 89 in hash-table in location 9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x=18: h(18)=18%10=8</a:t>
            </a:r>
          </a:p>
          <a:p>
            <a:pPr marL="0" indent="0">
              <a:buNone/>
            </a:pPr>
            <a:r>
              <a:rPr lang="en-US" dirty="0"/>
              <a:t>insert key 18 in hash-table in location 8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9323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when x=49:</a:t>
            </a:r>
          </a:p>
          <a:p>
            <a:pPr marL="0" indent="0">
              <a:buNone/>
            </a:pPr>
            <a:r>
              <a:rPr lang="en-US" dirty="0"/>
              <a:t>h(49)=49%10=9 (Collision occur)</a:t>
            </a:r>
          </a:p>
          <a:p>
            <a:pPr marL="0" indent="0">
              <a:buNone/>
            </a:pPr>
            <a:r>
              <a:rPr lang="en-US" dirty="0"/>
              <a:t>so insert key 49 in hash-table in next possible vacant location of 9 is 0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when x=58:</a:t>
            </a:r>
          </a:p>
          <a:p>
            <a:pPr marL="0" indent="0">
              <a:buNone/>
            </a:pPr>
            <a:r>
              <a:rPr lang="en-US" dirty="0"/>
              <a:t>h(58)=58%10=8 (Collision occur)</a:t>
            </a:r>
          </a:p>
          <a:p>
            <a:pPr marL="0" indent="0">
              <a:buNone/>
            </a:pPr>
            <a:r>
              <a:rPr lang="en-US" dirty="0"/>
              <a:t>insert key 58 in hash-table in next possible vacant location of 8 is 1 (since 9, 0 already contains values).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when </a:t>
            </a:r>
            <a:r>
              <a:rPr lang="en-US" dirty="0"/>
              <a:t>x=69:</a:t>
            </a:r>
          </a:p>
          <a:p>
            <a:pPr marL="0" indent="0">
              <a:buNone/>
            </a:pPr>
            <a:r>
              <a:rPr lang="en-US" dirty="0"/>
              <a:t>h(89)=69%10=9	(Collision occur)</a:t>
            </a:r>
          </a:p>
          <a:p>
            <a:pPr marL="0" indent="0">
              <a:buNone/>
            </a:pPr>
            <a:r>
              <a:rPr lang="en-US" dirty="0"/>
              <a:t>insert key 69 in hash-table in next possible vacant location of 9 is 2 (since 0, 1 already contains values).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4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536666"/>
            <a:ext cx="3076090" cy="4797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438400" y="5410200"/>
            <a:ext cx="678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Fig. Hash-table for above keys using linear probing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29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3536"/>
            <a:ext cx="8229600" cy="737064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/>
              <a:t>Quadratic Probing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1"/>
            <a:ext cx="10210800" cy="502951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Quadratic </a:t>
            </a:r>
            <a:r>
              <a:rPr lang="en-US" dirty="0"/>
              <a:t>probing is a collision resolution method that eliminates the primary clustering problem take place in a linear probing.</a:t>
            </a:r>
          </a:p>
          <a:p>
            <a:r>
              <a:rPr lang="en-US" dirty="0"/>
              <a:t>When collision occur then the quadratic probing works as follows: (Hash value + 12)% table size</a:t>
            </a:r>
          </a:p>
          <a:p>
            <a:r>
              <a:rPr lang="en-US" dirty="0"/>
              <a:t>if there is again collision occur then there exist rehashing. (hash value + 22)%table size</a:t>
            </a:r>
          </a:p>
          <a:p>
            <a:r>
              <a:rPr lang="en-US" dirty="0"/>
              <a:t>if there is again collision occur then there exist rehashing. (hash value = 32)% table </a:t>
            </a:r>
            <a:r>
              <a:rPr lang="en-US" dirty="0" smtClean="0"/>
              <a:t>size in </a:t>
            </a:r>
            <a:r>
              <a:rPr lang="en-US" dirty="0"/>
              <a:t>general in </a:t>
            </a:r>
            <a:r>
              <a:rPr lang="en-US" dirty="0" err="1"/>
              <a:t>ith</a:t>
            </a:r>
            <a:r>
              <a:rPr lang="en-US" dirty="0"/>
              <a:t> collision</a:t>
            </a:r>
          </a:p>
          <a:p>
            <a:pPr marL="0" indent="0">
              <a:buNone/>
            </a:pPr>
            <a:r>
              <a:rPr lang="en-US" dirty="0" smtClean="0"/>
              <a:t>	hi(x</a:t>
            </a:r>
            <a:r>
              <a:rPr lang="en-US" dirty="0"/>
              <a:t>)=(hash value +i2)%</a:t>
            </a:r>
            <a:r>
              <a:rPr lang="en-US" dirty="0" smtClean="0"/>
              <a:t>size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4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33400"/>
            <a:ext cx="10972800" cy="56391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/>
              <a:t>Example:</a:t>
            </a:r>
            <a:endParaRPr lang="en-US" dirty="0"/>
          </a:p>
          <a:p>
            <a:r>
              <a:rPr lang="en-US" b="1" i="1" dirty="0"/>
              <a:t>Insert</a:t>
            </a:r>
            <a:r>
              <a:rPr lang="en-US" dirty="0"/>
              <a:t> </a:t>
            </a:r>
            <a:r>
              <a:rPr lang="en-US" b="1" i="1" dirty="0"/>
              <a:t>keys</a:t>
            </a:r>
            <a:r>
              <a:rPr lang="en-US" dirty="0"/>
              <a:t> </a:t>
            </a:r>
            <a:r>
              <a:rPr lang="en-US" b="1" i="1" dirty="0"/>
              <a:t>{89,</a:t>
            </a:r>
            <a:r>
              <a:rPr lang="en-US" dirty="0"/>
              <a:t> </a:t>
            </a:r>
            <a:r>
              <a:rPr lang="en-US" b="1" i="1" dirty="0"/>
              <a:t>18,</a:t>
            </a:r>
            <a:r>
              <a:rPr lang="en-US" dirty="0"/>
              <a:t> </a:t>
            </a:r>
            <a:r>
              <a:rPr lang="en-US" b="1" i="1" dirty="0"/>
              <a:t>49,</a:t>
            </a:r>
            <a:r>
              <a:rPr lang="en-US" dirty="0"/>
              <a:t> </a:t>
            </a:r>
            <a:r>
              <a:rPr lang="en-US" b="1" i="1" dirty="0"/>
              <a:t>58,</a:t>
            </a:r>
            <a:r>
              <a:rPr lang="en-US" dirty="0"/>
              <a:t> </a:t>
            </a:r>
            <a:r>
              <a:rPr lang="en-US" b="1" i="1" dirty="0"/>
              <a:t>69}</a:t>
            </a:r>
            <a:r>
              <a:rPr lang="en-US" dirty="0"/>
              <a:t> </a:t>
            </a:r>
            <a:r>
              <a:rPr lang="en-US" b="1" i="1" dirty="0"/>
              <a:t>with</a:t>
            </a:r>
            <a:r>
              <a:rPr lang="en-US" dirty="0"/>
              <a:t> </a:t>
            </a:r>
            <a:r>
              <a:rPr lang="en-US" b="1" i="1" dirty="0"/>
              <a:t>the</a:t>
            </a:r>
            <a:r>
              <a:rPr lang="en-US" dirty="0"/>
              <a:t> </a:t>
            </a:r>
            <a:r>
              <a:rPr lang="en-US" b="1" i="1" dirty="0"/>
              <a:t>hash-table</a:t>
            </a:r>
            <a:r>
              <a:rPr lang="en-US" dirty="0"/>
              <a:t> </a:t>
            </a:r>
            <a:r>
              <a:rPr lang="en-US" b="1" i="1" dirty="0"/>
              <a:t>size</a:t>
            </a:r>
            <a:r>
              <a:rPr lang="en-US" dirty="0"/>
              <a:t> </a:t>
            </a:r>
            <a:r>
              <a:rPr lang="en-US" b="1" i="1" dirty="0"/>
              <a:t>10</a:t>
            </a:r>
            <a:r>
              <a:rPr lang="en-US" dirty="0"/>
              <a:t> </a:t>
            </a:r>
            <a:r>
              <a:rPr lang="en-US" b="1" i="1" dirty="0"/>
              <a:t>using</a:t>
            </a:r>
            <a:r>
              <a:rPr lang="en-US" dirty="0"/>
              <a:t> </a:t>
            </a:r>
            <a:r>
              <a:rPr lang="en-US" b="1" i="1" dirty="0"/>
              <a:t>quadratic</a:t>
            </a:r>
            <a:r>
              <a:rPr lang="en-US" dirty="0"/>
              <a:t> </a:t>
            </a:r>
            <a:r>
              <a:rPr lang="en-US" b="1" i="1" dirty="0"/>
              <a:t>probing.</a:t>
            </a:r>
            <a:r>
              <a:rPr lang="en-US" dirty="0"/>
              <a:t> solution:</a:t>
            </a:r>
          </a:p>
          <a:p>
            <a:r>
              <a:rPr lang="en-US" dirty="0"/>
              <a:t>when x=89: h(89)=89%10=9</a:t>
            </a:r>
          </a:p>
          <a:p>
            <a:r>
              <a:rPr lang="en-US" dirty="0"/>
              <a:t>insert key 89 in hash-table in location </a:t>
            </a:r>
            <a:r>
              <a:rPr lang="en-US" dirty="0" smtClean="0"/>
              <a:t>9</a:t>
            </a: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x=18: h(18)=18%10=8</a:t>
            </a:r>
          </a:p>
          <a:p>
            <a:r>
              <a:rPr lang="en-US" dirty="0"/>
              <a:t>insert key 18 in hash-table in location 8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dirty="0"/>
              <a:t>when x=49:</a:t>
            </a:r>
          </a:p>
          <a:p>
            <a:r>
              <a:rPr lang="en-US" dirty="0"/>
              <a:t>h(49)=49%10=9 (Collision occur) so use following hash function, h1(49)=(49 + 1)%10=0</a:t>
            </a:r>
          </a:p>
          <a:p>
            <a:r>
              <a:rPr lang="en-US" dirty="0"/>
              <a:t>hence insert key 49 in hash-table in location 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20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when x=58:</a:t>
            </a:r>
          </a:p>
          <a:p>
            <a:r>
              <a:rPr lang="en-US" dirty="0"/>
              <a:t>h(58)=58%10=8 (Collision occur) so use following hash function, h1(58)=(58 + 1)%10=9</a:t>
            </a:r>
          </a:p>
          <a:p>
            <a:r>
              <a:rPr lang="en-US" dirty="0"/>
              <a:t>again collision occur use again the following hash function , h2(58)=(58+ 22)%10=2</a:t>
            </a:r>
          </a:p>
          <a:p>
            <a:r>
              <a:rPr lang="en-US" dirty="0"/>
              <a:t>insert key 58 in hash-table in location 2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when x=69:</a:t>
            </a:r>
          </a:p>
          <a:p>
            <a:r>
              <a:rPr lang="en-US" dirty="0"/>
              <a:t>h(89)=69%10=9	(Collision occur) so use following hash function, h1(69)=(69 + 1)%10=0</a:t>
            </a:r>
          </a:p>
          <a:p>
            <a:r>
              <a:rPr lang="en-US" dirty="0"/>
              <a:t>again collision occur use again the following hash function , h2(69)=(69+ 22)%10=3</a:t>
            </a:r>
          </a:p>
          <a:p>
            <a:r>
              <a:rPr lang="en-US" dirty="0"/>
              <a:t>insert key 69 in hash-table in location 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48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0" y="609600"/>
            <a:ext cx="302895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67000" y="5525869"/>
            <a:ext cx="655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fig: Hash table for above keys using quadratic probing</a:t>
            </a:r>
          </a:p>
        </p:txBody>
      </p:sp>
    </p:spTree>
    <p:extLst>
      <p:ext uri="{BB962C8B-B14F-4D97-AF65-F5344CB8AC3E}">
        <p14:creationId xmlns:p14="http://schemas.microsoft.com/office/powerpoint/2010/main" val="281722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11974</TotalTime>
  <Words>2517</Words>
  <Application>Microsoft Office PowerPoint</Application>
  <PresentationFormat>Widescreen</PresentationFormat>
  <Paragraphs>615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Rockwell</vt:lpstr>
      <vt:lpstr>Wingdings 2</vt:lpstr>
      <vt:lpstr>Foundry</vt:lpstr>
      <vt:lpstr>Sorting</vt:lpstr>
      <vt:lpstr>Sorting</vt:lpstr>
      <vt:lpstr>In-place sorting and Not-in-place</vt:lpstr>
      <vt:lpstr>Bubble sort</vt:lpstr>
      <vt:lpstr>How bubble sort works?</vt:lpstr>
      <vt:lpstr>PowerPoint Presentation</vt:lpstr>
      <vt:lpstr>program</vt:lpstr>
      <vt:lpstr>Insertion Sorting</vt:lpstr>
      <vt:lpstr>Example of insertion sort</vt:lpstr>
      <vt:lpstr>Example of insertion sort</vt:lpstr>
      <vt:lpstr>Example of insertion sort</vt:lpstr>
      <vt:lpstr>Example of insertion sort</vt:lpstr>
      <vt:lpstr>Example of insertion sort</vt:lpstr>
      <vt:lpstr>Example of insertion sort</vt:lpstr>
      <vt:lpstr>Example of insertion sort</vt:lpstr>
      <vt:lpstr>Example of insertion sort</vt:lpstr>
      <vt:lpstr>Example of insertion sort</vt:lpstr>
      <vt:lpstr>Algorithm</vt:lpstr>
      <vt:lpstr>PowerPoint Presentation</vt:lpstr>
      <vt:lpstr>Time Complexity</vt:lpstr>
      <vt:lpstr>Shell Sort</vt:lpstr>
      <vt:lpstr>example</vt:lpstr>
      <vt:lpstr>Function</vt:lpstr>
      <vt:lpstr>Complexity</vt:lpstr>
      <vt:lpstr>Selection sort</vt:lpstr>
      <vt:lpstr>Algorithm :Selection Sort</vt:lpstr>
      <vt:lpstr>Tracing Algorithm</vt:lpstr>
      <vt:lpstr>C function for selection Sort</vt:lpstr>
      <vt:lpstr>Complexity for selection sort</vt:lpstr>
      <vt:lpstr>Quick Sort</vt:lpstr>
      <vt:lpstr>Steps for Quick Sort</vt:lpstr>
      <vt:lpstr>Cont…</vt:lpstr>
      <vt:lpstr>PowerPoint Presentation</vt:lpstr>
      <vt:lpstr>PowerPoint Presentation</vt:lpstr>
      <vt:lpstr>Time Complexity</vt:lpstr>
      <vt:lpstr>Average case</vt:lpstr>
      <vt:lpstr>Merge Sort</vt:lpstr>
      <vt:lpstr> Example: a[]={4, 7, 2, 6, 1, 4, 7, 3, 5, 2, 6}</vt:lpstr>
      <vt:lpstr>PowerPoint Presentation</vt:lpstr>
      <vt:lpstr>PowerPoint Presentation</vt:lpstr>
      <vt:lpstr>PowerPoint Presentation</vt:lpstr>
      <vt:lpstr>PowerPoint Presentation</vt:lpstr>
      <vt:lpstr>Time Complexity</vt:lpstr>
      <vt:lpstr>Sorting Comparison</vt:lpstr>
      <vt:lpstr>Searching</vt:lpstr>
      <vt:lpstr>Introduction</vt:lpstr>
      <vt:lpstr>Algorithm</vt:lpstr>
      <vt:lpstr>Binary Search</vt:lpstr>
      <vt:lpstr>The logic</vt:lpstr>
      <vt:lpstr>PowerPoint Presentation</vt:lpstr>
      <vt:lpstr>Take input array  a[] = {2 , 5 , 7, 9 ,18, 45 ,53, 59, 67, 72, 88, 95, 101, 104}</vt:lpstr>
      <vt:lpstr>a[] = {2 , 5 , 7, 9 ,18, 45 ,53, 59, 67, 72, 88, 95, 101, 104}</vt:lpstr>
      <vt:lpstr>Algorithm</vt:lpstr>
      <vt:lpstr>Efficiency</vt:lpstr>
      <vt:lpstr>Hashing</vt:lpstr>
      <vt:lpstr>Hash-table principles</vt:lpstr>
      <vt:lpstr>Hash collision</vt:lpstr>
      <vt:lpstr>Linear probing</vt:lpstr>
      <vt:lpstr>PowerPoint Presentation</vt:lpstr>
      <vt:lpstr>Eg.</vt:lpstr>
      <vt:lpstr>PowerPoint Presentation</vt:lpstr>
      <vt:lpstr>PowerPoint Presentation</vt:lpstr>
      <vt:lpstr>Quadratic Probing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</dc:title>
  <dc:creator>User</dc:creator>
  <cp:lastModifiedBy>smile mag</cp:lastModifiedBy>
  <cp:revision>186</cp:revision>
  <dcterms:created xsi:type="dcterms:W3CDTF">2015-09-04T14:45:33Z</dcterms:created>
  <dcterms:modified xsi:type="dcterms:W3CDTF">2020-02-20T04:49:53Z</dcterms:modified>
</cp:coreProperties>
</file>