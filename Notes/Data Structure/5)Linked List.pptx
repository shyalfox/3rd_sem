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3"/>
  </p:notesMasterIdLst>
  <p:sldIdLst>
    <p:sldId id="256" r:id="rId2"/>
    <p:sldId id="257" r:id="rId3"/>
    <p:sldId id="270" r:id="rId4"/>
    <p:sldId id="335" r:id="rId5"/>
    <p:sldId id="336" r:id="rId6"/>
    <p:sldId id="272" r:id="rId7"/>
    <p:sldId id="273" r:id="rId8"/>
    <p:sldId id="337" r:id="rId9"/>
    <p:sldId id="258" r:id="rId10"/>
    <p:sldId id="339" r:id="rId11"/>
    <p:sldId id="340" r:id="rId12"/>
    <p:sldId id="260" r:id="rId13"/>
    <p:sldId id="342" r:id="rId14"/>
    <p:sldId id="266" r:id="rId15"/>
    <p:sldId id="274" r:id="rId16"/>
    <p:sldId id="261" r:id="rId17"/>
    <p:sldId id="262" r:id="rId18"/>
    <p:sldId id="275" r:id="rId19"/>
    <p:sldId id="263" r:id="rId20"/>
    <p:sldId id="264" r:id="rId21"/>
    <p:sldId id="265" r:id="rId22"/>
    <p:sldId id="280" r:id="rId23"/>
    <p:sldId id="267" r:id="rId24"/>
    <p:sldId id="281" r:id="rId25"/>
    <p:sldId id="268" r:id="rId26"/>
    <p:sldId id="269" r:id="rId27"/>
    <p:sldId id="277" r:id="rId28"/>
    <p:sldId id="278" r:id="rId29"/>
    <p:sldId id="279" r:id="rId30"/>
    <p:sldId id="282" r:id="rId31"/>
    <p:sldId id="283" r:id="rId32"/>
    <p:sldId id="284" r:id="rId33"/>
    <p:sldId id="285" r:id="rId34"/>
    <p:sldId id="286" r:id="rId35"/>
    <p:sldId id="290" r:id="rId36"/>
    <p:sldId id="287" r:id="rId37"/>
    <p:sldId id="288" r:id="rId38"/>
    <p:sldId id="289" r:id="rId39"/>
    <p:sldId id="291" r:id="rId40"/>
    <p:sldId id="292" r:id="rId41"/>
    <p:sldId id="293" r:id="rId42"/>
    <p:sldId id="294" r:id="rId43"/>
    <p:sldId id="295" r:id="rId44"/>
    <p:sldId id="343" r:id="rId45"/>
    <p:sldId id="297" r:id="rId46"/>
    <p:sldId id="298" r:id="rId47"/>
    <p:sldId id="315" r:id="rId48"/>
    <p:sldId id="299" r:id="rId49"/>
    <p:sldId id="300" r:id="rId50"/>
    <p:sldId id="301" r:id="rId51"/>
    <p:sldId id="316" r:id="rId52"/>
    <p:sldId id="317"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28" r:id="rId67"/>
    <p:sldId id="329" r:id="rId68"/>
    <p:sldId id="318" r:id="rId69"/>
    <p:sldId id="344" r:id="rId70"/>
    <p:sldId id="319" r:id="rId71"/>
    <p:sldId id="320" r:id="rId72"/>
    <p:sldId id="330" r:id="rId73"/>
    <p:sldId id="331" r:id="rId74"/>
    <p:sldId id="321" r:id="rId75"/>
    <p:sldId id="347" r:id="rId76"/>
    <p:sldId id="322" r:id="rId77"/>
    <p:sldId id="345" r:id="rId78"/>
    <p:sldId id="323" r:id="rId79"/>
    <p:sldId id="346" r:id="rId80"/>
    <p:sldId id="324" r:id="rId81"/>
    <p:sldId id="332" r:id="rId82"/>
    <p:sldId id="333" r:id="rId83"/>
    <p:sldId id="334" r:id="rId84"/>
    <p:sldId id="325" r:id="rId85"/>
    <p:sldId id="348" r:id="rId86"/>
    <p:sldId id="350" r:id="rId87"/>
    <p:sldId id="351" r:id="rId88"/>
    <p:sldId id="352" r:id="rId89"/>
    <p:sldId id="353" r:id="rId90"/>
    <p:sldId id="354" r:id="rId91"/>
    <p:sldId id="355" r:id="rId92"/>
    <p:sldId id="356" r:id="rId93"/>
    <p:sldId id="357" r:id="rId94"/>
    <p:sldId id="358" r:id="rId95"/>
    <p:sldId id="359" r:id="rId96"/>
    <p:sldId id="360" r:id="rId97"/>
    <p:sldId id="361" r:id="rId98"/>
    <p:sldId id="362" r:id="rId99"/>
    <p:sldId id="363" r:id="rId100"/>
    <p:sldId id="364" r:id="rId101"/>
    <p:sldId id="365" r:id="rId102"/>
    <p:sldId id="366" r:id="rId103"/>
    <p:sldId id="367" r:id="rId104"/>
    <p:sldId id="368" r:id="rId105"/>
    <p:sldId id="369" r:id="rId106"/>
    <p:sldId id="370" r:id="rId107"/>
    <p:sldId id="390" r:id="rId108"/>
    <p:sldId id="371" r:id="rId109"/>
    <p:sldId id="372" r:id="rId110"/>
    <p:sldId id="391" r:id="rId111"/>
    <p:sldId id="373" r:id="rId112"/>
    <p:sldId id="374" r:id="rId113"/>
    <p:sldId id="375" r:id="rId114"/>
    <p:sldId id="376" r:id="rId115"/>
    <p:sldId id="377" r:id="rId116"/>
    <p:sldId id="378" r:id="rId117"/>
    <p:sldId id="392" r:id="rId118"/>
    <p:sldId id="393" r:id="rId119"/>
    <p:sldId id="394" r:id="rId120"/>
    <p:sldId id="395" r:id="rId121"/>
    <p:sldId id="396" r:id="rId122"/>
    <p:sldId id="379" r:id="rId123"/>
    <p:sldId id="380" r:id="rId124"/>
    <p:sldId id="381" r:id="rId125"/>
    <p:sldId id="382" r:id="rId126"/>
    <p:sldId id="383" r:id="rId127"/>
    <p:sldId id="384" r:id="rId128"/>
    <p:sldId id="385" r:id="rId129"/>
    <p:sldId id="386" r:id="rId130"/>
    <p:sldId id="388" r:id="rId131"/>
    <p:sldId id="389" r:id="rId1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6" d="100"/>
          <a:sy n="66" d="100"/>
        </p:scale>
        <p:origin x="780"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1DD630-4A78-4CAE-B8CA-565433B91591}" type="datetimeFigureOut">
              <a:rPr lang="en-US" smtClean="0"/>
              <a:t>2/9/2020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E0ADA4-A234-4DE7-8CB7-C9E6454C54EB}" type="slidenum">
              <a:rPr lang="en-US" smtClean="0"/>
              <a:t>‹#›</a:t>
            </a:fld>
            <a:endParaRPr lang="en-US"/>
          </a:p>
        </p:txBody>
      </p:sp>
    </p:spTree>
    <p:extLst>
      <p:ext uri="{BB962C8B-B14F-4D97-AF65-F5344CB8AC3E}">
        <p14:creationId xmlns:p14="http://schemas.microsoft.com/office/powerpoint/2010/main" val="2064736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386C17-8DDC-4716-958E-245E676D7C7E}" type="slidenum">
              <a:rPr lang="en-US" smtClean="0"/>
              <a:t>57</a:t>
            </a:fld>
            <a:endParaRPr lang="en-US"/>
          </a:p>
        </p:txBody>
      </p:sp>
    </p:spTree>
    <p:extLst>
      <p:ext uri="{BB962C8B-B14F-4D97-AF65-F5344CB8AC3E}">
        <p14:creationId xmlns:p14="http://schemas.microsoft.com/office/powerpoint/2010/main" val="39744732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466C063-1E89-4A2C-9FAF-D0D614A6ED28}" type="datetimeFigureOut">
              <a:rPr lang="en-US" smtClean="0"/>
              <a:t>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0A027E-C589-4ECC-BF76-5ED1765EA9BD}" type="slidenum">
              <a:rPr lang="en-US" smtClean="0"/>
              <a:t>‹#›</a:t>
            </a:fld>
            <a:endParaRPr lang="en-US"/>
          </a:p>
        </p:txBody>
      </p:sp>
    </p:spTree>
    <p:extLst>
      <p:ext uri="{BB962C8B-B14F-4D97-AF65-F5344CB8AC3E}">
        <p14:creationId xmlns:p14="http://schemas.microsoft.com/office/powerpoint/2010/main" val="29619666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466C063-1E89-4A2C-9FAF-D0D614A6ED28}" type="datetimeFigureOut">
              <a:rPr lang="en-US" smtClean="0"/>
              <a:t>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0A027E-C589-4ECC-BF76-5ED1765EA9BD}" type="slidenum">
              <a:rPr lang="en-US" smtClean="0"/>
              <a:t>‹#›</a:t>
            </a:fld>
            <a:endParaRPr lang="en-US"/>
          </a:p>
        </p:txBody>
      </p:sp>
    </p:spTree>
    <p:extLst>
      <p:ext uri="{BB962C8B-B14F-4D97-AF65-F5344CB8AC3E}">
        <p14:creationId xmlns:p14="http://schemas.microsoft.com/office/powerpoint/2010/main" val="2401052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466C063-1E89-4A2C-9FAF-D0D614A6ED28}" type="datetimeFigureOut">
              <a:rPr lang="en-US" smtClean="0"/>
              <a:t>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0A027E-C589-4ECC-BF76-5ED1765EA9BD}" type="slidenum">
              <a:rPr lang="en-US" smtClean="0"/>
              <a:t>‹#›</a:t>
            </a:fld>
            <a:endParaRPr lang="en-US"/>
          </a:p>
        </p:txBody>
      </p:sp>
    </p:spTree>
    <p:extLst>
      <p:ext uri="{BB962C8B-B14F-4D97-AF65-F5344CB8AC3E}">
        <p14:creationId xmlns:p14="http://schemas.microsoft.com/office/powerpoint/2010/main" val="233209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466C063-1E89-4A2C-9FAF-D0D614A6ED28}" type="datetimeFigureOut">
              <a:rPr lang="en-US" smtClean="0"/>
              <a:t>2/9/2020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0A027E-C589-4ECC-BF76-5ED1765EA9BD}" type="slidenum">
              <a:rPr lang="en-US" smtClean="0"/>
              <a:t>‹#›</a:t>
            </a:fld>
            <a:endParaRPr lang="en-US"/>
          </a:p>
        </p:txBody>
      </p:sp>
    </p:spTree>
    <p:extLst>
      <p:ext uri="{BB962C8B-B14F-4D97-AF65-F5344CB8AC3E}">
        <p14:creationId xmlns:p14="http://schemas.microsoft.com/office/powerpoint/2010/main" val="42776003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466C063-1E89-4A2C-9FAF-D0D614A6ED28}" type="datetimeFigureOut">
              <a:rPr lang="en-US" smtClean="0"/>
              <a:t>2/9/2020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D0A027E-C589-4ECC-BF76-5ED1765EA9BD}" type="slidenum">
              <a:rPr lang="en-US" smtClean="0"/>
              <a:t>‹#›</a:t>
            </a:fld>
            <a:endParaRPr lang="en-US"/>
          </a:p>
        </p:txBody>
      </p:sp>
    </p:spTree>
    <p:extLst>
      <p:ext uri="{BB962C8B-B14F-4D97-AF65-F5344CB8AC3E}">
        <p14:creationId xmlns:p14="http://schemas.microsoft.com/office/powerpoint/2010/main" val="25723049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466C063-1E89-4A2C-9FAF-D0D614A6ED28}" type="datetimeFigureOut">
              <a:rPr lang="en-US" smtClean="0"/>
              <a:t>2/9/2020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D0A027E-C589-4ECC-BF76-5ED1765EA9BD}" type="slidenum">
              <a:rPr lang="en-US" smtClean="0"/>
              <a:t>‹#›</a:t>
            </a:fld>
            <a:endParaRPr lang="en-US"/>
          </a:p>
        </p:txBody>
      </p:sp>
    </p:spTree>
    <p:extLst>
      <p:ext uri="{BB962C8B-B14F-4D97-AF65-F5344CB8AC3E}">
        <p14:creationId xmlns:p14="http://schemas.microsoft.com/office/powerpoint/2010/main" val="11942209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66C063-1E89-4A2C-9FAF-D0D614A6ED28}" type="datetimeFigureOut">
              <a:rPr lang="en-US" smtClean="0"/>
              <a:t>2/9/2020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D0A027E-C589-4ECC-BF76-5ED1765EA9BD}" type="slidenum">
              <a:rPr lang="en-US" smtClean="0"/>
              <a:t>‹#›</a:t>
            </a:fld>
            <a:endParaRPr lang="en-US"/>
          </a:p>
        </p:txBody>
      </p:sp>
    </p:spTree>
    <p:extLst>
      <p:ext uri="{BB962C8B-B14F-4D97-AF65-F5344CB8AC3E}">
        <p14:creationId xmlns:p14="http://schemas.microsoft.com/office/powerpoint/2010/main" val="22923088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466C063-1E89-4A2C-9FAF-D0D614A6ED28}" type="datetimeFigureOut">
              <a:rPr lang="en-US" smtClean="0"/>
              <a:t>2/9/2020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0A027E-C589-4ECC-BF76-5ED1765EA9BD}" type="slidenum">
              <a:rPr lang="en-US" smtClean="0"/>
              <a:t>‹#›</a:t>
            </a:fld>
            <a:endParaRPr lang="en-US"/>
          </a:p>
        </p:txBody>
      </p:sp>
    </p:spTree>
    <p:extLst>
      <p:ext uri="{BB962C8B-B14F-4D97-AF65-F5344CB8AC3E}">
        <p14:creationId xmlns:p14="http://schemas.microsoft.com/office/powerpoint/2010/main" val="42266931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466C063-1E89-4A2C-9FAF-D0D614A6ED28}" type="datetimeFigureOut">
              <a:rPr lang="en-US" smtClean="0"/>
              <a:t>2/9/2020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0A027E-C589-4ECC-BF76-5ED1765EA9BD}" type="slidenum">
              <a:rPr lang="en-US" smtClean="0"/>
              <a:t>‹#›</a:t>
            </a:fld>
            <a:endParaRPr lang="en-US"/>
          </a:p>
        </p:txBody>
      </p:sp>
    </p:spTree>
    <p:extLst>
      <p:ext uri="{BB962C8B-B14F-4D97-AF65-F5344CB8AC3E}">
        <p14:creationId xmlns:p14="http://schemas.microsoft.com/office/powerpoint/2010/main" val="20716227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466C063-1E89-4A2C-9FAF-D0D614A6ED28}" type="datetimeFigureOut">
              <a:rPr lang="en-US" smtClean="0"/>
              <a:t>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0A027E-C589-4ECC-BF76-5ED1765EA9BD}" type="slidenum">
              <a:rPr lang="en-US" smtClean="0"/>
              <a:t>‹#›</a:t>
            </a:fld>
            <a:endParaRPr lang="en-US"/>
          </a:p>
        </p:txBody>
      </p:sp>
    </p:spTree>
    <p:extLst>
      <p:ext uri="{BB962C8B-B14F-4D97-AF65-F5344CB8AC3E}">
        <p14:creationId xmlns:p14="http://schemas.microsoft.com/office/powerpoint/2010/main" val="24672750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466C063-1E89-4A2C-9FAF-D0D614A6ED28}" type="datetimeFigureOut">
              <a:rPr lang="en-US" smtClean="0"/>
              <a:t>2/9/2020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0A027E-C589-4ECC-BF76-5ED1765EA9BD}" type="slidenum">
              <a:rPr lang="en-US" smtClean="0"/>
              <a:t>‹#›</a:t>
            </a:fld>
            <a:endParaRPr lang="en-US"/>
          </a:p>
        </p:txBody>
      </p:sp>
    </p:spTree>
    <p:extLst>
      <p:ext uri="{BB962C8B-B14F-4D97-AF65-F5344CB8AC3E}">
        <p14:creationId xmlns:p14="http://schemas.microsoft.com/office/powerpoint/2010/main" val="2588750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66C063-1E89-4A2C-9FAF-D0D614A6ED28}" type="datetimeFigureOut">
              <a:rPr lang="en-US" smtClean="0"/>
              <a:t>2/9/2020</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0A027E-C589-4ECC-BF76-5ED1765EA9BD}" type="slidenum">
              <a:rPr lang="en-US" smtClean="0"/>
              <a:t>‹#›</a:t>
            </a:fld>
            <a:endParaRPr lang="en-US"/>
          </a:p>
        </p:txBody>
      </p:sp>
    </p:spTree>
    <p:extLst>
      <p:ext uri="{BB962C8B-B14F-4D97-AF65-F5344CB8AC3E}">
        <p14:creationId xmlns:p14="http://schemas.microsoft.com/office/powerpoint/2010/main" val="32426968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Linked List</a:t>
            </a:r>
            <a:endParaRPr lang="en-US" dirty="0"/>
          </a:p>
        </p:txBody>
      </p:sp>
      <p:sp>
        <p:nvSpPr>
          <p:cNvPr id="3" name="Subtitle 2"/>
          <p:cNvSpPr>
            <a:spLocks noGrp="1"/>
          </p:cNvSpPr>
          <p:nvPr>
            <p:ph type="subTitle" idx="1"/>
          </p:nvPr>
        </p:nvSpPr>
        <p:spPr/>
        <p:txBody>
          <a:bodyPr/>
          <a:lstStyle/>
          <a:p>
            <a:r>
              <a:rPr lang="en-US" dirty="0" smtClean="0"/>
              <a:t>B.Sc. CSIT</a:t>
            </a:r>
          </a:p>
          <a:p>
            <a:r>
              <a:rPr lang="en-US" dirty="0" smtClean="0"/>
              <a:t>3</a:t>
            </a:r>
            <a:r>
              <a:rPr lang="en-US" baseline="30000" dirty="0" smtClean="0"/>
              <a:t>rd</a:t>
            </a:r>
            <a:r>
              <a:rPr lang="en-US" dirty="0" smtClean="0"/>
              <a:t>  Semester</a:t>
            </a:r>
            <a:endParaRPr lang="en-US" dirty="0"/>
          </a:p>
        </p:txBody>
      </p:sp>
    </p:spTree>
    <p:extLst>
      <p:ext uri="{BB962C8B-B14F-4D97-AF65-F5344CB8AC3E}">
        <p14:creationId xmlns:p14="http://schemas.microsoft.com/office/powerpoint/2010/main" val="340185154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Linked </a:t>
            </a:r>
            <a:r>
              <a:rPr lang="en-US" b="1" dirty="0" smtClean="0"/>
              <a:t>List</a:t>
            </a:r>
            <a:endParaRPr lang="en-US" dirty="0"/>
          </a:p>
        </p:txBody>
      </p:sp>
      <p:sp>
        <p:nvSpPr>
          <p:cNvPr id="3" name="Content Placeholder 2"/>
          <p:cNvSpPr>
            <a:spLocks noGrp="1"/>
          </p:cNvSpPr>
          <p:nvPr>
            <p:ph idx="1"/>
          </p:nvPr>
        </p:nvSpPr>
        <p:spPr>
          <a:xfrm>
            <a:off x="1981200" y="1219200"/>
            <a:ext cx="8382000" cy="5105400"/>
          </a:xfrm>
        </p:spPr>
        <p:txBody>
          <a:bodyPr>
            <a:normAutofit lnSpcReduction="10000"/>
          </a:bodyPr>
          <a:lstStyle/>
          <a:p>
            <a:pPr marL="514350" indent="-514350">
              <a:buFont typeface="+mj-lt"/>
              <a:buAutoNum type="alphaLcParenR"/>
            </a:pPr>
            <a:r>
              <a:rPr lang="en-US" dirty="0" smtClean="0"/>
              <a:t>List</a:t>
            </a:r>
          </a:p>
          <a:p>
            <a:pPr marL="514350" indent="-514350">
              <a:buFont typeface="+mj-lt"/>
              <a:buAutoNum type="alphaLcParenR"/>
            </a:pPr>
            <a:r>
              <a:rPr lang="en-US" dirty="0" smtClean="0"/>
              <a:t>Definition and Concept of LL</a:t>
            </a:r>
            <a:endParaRPr lang="en-US" dirty="0"/>
          </a:p>
          <a:p>
            <a:pPr marL="514350" indent="-514350">
              <a:buFont typeface="+mj-lt"/>
              <a:buAutoNum type="alphaLcParenR"/>
            </a:pPr>
            <a:r>
              <a:rPr lang="en-US" dirty="0" smtClean="0"/>
              <a:t>Insert </a:t>
            </a:r>
            <a:r>
              <a:rPr lang="en-US" dirty="0"/>
              <a:t>and </a:t>
            </a:r>
            <a:r>
              <a:rPr lang="en-US" dirty="0" smtClean="0"/>
              <a:t>delete node</a:t>
            </a:r>
            <a:endParaRPr lang="en-US" dirty="0"/>
          </a:p>
          <a:p>
            <a:pPr marL="514350" indent="-514350">
              <a:buFont typeface="+mj-lt"/>
              <a:buAutoNum type="alphaLcParenR"/>
            </a:pPr>
            <a:r>
              <a:rPr lang="en-US" dirty="0" smtClean="0"/>
              <a:t>Linked </a:t>
            </a:r>
            <a:r>
              <a:rPr lang="en-US" dirty="0"/>
              <a:t>implementation of a </a:t>
            </a:r>
            <a:r>
              <a:rPr lang="en-US" dirty="0" smtClean="0"/>
              <a:t>stack</a:t>
            </a:r>
          </a:p>
          <a:p>
            <a:pPr marL="514350" indent="-514350">
              <a:buFont typeface="+mj-lt"/>
              <a:buAutoNum type="alphaLcParenR"/>
            </a:pPr>
            <a:r>
              <a:rPr lang="en-US" dirty="0" smtClean="0"/>
              <a:t>Linked </a:t>
            </a:r>
            <a:r>
              <a:rPr lang="en-US" dirty="0"/>
              <a:t>implementation of a </a:t>
            </a:r>
            <a:r>
              <a:rPr lang="en-US" dirty="0" smtClean="0"/>
              <a:t>queue</a:t>
            </a:r>
          </a:p>
          <a:p>
            <a:pPr marL="514350" indent="-514350">
              <a:buFont typeface="+mj-lt"/>
              <a:buAutoNum type="alphaLcParenR"/>
            </a:pPr>
            <a:r>
              <a:rPr lang="en-US" dirty="0" smtClean="0"/>
              <a:t>Circular </a:t>
            </a:r>
            <a:r>
              <a:rPr lang="en-US" dirty="0"/>
              <a:t>linked list</a:t>
            </a:r>
          </a:p>
          <a:p>
            <a:pPr>
              <a:buFont typeface="Wingdings" pitchFamily="2" charset="2"/>
              <a:buChar char="§"/>
            </a:pPr>
            <a:r>
              <a:rPr lang="en-US" dirty="0" smtClean="0"/>
              <a:t>	Stack </a:t>
            </a:r>
            <a:r>
              <a:rPr lang="en-US" dirty="0"/>
              <a:t>as a circular </a:t>
            </a:r>
            <a:r>
              <a:rPr lang="en-US" dirty="0" smtClean="0"/>
              <a:t>list</a:t>
            </a:r>
            <a:endParaRPr lang="en-US" dirty="0"/>
          </a:p>
          <a:p>
            <a:pPr>
              <a:buFont typeface="Wingdings" pitchFamily="2" charset="2"/>
              <a:buChar char="§"/>
            </a:pPr>
            <a:r>
              <a:rPr lang="en-US" dirty="0" smtClean="0"/>
              <a:t>	Queue </a:t>
            </a:r>
            <a:r>
              <a:rPr lang="en-US" dirty="0"/>
              <a:t>as a circular </a:t>
            </a:r>
            <a:r>
              <a:rPr lang="en-US" dirty="0" smtClean="0"/>
              <a:t>list</a:t>
            </a:r>
          </a:p>
          <a:p>
            <a:pPr marL="0" indent="0">
              <a:buNone/>
            </a:pPr>
            <a:r>
              <a:rPr lang="en-US" dirty="0" smtClean="0"/>
              <a:t>f)  Doubly </a:t>
            </a:r>
            <a:r>
              <a:rPr lang="en-US" dirty="0"/>
              <a:t>linked list (insert / delete)</a:t>
            </a:r>
          </a:p>
          <a:p>
            <a:pPr marL="0" indent="0">
              <a:buNone/>
            </a:pPr>
            <a:endParaRPr lang="en-US" dirty="0"/>
          </a:p>
        </p:txBody>
      </p:sp>
    </p:spTree>
    <p:extLst>
      <p:ext uri="{BB962C8B-B14F-4D97-AF65-F5344CB8AC3E}">
        <p14:creationId xmlns:p14="http://schemas.microsoft.com/office/powerpoint/2010/main" val="247393751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792162"/>
          </a:xfrm>
        </p:spPr>
        <p:style>
          <a:lnRef idx="1">
            <a:schemeClr val="accent5"/>
          </a:lnRef>
          <a:fillRef idx="3">
            <a:schemeClr val="accent5"/>
          </a:fillRef>
          <a:effectRef idx="2">
            <a:schemeClr val="accent5"/>
          </a:effectRef>
          <a:fontRef idx="minor">
            <a:schemeClr val="lt1"/>
          </a:fontRef>
        </p:style>
        <p:txBody>
          <a:bodyPr/>
          <a:lstStyle/>
          <a:p>
            <a:pPr algn="l"/>
            <a:r>
              <a:rPr lang="en-US" b="1" dirty="0"/>
              <a:t>Advantages of </a:t>
            </a:r>
            <a:r>
              <a:rPr lang="en-US" b="1" dirty="0" smtClean="0"/>
              <a:t>Array</a:t>
            </a:r>
            <a:endParaRPr lang="en-US" dirty="0"/>
          </a:p>
        </p:txBody>
      </p:sp>
      <p:sp>
        <p:nvSpPr>
          <p:cNvPr id="3" name="Content Placeholder 2"/>
          <p:cNvSpPr>
            <a:spLocks noGrp="1"/>
          </p:cNvSpPr>
          <p:nvPr>
            <p:ph idx="1"/>
          </p:nvPr>
        </p:nvSpPr>
        <p:spPr>
          <a:xfrm>
            <a:off x="609600" y="1295401"/>
            <a:ext cx="10972800" cy="5105399"/>
          </a:xfrm>
        </p:spPr>
        <p:txBody>
          <a:bodyPr>
            <a:normAutofit fontScale="92500" lnSpcReduction="20000"/>
          </a:bodyPr>
          <a:lstStyle/>
          <a:p>
            <a:r>
              <a:rPr lang="en-US" dirty="0"/>
              <a:t>Array provides the </a:t>
            </a:r>
            <a:r>
              <a:rPr lang="en-US" i="1" dirty="0"/>
              <a:t>single name for the group of variables</a:t>
            </a:r>
            <a:r>
              <a:rPr lang="en-US" dirty="0"/>
              <a:t> of the same type therefore, it is easy to remember the name of all the elements of an array.</a:t>
            </a:r>
          </a:p>
          <a:p>
            <a:r>
              <a:rPr lang="en-US" i="1" dirty="0"/>
              <a:t>Traversing an array is a very simple process,</a:t>
            </a:r>
            <a:r>
              <a:rPr lang="en-US" dirty="0"/>
              <a:t> we just need to increment the base address of the array in order to visit each element one by one.</a:t>
            </a:r>
          </a:p>
          <a:p>
            <a:r>
              <a:rPr lang="en-US" dirty="0"/>
              <a:t>Any element in the array can be </a:t>
            </a:r>
            <a:r>
              <a:rPr lang="en-US" dirty="0" smtClean="0"/>
              <a:t>directly/randomly accessed by </a:t>
            </a:r>
            <a:r>
              <a:rPr lang="en-US" dirty="0"/>
              <a:t>using the index</a:t>
            </a:r>
            <a:r>
              <a:rPr lang="en-US" dirty="0" smtClean="0"/>
              <a:t>.</a:t>
            </a:r>
          </a:p>
          <a:p>
            <a:pPr lvl="0"/>
            <a:r>
              <a:rPr lang="en-US" dirty="0" smtClean="0"/>
              <a:t>Faster execution</a:t>
            </a:r>
          </a:p>
          <a:p>
            <a:pPr lvl="0"/>
            <a:r>
              <a:rPr lang="en-US" dirty="0" smtClean="0"/>
              <a:t>Very memory efficient, very little memory required.</a:t>
            </a:r>
            <a:endParaRPr lang="en-US" dirty="0"/>
          </a:p>
          <a:p>
            <a:pPr lvl="0"/>
            <a:r>
              <a:rPr lang="en-US" dirty="0"/>
              <a:t>Implementation of list using array is easier as compared to other </a:t>
            </a:r>
            <a:r>
              <a:rPr lang="en-US" dirty="0" smtClean="0"/>
              <a:t>implementations</a:t>
            </a:r>
            <a:endParaRPr lang="en-US" dirty="0"/>
          </a:p>
        </p:txBody>
      </p:sp>
    </p:spTree>
    <p:extLst>
      <p:ext uri="{BB962C8B-B14F-4D97-AF65-F5344CB8AC3E}">
        <p14:creationId xmlns:p14="http://schemas.microsoft.com/office/powerpoint/2010/main" val="169636952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wipe(down)">
                                      <p:cBhvr>
                                        <p:cTn id="7" dur="500"/>
                                        <p:tgtEl>
                                          <p:spTgt spid="3">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wipe(down)">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wipe(down)">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wipe(down)">
                                      <p:cBhvr>
                                        <p:cTn id="22" dur="500"/>
                                        <p:tgtEl>
                                          <p:spTgt spid="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wipe(down)">
                                      <p:cBhvr>
                                        <p:cTn id="27" dur="500"/>
                                        <p:tgtEl>
                                          <p:spTgt spid="3">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circle(in)">
                                      <p:cBhvr>
                                        <p:cTn id="32"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715962"/>
          </a:xfrm>
        </p:spPr>
        <p:style>
          <a:lnRef idx="0">
            <a:schemeClr val="accent5"/>
          </a:lnRef>
          <a:fillRef idx="3">
            <a:schemeClr val="accent5"/>
          </a:fillRef>
          <a:effectRef idx="3">
            <a:schemeClr val="accent5"/>
          </a:effectRef>
          <a:fontRef idx="minor">
            <a:schemeClr val="lt1"/>
          </a:fontRef>
        </p:style>
        <p:txBody>
          <a:bodyPr>
            <a:normAutofit fontScale="90000"/>
          </a:bodyPr>
          <a:lstStyle/>
          <a:p>
            <a:pPr algn="l"/>
            <a:r>
              <a:rPr lang="en-US" dirty="0"/>
              <a:t>Why use linked list over array</a:t>
            </a:r>
            <a:r>
              <a:rPr lang="en-US" dirty="0" smtClean="0"/>
              <a:t>?</a:t>
            </a:r>
            <a:endParaRPr lang="en-US" dirty="0"/>
          </a:p>
        </p:txBody>
      </p:sp>
      <p:sp>
        <p:nvSpPr>
          <p:cNvPr id="3" name="Content Placeholder 2"/>
          <p:cNvSpPr>
            <a:spLocks noGrp="1"/>
          </p:cNvSpPr>
          <p:nvPr>
            <p:ph idx="1"/>
          </p:nvPr>
        </p:nvSpPr>
        <p:spPr>
          <a:xfrm>
            <a:off x="609600" y="1143000"/>
            <a:ext cx="10972800" cy="5257799"/>
          </a:xfrm>
        </p:spPr>
        <p:txBody>
          <a:bodyPr>
            <a:normAutofit fontScale="77500" lnSpcReduction="20000"/>
          </a:bodyPr>
          <a:lstStyle/>
          <a:p>
            <a:r>
              <a:rPr lang="en-US" dirty="0" smtClean="0"/>
              <a:t>Till </a:t>
            </a:r>
            <a:r>
              <a:rPr lang="en-US" dirty="0"/>
              <a:t>now, we were using array data structure to organize the group of elements that are to be stored individually in the memory. </a:t>
            </a:r>
            <a:endParaRPr lang="en-US" dirty="0" smtClean="0"/>
          </a:p>
          <a:p>
            <a:r>
              <a:rPr lang="en-US" dirty="0" smtClean="0"/>
              <a:t>However</a:t>
            </a:r>
            <a:r>
              <a:rPr lang="en-US" dirty="0"/>
              <a:t>, Array has several advantages and disadvantages which must be known in order to decide the data structure which will be used throughout the program.</a:t>
            </a:r>
          </a:p>
          <a:p>
            <a:pPr marL="0" indent="0">
              <a:buNone/>
            </a:pPr>
            <a:r>
              <a:rPr lang="en-US" sz="3600" b="1" dirty="0"/>
              <a:t>Array contains following limitations:</a:t>
            </a:r>
          </a:p>
          <a:p>
            <a:r>
              <a:rPr lang="en-US" sz="3600" dirty="0"/>
              <a:t>The </a:t>
            </a:r>
            <a:r>
              <a:rPr lang="en-US" sz="3600" b="1" i="1" dirty="0"/>
              <a:t>size of array must be known in advance</a:t>
            </a:r>
            <a:r>
              <a:rPr lang="en-US" sz="3600" dirty="0"/>
              <a:t> before using it in the program.</a:t>
            </a:r>
          </a:p>
          <a:p>
            <a:r>
              <a:rPr lang="en-US" sz="3600" dirty="0"/>
              <a:t>Increasing size of the array is a time taking process. </a:t>
            </a:r>
            <a:endParaRPr lang="en-US" sz="3600" dirty="0" smtClean="0"/>
          </a:p>
          <a:p>
            <a:r>
              <a:rPr lang="en-US" sz="3600" dirty="0" smtClean="0"/>
              <a:t>It </a:t>
            </a:r>
            <a:r>
              <a:rPr lang="en-US" sz="3600" dirty="0"/>
              <a:t>is almost impossible to expand the size of the array at run time.</a:t>
            </a:r>
          </a:p>
          <a:p>
            <a:r>
              <a:rPr lang="en-US" sz="3600" dirty="0"/>
              <a:t>All the elements in the array need to be </a:t>
            </a:r>
            <a:r>
              <a:rPr lang="en-US" sz="3600" b="1" i="1" dirty="0"/>
              <a:t>contiguously stored</a:t>
            </a:r>
            <a:r>
              <a:rPr lang="en-US" sz="3600" dirty="0"/>
              <a:t> in the memory. </a:t>
            </a:r>
            <a:endParaRPr lang="en-US" sz="3600" dirty="0" smtClean="0"/>
          </a:p>
          <a:p>
            <a:r>
              <a:rPr lang="en-US" sz="3600" dirty="0"/>
              <a:t>Inserting or deleting an element in an array may require all of its elements to be shifted</a:t>
            </a:r>
          </a:p>
        </p:txBody>
      </p:sp>
    </p:spTree>
    <p:extLst>
      <p:ext uri="{BB962C8B-B14F-4D97-AF65-F5344CB8AC3E}">
        <p14:creationId xmlns:p14="http://schemas.microsoft.com/office/powerpoint/2010/main" val="38146420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792162"/>
          </a:xfrm>
        </p:spPr>
        <p:style>
          <a:lnRef idx="1">
            <a:schemeClr val="accent5"/>
          </a:lnRef>
          <a:fillRef idx="3">
            <a:schemeClr val="accent5"/>
          </a:fillRef>
          <a:effectRef idx="2">
            <a:schemeClr val="accent5"/>
          </a:effectRef>
          <a:fontRef idx="minor">
            <a:schemeClr val="lt1"/>
          </a:fontRef>
        </p:style>
        <p:txBody>
          <a:bodyPr>
            <a:normAutofit/>
          </a:bodyPr>
          <a:lstStyle/>
          <a:p>
            <a:pPr algn="l"/>
            <a:r>
              <a:rPr lang="en-US" dirty="0"/>
              <a:t>Using linked list is useful </a:t>
            </a:r>
            <a:r>
              <a:rPr lang="en-US" dirty="0" smtClean="0"/>
              <a:t>because</a:t>
            </a:r>
            <a:endParaRPr lang="en-US" dirty="0"/>
          </a:p>
        </p:txBody>
      </p:sp>
      <p:sp>
        <p:nvSpPr>
          <p:cNvPr id="3" name="Content Placeholder 2"/>
          <p:cNvSpPr>
            <a:spLocks noGrp="1"/>
          </p:cNvSpPr>
          <p:nvPr>
            <p:ph idx="1"/>
          </p:nvPr>
        </p:nvSpPr>
        <p:spPr>
          <a:xfrm>
            <a:off x="609600" y="1295401"/>
            <a:ext cx="10972800" cy="4952999"/>
          </a:xfrm>
        </p:spPr>
        <p:txBody>
          <a:bodyPr/>
          <a:lstStyle/>
          <a:p>
            <a:r>
              <a:rPr lang="en-US" dirty="0" smtClean="0"/>
              <a:t>It </a:t>
            </a:r>
            <a:r>
              <a:rPr lang="en-US" dirty="0"/>
              <a:t>allocates the </a:t>
            </a:r>
            <a:r>
              <a:rPr lang="en-US" b="1" i="1" dirty="0"/>
              <a:t>memory dynamically</a:t>
            </a:r>
            <a:r>
              <a:rPr lang="en-US" dirty="0" smtClean="0"/>
              <a:t>.</a:t>
            </a:r>
          </a:p>
          <a:p>
            <a:r>
              <a:rPr lang="en-US" dirty="0" smtClean="0"/>
              <a:t> </a:t>
            </a:r>
            <a:r>
              <a:rPr lang="en-US" dirty="0"/>
              <a:t>All the nodes of </a:t>
            </a:r>
            <a:r>
              <a:rPr lang="en-US" b="1" i="1" dirty="0"/>
              <a:t>linked list are non-contiguously stored</a:t>
            </a:r>
            <a:r>
              <a:rPr lang="en-US" dirty="0"/>
              <a:t> in the memory and linked together with the help of pointers.</a:t>
            </a:r>
          </a:p>
          <a:p>
            <a:r>
              <a:rPr lang="en-US" b="1" i="1" dirty="0"/>
              <a:t>Sizing is no longer a problem</a:t>
            </a:r>
            <a:r>
              <a:rPr lang="en-US" dirty="0"/>
              <a:t> since we do not need to define its size at the time of declaration. </a:t>
            </a:r>
            <a:endParaRPr lang="en-US" dirty="0" smtClean="0"/>
          </a:p>
          <a:p>
            <a:r>
              <a:rPr lang="en-US" b="1" i="1" dirty="0" smtClean="0"/>
              <a:t>List </a:t>
            </a:r>
            <a:r>
              <a:rPr lang="en-US" b="1" i="1" dirty="0"/>
              <a:t>grows as per the program's demand</a:t>
            </a:r>
            <a:r>
              <a:rPr lang="en-US" dirty="0"/>
              <a:t> and limited to the available memory </a:t>
            </a:r>
            <a:r>
              <a:rPr lang="en-US" dirty="0" smtClean="0"/>
              <a:t>space.</a:t>
            </a:r>
          </a:p>
          <a:p>
            <a:pPr marL="0" indent="0">
              <a:buNone/>
            </a:pPr>
            <a:r>
              <a:rPr lang="en-US" i="1" dirty="0" smtClean="0"/>
              <a:t>i.e. The </a:t>
            </a:r>
            <a:r>
              <a:rPr lang="en-US" i="1" dirty="0"/>
              <a:t>size of a linked list can </a:t>
            </a:r>
            <a:r>
              <a:rPr lang="en-US" i="1" dirty="0">
                <a:solidFill>
                  <a:srgbClr val="FF0000"/>
                </a:solidFill>
              </a:rPr>
              <a:t>grow or shrink </a:t>
            </a:r>
            <a:r>
              <a:rPr lang="en-US" i="1" dirty="0" smtClean="0"/>
              <a:t>dynamically.</a:t>
            </a:r>
            <a:endParaRPr lang="en-US" i="1" dirty="0"/>
          </a:p>
        </p:txBody>
      </p:sp>
    </p:spTree>
    <p:extLst>
      <p:ext uri="{BB962C8B-B14F-4D97-AF65-F5344CB8AC3E}">
        <p14:creationId xmlns:p14="http://schemas.microsoft.com/office/powerpoint/2010/main" val="19277952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lgn="ctr">
              <a:buNone/>
            </a:pPr>
            <a:r>
              <a:rPr lang="en-US" sz="6600" b="1" dirty="0"/>
              <a:t>List</a:t>
            </a:r>
          </a:p>
          <a:p>
            <a:pPr marL="0" indent="0" algn="ctr">
              <a:buNone/>
            </a:pPr>
            <a:r>
              <a:rPr lang="en-US" sz="6600" b="1" dirty="0"/>
              <a:t>?</a:t>
            </a:r>
            <a:endParaRPr lang="en-US" b="1" dirty="0"/>
          </a:p>
        </p:txBody>
      </p:sp>
    </p:spTree>
    <p:extLst>
      <p:ext uri="{BB962C8B-B14F-4D97-AF65-F5344CB8AC3E}">
        <p14:creationId xmlns:p14="http://schemas.microsoft.com/office/powerpoint/2010/main" val="22793652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609600"/>
            <a:ext cx="10820400" cy="5562600"/>
          </a:xfrm>
        </p:spPr>
        <p:txBody>
          <a:bodyPr>
            <a:normAutofit fontScale="92500" lnSpcReduction="10000"/>
          </a:bodyPr>
          <a:lstStyle/>
          <a:p>
            <a:pPr marL="0" indent="0">
              <a:buNone/>
            </a:pPr>
            <a:r>
              <a:rPr lang="en-US" dirty="0"/>
              <a:t>A list is a sequence of related data items. </a:t>
            </a:r>
          </a:p>
          <a:p>
            <a:pPr marL="0" indent="0">
              <a:buNone/>
            </a:pPr>
            <a:r>
              <a:rPr lang="en-US" i="1" dirty="0" smtClean="0">
                <a:solidFill>
                  <a:srgbClr val="FF0000"/>
                </a:solidFill>
              </a:rPr>
              <a:t>List is a data structure to store data in sequential order.</a:t>
            </a:r>
            <a:endParaRPr lang="en-US" dirty="0" smtClean="0">
              <a:solidFill>
                <a:srgbClr val="FF0000"/>
              </a:solidFill>
            </a:endParaRPr>
          </a:p>
          <a:p>
            <a:pPr marL="0" indent="0">
              <a:buNone/>
            </a:pPr>
            <a:r>
              <a:rPr lang="en-US" dirty="0" smtClean="0"/>
              <a:t>It </a:t>
            </a:r>
            <a:r>
              <a:rPr lang="en-US" dirty="0"/>
              <a:t>can be an ordered collection of integer items like 3,40,75,98,100, </a:t>
            </a:r>
            <a:endParaRPr lang="en-US" dirty="0" smtClean="0"/>
          </a:p>
          <a:p>
            <a:pPr marL="0" indent="0">
              <a:buNone/>
            </a:pPr>
            <a:r>
              <a:rPr lang="en-US" i="1" dirty="0" err="1" smtClean="0"/>
              <a:t>Eg</a:t>
            </a:r>
            <a:r>
              <a:rPr lang="en-US" i="1" dirty="0" smtClean="0"/>
              <a:t>. List of students, list of books etc.</a:t>
            </a:r>
          </a:p>
          <a:p>
            <a:pPr marL="0" indent="0">
              <a:buNone/>
            </a:pPr>
            <a:r>
              <a:rPr lang="en-US" dirty="0" smtClean="0"/>
              <a:t>or </a:t>
            </a:r>
            <a:r>
              <a:rPr lang="en-US" dirty="0"/>
              <a:t>it can be a collection of structures like:</a:t>
            </a:r>
          </a:p>
          <a:p>
            <a:pPr marL="0" indent="0">
              <a:buNone/>
            </a:pPr>
            <a:r>
              <a:rPr lang="en-US" i="1" dirty="0" err="1"/>
              <a:t>struct</a:t>
            </a:r>
            <a:r>
              <a:rPr lang="en-US" i="1" dirty="0"/>
              <a:t> </a:t>
            </a:r>
            <a:r>
              <a:rPr lang="en-US" i="1" dirty="0" smtClean="0"/>
              <a:t>student</a:t>
            </a:r>
          </a:p>
          <a:p>
            <a:pPr marL="0" indent="0">
              <a:buNone/>
            </a:pPr>
            <a:r>
              <a:rPr lang="en-US" i="1" dirty="0" smtClean="0"/>
              <a:t>{</a:t>
            </a:r>
            <a:endParaRPr lang="en-US" i="1" dirty="0"/>
          </a:p>
          <a:p>
            <a:pPr marL="0" indent="0">
              <a:buNone/>
            </a:pPr>
            <a:r>
              <a:rPr lang="en-US" i="1" dirty="0" smtClean="0"/>
              <a:t>   char </a:t>
            </a:r>
            <a:r>
              <a:rPr lang="en-US" i="1" dirty="0"/>
              <a:t>name[20];</a:t>
            </a:r>
          </a:p>
          <a:p>
            <a:pPr marL="0" indent="0">
              <a:buNone/>
            </a:pPr>
            <a:r>
              <a:rPr lang="en-US" i="1" dirty="0" smtClean="0"/>
              <a:t>   char </a:t>
            </a:r>
            <a:r>
              <a:rPr lang="en-US" i="1" dirty="0"/>
              <a:t>class[10];</a:t>
            </a:r>
          </a:p>
          <a:p>
            <a:pPr marL="0" indent="0">
              <a:buNone/>
            </a:pPr>
            <a:r>
              <a:rPr lang="en-US" i="1" dirty="0" smtClean="0"/>
              <a:t>   </a:t>
            </a:r>
            <a:r>
              <a:rPr lang="en-US" i="1" dirty="0" err="1" smtClean="0"/>
              <a:t>int</a:t>
            </a:r>
            <a:r>
              <a:rPr lang="en-US" i="1" dirty="0" smtClean="0"/>
              <a:t> </a:t>
            </a:r>
            <a:r>
              <a:rPr lang="en-US" i="1" dirty="0"/>
              <a:t>grade</a:t>
            </a:r>
            <a:r>
              <a:rPr lang="en-US" i="1" dirty="0" smtClean="0"/>
              <a:t>;</a:t>
            </a:r>
          </a:p>
          <a:p>
            <a:pPr marL="0" indent="0">
              <a:buNone/>
            </a:pPr>
            <a:r>
              <a:rPr lang="en-US" i="1" dirty="0" smtClean="0"/>
              <a:t>};</a:t>
            </a:r>
            <a:endParaRPr lang="en-US" i="1" dirty="0"/>
          </a:p>
        </p:txBody>
      </p:sp>
    </p:spTree>
    <p:extLst>
      <p:ext uri="{BB962C8B-B14F-4D97-AF65-F5344CB8AC3E}">
        <p14:creationId xmlns:p14="http://schemas.microsoft.com/office/powerpoint/2010/main" val="209271341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143001"/>
            <a:ext cx="10972800" cy="4983164"/>
          </a:xfrm>
        </p:spPr>
        <p:txBody>
          <a:bodyPr>
            <a:normAutofit lnSpcReduction="10000"/>
          </a:bodyPr>
          <a:lstStyle/>
          <a:p>
            <a:pPr>
              <a:lnSpc>
                <a:spcPct val="150000"/>
              </a:lnSpc>
            </a:pPr>
            <a:r>
              <a:rPr lang="en-US" sz="3600" dirty="0"/>
              <a:t>with each structure containing a set of related data items.</a:t>
            </a:r>
          </a:p>
          <a:p>
            <a:pPr>
              <a:lnSpc>
                <a:spcPct val="150000"/>
              </a:lnSpc>
            </a:pPr>
            <a:r>
              <a:rPr lang="en-US" sz="3600" b="1" i="1" dirty="0"/>
              <a:t>Stacks and queues are special type of lists.</a:t>
            </a:r>
          </a:p>
          <a:p>
            <a:pPr>
              <a:lnSpc>
                <a:spcPct val="150000"/>
              </a:lnSpc>
            </a:pPr>
            <a:r>
              <a:rPr lang="en-US" sz="3600" dirty="0"/>
              <a:t>We call them </a:t>
            </a:r>
            <a:r>
              <a:rPr lang="en-US" sz="3600" b="1" i="1" dirty="0"/>
              <a:t>restricted list</a:t>
            </a:r>
            <a:r>
              <a:rPr lang="en-US" sz="3600" i="1" dirty="0"/>
              <a:t> </a:t>
            </a:r>
            <a:r>
              <a:rPr lang="en-US" sz="3600" dirty="0"/>
              <a:t>because insertions and deletions are restricted to occur in these structures only at the ends of a list.</a:t>
            </a:r>
          </a:p>
          <a:p>
            <a:pPr marL="0" indent="0">
              <a:buNone/>
            </a:pPr>
            <a:endParaRPr lang="en-US" dirty="0"/>
          </a:p>
        </p:txBody>
      </p:sp>
    </p:spTree>
    <p:extLst>
      <p:ext uri="{BB962C8B-B14F-4D97-AF65-F5344CB8AC3E}">
        <p14:creationId xmlns:p14="http://schemas.microsoft.com/office/powerpoint/2010/main" val="40926356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4638"/>
            <a:ext cx="9906000" cy="792162"/>
          </a:xfrm>
        </p:spPr>
        <p:style>
          <a:lnRef idx="1">
            <a:schemeClr val="accent5"/>
          </a:lnRef>
          <a:fillRef idx="3">
            <a:schemeClr val="accent5"/>
          </a:fillRef>
          <a:effectRef idx="2">
            <a:schemeClr val="accent5"/>
          </a:effectRef>
          <a:fontRef idx="minor">
            <a:schemeClr val="lt1"/>
          </a:fontRef>
        </p:style>
        <p:txBody>
          <a:bodyPr>
            <a:normAutofit/>
          </a:bodyPr>
          <a:lstStyle/>
          <a:p>
            <a:pPr algn="l"/>
            <a:r>
              <a:rPr lang="en-US" b="1" i="1" dirty="0"/>
              <a:t>Linked List</a:t>
            </a:r>
            <a:endParaRPr lang="en-US" dirty="0"/>
          </a:p>
        </p:txBody>
      </p:sp>
      <p:sp>
        <p:nvSpPr>
          <p:cNvPr id="3" name="Content Placeholder 2"/>
          <p:cNvSpPr>
            <a:spLocks noGrp="1"/>
          </p:cNvSpPr>
          <p:nvPr>
            <p:ph idx="1"/>
          </p:nvPr>
        </p:nvSpPr>
        <p:spPr>
          <a:xfrm>
            <a:off x="838200" y="1295400"/>
            <a:ext cx="10287000" cy="4876800"/>
          </a:xfrm>
        </p:spPr>
        <p:txBody>
          <a:bodyPr>
            <a:normAutofit/>
          </a:bodyPr>
          <a:lstStyle/>
          <a:p>
            <a:pPr marL="0" indent="0">
              <a:buNone/>
            </a:pPr>
            <a:r>
              <a:rPr lang="en-US" dirty="0" smtClean="0"/>
              <a:t>A </a:t>
            </a:r>
            <a:r>
              <a:rPr lang="en-US" dirty="0"/>
              <a:t>linked list is a collection of nodes, where each node consists of two parts</a:t>
            </a:r>
            <a:r>
              <a:rPr lang="en-US" dirty="0" smtClean="0"/>
              <a:t>: </a:t>
            </a:r>
            <a:r>
              <a:rPr lang="en-US" b="1" i="1" dirty="0" smtClean="0"/>
              <a:t>info and link</a:t>
            </a:r>
            <a:endParaRPr lang="en-US" b="1" i="1" dirty="0"/>
          </a:p>
          <a:p>
            <a:pPr marL="0" indent="0">
              <a:buNone/>
            </a:pPr>
            <a:endParaRPr lang="en-US" dirty="0"/>
          </a:p>
        </p:txBody>
      </p:sp>
      <p:pic>
        <p:nvPicPr>
          <p:cNvPr id="4" name="Picture 3"/>
          <p:cNvPicPr>
            <a:picLocks noChangeAspect="1"/>
          </p:cNvPicPr>
          <p:nvPr/>
        </p:nvPicPr>
        <p:blipFill>
          <a:blip r:embed="rId2"/>
          <a:stretch>
            <a:fillRect/>
          </a:stretch>
        </p:blipFill>
        <p:spPr>
          <a:xfrm>
            <a:off x="2171700" y="2514600"/>
            <a:ext cx="7239000" cy="3492500"/>
          </a:xfrm>
          <a:prstGeom prst="rect">
            <a:avLst/>
          </a:prstGeom>
        </p:spPr>
      </p:pic>
    </p:spTree>
    <p:extLst>
      <p:ext uri="{BB962C8B-B14F-4D97-AF65-F5344CB8AC3E}">
        <p14:creationId xmlns:p14="http://schemas.microsoft.com/office/powerpoint/2010/main" val="339322633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4638"/>
            <a:ext cx="10287000" cy="792162"/>
          </a:xfrm>
        </p:spPr>
        <p:style>
          <a:lnRef idx="1">
            <a:schemeClr val="accent5"/>
          </a:lnRef>
          <a:fillRef idx="3">
            <a:schemeClr val="accent5"/>
          </a:fillRef>
          <a:effectRef idx="2">
            <a:schemeClr val="accent5"/>
          </a:effectRef>
          <a:fontRef idx="minor">
            <a:schemeClr val="lt1"/>
          </a:fontRef>
        </p:style>
        <p:txBody>
          <a:bodyPr>
            <a:normAutofit/>
          </a:bodyPr>
          <a:lstStyle/>
          <a:p>
            <a:pPr algn="l"/>
            <a:r>
              <a:rPr lang="en-US" b="1" i="1" dirty="0" smtClean="0"/>
              <a:t>Linked List</a:t>
            </a:r>
            <a:endParaRPr lang="en-US" dirty="0"/>
          </a:p>
        </p:txBody>
      </p:sp>
      <p:sp>
        <p:nvSpPr>
          <p:cNvPr id="3" name="Content Placeholder 2"/>
          <p:cNvSpPr>
            <a:spLocks noGrp="1"/>
          </p:cNvSpPr>
          <p:nvPr>
            <p:ph idx="1"/>
          </p:nvPr>
        </p:nvSpPr>
        <p:spPr>
          <a:xfrm>
            <a:off x="838200" y="1295400"/>
            <a:ext cx="10287000" cy="4876800"/>
          </a:xfrm>
        </p:spPr>
        <p:txBody>
          <a:bodyPr>
            <a:normAutofit/>
          </a:bodyPr>
          <a:lstStyle/>
          <a:p>
            <a:pPr>
              <a:lnSpc>
                <a:spcPct val="150000"/>
              </a:lnSpc>
            </a:pPr>
            <a:r>
              <a:rPr lang="en-US" b="1" i="1" dirty="0"/>
              <a:t>info</a:t>
            </a:r>
            <a:r>
              <a:rPr lang="en-US" b="1" dirty="0"/>
              <a:t>:</a:t>
            </a:r>
            <a:r>
              <a:rPr lang="en-US" dirty="0"/>
              <a:t> the actual element to be stored in the list. It is also called </a:t>
            </a:r>
            <a:r>
              <a:rPr lang="en-US" dirty="0">
                <a:solidFill>
                  <a:srgbClr val="FF0000"/>
                </a:solidFill>
              </a:rPr>
              <a:t>data field</a:t>
            </a:r>
            <a:r>
              <a:rPr lang="en-US" dirty="0"/>
              <a:t>.</a:t>
            </a:r>
            <a:endParaRPr lang="en-US" b="1" dirty="0"/>
          </a:p>
          <a:p>
            <a:pPr>
              <a:lnSpc>
                <a:spcPct val="150000"/>
              </a:lnSpc>
            </a:pPr>
            <a:r>
              <a:rPr lang="en-US" b="1" i="1" dirty="0"/>
              <a:t>link</a:t>
            </a:r>
            <a:r>
              <a:rPr lang="en-US" b="1" dirty="0"/>
              <a:t>:</a:t>
            </a:r>
            <a:r>
              <a:rPr lang="en-US" dirty="0"/>
              <a:t> one or two links that points to next and previous node in the list. It is also called next or </a:t>
            </a:r>
            <a:r>
              <a:rPr lang="en-US" dirty="0">
                <a:solidFill>
                  <a:srgbClr val="FF0000"/>
                </a:solidFill>
              </a:rPr>
              <a:t>pointer field</a:t>
            </a:r>
            <a:r>
              <a:rPr lang="en-US" dirty="0"/>
              <a:t>.</a:t>
            </a:r>
          </a:p>
          <a:p>
            <a:pPr marL="0" indent="0">
              <a:lnSpc>
                <a:spcPct val="150000"/>
              </a:lnSpc>
              <a:buNone/>
            </a:pPr>
            <a:r>
              <a:rPr lang="en-US" i="1" dirty="0"/>
              <a:t>The entire link list is accessed by an external pointer (say list) that points to the first node in the linked list.</a:t>
            </a:r>
          </a:p>
        </p:txBody>
      </p:sp>
    </p:spTree>
    <p:extLst>
      <p:ext uri="{BB962C8B-B14F-4D97-AF65-F5344CB8AC3E}">
        <p14:creationId xmlns:p14="http://schemas.microsoft.com/office/powerpoint/2010/main" val="19361596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4638"/>
            <a:ext cx="9906000" cy="792162"/>
          </a:xfrm>
        </p:spPr>
        <p:style>
          <a:lnRef idx="1">
            <a:schemeClr val="accent5"/>
          </a:lnRef>
          <a:fillRef idx="3">
            <a:schemeClr val="accent5"/>
          </a:fillRef>
          <a:effectRef idx="2">
            <a:schemeClr val="accent5"/>
          </a:effectRef>
          <a:fontRef idx="minor">
            <a:schemeClr val="lt1"/>
          </a:fontRef>
        </p:style>
        <p:txBody>
          <a:bodyPr>
            <a:normAutofit/>
          </a:bodyPr>
          <a:lstStyle/>
          <a:p>
            <a:pPr algn="l"/>
            <a:r>
              <a:rPr lang="en-US" b="1" i="1" dirty="0" smtClean="0"/>
              <a:t>Linked List</a:t>
            </a:r>
            <a:endParaRPr lang="en-US" dirty="0"/>
          </a:p>
        </p:txBody>
      </p:sp>
      <p:sp>
        <p:nvSpPr>
          <p:cNvPr id="3" name="Content Placeholder 2"/>
          <p:cNvSpPr>
            <a:spLocks noGrp="1"/>
          </p:cNvSpPr>
          <p:nvPr>
            <p:ph idx="1"/>
          </p:nvPr>
        </p:nvSpPr>
        <p:spPr>
          <a:xfrm>
            <a:off x="838200" y="1295400"/>
            <a:ext cx="10287000" cy="4876800"/>
          </a:xfrm>
        </p:spPr>
        <p:txBody>
          <a:bodyPr>
            <a:normAutofit/>
          </a:bodyPr>
          <a:lstStyle/>
          <a:p>
            <a:pPr marL="0" indent="0">
              <a:buNone/>
            </a:pPr>
            <a:endParaRPr lang="en-US" dirty="0"/>
          </a:p>
        </p:txBody>
      </p:sp>
    </p:spTree>
    <p:extLst>
      <p:ext uri="{BB962C8B-B14F-4D97-AF65-F5344CB8AC3E}">
        <p14:creationId xmlns:p14="http://schemas.microsoft.com/office/powerpoint/2010/main" val="315564070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2238"/>
            <a:ext cx="10363200" cy="868362"/>
          </a:xfrm>
        </p:spPr>
        <p:style>
          <a:lnRef idx="1">
            <a:schemeClr val="accent5"/>
          </a:lnRef>
          <a:fillRef idx="3">
            <a:schemeClr val="accent5"/>
          </a:fillRef>
          <a:effectRef idx="2">
            <a:schemeClr val="accent5"/>
          </a:effectRef>
          <a:fontRef idx="minor">
            <a:schemeClr val="lt1"/>
          </a:fontRef>
        </p:style>
        <p:txBody>
          <a:bodyPr>
            <a:noAutofit/>
          </a:bodyPr>
          <a:lstStyle/>
          <a:p>
            <a:pPr algn="l"/>
            <a:r>
              <a:rPr lang="en-US" sz="3200" b="1" dirty="0" smtClean="0"/>
              <a:t>Operations on linked list</a:t>
            </a:r>
            <a:endParaRPr lang="en-US" sz="3200" dirty="0"/>
          </a:p>
        </p:txBody>
      </p:sp>
      <p:sp>
        <p:nvSpPr>
          <p:cNvPr id="3" name="Content Placeholder 2"/>
          <p:cNvSpPr>
            <a:spLocks noGrp="1"/>
          </p:cNvSpPr>
          <p:nvPr>
            <p:ph idx="1"/>
          </p:nvPr>
        </p:nvSpPr>
        <p:spPr>
          <a:xfrm>
            <a:off x="762000" y="1143000"/>
            <a:ext cx="10668000" cy="5486400"/>
          </a:xfrm>
        </p:spPr>
        <p:txBody>
          <a:bodyPr>
            <a:normAutofit fontScale="47500" lnSpcReduction="20000"/>
          </a:bodyPr>
          <a:lstStyle/>
          <a:p>
            <a:pPr marL="0" indent="0">
              <a:buNone/>
            </a:pPr>
            <a:r>
              <a:rPr lang="en-US" sz="7300" dirty="0"/>
              <a:t>The basic operations to be performed on the linked list are as follows:</a:t>
            </a:r>
          </a:p>
          <a:p>
            <a:pPr marL="0" indent="0">
              <a:buNone/>
            </a:pPr>
            <a:r>
              <a:rPr lang="en-US" sz="6500" b="1" dirty="0">
                <a:solidFill>
                  <a:srgbClr val="FF0000"/>
                </a:solidFill>
              </a:rPr>
              <a:t>Creation</a:t>
            </a:r>
            <a:r>
              <a:rPr lang="en-US" sz="6500" b="1" dirty="0"/>
              <a:t>:</a:t>
            </a:r>
            <a:r>
              <a:rPr lang="en-US" sz="7300" dirty="0"/>
              <a:t> This operation is used to create a linked </a:t>
            </a:r>
            <a:r>
              <a:rPr lang="en-US" sz="7300" dirty="0" smtClean="0"/>
              <a:t>list.</a:t>
            </a:r>
            <a:endParaRPr lang="en-US" sz="7300" dirty="0"/>
          </a:p>
          <a:p>
            <a:pPr marL="0" indent="0">
              <a:buNone/>
            </a:pPr>
            <a:r>
              <a:rPr lang="en-US" sz="7300" b="1" dirty="0" smtClean="0">
                <a:solidFill>
                  <a:srgbClr val="FF0000"/>
                </a:solidFill>
              </a:rPr>
              <a:t>Insertion</a:t>
            </a:r>
            <a:r>
              <a:rPr lang="en-US" sz="7300" b="1" dirty="0" smtClean="0"/>
              <a:t>:</a:t>
            </a:r>
            <a:r>
              <a:rPr lang="en-US" sz="8000" dirty="0" smtClean="0"/>
              <a:t> </a:t>
            </a:r>
            <a:r>
              <a:rPr lang="en-US" sz="6700" dirty="0"/>
              <a:t>The insertion into </a:t>
            </a:r>
            <a:r>
              <a:rPr lang="en-US" sz="6700" dirty="0" smtClean="0"/>
              <a:t>a linked </a:t>
            </a:r>
            <a:r>
              <a:rPr lang="en-US" sz="6700" dirty="0"/>
              <a:t>list can be performed at different positions. Based on the position of the new </a:t>
            </a:r>
            <a:r>
              <a:rPr lang="en-US" sz="6700" dirty="0" smtClean="0"/>
              <a:t>node can be inserted</a:t>
            </a:r>
            <a:r>
              <a:rPr lang="en-US" sz="5900" dirty="0" smtClean="0"/>
              <a:t> </a:t>
            </a:r>
            <a:endParaRPr lang="en-US" sz="4800" dirty="0" smtClean="0"/>
          </a:p>
          <a:p>
            <a:pPr lvl="1">
              <a:buFont typeface="Wingdings" panose="05000000000000000000" pitchFamily="2" charset="2"/>
              <a:buChar char="v"/>
            </a:pPr>
            <a:r>
              <a:rPr lang="en-US" sz="7200" dirty="0" smtClean="0"/>
              <a:t>At </a:t>
            </a:r>
            <a:r>
              <a:rPr lang="en-US" sz="7200" dirty="0"/>
              <a:t>the </a:t>
            </a:r>
            <a:r>
              <a:rPr lang="en-US" sz="7200" dirty="0">
                <a:solidFill>
                  <a:srgbClr val="FF0000"/>
                </a:solidFill>
              </a:rPr>
              <a:t>beginning</a:t>
            </a:r>
            <a:r>
              <a:rPr lang="en-US" sz="7200" dirty="0"/>
              <a:t> of the linked </a:t>
            </a:r>
            <a:r>
              <a:rPr lang="en-US" sz="7200" dirty="0" smtClean="0"/>
              <a:t>list</a:t>
            </a:r>
            <a:endParaRPr lang="en-US" sz="7200" dirty="0"/>
          </a:p>
          <a:p>
            <a:pPr lvl="1">
              <a:buFont typeface="Wingdings" panose="05000000000000000000" pitchFamily="2" charset="2"/>
              <a:buChar char="v"/>
            </a:pPr>
            <a:r>
              <a:rPr lang="en-US" sz="7600" dirty="0" smtClean="0"/>
              <a:t>At </a:t>
            </a:r>
            <a:r>
              <a:rPr lang="en-US" sz="7600" dirty="0"/>
              <a:t>the </a:t>
            </a:r>
            <a:r>
              <a:rPr lang="en-US" sz="7600" dirty="0">
                <a:solidFill>
                  <a:srgbClr val="FF0000"/>
                </a:solidFill>
              </a:rPr>
              <a:t>end </a:t>
            </a:r>
            <a:r>
              <a:rPr lang="en-US" sz="7600" dirty="0"/>
              <a:t>of the linked </a:t>
            </a:r>
            <a:r>
              <a:rPr lang="en-US" sz="7600" dirty="0" smtClean="0"/>
              <a:t>list</a:t>
            </a:r>
            <a:endParaRPr lang="en-US" sz="7600" dirty="0"/>
          </a:p>
          <a:p>
            <a:pPr lvl="1">
              <a:buFont typeface="Wingdings" panose="05000000000000000000" pitchFamily="2" charset="2"/>
              <a:buChar char="v"/>
            </a:pPr>
            <a:r>
              <a:rPr lang="en-US" sz="7600" dirty="0" smtClean="0"/>
              <a:t>At </a:t>
            </a:r>
            <a:r>
              <a:rPr lang="en-US" sz="7600" dirty="0"/>
              <a:t>the </a:t>
            </a:r>
            <a:r>
              <a:rPr lang="en-US" sz="7600" dirty="0">
                <a:solidFill>
                  <a:srgbClr val="FF0000"/>
                </a:solidFill>
              </a:rPr>
              <a:t>specified position</a:t>
            </a:r>
            <a:r>
              <a:rPr lang="en-US" sz="7600" dirty="0"/>
              <a:t> in a linked </a:t>
            </a:r>
            <a:r>
              <a:rPr lang="en-US" sz="7600" dirty="0" smtClean="0"/>
              <a:t>list</a:t>
            </a:r>
            <a:endParaRPr lang="en-US" sz="7600" dirty="0"/>
          </a:p>
        </p:txBody>
      </p:sp>
    </p:spTree>
    <p:extLst>
      <p:ext uri="{BB962C8B-B14F-4D97-AF65-F5344CB8AC3E}">
        <p14:creationId xmlns:p14="http://schemas.microsoft.com/office/powerpoint/2010/main" val="380753675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22238"/>
            <a:ext cx="10439400" cy="868362"/>
          </a:xfrm>
        </p:spPr>
        <p:style>
          <a:lnRef idx="1">
            <a:schemeClr val="accent5"/>
          </a:lnRef>
          <a:fillRef idx="3">
            <a:schemeClr val="accent5"/>
          </a:fillRef>
          <a:effectRef idx="2">
            <a:schemeClr val="accent5"/>
          </a:effectRef>
          <a:fontRef idx="minor">
            <a:schemeClr val="lt1"/>
          </a:fontRef>
        </p:style>
        <p:txBody>
          <a:bodyPr>
            <a:noAutofit/>
          </a:bodyPr>
          <a:lstStyle/>
          <a:p>
            <a:pPr algn="l"/>
            <a:r>
              <a:rPr lang="en-US" sz="3200" b="1" dirty="0" smtClean="0"/>
              <a:t>Operations on linked list</a:t>
            </a:r>
            <a:endParaRPr lang="en-US" sz="3200" dirty="0"/>
          </a:p>
        </p:txBody>
      </p:sp>
      <p:sp>
        <p:nvSpPr>
          <p:cNvPr id="3" name="Content Placeholder 2"/>
          <p:cNvSpPr>
            <a:spLocks noGrp="1"/>
          </p:cNvSpPr>
          <p:nvPr>
            <p:ph idx="1"/>
          </p:nvPr>
        </p:nvSpPr>
        <p:spPr>
          <a:xfrm>
            <a:off x="762000" y="1143000"/>
            <a:ext cx="10668000" cy="5486400"/>
          </a:xfrm>
        </p:spPr>
        <p:txBody>
          <a:bodyPr>
            <a:normAutofit fontScale="47500" lnSpcReduction="20000"/>
          </a:bodyPr>
          <a:lstStyle/>
          <a:p>
            <a:pPr marL="0" indent="0">
              <a:buNone/>
            </a:pPr>
            <a:r>
              <a:rPr lang="en-US" sz="8000" dirty="0"/>
              <a:t>The basic operations to be performed on the linked list are as follows:</a:t>
            </a:r>
          </a:p>
          <a:p>
            <a:pPr marL="0" indent="0">
              <a:buNone/>
            </a:pPr>
            <a:r>
              <a:rPr lang="en-US" sz="8000" b="1" dirty="0">
                <a:solidFill>
                  <a:srgbClr val="FF0000"/>
                </a:solidFill>
              </a:rPr>
              <a:t>Creation</a:t>
            </a:r>
            <a:r>
              <a:rPr lang="en-US" sz="8000" b="1" dirty="0"/>
              <a:t>:</a:t>
            </a:r>
            <a:r>
              <a:rPr lang="en-US" sz="8000" dirty="0"/>
              <a:t> This operation is used to create a linked list</a:t>
            </a:r>
          </a:p>
          <a:p>
            <a:pPr marL="0" indent="0">
              <a:buNone/>
            </a:pPr>
            <a:r>
              <a:rPr lang="en-US" sz="8000" b="1" dirty="0" smtClean="0">
                <a:solidFill>
                  <a:srgbClr val="FF0000"/>
                </a:solidFill>
              </a:rPr>
              <a:t>Deletion</a:t>
            </a:r>
            <a:r>
              <a:rPr lang="en-US" sz="8000" b="1" dirty="0" smtClean="0"/>
              <a:t>:</a:t>
            </a:r>
            <a:r>
              <a:rPr lang="en-US" sz="8000" dirty="0" smtClean="0"/>
              <a:t> This operation is used to delete a node form linked list. A node can be deleted from:</a:t>
            </a:r>
          </a:p>
          <a:p>
            <a:pPr lvl="1">
              <a:buFont typeface="Wingdings" panose="05000000000000000000" pitchFamily="2" charset="2"/>
              <a:buChar char="v"/>
            </a:pPr>
            <a:r>
              <a:rPr lang="en-US" sz="7600" dirty="0" smtClean="0"/>
              <a:t>From the </a:t>
            </a:r>
            <a:r>
              <a:rPr lang="en-US" sz="7600" dirty="0">
                <a:solidFill>
                  <a:srgbClr val="FF0000"/>
                </a:solidFill>
              </a:rPr>
              <a:t>beginning</a:t>
            </a:r>
            <a:r>
              <a:rPr lang="en-US" sz="7600" dirty="0"/>
              <a:t> of the linked </a:t>
            </a:r>
            <a:r>
              <a:rPr lang="en-US" sz="7600" dirty="0" smtClean="0"/>
              <a:t>list</a:t>
            </a:r>
            <a:endParaRPr lang="en-US" sz="7600" dirty="0"/>
          </a:p>
          <a:p>
            <a:pPr lvl="1">
              <a:buFont typeface="Wingdings" panose="05000000000000000000" pitchFamily="2" charset="2"/>
              <a:buChar char="v"/>
            </a:pPr>
            <a:r>
              <a:rPr lang="en-US" sz="7600" dirty="0" smtClean="0"/>
              <a:t>From the </a:t>
            </a:r>
            <a:r>
              <a:rPr lang="en-US" sz="7600" dirty="0">
                <a:solidFill>
                  <a:srgbClr val="FF0000"/>
                </a:solidFill>
              </a:rPr>
              <a:t>end </a:t>
            </a:r>
            <a:r>
              <a:rPr lang="en-US" sz="7600" dirty="0"/>
              <a:t>of the linked </a:t>
            </a:r>
            <a:r>
              <a:rPr lang="en-US" sz="7600" dirty="0" smtClean="0"/>
              <a:t>list</a:t>
            </a:r>
            <a:endParaRPr lang="en-US" sz="7600" dirty="0"/>
          </a:p>
          <a:p>
            <a:pPr lvl="1">
              <a:buFont typeface="Wingdings" panose="05000000000000000000" pitchFamily="2" charset="2"/>
              <a:buChar char="v"/>
            </a:pPr>
            <a:r>
              <a:rPr lang="en-US" sz="7600" dirty="0" smtClean="0"/>
              <a:t>From the </a:t>
            </a:r>
            <a:r>
              <a:rPr lang="en-US" sz="7600" dirty="0">
                <a:solidFill>
                  <a:srgbClr val="FF0000"/>
                </a:solidFill>
              </a:rPr>
              <a:t>specified position</a:t>
            </a:r>
            <a:r>
              <a:rPr lang="en-US" sz="7600" dirty="0"/>
              <a:t> in a linked </a:t>
            </a:r>
            <a:r>
              <a:rPr lang="en-US" sz="7600" dirty="0" smtClean="0"/>
              <a:t>list</a:t>
            </a:r>
            <a:endParaRPr lang="en-US" sz="7600" dirty="0"/>
          </a:p>
        </p:txBody>
      </p:sp>
    </p:spTree>
    <p:extLst>
      <p:ext uri="{BB962C8B-B14F-4D97-AF65-F5344CB8AC3E}">
        <p14:creationId xmlns:p14="http://schemas.microsoft.com/office/powerpoint/2010/main" val="141847373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609600"/>
            <a:ext cx="10287000" cy="5638800"/>
          </a:xfrm>
        </p:spPr>
        <p:txBody>
          <a:bodyPr>
            <a:normAutofit/>
          </a:bodyPr>
          <a:lstStyle/>
          <a:p>
            <a:pPr marL="0" indent="0">
              <a:buNone/>
            </a:pPr>
            <a:r>
              <a:rPr lang="en-US" b="1" dirty="0"/>
              <a:t>Traversing</a:t>
            </a:r>
            <a:r>
              <a:rPr lang="en-US" dirty="0"/>
              <a:t> </a:t>
            </a:r>
          </a:p>
          <a:p>
            <a:pPr marL="0" indent="0">
              <a:buNone/>
            </a:pPr>
            <a:r>
              <a:rPr lang="en-US" dirty="0"/>
              <a:t>The list traversing is a process of going </a:t>
            </a:r>
            <a:r>
              <a:rPr lang="en-US" dirty="0">
                <a:solidFill>
                  <a:srgbClr val="FF0000"/>
                </a:solidFill>
              </a:rPr>
              <a:t>through all the nodes</a:t>
            </a:r>
            <a:r>
              <a:rPr lang="en-US" dirty="0"/>
              <a:t> of the linked list from one end to the other end. </a:t>
            </a:r>
          </a:p>
          <a:p>
            <a:pPr marL="0" indent="0">
              <a:buNone/>
            </a:pPr>
            <a:r>
              <a:rPr lang="en-US" dirty="0"/>
              <a:t>The traversing may be either forward or backward.</a:t>
            </a:r>
          </a:p>
          <a:p>
            <a:pPr marL="0" indent="0">
              <a:buNone/>
            </a:pPr>
            <a:r>
              <a:rPr lang="en-US" b="1" dirty="0"/>
              <a:t>Searching</a:t>
            </a:r>
            <a:r>
              <a:rPr lang="en-US" dirty="0"/>
              <a:t> </a:t>
            </a:r>
            <a:r>
              <a:rPr lang="en-US" b="1" dirty="0"/>
              <a:t>or</a:t>
            </a:r>
            <a:r>
              <a:rPr lang="en-US" dirty="0"/>
              <a:t> </a:t>
            </a:r>
            <a:r>
              <a:rPr lang="en-US" b="1" dirty="0"/>
              <a:t>find:</a:t>
            </a:r>
            <a:r>
              <a:rPr lang="en-US" dirty="0"/>
              <a:t> This operation is used to </a:t>
            </a:r>
            <a:r>
              <a:rPr lang="en-US" dirty="0">
                <a:solidFill>
                  <a:srgbClr val="FF0000"/>
                </a:solidFill>
              </a:rPr>
              <a:t>find an element</a:t>
            </a:r>
            <a:r>
              <a:rPr lang="en-US" dirty="0"/>
              <a:t> in a linked list. </a:t>
            </a:r>
            <a:endParaRPr lang="en-US" dirty="0" smtClean="0"/>
          </a:p>
          <a:p>
            <a:pPr marL="0" indent="0">
              <a:buNone/>
            </a:pPr>
            <a:r>
              <a:rPr lang="en-US" dirty="0" smtClean="0"/>
              <a:t>In </a:t>
            </a:r>
            <a:r>
              <a:rPr lang="en-US" dirty="0"/>
              <a:t>the desired element is found then we say operation is </a:t>
            </a:r>
            <a:r>
              <a:rPr lang="en-US" dirty="0">
                <a:solidFill>
                  <a:srgbClr val="FF0000"/>
                </a:solidFill>
              </a:rPr>
              <a:t>successful</a:t>
            </a:r>
            <a:r>
              <a:rPr lang="en-US" dirty="0"/>
              <a:t> otherwise unsuccessful.</a:t>
            </a:r>
          </a:p>
          <a:p>
            <a:pPr marL="0" indent="0">
              <a:buNone/>
            </a:pPr>
            <a:r>
              <a:rPr lang="en-US" b="1" dirty="0"/>
              <a:t>Concatenation:</a:t>
            </a:r>
            <a:r>
              <a:rPr lang="en-US" dirty="0"/>
              <a:t> It is the process of </a:t>
            </a:r>
            <a:r>
              <a:rPr lang="en-US" dirty="0">
                <a:solidFill>
                  <a:srgbClr val="FF0000"/>
                </a:solidFill>
              </a:rPr>
              <a:t>appending second</a:t>
            </a:r>
            <a:r>
              <a:rPr lang="en-US" dirty="0"/>
              <a:t> list to the end of the first list.</a:t>
            </a:r>
          </a:p>
          <a:p>
            <a:pPr marL="0" indent="0">
              <a:buNone/>
            </a:pPr>
            <a:endParaRPr lang="en-US" dirty="0"/>
          </a:p>
        </p:txBody>
      </p:sp>
    </p:spTree>
    <p:extLst>
      <p:ext uri="{BB962C8B-B14F-4D97-AF65-F5344CB8AC3E}">
        <p14:creationId xmlns:p14="http://schemas.microsoft.com/office/powerpoint/2010/main" val="19929876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b="1" dirty="0" smtClean="0"/>
              <a:t>Display </a:t>
            </a:r>
            <a:endParaRPr lang="en-US" dirty="0"/>
          </a:p>
          <a:p>
            <a:r>
              <a:rPr lang="en-US" dirty="0"/>
              <a:t>This operation is used to print the content of the list.</a:t>
            </a:r>
          </a:p>
          <a:p>
            <a:pPr marL="0" indent="0">
              <a:buNone/>
            </a:pPr>
            <a:endParaRPr lang="en-US" dirty="0"/>
          </a:p>
        </p:txBody>
      </p:sp>
    </p:spTree>
    <p:extLst>
      <p:ext uri="{BB962C8B-B14F-4D97-AF65-F5344CB8AC3E}">
        <p14:creationId xmlns:p14="http://schemas.microsoft.com/office/powerpoint/2010/main" val="2183796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74638"/>
            <a:ext cx="9906000" cy="639762"/>
          </a:xfrm>
        </p:spPr>
        <p:style>
          <a:lnRef idx="1">
            <a:schemeClr val="accent5"/>
          </a:lnRef>
          <a:fillRef idx="3">
            <a:schemeClr val="accent5"/>
          </a:fillRef>
          <a:effectRef idx="2">
            <a:schemeClr val="accent5"/>
          </a:effectRef>
          <a:fontRef idx="minor">
            <a:schemeClr val="lt1"/>
          </a:fontRef>
        </p:style>
        <p:txBody>
          <a:bodyPr>
            <a:normAutofit fontScale="90000"/>
          </a:bodyPr>
          <a:lstStyle/>
          <a:p>
            <a:pPr algn="l"/>
            <a:r>
              <a:rPr lang="en-US" b="1" dirty="0" smtClean="0"/>
              <a:t>Types of Linked List</a:t>
            </a:r>
            <a:endParaRPr lang="en-US" dirty="0"/>
          </a:p>
        </p:txBody>
      </p:sp>
      <p:sp>
        <p:nvSpPr>
          <p:cNvPr id="3" name="Content Placeholder 2"/>
          <p:cNvSpPr>
            <a:spLocks noGrp="1"/>
          </p:cNvSpPr>
          <p:nvPr>
            <p:ph idx="1"/>
          </p:nvPr>
        </p:nvSpPr>
        <p:spPr>
          <a:xfrm>
            <a:off x="990600" y="1112838"/>
            <a:ext cx="10210800" cy="5440363"/>
          </a:xfrm>
        </p:spPr>
        <p:txBody>
          <a:bodyPr/>
          <a:lstStyle/>
          <a:p>
            <a:pPr marL="0" indent="0">
              <a:buNone/>
            </a:pPr>
            <a:r>
              <a:rPr lang="en-US" dirty="0"/>
              <a:t>B</a:t>
            </a:r>
            <a:r>
              <a:rPr lang="en-US" dirty="0" smtClean="0"/>
              <a:t>asically </a:t>
            </a:r>
            <a:r>
              <a:rPr lang="en-US" dirty="0"/>
              <a:t>we can put linked list into the following four types: </a:t>
            </a:r>
            <a:endParaRPr lang="en-US" dirty="0" smtClean="0"/>
          </a:p>
          <a:p>
            <a:r>
              <a:rPr lang="en-US" dirty="0" smtClean="0"/>
              <a:t>Singly </a:t>
            </a:r>
            <a:r>
              <a:rPr lang="en-US" dirty="0"/>
              <a:t>linked list</a:t>
            </a:r>
          </a:p>
          <a:p>
            <a:r>
              <a:rPr lang="en-US" dirty="0" smtClean="0"/>
              <a:t>doubly </a:t>
            </a:r>
            <a:r>
              <a:rPr lang="en-US" dirty="0"/>
              <a:t>linked list </a:t>
            </a:r>
            <a:endParaRPr lang="en-US" dirty="0" smtClean="0"/>
          </a:p>
          <a:p>
            <a:r>
              <a:rPr lang="en-US" dirty="0" smtClean="0"/>
              <a:t>circular </a:t>
            </a:r>
            <a:r>
              <a:rPr lang="en-US" dirty="0"/>
              <a:t>linked list</a:t>
            </a:r>
          </a:p>
          <a:p>
            <a:r>
              <a:rPr lang="en-US" dirty="0" smtClean="0"/>
              <a:t>circular </a:t>
            </a:r>
            <a:r>
              <a:rPr lang="en-US" dirty="0"/>
              <a:t>doubly linked </a:t>
            </a:r>
            <a:r>
              <a:rPr lang="en-US" dirty="0" smtClean="0"/>
              <a:t>list</a:t>
            </a:r>
            <a:endParaRPr lang="en-US" dirty="0"/>
          </a:p>
        </p:txBody>
      </p:sp>
    </p:spTree>
    <p:extLst>
      <p:ext uri="{BB962C8B-B14F-4D97-AF65-F5344CB8AC3E}">
        <p14:creationId xmlns:p14="http://schemas.microsoft.com/office/powerpoint/2010/main" val="210957442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638"/>
            <a:ext cx="8991600" cy="563562"/>
          </a:xfrm>
        </p:spPr>
        <p:style>
          <a:lnRef idx="1">
            <a:schemeClr val="accent5"/>
          </a:lnRef>
          <a:fillRef idx="3">
            <a:schemeClr val="accent5"/>
          </a:fillRef>
          <a:effectRef idx="2">
            <a:schemeClr val="accent5"/>
          </a:effectRef>
          <a:fontRef idx="minor">
            <a:schemeClr val="lt1"/>
          </a:fontRef>
        </p:style>
        <p:txBody>
          <a:bodyPr>
            <a:normAutofit fontScale="90000"/>
          </a:bodyPr>
          <a:lstStyle/>
          <a:p>
            <a:pPr algn="l"/>
            <a:r>
              <a:rPr lang="en-US" b="1" dirty="0"/>
              <a:t>Singly linked </a:t>
            </a:r>
            <a:r>
              <a:rPr lang="en-US" b="1" dirty="0" smtClean="0"/>
              <a:t>list</a:t>
            </a:r>
            <a:endParaRPr lang="en-US" dirty="0"/>
          </a:p>
        </p:txBody>
      </p:sp>
      <p:sp>
        <p:nvSpPr>
          <p:cNvPr id="3" name="Content Placeholder 2"/>
          <p:cNvSpPr>
            <a:spLocks noGrp="1"/>
          </p:cNvSpPr>
          <p:nvPr>
            <p:ph idx="1"/>
          </p:nvPr>
        </p:nvSpPr>
        <p:spPr>
          <a:xfrm>
            <a:off x="762000" y="990600"/>
            <a:ext cx="10972800" cy="5334001"/>
          </a:xfrm>
        </p:spPr>
        <p:txBody>
          <a:bodyPr/>
          <a:lstStyle/>
          <a:p>
            <a:pPr>
              <a:buFont typeface="Wingdings" pitchFamily="2" charset="2"/>
              <a:buChar char="Ø"/>
            </a:pPr>
            <a:r>
              <a:rPr lang="en-US" dirty="0"/>
              <a:t>A singly linked list is a dynamic data structure which may </a:t>
            </a:r>
            <a:r>
              <a:rPr lang="en-US" dirty="0">
                <a:solidFill>
                  <a:srgbClr val="FF0000"/>
                </a:solidFill>
              </a:rPr>
              <a:t>grow or shrink</a:t>
            </a:r>
            <a:r>
              <a:rPr lang="en-US" dirty="0"/>
              <a:t>, and growing and shrinking depends on the operation made. </a:t>
            </a:r>
            <a:endParaRPr lang="en-US" dirty="0" smtClean="0"/>
          </a:p>
          <a:p>
            <a:pPr>
              <a:buFont typeface="Wingdings" pitchFamily="2" charset="2"/>
              <a:buChar char="Ø"/>
            </a:pPr>
            <a:r>
              <a:rPr lang="en-US" dirty="0" smtClean="0"/>
              <a:t>In </a:t>
            </a:r>
            <a:r>
              <a:rPr lang="en-US" dirty="0"/>
              <a:t>this type of linked list each node contains two fields one is </a:t>
            </a:r>
            <a:r>
              <a:rPr lang="en-US" dirty="0">
                <a:solidFill>
                  <a:srgbClr val="FF0000"/>
                </a:solidFill>
              </a:rPr>
              <a:t>info </a:t>
            </a:r>
            <a:r>
              <a:rPr lang="en-US" dirty="0"/>
              <a:t>field which is used to</a:t>
            </a:r>
            <a:r>
              <a:rPr lang="en-US" dirty="0">
                <a:solidFill>
                  <a:srgbClr val="FF0000"/>
                </a:solidFill>
              </a:rPr>
              <a:t> store the data items</a:t>
            </a:r>
            <a:r>
              <a:rPr lang="en-US" dirty="0"/>
              <a:t> and another is </a:t>
            </a:r>
            <a:r>
              <a:rPr lang="en-US" dirty="0">
                <a:solidFill>
                  <a:srgbClr val="FF0000"/>
                </a:solidFill>
              </a:rPr>
              <a:t>link field</a:t>
            </a:r>
            <a:r>
              <a:rPr lang="en-US" dirty="0"/>
              <a:t> that is used </a:t>
            </a:r>
            <a:r>
              <a:rPr lang="en-US" dirty="0">
                <a:solidFill>
                  <a:srgbClr val="FF0000"/>
                </a:solidFill>
              </a:rPr>
              <a:t>to point the next node</a:t>
            </a:r>
            <a:r>
              <a:rPr lang="en-US" dirty="0"/>
              <a:t> in the list</a:t>
            </a:r>
            <a:r>
              <a:rPr lang="en-US" dirty="0" smtClean="0"/>
              <a:t>.</a:t>
            </a:r>
          </a:p>
          <a:p>
            <a:pPr marL="0" indent="0">
              <a:buNone/>
            </a:pPr>
            <a:r>
              <a:rPr lang="en-US" dirty="0" smtClean="0"/>
              <a:t> </a:t>
            </a:r>
            <a:r>
              <a:rPr lang="en-US" i="1" dirty="0"/>
              <a:t>The last node has a </a:t>
            </a:r>
            <a:r>
              <a:rPr lang="en-US" i="1" dirty="0">
                <a:solidFill>
                  <a:srgbClr val="FF0000"/>
                </a:solidFill>
              </a:rPr>
              <a:t>NULL pointer</a:t>
            </a:r>
            <a:r>
              <a:rPr lang="en-US" i="1" dirty="0" smtClean="0"/>
              <a:t>.</a:t>
            </a:r>
          </a:p>
          <a:p>
            <a:pPr marL="0" indent="0">
              <a:buNone/>
            </a:pPr>
            <a:endParaRPr lang="en-US" dirty="0"/>
          </a:p>
        </p:txBody>
      </p:sp>
      <p:pic>
        <p:nvPicPr>
          <p:cNvPr id="5" name="Picture 4"/>
          <p:cNvPicPr>
            <a:picLocks noChangeAspect="1"/>
          </p:cNvPicPr>
          <p:nvPr/>
        </p:nvPicPr>
        <p:blipFill>
          <a:blip r:embed="rId2"/>
          <a:stretch>
            <a:fillRect/>
          </a:stretch>
        </p:blipFill>
        <p:spPr>
          <a:xfrm>
            <a:off x="1524000" y="4572000"/>
            <a:ext cx="8839200" cy="1504280"/>
          </a:xfrm>
          <a:prstGeom prst="rect">
            <a:avLst/>
          </a:prstGeom>
        </p:spPr>
      </p:pic>
    </p:spTree>
    <p:extLst>
      <p:ext uri="{BB962C8B-B14F-4D97-AF65-F5344CB8AC3E}">
        <p14:creationId xmlns:p14="http://schemas.microsoft.com/office/powerpoint/2010/main" val="112497744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533401"/>
            <a:ext cx="10591800" cy="5562599"/>
          </a:xfrm>
        </p:spPr>
        <p:txBody>
          <a:bodyPr>
            <a:normAutofit/>
          </a:bodyPr>
          <a:lstStyle/>
          <a:p>
            <a:pPr marL="0" indent="0">
              <a:buNone/>
            </a:pPr>
            <a:r>
              <a:rPr lang="en-US" b="1" i="1" dirty="0"/>
              <a:t>Creation of Linked </a:t>
            </a:r>
            <a:r>
              <a:rPr lang="en-US" b="1" i="1" dirty="0" smtClean="0"/>
              <a:t>List</a:t>
            </a:r>
            <a:endParaRPr lang="en-US" i="1" dirty="0"/>
          </a:p>
          <a:p>
            <a:pPr marL="0" indent="0">
              <a:buNone/>
            </a:pPr>
            <a:r>
              <a:rPr lang="en-US" dirty="0"/>
              <a:t>Linked list can be created as:</a:t>
            </a:r>
          </a:p>
          <a:p>
            <a:pPr marL="0" indent="0">
              <a:buNone/>
            </a:pPr>
            <a:r>
              <a:rPr lang="en-US" dirty="0" err="1"/>
              <a:t>Struct</a:t>
            </a:r>
            <a:r>
              <a:rPr lang="en-US" dirty="0"/>
              <a:t> list</a:t>
            </a:r>
          </a:p>
          <a:p>
            <a:pPr marL="0" indent="0">
              <a:buNone/>
            </a:pPr>
            <a:r>
              <a:rPr lang="en-US" dirty="0"/>
              <a:t>{</a:t>
            </a:r>
          </a:p>
          <a:p>
            <a:pPr marL="0" indent="0">
              <a:buNone/>
            </a:pPr>
            <a:r>
              <a:rPr lang="en-US" dirty="0"/>
              <a:t> </a:t>
            </a:r>
            <a:r>
              <a:rPr lang="en-US" dirty="0" smtClean="0"/>
              <a:t>     </a:t>
            </a:r>
            <a:r>
              <a:rPr lang="en-US" dirty="0" err="1" smtClean="0"/>
              <a:t>int</a:t>
            </a:r>
            <a:r>
              <a:rPr lang="en-US" dirty="0" smtClean="0"/>
              <a:t> </a:t>
            </a:r>
            <a:r>
              <a:rPr lang="en-US" dirty="0"/>
              <a:t>item;</a:t>
            </a:r>
          </a:p>
          <a:p>
            <a:pPr marL="0" indent="0">
              <a:buNone/>
            </a:pPr>
            <a:r>
              <a:rPr lang="en-US" dirty="0"/>
              <a:t>    </a:t>
            </a:r>
            <a:r>
              <a:rPr lang="en-US" dirty="0" err="1"/>
              <a:t>struct</a:t>
            </a:r>
            <a:r>
              <a:rPr lang="en-US" dirty="0"/>
              <a:t> list *next;</a:t>
            </a:r>
          </a:p>
          <a:p>
            <a:pPr marL="0" indent="0">
              <a:buNone/>
            </a:pPr>
            <a:r>
              <a:rPr lang="en-US" dirty="0"/>
              <a:t>};    </a:t>
            </a:r>
          </a:p>
          <a:p>
            <a:pPr marL="0" indent="0">
              <a:buNone/>
            </a:pPr>
            <a:r>
              <a:rPr lang="en-US" dirty="0" err="1" smtClean="0"/>
              <a:t>struct</a:t>
            </a:r>
            <a:r>
              <a:rPr lang="en-US" dirty="0" smtClean="0"/>
              <a:t> list </a:t>
            </a:r>
            <a:r>
              <a:rPr lang="en-US" b="1" dirty="0" smtClean="0"/>
              <a:t>*</a:t>
            </a:r>
            <a:r>
              <a:rPr lang="en-US" b="1" dirty="0" err="1" smtClean="0"/>
              <a:t>ptr</a:t>
            </a:r>
            <a:r>
              <a:rPr lang="en-US" b="1" dirty="0"/>
              <a:t>, *start</a:t>
            </a:r>
            <a:r>
              <a:rPr lang="en-US" dirty="0"/>
              <a:t>;      </a:t>
            </a:r>
          </a:p>
          <a:p>
            <a:pPr marL="0" indent="0">
              <a:buNone/>
            </a:pPr>
            <a:r>
              <a:rPr lang="en-US" b="1" dirty="0" err="1"/>
              <a:t>ptr</a:t>
            </a:r>
            <a:r>
              <a:rPr lang="en-US" b="1" dirty="0"/>
              <a:t> </a:t>
            </a:r>
            <a:r>
              <a:rPr lang="en-US" dirty="0"/>
              <a:t>= (node *) </a:t>
            </a:r>
            <a:r>
              <a:rPr lang="en-US" dirty="0" err="1"/>
              <a:t>malloc</a:t>
            </a:r>
            <a:r>
              <a:rPr lang="en-US" dirty="0"/>
              <a:t>(</a:t>
            </a:r>
            <a:r>
              <a:rPr lang="en-US" dirty="0" err="1"/>
              <a:t>sizeof</a:t>
            </a:r>
            <a:r>
              <a:rPr lang="en-US" dirty="0"/>
              <a:t>(node));</a:t>
            </a:r>
          </a:p>
        </p:txBody>
      </p:sp>
    </p:spTree>
    <p:extLst>
      <p:ext uri="{BB962C8B-B14F-4D97-AF65-F5344CB8AC3E}">
        <p14:creationId xmlns:p14="http://schemas.microsoft.com/office/powerpoint/2010/main" val="307606647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74638"/>
            <a:ext cx="10439400" cy="792162"/>
          </a:xfrm>
        </p:spPr>
        <p:style>
          <a:lnRef idx="1">
            <a:schemeClr val="accent5"/>
          </a:lnRef>
          <a:fillRef idx="3">
            <a:schemeClr val="accent5"/>
          </a:fillRef>
          <a:effectRef idx="2">
            <a:schemeClr val="accent5"/>
          </a:effectRef>
          <a:fontRef idx="minor">
            <a:schemeClr val="lt1"/>
          </a:fontRef>
        </p:style>
        <p:txBody>
          <a:bodyPr>
            <a:normAutofit/>
          </a:bodyPr>
          <a:lstStyle/>
          <a:p>
            <a:pPr algn="l"/>
            <a:r>
              <a:rPr lang="en-US" sz="4000" b="1" dirty="0"/>
              <a:t>Representation of singly linked list</a:t>
            </a:r>
            <a:endParaRPr lang="en-US" dirty="0"/>
          </a:p>
        </p:txBody>
      </p:sp>
      <p:sp>
        <p:nvSpPr>
          <p:cNvPr id="3" name="Content Placeholder 2"/>
          <p:cNvSpPr>
            <a:spLocks noGrp="1"/>
          </p:cNvSpPr>
          <p:nvPr>
            <p:ph idx="1"/>
          </p:nvPr>
        </p:nvSpPr>
        <p:spPr>
          <a:xfrm>
            <a:off x="685800" y="1143001"/>
            <a:ext cx="10744200" cy="5257799"/>
          </a:xfrm>
        </p:spPr>
        <p:txBody>
          <a:bodyPr>
            <a:normAutofit fontScale="85000" lnSpcReduction="20000"/>
          </a:bodyPr>
          <a:lstStyle/>
          <a:p>
            <a:pPr marL="0" indent="0">
              <a:buNone/>
            </a:pPr>
            <a:r>
              <a:rPr lang="en-US" dirty="0"/>
              <a:t>We can create a structure for the singly linked list the each node has two </a:t>
            </a:r>
            <a:r>
              <a:rPr lang="en-US" dirty="0" smtClean="0"/>
              <a:t>members,</a:t>
            </a:r>
            <a:r>
              <a:rPr lang="en-US" dirty="0"/>
              <a:t> </a:t>
            </a:r>
            <a:r>
              <a:rPr lang="en-US" dirty="0" smtClean="0"/>
              <a:t>one </a:t>
            </a:r>
            <a:r>
              <a:rPr lang="en-US" dirty="0"/>
              <a:t>is </a:t>
            </a:r>
            <a:r>
              <a:rPr lang="en-US" b="1" dirty="0"/>
              <a:t>info</a:t>
            </a:r>
            <a:r>
              <a:rPr lang="en-US" dirty="0"/>
              <a:t> that is used to store the data items and another is </a:t>
            </a:r>
            <a:r>
              <a:rPr lang="en-US" b="1" dirty="0"/>
              <a:t>next</a:t>
            </a:r>
            <a:r>
              <a:rPr lang="en-US" dirty="0"/>
              <a:t> field that store </a:t>
            </a:r>
            <a:r>
              <a:rPr lang="en-US" dirty="0" smtClean="0"/>
              <a:t>the</a:t>
            </a:r>
            <a:r>
              <a:rPr lang="en-US" dirty="0"/>
              <a:t> </a:t>
            </a:r>
            <a:r>
              <a:rPr lang="en-US" dirty="0" smtClean="0"/>
              <a:t>address </a:t>
            </a:r>
            <a:r>
              <a:rPr lang="en-US" dirty="0"/>
              <a:t>of next node in the list</a:t>
            </a:r>
            <a:r>
              <a:rPr lang="en-US" dirty="0" smtClean="0"/>
              <a:t>.</a:t>
            </a:r>
            <a:endParaRPr lang="en-US" dirty="0"/>
          </a:p>
          <a:p>
            <a:pPr marL="0" indent="0">
              <a:buNone/>
            </a:pPr>
            <a:r>
              <a:rPr lang="en-US" dirty="0"/>
              <a:t>We can define a node as follows</a:t>
            </a:r>
            <a:r>
              <a:rPr lang="en-US" dirty="0" smtClean="0"/>
              <a:t>:</a:t>
            </a:r>
            <a:endParaRPr lang="en-US" dirty="0"/>
          </a:p>
          <a:p>
            <a:pPr marL="0" indent="0">
              <a:buNone/>
            </a:pPr>
            <a:r>
              <a:rPr lang="en-US" b="1" dirty="0" err="1"/>
              <a:t>struct</a:t>
            </a:r>
            <a:r>
              <a:rPr lang="en-US" dirty="0"/>
              <a:t> Node </a:t>
            </a:r>
            <a:endParaRPr lang="en-US" dirty="0" smtClean="0"/>
          </a:p>
          <a:p>
            <a:pPr marL="0" indent="0">
              <a:buNone/>
            </a:pPr>
            <a:r>
              <a:rPr lang="en-US" dirty="0" smtClean="0"/>
              <a:t>{</a:t>
            </a:r>
            <a:endParaRPr lang="en-US" dirty="0"/>
          </a:p>
          <a:p>
            <a:pPr marL="0" indent="0">
              <a:buNone/>
            </a:pPr>
            <a:r>
              <a:rPr lang="en-US" dirty="0"/>
              <a:t> </a:t>
            </a:r>
            <a:r>
              <a:rPr lang="en-US" dirty="0" smtClean="0"/>
              <a:t>         </a:t>
            </a:r>
            <a:r>
              <a:rPr lang="en-US" dirty="0" err="1" smtClean="0"/>
              <a:t>int</a:t>
            </a:r>
            <a:r>
              <a:rPr lang="en-US" dirty="0" smtClean="0"/>
              <a:t> </a:t>
            </a:r>
            <a:r>
              <a:rPr lang="en-US" dirty="0"/>
              <a:t>info;</a:t>
            </a:r>
          </a:p>
          <a:p>
            <a:pPr marL="0" indent="0">
              <a:buNone/>
            </a:pPr>
            <a:r>
              <a:rPr lang="en-US" b="1" dirty="0" smtClean="0"/>
              <a:t>          </a:t>
            </a:r>
            <a:r>
              <a:rPr lang="en-US" b="1" dirty="0" err="1" smtClean="0"/>
              <a:t>struct</a:t>
            </a:r>
            <a:r>
              <a:rPr lang="en-US" dirty="0" smtClean="0"/>
              <a:t> </a:t>
            </a:r>
            <a:r>
              <a:rPr lang="en-US" dirty="0"/>
              <a:t>Node *next; </a:t>
            </a:r>
            <a:endParaRPr lang="en-US" dirty="0" smtClean="0"/>
          </a:p>
          <a:p>
            <a:pPr marL="0" indent="0">
              <a:buNone/>
            </a:pPr>
            <a:r>
              <a:rPr lang="en-US" dirty="0" smtClean="0"/>
              <a:t>};</a:t>
            </a:r>
            <a:endParaRPr lang="en-US" dirty="0"/>
          </a:p>
          <a:p>
            <a:pPr marL="0" indent="0">
              <a:buNone/>
            </a:pPr>
            <a:r>
              <a:rPr lang="en-US" b="1" dirty="0" err="1" smtClean="0"/>
              <a:t>struct</a:t>
            </a:r>
            <a:r>
              <a:rPr lang="en-US" dirty="0" smtClean="0"/>
              <a:t> Node *head</a:t>
            </a:r>
            <a:r>
              <a:rPr lang="en-US" dirty="0"/>
              <a:t>; </a:t>
            </a:r>
            <a:endParaRPr lang="en-US" dirty="0" smtClean="0"/>
          </a:p>
          <a:p>
            <a:pPr marL="0" indent="0">
              <a:buNone/>
            </a:pPr>
            <a:r>
              <a:rPr lang="en-US" b="1" i="1" dirty="0" smtClean="0"/>
              <a:t>The</a:t>
            </a:r>
            <a:r>
              <a:rPr lang="en-US" dirty="0" smtClean="0"/>
              <a:t> </a:t>
            </a:r>
            <a:r>
              <a:rPr lang="en-US" b="1" i="1" dirty="0"/>
              <a:t>NULL</a:t>
            </a:r>
            <a:r>
              <a:rPr lang="en-US" dirty="0"/>
              <a:t> </a:t>
            </a:r>
            <a:r>
              <a:rPr lang="en-US" b="1" i="1" dirty="0"/>
              <a:t>value</a:t>
            </a:r>
            <a:r>
              <a:rPr lang="en-US" dirty="0"/>
              <a:t> </a:t>
            </a:r>
            <a:r>
              <a:rPr lang="en-US" b="1" i="1" dirty="0"/>
              <a:t>of</a:t>
            </a:r>
            <a:r>
              <a:rPr lang="en-US" dirty="0"/>
              <a:t> </a:t>
            </a:r>
            <a:r>
              <a:rPr lang="en-US" b="1" i="1" dirty="0"/>
              <a:t>the</a:t>
            </a:r>
            <a:r>
              <a:rPr lang="en-US" dirty="0"/>
              <a:t> </a:t>
            </a:r>
            <a:r>
              <a:rPr lang="en-US" b="1" i="1" dirty="0"/>
              <a:t>next</a:t>
            </a:r>
            <a:r>
              <a:rPr lang="en-US" dirty="0"/>
              <a:t> </a:t>
            </a:r>
            <a:r>
              <a:rPr lang="en-US" b="1" i="1" dirty="0"/>
              <a:t>field</a:t>
            </a:r>
            <a:r>
              <a:rPr lang="en-US" dirty="0"/>
              <a:t> </a:t>
            </a:r>
            <a:r>
              <a:rPr lang="en-US" b="1" i="1" dirty="0"/>
              <a:t>of</a:t>
            </a:r>
            <a:r>
              <a:rPr lang="en-US" dirty="0"/>
              <a:t> </a:t>
            </a:r>
            <a:r>
              <a:rPr lang="en-US" b="1" i="1" dirty="0"/>
              <a:t>the</a:t>
            </a:r>
            <a:r>
              <a:rPr lang="en-US" dirty="0"/>
              <a:t> </a:t>
            </a:r>
            <a:r>
              <a:rPr lang="en-US" b="1" i="1" dirty="0"/>
              <a:t>linked</a:t>
            </a:r>
            <a:r>
              <a:rPr lang="en-US" dirty="0"/>
              <a:t> </a:t>
            </a:r>
            <a:r>
              <a:rPr lang="en-US" b="1" i="1" dirty="0"/>
              <a:t>list</a:t>
            </a:r>
            <a:r>
              <a:rPr lang="en-US" dirty="0"/>
              <a:t> </a:t>
            </a:r>
            <a:r>
              <a:rPr lang="en-US" b="1" i="1" dirty="0"/>
              <a:t>indicates</a:t>
            </a:r>
            <a:r>
              <a:rPr lang="en-US" dirty="0"/>
              <a:t> </a:t>
            </a:r>
            <a:r>
              <a:rPr lang="en-US" b="1" i="1" dirty="0"/>
              <a:t>the</a:t>
            </a:r>
            <a:r>
              <a:rPr lang="en-US" dirty="0"/>
              <a:t> </a:t>
            </a:r>
            <a:r>
              <a:rPr lang="en-US" b="1" i="1" dirty="0"/>
              <a:t>last</a:t>
            </a:r>
            <a:r>
              <a:rPr lang="en-US" dirty="0"/>
              <a:t> </a:t>
            </a:r>
            <a:r>
              <a:rPr lang="en-US" b="1" i="1" dirty="0"/>
              <a:t>node</a:t>
            </a:r>
            <a:r>
              <a:rPr lang="en-US" dirty="0"/>
              <a:t> </a:t>
            </a:r>
            <a:r>
              <a:rPr lang="en-US" b="1" i="1" dirty="0"/>
              <a:t>and</a:t>
            </a:r>
            <a:r>
              <a:rPr lang="en-US" dirty="0"/>
              <a:t> </a:t>
            </a:r>
            <a:r>
              <a:rPr lang="en-US" b="1" i="1" dirty="0"/>
              <a:t>we</a:t>
            </a:r>
            <a:r>
              <a:rPr lang="en-US" dirty="0"/>
              <a:t> </a:t>
            </a:r>
            <a:r>
              <a:rPr lang="en-US" b="1" i="1" dirty="0"/>
              <a:t>define</a:t>
            </a:r>
            <a:r>
              <a:rPr lang="en-US" dirty="0"/>
              <a:t> </a:t>
            </a:r>
            <a:r>
              <a:rPr lang="en-US" b="1" i="1" dirty="0"/>
              <a:t>macro</a:t>
            </a:r>
            <a:r>
              <a:rPr lang="en-US" dirty="0"/>
              <a:t> </a:t>
            </a:r>
            <a:r>
              <a:rPr lang="en-US" b="1" i="1" dirty="0"/>
              <a:t>for</a:t>
            </a:r>
            <a:r>
              <a:rPr lang="en-US" dirty="0"/>
              <a:t> </a:t>
            </a:r>
            <a:r>
              <a:rPr lang="en-US" b="1" i="1" dirty="0"/>
              <a:t>NULL</a:t>
            </a:r>
            <a:r>
              <a:rPr lang="en-US" dirty="0"/>
              <a:t> </a:t>
            </a:r>
            <a:r>
              <a:rPr lang="en-US" b="1" i="1" dirty="0"/>
              <a:t>and</a:t>
            </a:r>
            <a:r>
              <a:rPr lang="en-US" dirty="0"/>
              <a:t> </a:t>
            </a:r>
            <a:r>
              <a:rPr lang="en-US" b="1" i="1" dirty="0"/>
              <a:t>set</a:t>
            </a:r>
            <a:r>
              <a:rPr lang="en-US" dirty="0"/>
              <a:t> </a:t>
            </a:r>
            <a:r>
              <a:rPr lang="en-US" b="1" i="1" dirty="0"/>
              <a:t>it</a:t>
            </a:r>
            <a:r>
              <a:rPr lang="en-US" dirty="0"/>
              <a:t> </a:t>
            </a:r>
            <a:r>
              <a:rPr lang="en-US" b="1" i="1" dirty="0"/>
              <a:t>to</a:t>
            </a:r>
            <a:r>
              <a:rPr lang="en-US" dirty="0"/>
              <a:t> </a:t>
            </a:r>
            <a:r>
              <a:rPr lang="en-US" b="1" i="1" dirty="0"/>
              <a:t>0</a:t>
            </a:r>
            <a:r>
              <a:rPr lang="en-US" dirty="0"/>
              <a:t> </a:t>
            </a:r>
            <a:r>
              <a:rPr lang="en-US" b="1" i="1" dirty="0"/>
              <a:t>as</a:t>
            </a:r>
            <a:r>
              <a:rPr lang="en-US" dirty="0"/>
              <a:t> </a:t>
            </a:r>
            <a:r>
              <a:rPr lang="en-US" b="1" i="1" dirty="0"/>
              <a:t>below:</a:t>
            </a:r>
            <a:endParaRPr lang="en-US" dirty="0"/>
          </a:p>
          <a:p>
            <a:pPr marL="0" indent="0">
              <a:buNone/>
            </a:pPr>
            <a:r>
              <a:rPr lang="en-US" b="1" i="1" dirty="0"/>
              <a:t>#define</a:t>
            </a:r>
            <a:r>
              <a:rPr lang="en-US" dirty="0"/>
              <a:t> </a:t>
            </a:r>
            <a:r>
              <a:rPr lang="en-US" b="1" i="1" dirty="0"/>
              <a:t>NULL</a:t>
            </a:r>
            <a:r>
              <a:rPr lang="en-US" dirty="0"/>
              <a:t> </a:t>
            </a:r>
            <a:r>
              <a:rPr lang="en-US" b="1" i="1" dirty="0"/>
              <a:t>0</a:t>
            </a:r>
            <a:endParaRPr lang="en-US" dirty="0"/>
          </a:p>
          <a:p>
            <a:pPr marL="0" indent="0">
              <a:buNone/>
            </a:pPr>
            <a:endParaRPr lang="en-US" dirty="0"/>
          </a:p>
        </p:txBody>
      </p:sp>
    </p:spTree>
    <p:extLst>
      <p:ext uri="{BB962C8B-B14F-4D97-AF65-F5344CB8AC3E}">
        <p14:creationId xmlns:p14="http://schemas.microsoft.com/office/powerpoint/2010/main" val="2647388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animEffect transition="in" filter="fade">
                                      <p:cBhvr>
                                        <p:cTn id="7" dur="1000"/>
                                        <p:tgtEl>
                                          <p:spTgt spid="3">
                                            <p:txEl>
                                              <p:pRg st="9" end="9"/>
                                            </p:txEl>
                                          </p:spTgt>
                                        </p:tgtEl>
                                      </p:cBhvr>
                                    </p:animEffect>
                                    <p:anim calcmode="lin" valueType="num">
                                      <p:cBhvr>
                                        <p:cTn id="8"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b="1" i="1" dirty="0"/>
              <a:t>Creating a </a:t>
            </a:r>
            <a:r>
              <a:rPr lang="en-US" b="1" i="1" dirty="0" smtClean="0"/>
              <a:t>Node</a:t>
            </a:r>
            <a:endParaRPr lang="en-US" dirty="0"/>
          </a:p>
        </p:txBody>
      </p:sp>
      <p:sp>
        <p:nvSpPr>
          <p:cNvPr id="3" name="Content Placeholder 2"/>
          <p:cNvSpPr>
            <a:spLocks noGrp="1"/>
          </p:cNvSpPr>
          <p:nvPr>
            <p:ph idx="1"/>
          </p:nvPr>
        </p:nvSpPr>
        <p:spPr/>
        <p:txBody>
          <a:bodyPr>
            <a:normAutofit/>
          </a:bodyPr>
          <a:lstStyle/>
          <a:p>
            <a:r>
              <a:rPr lang="en-US" dirty="0" smtClean="0"/>
              <a:t>To </a:t>
            </a:r>
            <a:r>
              <a:rPr lang="en-US" dirty="0"/>
              <a:t>create a new node, we use the </a:t>
            </a:r>
            <a:r>
              <a:rPr lang="en-US" b="1" dirty="0" err="1">
                <a:solidFill>
                  <a:srgbClr val="FF0000"/>
                </a:solidFill>
              </a:rPr>
              <a:t>malloc</a:t>
            </a:r>
            <a:r>
              <a:rPr lang="en-US" dirty="0">
                <a:solidFill>
                  <a:srgbClr val="FF0000"/>
                </a:solidFill>
              </a:rPr>
              <a:t> </a:t>
            </a:r>
            <a:r>
              <a:rPr lang="en-US" dirty="0"/>
              <a:t>function to dynamically allocate memory for the new node.</a:t>
            </a:r>
          </a:p>
          <a:p>
            <a:r>
              <a:rPr lang="en-US" dirty="0" smtClean="0"/>
              <a:t>After </a:t>
            </a:r>
            <a:r>
              <a:rPr lang="en-US" dirty="0"/>
              <a:t>creating the node, we can store the new item in the node using a pointer to that </a:t>
            </a:r>
            <a:r>
              <a:rPr lang="en-US" dirty="0" smtClean="0"/>
              <a:t>node</a:t>
            </a:r>
            <a:r>
              <a:rPr lang="en-US" dirty="0"/>
              <a:t>.</a:t>
            </a:r>
          </a:p>
          <a:p>
            <a:r>
              <a:rPr lang="en-US" dirty="0"/>
              <a:t>T</a:t>
            </a:r>
            <a:r>
              <a:rPr lang="en-US" dirty="0" smtClean="0"/>
              <a:t>he </a:t>
            </a:r>
            <a:r>
              <a:rPr lang="en-US" dirty="0"/>
              <a:t>steps required to </a:t>
            </a:r>
            <a:r>
              <a:rPr lang="en-US" dirty="0">
                <a:solidFill>
                  <a:srgbClr val="FF0000"/>
                </a:solidFill>
              </a:rPr>
              <a:t>create a node and storing</a:t>
            </a:r>
            <a:r>
              <a:rPr lang="en-US" dirty="0"/>
              <a:t> an item.</a:t>
            </a:r>
          </a:p>
          <a:p>
            <a:pPr marL="0" indent="0">
              <a:buNone/>
            </a:pPr>
            <a:endParaRPr lang="en-US" dirty="0"/>
          </a:p>
        </p:txBody>
      </p:sp>
    </p:spTree>
    <p:extLst>
      <p:ext uri="{BB962C8B-B14F-4D97-AF65-F5344CB8AC3E}">
        <p14:creationId xmlns:p14="http://schemas.microsoft.com/office/powerpoint/2010/main" val="155382320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62023"/>
          <a:stretch/>
        </p:blipFill>
        <p:spPr bwMode="auto">
          <a:xfrm>
            <a:off x="8229600" y="685800"/>
            <a:ext cx="31242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2057400" y="304800"/>
            <a:ext cx="4419600" cy="523220"/>
          </a:xfrm>
          <a:prstGeom prst="rect">
            <a:avLst/>
          </a:prstGeom>
        </p:spPr>
        <p:txBody>
          <a:bodyPr wrap="square">
            <a:spAutoFit/>
          </a:bodyPr>
          <a:lstStyle/>
          <a:p>
            <a:r>
              <a:rPr lang="en-US" sz="2800" b="1" i="1" dirty="0" err="1"/>
              <a:t>Eg</a:t>
            </a:r>
            <a:r>
              <a:rPr lang="en-US" sz="2800" b="1" i="1" dirty="0"/>
              <a:t> 1. </a:t>
            </a:r>
            <a:r>
              <a:rPr lang="en-US" sz="2800" i="1" dirty="0"/>
              <a:t>P is pointer to a node</a:t>
            </a:r>
            <a:endParaRPr lang="en-US" dirty="0"/>
          </a:p>
        </p:txBody>
      </p:sp>
      <p:sp>
        <p:nvSpPr>
          <p:cNvPr id="2" name="Rectangle 1"/>
          <p:cNvSpPr/>
          <p:nvPr/>
        </p:nvSpPr>
        <p:spPr>
          <a:xfrm>
            <a:off x="838200" y="1785878"/>
            <a:ext cx="6934200" cy="1815882"/>
          </a:xfrm>
          <a:prstGeom prst="rect">
            <a:avLst/>
          </a:prstGeom>
        </p:spPr>
        <p:txBody>
          <a:bodyPr wrap="square">
            <a:spAutoFit/>
          </a:bodyPr>
          <a:lstStyle/>
          <a:p>
            <a:r>
              <a:rPr lang="en-US" sz="2800" dirty="0" err="1"/>
              <a:t>s</a:t>
            </a:r>
            <a:r>
              <a:rPr lang="en-US" sz="2800" dirty="0" err="1" smtClean="0"/>
              <a:t>truct</a:t>
            </a:r>
            <a:r>
              <a:rPr lang="en-US" sz="2800" dirty="0" smtClean="0"/>
              <a:t> Node </a:t>
            </a:r>
            <a:r>
              <a:rPr lang="en-US" sz="2800" dirty="0"/>
              <a:t>*p;</a:t>
            </a:r>
          </a:p>
          <a:p>
            <a:r>
              <a:rPr lang="en-US" sz="2800" dirty="0"/>
              <a:t>p</a:t>
            </a:r>
            <a:r>
              <a:rPr lang="en-US" sz="2800" dirty="0" smtClean="0"/>
              <a:t>=(</a:t>
            </a:r>
            <a:r>
              <a:rPr lang="en-US" sz="2800" dirty="0" err="1" smtClean="0"/>
              <a:t>struct</a:t>
            </a:r>
            <a:r>
              <a:rPr lang="en-US" sz="2800" dirty="0" smtClean="0"/>
              <a:t> Node*)</a:t>
            </a:r>
            <a:r>
              <a:rPr lang="en-US" sz="2800" dirty="0" err="1" smtClean="0"/>
              <a:t>malloc</a:t>
            </a:r>
            <a:r>
              <a:rPr lang="en-US" sz="2800" dirty="0" smtClean="0"/>
              <a:t>(</a:t>
            </a:r>
            <a:r>
              <a:rPr lang="en-US" sz="2800" dirty="0" err="1" smtClean="0"/>
              <a:t>sizeof</a:t>
            </a:r>
            <a:r>
              <a:rPr lang="en-US" sz="2800" dirty="0" smtClean="0"/>
              <a:t>(</a:t>
            </a:r>
            <a:r>
              <a:rPr lang="en-US" sz="2800" dirty="0" err="1" smtClean="0"/>
              <a:t>struct</a:t>
            </a:r>
            <a:r>
              <a:rPr lang="en-US" sz="2800" dirty="0" smtClean="0"/>
              <a:t> Node));</a:t>
            </a:r>
            <a:endParaRPr lang="en-US" sz="2800" dirty="0"/>
          </a:p>
          <a:p>
            <a:r>
              <a:rPr lang="en-US" sz="2800" dirty="0"/>
              <a:t>p-&gt;info=50;</a:t>
            </a:r>
          </a:p>
          <a:p>
            <a:r>
              <a:rPr lang="en-US" sz="2800" dirty="0"/>
              <a:t>p-&gt;next=NULL</a:t>
            </a:r>
          </a:p>
        </p:txBody>
      </p:sp>
    </p:spTree>
    <p:extLst>
      <p:ext uri="{BB962C8B-B14F-4D97-AF65-F5344CB8AC3E}">
        <p14:creationId xmlns:p14="http://schemas.microsoft.com/office/powerpoint/2010/main" val="163191677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Eg.2</a:t>
            </a:r>
            <a:endParaRPr lang="en-US" dirty="0"/>
          </a:p>
        </p:txBody>
      </p:sp>
      <p:sp>
        <p:nvSpPr>
          <p:cNvPr id="3" name="Content Placeholder 2"/>
          <p:cNvSpPr>
            <a:spLocks noGrp="1"/>
          </p:cNvSpPr>
          <p:nvPr>
            <p:ph idx="1"/>
          </p:nvPr>
        </p:nvSpPr>
        <p:spPr>
          <a:xfrm>
            <a:off x="1447800" y="1600200"/>
            <a:ext cx="8458200" cy="4525963"/>
          </a:xfrm>
        </p:spPr>
        <p:txBody>
          <a:bodyPr/>
          <a:lstStyle/>
          <a:p>
            <a:pPr marL="0" indent="0">
              <a:buNone/>
            </a:pPr>
            <a:r>
              <a:rPr lang="en-US" dirty="0" smtClean="0"/>
              <a:t>node *head </a:t>
            </a:r>
          </a:p>
          <a:p>
            <a:pPr marL="0" indent="0">
              <a:buNone/>
            </a:pPr>
            <a:r>
              <a:rPr lang="en-US" dirty="0" smtClean="0"/>
              <a:t>head = (node*) </a:t>
            </a:r>
            <a:r>
              <a:rPr lang="en-US" dirty="0" err="1" smtClean="0"/>
              <a:t>malloc</a:t>
            </a:r>
            <a:r>
              <a:rPr lang="en-US" dirty="0" smtClean="0"/>
              <a:t> (</a:t>
            </a:r>
            <a:r>
              <a:rPr lang="en-US" dirty="0" err="1" smtClean="0"/>
              <a:t>sizeof</a:t>
            </a:r>
            <a:r>
              <a:rPr lang="en-US" dirty="0" smtClean="0"/>
              <a:t>(node));</a:t>
            </a:r>
          </a:p>
          <a:p>
            <a:pPr marL="0" indent="0">
              <a:buNone/>
            </a:pPr>
            <a:r>
              <a:rPr lang="en-US" dirty="0" smtClean="0"/>
              <a:t>head-&gt;info=value;</a:t>
            </a:r>
          </a:p>
          <a:p>
            <a:pPr marL="0" indent="0">
              <a:buNone/>
            </a:pPr>
            <a:r>
              <a:rPr lang="en-US" dirty="0" smtClean="0"/>
              <a:t>head-&gt;next=NULL</a:t>
            </a:r>
          </a:p>
          <a:p>
            <a:pPr marL="0" indent="0">
              <a:buNone/>
            </a:pPr>
            <a:endParaRPr lang="en-US" dirty="0"/>
          </a:p>
        </p:txBody>
      </p:sp>
    </p:spTree>
    <p:extLst>
      <p:ext uri="{BB962C8B-B14F-4D97-AF65-F5344CB8AC3E}">
        <p14:creationId xmlns:p14="http://schemas.microsoft.com/office/powerpoint/2010/main" val="257315228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944562"/>
          </a:xfrm>
        </p:spPr>
        <p:style>
          <a:lnRef idx="1">
            <a:schemeClr val="accent5"/>
          </a:lnRef>
          <a:fillRef idx="3">
            <a:schemeClr val="accent5"/>
          </a:fillRef>
          <a:effectRef idx="2">
            <a:schemeClr val="accent5"/>
          </a:effectRef>
          <a:fontRef idx="minor">
            <a:schemeClr val="lt1"/>
          </a:fontRef>
        </p:style>
        <p:txBody>
          <a:bodyPr>
            <a:normAutofit/>
          </a:bodyPr>
          <a:lstStyle/>
          <a:p>
            <a:pPr algn="l"/>
            <a:r>
              <a:rPr lang="en-US" dirty="0" smtClean="0"/>
              <a:t>We can use function to create a node</a:t>
            </a:r>
            <a:endParaRPr lang="en-US" dirty="0"/>
          </a:p>
        </p:txBody>
      </p:sp>
      <p:sp>
        <p:nvSpPr>
          <p:cNvPr id="3" name="Content Placeholder 2"/>
          <p:cNvSpPr>
            <a:spLocks noGrp="1"/>
          </p:cNvSpPr>
          <p:nvPr>
            <p:ph idx="1"/>
          </p:nvPr>
        </p:nvSpPr>
        <p:spPr>
          <a:xfrm>
            <a:off x="609600" y="1447800"/>
            <a:ext cx="10972800" cy="4800599"/>
          </a:xfrm>
        </p:spPr>
        <p:txBody>
          <a:bodyPr/>
          <a:lstStyle/>
          <a:p>
            <a:pPr marL="0" indent="0">
              <a:buNone/>
            </a:pPr>
            <a:r>
              <a:rPr lang="en-US" dirty="0" smtClean="0"/>
              <a:t>	</a:t>
            </a:r>
            <a:r>
              <a:rPr lang="en-US" dirty="0" err="1" smtClean="0"/>
              <a:t>Nodetype</a:t>
            </a:r>
            <a:r>
              <a:rPr lang="en-US" dirty="0" smtClean="0"/>
              <a:t> </a:t>
            </a:r>
            <a:r>
              <a:rPr lang="en-US" dirty="0"/>
              <a:t>*</a:t>
            </a:r>
            <a:r>
              <a:rPr lang="en-US" dirty="0" err="1"/>
              <a:t>getNode</a:t>
            </a:r>
            <a:r>
              <a:rPr lang="en-US" dirty="0"/>
              <a:t>()</a:t>
            </a:r>
          </a:p>
          <a:p>
            <a:pPr marL="0" indent="0">
              <a:buNone/>
            </a:pPr>
            <a:r>
              <a:rPr lang="en-US" dirty="0" smtClean="0"/>
              <a:t>	{</a:t>
            </a:r>
            <a:endParaRPr lang="en-US" dirty="0"/>
          </a:p>
          <a:p>
            <a:pPr marL="0" indent="0">
              <a:buNone/>
            </a:pPr>
            <a:r>
              <a:rPr lang="en-US" dirty="0"/>
              <a:t>  </a:t>
            </a:r>
            <a:r>
              <a:rPr lang="en-US" dirty="0" smtClean="0"/>
              <a:t>	   </a:t>
            </a:r>
            <a:r>
              <a:rPr lang="en-US" dirty="0" err="1" smtClean="0"/>
              <a:t>NodeType</a:t>
            </a:r>
            <a:r>
              <a:rPr lang="en-US" dirty="0" smtClean="0"/>
              <a:t> </a:t>
            </a:r>
            <a:r>
              <a:rPr lang="en-US" dirty="0"/>
              <a:t>*p;</a:t>
            </a:r>
          </a:p>
          <a:p>
            <a:pPr marL="0" indent="0">
              <a:buNone/>
            </a:pPr>
            <a:r>
              <a:rPr lang="en-US" dirty="0"/>
              <a:t>  </a:t>
            </a:r>
            <a:r>
              <a:rPr lang="en-US" dirty="0" smtClean="0"/>
              <a:t>	   p</a:t>
            </a:r>
            <a:r>
              <a:rPr lang="en-US" dirty="0"/>
              <a:t>=(</a:t>
            </a:r>
            <a:r>
              <a:rPr lang="en-US" dirty="0" err="1"/>
              <a:t>NodeType</a:t>
            </a:r>
            <a:r>
              <a:rPr lang="en-US" dirty="0"/>
              <a:t>*)</a:t>
            </a:r>
            <a:r>
              <a:rPr lang="en-US" dirty="0" err="1"/>
              <a:t>malloc</a:t>
            </a:r>
            <a:r>
              <a:rPr lang="en-US" dirty="0"/>
              <a:t>(</a:t>
            </a:r>
            <a:r>
              <a:rPr lang="en-US" dirty="0" err="1"/>
              <a:t>sizeof</a:t>
            </a:r>
            <a:r>
              <a:rPr lang="en-US" dirty="0"/>
              <a:t>(</a:t>
            </a:r>
            <a:r>
              <a:rPr lang="en-US" dirty="0" err="1"/>
              <a:t>NodeType</a:t>
            </a:r>
            <a:r>
              <a:rPr lang="en-US" dirty="0" smtClean="0"/>
              <a:t>));</a:t>
            </a:r>
          </a:p>
          <a:p>
            <a:pPr marL="0" indent="0">
              <a:buNone/>
            </a:pPr>
            <a:r>
              <a:rPr lang="en-US" dirty="0"/>
              <a:t>	 </a:t>
            </a:r>
            <a:r>
              <a:rPr lang="en-US" dirty="0" smtClean="0"/>
              <a:t>  return(p</a:t>
            </a:r>
            <a:r>
              <a:rPr lang="en-US" dirty="0"/>
              <a:t>);</a:t>
            </a:r>
          </a:p>
          <a:p>
            <a:pPr marL="0" indent="0">
              <a:buNone/>
            </a:pPr>
            <a:r>
              <a:rPr lang="en-US" dirty="0" smtClean="0"/>
              <a:t>	}</a:t>
            </a:r>
            <a:endParaRPr lang="en-US" dirty="0"/>
          </a:p>
        </p:txBody>
      </p:sp>
    </p:spTree>
    <p:extLst>
      <p:ext uri="{BB962C8B-B14F-4D97-AF65-F5344CB8AC3E}">
        <p14:creationId xmlns:p14="http://schemas.microsoft.com/office/powerpoint/2010/main" val="60024450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marL="0" indent="0">
              <a:buNone/>
            </a:pPr>
            <a:r>
              <a:rPr lang="en-US" i="1" dirty="0" smtClean="0"/>
              <a:t>This function can be called as:</a:t>
            </a:r>
          </a:p>
          <a:p>
            <a:pPr marL="0" indent="0">
              <a:buNone/>
            </a:pPr>
            <a:r>
              <a:rPr lang="en-US" dirty="0" smtClean="0"/>
              <a:t>header=</a:t>
            </a:r>
            <a:r>
              <a:rPr lang="en-US" dirty="0" err="1" smtClean="0"/>
              <a:t>getnode</a:t>
            </a:r>
            <a:r>
              <a:rPr lang="en-US" dirty="0" smtClean="0"/>
              <a:t>();</a:t>
            </a:r>
          </a:p>
          <a:p>
            <a:pPr marL="0" indent="0">
              <a:buNone/>
            </a:pPr>
            <a:r>
              <a:rPr lang="en-US" dirty="0" smtClean="0"/>
              <a:t>header-&gt;info=value</a:t>
            </a:r>
          </a:p>
          <a:p>
            <a:pPr marL="0" indent="0">
              <a:buNone/>
            </a:pPr>
            <a:r>
              <a:rPr lang="en-US" dirty="0" smtClean="0"/>
              <a:t>header-&gt;next=NULL;</a:t>
            </a:r>
          </a:p>
          <a:p>
            <a:pPr marL="0" indent="0">
              <a:buNone/>
            </a:pPr>
            <a:endParaRPr lang="en-US" dirty="0"/>
          </a:p>
        </p:txBody>
      </p:sp>
      <p:grpSp>
        <p:nvGrpSpPr>
          <p:cNvPr id="10" name="Group 9"/>
          <p:cNvGrpSpPr/>
          <p:nvPr/>
        </p:nvGrpSpPr>
        <p:grpSpPr>
          <a:xfrm>
            <a:off x="3352800" y="4343400"/>
            <a:ext cx="4648200" cy="838200"/>
            <a:chOff x="1066800" y="3657600"/>
            <a:chExt cx="4114800" cy="533400"/>
          </a:xfrm>
        </p:grpSpPr>
        <p:sp>
          <p:nvSpPr>
            <p:cNvPr id="4" name="Rectangle 3"/>
            <p:cNvSpPr/>
            <p:nvPr/>
          </p:nvSpPr>
          <p:spPr>
            <a:xfrm>
              <a:off x="1066800" y="3657600"/>
              <a:ext cx="914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header</a:t>
              </a:r>
            </a:p>
          </p:txBody>
        </p:sp>
        <p:cxnSp>
          <p:nvCxnSpPr>
            <p:cNvPr id="6" name="Straight Arrow Connector 5"/>
            <p:cNvCxnSpPr/>
            <p:nvPr/>
          </p:nvCxnSpPr>
          <p:spPr>
            <a:xfrm>
              <a:off x="1981200" y="3886200"/>
              <a:ext cx="12192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3200400" y="3657600"/>
              <a:ext cx="19812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Value                 NULL</a:t>
              </a:r>
            </a:p>
          </p:txBody>
        </p:sp>
        <p:cxnSp>
          <p:nvCxnSpPr>
            <p:cNvPr id="9" name="Straight Connector 8"/>
            <p:cNvCxnSpPr>
              <a:stCxn id="7" idx="0"/>
              <a:endCxn id="7" idx="2"/>
            </p:cNvCxnSpPr>
            <p:nvPr/>
          </p:nvCxnSpPr>
          <p:spPr>
            <a:xfrm>
              <a:off x="4191000" y="3657600"/>
              <a:ext cx="0" cy="533400"/>
            </a:xfrm>
            <a:prstGeom prst="line">
              <a:avLst/>
            </a:prstGeom>
            <a:ln>
              <a:solidFill>
                <a:schemeClr val="bg1"/>
              </a:solidFill>
            </a:ln>
          </p:spPr>
          <p:style>
            <a:lnRef idx="1">
              <a:schemeClr val="accent5"/>
            </a:lnRef>
            <a:fillRef idx="0">
              <a:schemeClr val="accent5"/>
            </a:fillRef>
            <a:effectRef idx="0">
              <a:schemeClr val="accent5"/>
            </a:effectRef>
            <a:fontRef idx="minor">
              <a:schemeClr val="tx1"/>
            </a:fontRef>
          </p:style>
        </p:cxnSp>
      </p:grpSp>
    </p:spTree>
    <p:extLst>
      <p:ext uri="{BB962C8B-B14F-4D97-AF65-F5344CB8AC3E}">
        <p14:creationId xmlns:p14="http://schemas.microsoft.com/office/powerpoint/2010/main" val="365338668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1">
            <a:schemeClr val="accent5"/>
          </a:lnRef>
          <a:fillRef idx="3">
            <a:schemeClr val="accent5"/>
          </a:fillRef>
          <a:effectRef idx="2">
            <a:schemeClr val="accent5"/>
          </a:effectRef>
          <a:fontRef idx="minor">
            <a:schemeClr val="lt1"/>
          </a:fontRef>
        </p:style>
        <p:txBody>
          <a:bodyPr/>
          <a:lstStyle/>
          <a:p>
            <a:pPr algn="l"/>
            <a:r>
              <a:rPr lang="en-US" dirty="0" smtClean="0"/>
              <a:t>Create Empty List</a:t>
            </a:r>
            <a:endParaRPr lang="en-US" dirty="0"/>
          </a:p>
        </p:txBody>
      </p:sp>
      <p:sp>
        <p:nvSpPr>
          <p:cNvPr id="3" name="Content Placeholder 2"/>
          <p:cNvSpPr>
            <a:spLocks noGrp="1"/>
          </p:cNvSpPr>
          <p:nvPr>
            <p:ph idx="1"/>
          </p:nvPr>
        </p:nvSpPr>
        <p:spPr/>
        <p:txBody>
          <a:bodyPr>
            <a:normAutofit/>
          </a:bodyPr>
          <a:lstStyle/>
          <a:p>
            <a:pPr marL="0" indent="0">
              <a:buNone/>
            </a:pPr>
            <a:r>
              <a:rPr lang="en-US" sz="3600" dirty="0"/>
              <a:t>void </a:t>
            </a:r>
            <a:r>
              <a:rPr lang="en-US" sz="3600" dirty="0" err="1" smtClean="0"/>
              <a:t>createEmpty</a:t>
            </a:r>
            <a:r>
              <a:rPr lang="en-US" sz="3600" dirty="0" smtClean="0"/>
              <a:t>(</a:t>
            </a:r>
            <a:r>
              <a:rPr lang="en-US" sz="3600" dirty="0" err="1" smtClean="0"/>
              <a:t>Struct</a:t>
            </a:r>
            <a:r>
              <a:rPr lang="en-US" sz="3600" dirty="0" smtClean="0"/>
              <a:t> Node </a:t>
            </a:r>
            <a:r>
              <a:rPr lang="en-US" sz="3600" dirty="0"/>
              <a:t>*head)</a:t>
            </a:r>
          </a:p>
          <a:p>
            <a:pPr marL="0" indent="0">
              <a:buNone/>
            </a:pPr>
            <a:r>
              <a:rPr lang="en-US" sz="3600" dirty="0"/>
              <a:t>{</a:t>
            </a:r>
          </a:p>
          <a:p>
            <a:pPr marL="0" indent="0">
              <a:buNone/>
            </a:pPr>
            <a:r>
              <a:rPr lang="en-US" sz="3600" dirty="0"/>
              <a:t>  head=NULL;</a:t>
            </a:r>
          </a:p>
          <a:p>
            <a:pPr marL="0" indent="0">
              <a:buNone/>
            </a:pPr>
            <a:r>
              <a:rPr lang="en-US" sz="3600" dirty="0"/>
              <a:t>}</a:t>
            </a:r>
          </a:p>
        </p:txBody>
      </p:sp>
    </p:spTree>
    <p:extLst>
      <p:ext uri="{BB962C8B-B14F-4D97-AF65-F5344CB8AC3E}">
        <p14:creationId xmlns:p14="http://schemas.microsoft.com/office/powerpoint/2010/main" val="355503393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609601"/>
            <a:ext cx="10439400" cy="5516563"/>
          </a:xfrm>
        </p:spPr>
        <p:txBody>
          <a:bodyPr/>
          <a:lstStyle/>
          <a:p>
            <a:pPr marL="0" indent="0">
              <a:buNone/>
            </a:pPr>
            <a:r>
              <a:rPr lang="en-US" sz="4000" b="1" i="1" dirty="0"/>
              <a:t>Insertion</a:t>
            </a:r>
            <a:endParaRPr lang="en-US" sz="4000" i="1" dirty="0"/>
          </a:p>
          <a:p>
            <a:r>
              <a:rPr lang="en-US" b="1" dirty="0"/>
              <a:t>To insert a node in a list,</a:t>
            </a:r>
            <a:endParaRPr lang="en-US" sz="3600" dirty="0"/>
          </a:p>
          <a:p>
            <a:pPr lvl="1"/>
            <a:r>
              <a:rPr lang="en-US" dirty="0"/>
              <a:t>allocate required memory to a node </a:t>
            </a:r>
            <a:endParaRPr lang="en-US" sz="3200" dirty="0"/>
          </a:p>
          <a:p>
            <a:pPr lvl="1"/>
            <a:r>
              <a:rPr lang="en-US" dirty="0"/>
              <a:t>assign the data in its information field</a:t>
            </a:r>
            <a:endParaRPr lang="en-US" sz="3200" dirty="0"/>
          </a:p>
          <a:p>
            <a:pPr marL="0" indent="0">
              <a:buNone/>
            </a:pPr>
            <a:r>
              <a:rPr lang="en-US" dirty="0"/>
              <a:t>adjust the pointers to link the node at the required place</a:t>
            </a:r>
          </a:p>
        </p:txBody>
      </p:sp>
    </p:spTree>
    <p:extLst>
      <p:ext uri="{BB962C8B-B14F-4D97-AF65-F5344CB8AC3E}">
        <p14:creationId xmlns:p14="http://schemas.microsoft.com/office/powerpoint/2010/main" val="106376169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10515600" cy="944562"/>
          </a:xfrm>
        </p:spPr>
        <p:style>
          <a:lnRef idx="1">
            <a:schemeClr val="accent5"/>
          </a:lnRef>
          <a:fillRef idx="2">
            <a:schemeClr val="accent5"/>
          </a:fillRef>
          <a:effectRef idx="1">
            <a:schemeClr val="accent5"/>
          </a:effectRef>
          <a:fontRef idx="minor">
            <a:schemeClr val="dk1"/>
          </a:fontRef>
        </p:style>
        <p:txBody>
          <a:bodyPr>
            <a:noAutofit/>
          </a:bodyPr>
          <a:lstStyle/>
          <a:p>
            <a:pPr algn="l"/>
            <a:r>
              <a:rPr lang="en-US" sz="2800" dirty="0"/>
              <a:t>Algorithm to insert a node at the  beginning of the singly linked list</a:t>
            </a:r>
          </a:p>
        </p:txBody>
      </p:sp>
      <p:sp>
        <p:nvSpPr>
          <p:cNvPr id="3" name="Rectangle 2"/>
          <p:cNvSpPr/>
          <p:nvPr/>
        </p:nvSpPr>
        <p:spPr>
          <a:xfrm>
            <a:off x="990600" y="1524000"/>
            <a:ext cx="10515600" cy="4401205"/>
          </a:xfrm>
          <a:prstGeom prst="rect">
            <a:avLst/>
          </a:prstGeom>
        </p:spPr>
        <p:txBody>
          <a:bodyPr wrap="square">
            <a:spAutoFit/>
          </a:bodyPr>
          <a:lstStyle/>
          <a:p>
            <a:r>
              <a:rPr lang="en-US" sz="2800" dirty="0"/>
              <a:t>let *head be the pointer to first node in the current list</a:t>
            </a:r>
          </a:p>
          <a:p>
            <a:r>
              <a:rPr lang="en-US" sz="2800" dirty="0"/>
              <a:t>1. Create a new node using </a:t>
            </a:r>
            <a:r>
              <a:rPr lang="en-US" sz="2800" dirty="0" err="1"/>
              <a:t>malloc</a:t>
            </a:r>
            <a:r>
              <a:rPr lang="en-US" sz="2800" dirty="0"/>
              <a:t> </a:t>
            </a:r>
          </a:p>
          <a:p>
            <a:r>
              <a:rPr lang="en-US" sz="2800" dirty="0"/>
              <a:t>  	</a:t>
            </a:r>
            <a:r>
              <a:rPr lang="en-US" sz="2800" b="1" i="1" dirty="0" err="1"/>
              <a:t>newNode</a:t>
            </a:r>
            <a:r>
              <a:rPr lang="en-US" sz="2800" b="1" i="1" dirty="0"/>
              <a:t>=(</a:t>
            </a:r>
            <a:r>
              <a:rPr lang="en-US" sz="2800" b="1" i="1" dirty="0" err="1"/>
              <a:t>nodeType</a:t>
            </a:r>
            <a:r>
              <a:rPr lang="en-US" sz="2800" b="1" i="1" dirty="0"/>
              <a:t>*)</a:t>
            </a:r>
            <a:r>
              <a:rPr lang="en-US" sz="2800" b="1" i="1" dirty="0" err="1"/>
              <a:t>malloc</a:t>
            </a:r>
            <a:r>
              <a:rPr lang="en-US" sz="2800" b="1" i="1" dirty="0"/>
              <a:t>(</a:t>
            </a:r>
            <a:r>
              <a:rPr lang="en-US" sz="2800" b="1" i="1" dirty="0" err="1"/>
              <a:t>sizeof</a:t>
            </a:r>
            <a:r>
              <a:rPr lang="en-US" sz="2800" b="1" i="1" dirty="0"/>
              <a:t>(</a:t>
            </a:r>
            <a:r>
              <a:rPr lang="en-US" sz="2800" b="1" i="1" dirty="0" err="1"/>
              <a:t>NodeType</a:t>
            </a:r>
            <a:r>
              <a:rPr lang="en-US" sz="2800" b="1" i="1" dirty="0"/>
              <a:t>));</a:t>
            </a:r>
          </a:p>
          <a:p>
            <a:r>
              <a:rPr lang="en-US" sz="2800" dirty="0"/>
              <a:t>2. Assign a data to the info field of </a:t>
            </a:r>
            <a:r>
              <a:rPr lang="en-US" sz="2800" dirty="0" err="1"/>
              <a:t>newNode</a:t>
            </a:r>
            <a:endParaRPr lang="en-US" sz="2800" dirty="0"/>
          </a:p>
          <a:p>
            <a:r>
              <a:rPr lang="en-US" sz="2800" dirty="0"/>
              <a:t>   	</a:t>
            </a:r>
            <a:r>
              <a:rPr lang="en-US" sz="2800" b="1" i="1" dirty="0" err="1"/>
              <a:t>newNode</a:t>
            </a:r>
            <a:r>
              <a:rPr lang="en-US" sz="2800" b="1" i="1" dirty="0"/>
              <a:t>-&gt;info=data;</a:t>
            </a:r>
          </a:p>
          <a:p>
            <a:r>
              <a:rPr lang="en-US" sz="2800" dirty="0"/>
              <a:t>3. Set next of </a:t>
            </a:r>
            <a:r>
              <a:rPr lang="en-US" sz="2800" dirty="0" err="1"/>
              <a:t>newNode</a:t>
            </a:r>
            <a:r>
              <a:rPr lang="en-US" sz="2800" dirty="0"/>
              <a:t> to head</a:t>
            </a:r>
          </a:p>
          <a:p>
            <a:r>
              <a:rPr lang="en-US" sz="2800" dirty="0"/>
              <a:t>   	</a:t>
            </a:r>
            <a:r>
              <a:rPr lang="en-US" sz="2800" b="1" i="1" dirty="0" err="1"/>
              <a:t>newNode</a:t>
            </a:r>
            <a:r>
              <a:rPr lang="en-US" sz="2800" b="1" i="1" dirty="0"/>
              <a:t>-&gt;next=head</a:t>
            </a:r>
          </a:p>
          <a:p>
            <a:r>
              <a:rPr lang="en-US" sz="2800" dirty="0"/>
              <a:t>4. Set head pointer to </a:t>
            </a:r>
            <a:r>
              <a:rPr lang="en-US" sz="2800" dirty="0" err="1"/>
              <a:t>newnode</a:t>
            </a:r>
            <a:r>
              <a:rPr lang="en-US" sz="2800" dirty="0"/>
              <a:t> </a:t>
            </a:r>
          </a:p>
          <a:p>
            <a:r>
              <a:rPr lang="en-US" sz="2800" dirty="0"/>
              <a:t>  </a:t>
            </a:r>
            <a:r>
              <a:rPr lang="en-US" sz="2800" i="1" dirty="0"/>
              <a:t> 	</a:t>
            </a:r>
            <a:r>
              <a:rPr lang="en-US" sz="2800" b="1" i="1" dirty="0"/>
              <a:t>head=</a:t>
            </a:r>
            <a:r>
              <a:rPr lang="en-US" sz="2800" b="1" i="1" dirty="0" err="1"/>
              <a:t>NewNode</a:t>
            </a:r>
            <a:r>
              <a:rPr lang="en-US" sz="2800" b="1" i="1" dirty="0"/>
              <a:t>;</a:t>
            </a:r>
          </a:p>
          <a:p>
            <a:r>
              <a:rPr lang="en-US" sz="2800" dirty="0"/>
              <a:t>5. end</a:t>
            </a:r>
          </a:p>
        </p:txBody>
      </p:sp>
    </p:spTree>
    <p:extLst>
      <p:ext uri="{BB962C8B-B14F-4D97-AF65-F5344CB8AC3E}">
        <p14:creationId xmlns:p14="http://schemas.microsoft.com/office/powerpoint/2010/main" val="283411419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a:blip r:embed="rId2"/>
          <a:stretch>
            <a:fillRect/>
          </a:stretch>
        </p:blipFill>
        <p:spPr>
          <a:xfrm>
            <a:off x="1919288" y="1905000"/>
            <a:ext cx="8291513" cy="2819400"/>
          </a:xfrm>
          <a:prstGeom prst="rect">
            <a:avLst/>
          </a:prstGeom>
        </p:spPr>
      </p:pic>
    </p:spTree>
    <p:extLst>
      <p:ext uri="{BB962C8B-B14F-4D97-AF65-F5344CB8AC3E}">
        <p14:creationId xmlns:p14="http://schemas.microsoft.com/office/powerpoint/2010/main" val="144356503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944562"/>
          </a:xfrm>
        </p:spPr>
        <p:style>
          <a:lnRef idx="3">
            <a:schemeClr val="lt1"/>
          </a:lnRef>
          <a:fillRef idx="1">
            <a:schemeClr val="accent5"/>
          </a:fillRef>
          <a:effectRef idx="1">
            <a:schemeClr val="accent5"/>
          </a:effectRef>
          <a:fontRef idx="minor">
            <a:schemeClr val="lt1"/>
          </a:fontRef>
        </p:style>
        <p:txBody>
          <a:bodyPr>
            <a:normAutofit fontScale="90000"/>
          </a:bodyPr>
          <a:lstStyle/>
          <a:p>
            <a:r>
              <a:rPr lang="en-US" b="1" dirty="0"/>
              <a:t>C function to insert a node at the beginning of </a:t>
            </a:r>
            <a:r>
              <a:rPr lang="en-US" b="1" dirty="0" smtClean="0"/>
              <a:t>SLL</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dirty="0" smtClean="0"/>
              <a:t>void </a:t>
            </a:r>
            <a:r>
              <a:rPr lang="en-US" dirty="0" err="1"/>
              <a:t>insertBeg</a:t>
            </a:r>
            <a:r>
              <a:rPr lang="en-US" dirty="0"/>
              <a:t>(</a:t>
            </a:r>
            <a:r>
              <a:rPr lang="en-US" dirty="0" err="1"/>
              <a:t>int</a:t>
            </a:r>
            <a:r>
              <a:rPr lang="en-US" dirty="0"/>
              <a:t> item)</a:t>
            </a:r>
          </a:p>
          <a:p>
            <a:pPr marL="0" indent="0">
              <a:buNone/>
            </a:pPr>
            <a:r>
              <a:rPr lang="en-US" dirty="0"/>
              <a:t>{</a:t>
            </a:r>
          </a:p>
          <a:p>
            <a:pPr marL="0" indent="0">
              <a:buNone/>
            </a:pPr>
            <a:r>
              <a:rPr lang="en-US" dirty="0"/>
              <a:t>  </a:t>
            </a:r>
            <a:r>
              <a:rPr lang="en-US" dirty="0" smtClean="0"/>
              <a:t> </a:t>
            </a:r>
            <a:r>
              <a:rPr lang="en-US" dirty="0" err="1" smtClean="0"/>
              <a:t>NodeType</a:t>
            </a:r>
            <a:r>
              <a:rPr lang="en-US" dirty="0" smtClean="0"/>
              <a:t> </a:t>
            </a:r>
            <a:r>
              <a:rPr lang="en-US" dirty="0"/>
              <a:t>*</a:t>
            </a:r>
            <a:r>
              <a:rPr lang="en-US" dirty="0" err="1"/>
              <a:t>newNode</a:t>
            </a:r>
            <a:r>
              <a:rPr lang="en-US" dirty="0"/>
              <a:t>;</a:t>
            </a:r>
          </a:p>
          <a:p>
            <a:pPr marL="0" indent="0">
              <a:buNone/>
            </a:pPr>
            <a:r>
              <a:rPr lang="en-US" dirty="0"/>
              <a:t>  </a:t>
            </a:r>
            <a:r>
              <a:rPr lang="en-US" dirty="0" smtClean="0"/>
              <a:t> </a:t>
            </a:r>
            <a:r>
              <a:rPr lang="en-US" dirty="0" err="1" smtClean="0"/>
              <a:t>newNode</a:t>
            </a:r>
            <a:r>
              <a:rPr lang="en-US" dirty="0" smtClean="0"/>
              <a:t>=</a:t>
            </a:r>
            <a:r>
              <a:rPr lang="en-US" dirty="0" err="1" smtClean="0"/>
              <a:t>getNode</a:t>
            </a:r>
            <a:r>
              <a:rPr lang="en-US" dirty="0" smtClean="0"/>
              <a:t>();  //or </a:t>
            </a:r>
            <a:r>
              <a:rPr lang="en-US" dirty="0" err="1" smtClean="0"/>
              <a:t>newNode</a:t>
            </a:r>
            <a:r>
              <a:rPr lang="en-US" dirty="0" smtClean="0"/>
              <a:t> =???</a:t>
            </a:r>
            <a:endParaRPr lang="en-US" dirty="0"/>
          </a:p>
          <a:p>
            <a:pPr marL="0" indent="0">
              <a:buNone/>
            </a:pPr>
            <a:r>
              <a:rPr lang="en-US" dirty="0"/>
              <a:t> </a:t>
            </a:r>
            <a:r>
              <a:rPr lang="en-US" dirty="0" smtClean="0"/>
              <a:t>  </a:t>
            </a:r>
            <a:r>
              <a:rPr lang="en-US" dirty="0" err="1"/>
              <a:t>newNode</a:t>
            </a:r>
            <a:r>
              <a:rPr lang="en-US" dirty="0"/>
              <a:t>-&gt;info=item;</a:t>
            </a:r>
          </a:p>
          <a:p>
            <a:pPr marL="0" indent="0">
              <a:buNone/>
            </a:pPr>
            <a:r>
              <a:rPr lang="en-US" dirty="0"/>
              <a:t>  </a:t>
            </a:r>
            <a:r>
              <a:rPr lang="en-US" dirty="0" smtClean="0"/>
              <a:t> </a:t>
            </a:r>
            <a:r>
              <a:rPr lang="en-US" dirty="0" err="1" smtClean="0"/>
              <a:t>newNode</a:t>
            </a:r>
            <a:r>
              <a:rPr lang="en-US" dirty="0" smtClean="0"/>
              <a:t>-</a:t>
            </a:r>
            <a:r>
              <a:rPr lang="en-US" dirty="0"/>
              <a:t>&gt;next=head;</a:t>
            </a:r>
          </a:p>
          <a:p>
            <a:pPr marL="0" indent="0">
              <a:buNone/>
            </a:pPr>
            <a:r>
              <a:rPr lang="en-US" dirty="0"/>
              <a:t> </a:t>
            </a:r>
            <a:r>
              <a:rPr lang="en-US" dirty="0" smtClean="0"/>
              <a:t>  </a:t>
            </a:r>
            <a:r>
              <a:rPr lang="en-US" dirty="0"/>
              <a:t>head=</a:t>
            </a:r>
            <a:r>
              <a:rPr lang="en-US" dirty="0" err="1"/>
              <a:t>newNode</a:t>
            </a:r>
            <a:r>
              <a:rPr lang="en-US" dirty="0"/>
              <a:t>;</a:t>
            </a:r>
          </a:p>
          <a:p>
            <a:pPr marL="0" indent="0">
              <a:buNone/>
            </a:pPr>
            <a:r>
              <a:rPr lang="en-US" dirty="0" smtClean="0"/>
              <a:t>}</a:t>
            </a:r>
            <a:endParaRPr lang="en-US" dirty="0"/>
          </a:p>
        </p:txBody>
      </p:sp>
    </p:spTree>
    <p:extLst>
      <p:ext uri="{BB962C8B-B14F-4D97-AF65-F5344CB8AC3E}">
        <p14:creationId xmlns:p14="http://schemas.microsoft.com/office/powerpoint/2010/main" val="89798733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1371600"/>
            <a:ext cx="10972800" cy="4876800"/>
          </a:xfrm>
        </p:spPr>
        <p:txBody>
          <a:bodyPr>
            <a:normAutofit fontScale="70000" lnSpcReduction="20000"/>
          </a:bodyPr>
          <a:lstStyle/>
          <a:p>
            <a:pPr marL="0" indent="0">
              <a:buNone/>
            </a:pPr>
            <a:r>
              <a:rPr lang="en-US" sz="4000" dirty="0" smtClean="0"/>
              <a:t>let </a:t>
            </a:r>
            <a:r>
              <a:rPr lang="en-US" sz="4000" dirty="0"/>
              <a:t>*head be the pointer to the first node in the current list</a:t>
            </a:r>
          </a:p>
          <a:p>
            <a:pPr marL="0" indent="0">
              <a:buNone/>
            </a:pPr>
            <a:r>
              <a:rPr lang="en-US" sz="4000" dirty="0"/>
              <a:t>1. create a new node </a:t>
            </a:r>
            <a:r>
              <a:rPr lang="en-US" sz="4000" b="1" i="1" dirty="0" err="1" smtClean="0"/>
              <a:t>newNode</a:t>
            </a:r>
            <a:r>
              <a:rPr lang="en-US" sz="4000" b="1" i="1" dirty="0"/>
              <a:t>=(</a:t>
            </a:r>
            <a:r>
              <a:rPr lang="en-US" sz="4000" b="1" i="1" dirty="0" err="1"/>
              <a:t>nodeType</a:t>
            </a:r>
            <a:r>
              <a:rPr lang="en-US" sz="4000" b="1" i="1" dirty="0"/>
              <a:t>*)</a:t>
            </a:r>
            <a:r>
              <a:rPr lang="en-US" sz="4000" b="1" i="1" dirty="0" err="1"/>
              <a:t>malloc</a:t>
            </a:r>
            <a:r>
              <a:rPr lang="en-US" sz="4000" b="1" i="1" dirty="0"/>
              <a:t>(</a:t>
            </a:r>
            <a:r>
              <a:rPr lang="en-US" sz="4000" b="1" i="1" dirty="0" err="1"/>
              <a:t>sizeof</a:t>
            </a:r>
            <a:r>
              <a:rPr lang="en-US" sz="4000" b="1" i="1" dirty="0"/>
              <a:t>(</a:t>
            </a:r>
            <a:r>
              <a:rPr lang="en-US" sz="4000" b="1" i="1" dirty="0" err="1"/>
              <a:t>nodeType</a:t>
            </a:r>
            <a:r>
              <a:rPr lang="en-US" sz="4000" b="1" i="1" dirty="0"/>
              <a:t>));</a:t>
            </a:r>
          </a:p>
          <a:p>
            <a:pPr marL="0" indent="0">
              <a:buNone/>
            </a:pPr>
            <a:r>
              <a:rPr lang="en-US" sz="4000" dirty="0"/>
              <a:t>2. Assign data to </a:t>
            </a:r>
            <a:r>
              <a:rPr lang="en-US" sz="4000" dirty="0" smtClean="0"/>
              <a:t>info		</a:t>
            </a:r>
            <a:r>
              <a:rPr lang="en-US" sz="4000" b="1" i="1" dirty="0" err="1" smtClean="0"/>
              <a:t>newNode</a:t>
            </a:r>
            <a:r>
              <a:rPr lang="en-US" sz="4000" b="1" i="1" dirty="0" smtClean="0"/>
              <a:t>-</a:t>
            </a:r>
            <a:r>
              <a:rPr lang="en-US" sz="4000" b="1" i="1" dirty="0"/>
              <a:t>&gt;info=data;</a:t>
            </a:r>
          </a:p>
          <a:p>
            <a:pPr marL="0" indent="0">
              <a:buNone/>
            </a:pPr>
            <a:r>
              <a:rPr lang="en-US" sz="4000" dirty="0"/>
              <a:t>3. Set next of new </a:t>
            </a:r>
            <a:r>
              <a:rPr lang="en-US" sz="4000" dirty="0" smtClean="0"/>
              <a:t>node		</a:t>
            </a:r>
            <a:r>
              <a:rPr lang="en-US" sz="4000" b="1" i="1" dirty="0" err="1" smtClean="0"/>
              <a:t>newNode</a:t>
            </a:r>
            <a:r>
              <a:rPr lang="en-US" sz="4000" b="1" i="1" dirty="0" smtClean="0"/>
              <a:t>-</a:t>
            </a:r>
            <a:r>
              <a:rPr lang="en-US" sz="4000" b="1" i="1" dirty="0"/>
              <a:t>&gt;next=NULL;</a:t>
            </a:r>
          </a:p>
          <a:p>
            <a:pPr marL="0" indent="0">
              <a:buNone/>
            </a:pPr>
            <a:r>
              <a:rPr lang="en-US" sz="4000" dirty="0"/>
              <a:t>4. if(head==NULL) </a:t>
            </a:r>
            <a:r>
              <a:rPr lang="en-US" sz="4000" dirty="0" smtClean="0"/>
              <a:t>then		</a:t>
            </a:r>
            <a:r>
              <a:rPr lang="en-US" sz="4000" b="1" dirty="0" smtClean="0"/>
              <a:t>set </a:t>
            </a:r>
            <a:r>
              <a:rPr lang="en-US" sz="4000" b="1" i="1" dirty="0"/>
              <a:t>head=</a:t>
            </a:r>
            <a:r>
              <a:rPr lang="en-US" sz="4000" b="1" i="1" dirty="0" err="1"/>
              <a:t>newNode</a:t>
            </a:r>
            <a:r>
              <a:rPr lang="en-US" sz="4000" b="1" i="1" dirty="0"/>
              <a:t>;</a:t>
            </a:r>
          </a:p>
          <a:p>
            <a:pPr marL="0" indent="0">
              <a:buNone/>
            </a:pPr>
            <a:r>
              <a:rPr lang="en-US" sz="4000" dirty="0"/>
              <a:t>5.</a:t>
            </a:r>
            <a:r>
              <a:rPr lang="en-US" sz="4000" b="1" dirty="0"/>
              <a:t>set </a:t>
            </a:r>
            <a:r>
              <a:rPr lang="en-US" sz="4000" b="1" i="1" dirty="0"/>
              <a:t>temp=head;</a:t>
            </a:r>
          </a:p>
          <a:p>
            <a:pPr marL="0" indent="0">
              <a:buNone/>
            </a:pPr>
            <a:r>
              <a:rPr lang="en-US" sz="4000" dirty="0"/>
              <a:t>6. while</a:t>
            </a:r>
            <a:r>
              <a:rPr lang="en-US" sz="4000" i="1" dirty="0"/>
              <a:t>(temp-&gt;next!=NULL)</a:t>
            </a:r>
          </a:p>
          <a:p>
            <a:pPr marL="0" indent="0">
              <a:buNone/>
            </a:pPr>
            <a:r>
              <a:rPr lang="en-US" sz="4000" dirty="0"/>
              <a:t>        	</a:t>
            </a:r>
            <a:r>
              <a:rPr lang="en-US" sz="4000" dirty="0" smtClean="0"/>
              <a:t>	</a:t>
            </a:r>
            <a:r>
              <a:rPr lang="en-US" sz="4000" i="1" dirty="0" smtClean="0"/>
              <a:t>temp=temp-</a:t>
            </a:r>
            <a:r>
              <a:rPr lang="en-US" sz="4000" i="1" dirty="0"/>
              <a:t>&gt;next; </a:t>
            </a:r>
            <a:r>
              <a:rPr lang="en-US" sz="4000" i="1" dirty="0" smtClean="0"/>
              <a:t>	 </a:t>
            </a:r>
            <a:r>
              <a:rPr lang="en-US" sz="4000" i="1" dirty="0"/>
              <a:t>// temp increase</a:t>
            </a:r>
          </a:p>
          <a:p>
            <a:pPr marL="0" indent="0">
              <a:buNone/>
            </a:pPr>
            <a:r>
              <a:rPr lang="en-US" sz="4000" dirty="0"/>
              <a:t>7. set </a:t>
            </a:r>
            <a:r>
              <a:rPr lang="en-US" sz="4000" i="1" dirty="0"/>
              <a:t>temp-&gt;next=</a:t>
            </a:r>
            <a:r>
              <a:rPr lang="en-US" sz="4000" i="1" dirty="0" err="1"/>
              <a:t>newNode</a:t>
            </a:r>
            <a:r>
              <a:rPr lang="en-US" sz="4000" i="1" dirty="0"/>
              <a:t>;</a:t>
            </a:r>
          </a:p>
          <a:p>
            <a:pPr marL="0" indent="0">
              <a:buNone/>
            </a:pPr>
            <a:r>
              <a:rPr lang="en-US" sz="4000" dirty="0"/>
              <a:t>8. </a:t>
            </a:r>
            <a:r>
              <a:rPr lang="en-US" sz="4000" dirty="0" smtClean="0"/>
              <a:t>End</a:t>
            </a:r>
            <a:endParaRPr lang="en-US" sz="4000" dirty="0"/>
          </a:p>
        </p:txBody>
      </p:sp>
      <p:sp>
        <p:nvSpPr>
          <p:cNvPr id="4" name="Title 1"/>
          <p:cNvSpPr>
            <a:spLocks noGrp="1"/>
          </p:cNvSpPr>
          <p:nvPr>
            <p:ph type="title"/>
          </p:nvPr>
        </p:nvSpPr>
        <p:spPr>
          <a:xfrm>
            <a:off x="685800" y="228600"/>
            <a:ext cx="10972800" cy="944562"/>
          </a:xfrm>
        </p:spPr>
        <p:style>
          <a:lnRef idx="3">
            <a:schemeClr val="lt1"/>
          </a:lnRef>
          <a:fillRef idx="1">
            <a:schemeClr val="accent5"/>
          </a:fillRef>
          <a:effectRef idx="1">
            <a:schemeClr val="accent5"/>
          </a:effectRef>
          <a:fontRef idx="minor">
            <a:schemeClr val="lt1"/>
          </a:fontRef>
        </p:style>
        <p:txBody>
          <a:bodyPr>
            <a:normAutofit/>
          </a:bodyPr>
          <a:lstStyle/>
          <a:p>
            <a:pPr algn="l"/>
            <a:r>
              <a:rPr lang="en-US" b="1" dirty="0"/>
              <a:t>Insert a node at the end of the linked list</a:t>
            </a:r>
          </a:p>
        </p:txBody>
      </p:sp>
    </p:spTree>
    <p:extLst>
      <p:ext uri="{BB962C8B-B14F-4D97-AF65-F5344CB8AC3E}">
        <p14:creationId xmlns:p14="http://schemas.microsoft.com/office/powerpoint/2010/main" val="382694844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838200" y="1752600"/>
            <a:ext cx="9906000" cy="4097482"/>
          </a:xfrm>
          <a:prstGeom prst="rect">
            <a:avLst/>
          </a:prstGeom>
        </p:spPr>
      </p:pic>
    </p:spTree>
    <p:extLst>
      <p:ext uri="{BB962C8B-B14F-4D97-AF65-F5344CB8AC3E}">
        <p14:creationId xmlns:p14="http://schemas.microsoft.com/office/powerpoint/2010/main" val="217290977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28600"/>
            <a:ext cx="10591800" cy="6324600"/>
          </a:xfrm>
        </p:spPr>
        <p:txBody>
          <a:bodyPr numCol="1">
            <a:normAutofit fontScale="55000" lnSpcReduction="20000"/>
          </a:bodyPr>
          <a:lstStyle/>
          <a:p>
            <a:pPr marL="0" indent="0">
              <a:buNone/>
            </a:pPr>
            <a:r>
              <a:rPr lang="en-US" sz="5100" b="1" dirty="0"/>
              <a:t>c function</a:t>
            </a:r>
          </a:p>
          <a:p>
            <a:pPr marL="0" indent="0">
              <a:buNone/>
            </a:pPr>
            <a:r>
              <a:rPr lang="en-US" sz="4200" dirty="0"/>
              <a:t>void </a:t>
            </a:r>
            <a:r>
              <a:rPr lang="en-US" sz="4200" dirty="0" err="1"/>
              <a:t>insertEnd</a:t>
            </a:r>
            <a:r>
              <a:rPr lang="en-US" sz="4200" dirty="0"/>
              <a:t>(</a:t>
            </a:r>
            <a:r>
              <a:rPr lang="en-US" sz="4200" dirty="0" err="1"/>
              <a:t>int</a:t>
            </a:r>
            <a:r>
              <a:rPr lang="en-US" sz="4200" dirty="0"/>
              <a:t> item</a:t>
            </a:r>
            <a:r>
              <a:rPr lang="en-US" sz="4200" dirty="0" smtClean="0"/>
              <a:t>){</a:t>
            </a:r>
            <a:endParaRPr lang="en-US" sz="4200" dirty="0"/>
          </a:p>
          <a:p>
            <a:pPr marL="0" indent="0">
              <a:buNone/>
            </a:pPr>
            <a:r>
              <a:rPr lang="en-US" sz="4200" dirty="0"/>
              <a:t>	</a:t>
            </a:r>
            <a:r>
              <a:rPr lang="en-US" sz="4200" dirty="0" smtClean="0"/>
              <a:t>	</a:t>
            </a:r>
            <a:r>
              <a:rPr lang="en-US" sz="4200" dirty="0" err="1" smtClean="0"/>
              <a:t>NodeType</a:t>
            </a:r>
            <a:r>
              <a:rPr lang="en-US" sz="4200" dirty="0" smtClean="0"/>
              <a:t> </a:t>
            </a:r>
            <a:r>
              <a:rPr lang="en-US" sz="4200" dirty="0"/>
              <a:t>*</a:t>
            </a:r>
            <a:r>
              <a:rPr lang="en-US" sz="4200" dirty="0" err="1"/>
              <a:t>newNode</a:t>
            </a:r>
            <a:r>
              <a:rPr lang="en-US" sz="4200" dirty="0"/>
              <a:t>;</a:t>
            </a:r>
          </a:p>
          <a:p>
            <a:pPr marL="0" indent="0">
              <a:buNone/>
            </a:pPr>
            <a:r>
              <a:rPr lang="en-US" sz="4200" dirty="0"/>
              <a:t> </a:t>
            </a:r>
            <a:r>
              <a:rPr lang="en-US" sz="4200" dirty="0" smtClean="0"/>
              <a:t>		</a:t>
            </a:r>
            <a:r>
              <a:rPr lang="en-US" sz="4200" dirty="0" err="1" smtClean="0"/>
              <a:t>newNode</a:t>
            </a:r>
            <a:r>
              <a:rPr lang="en-US" sz="4200" dirty="0" smtClean="0"/>
              <a:t>=</a:t>
            </a:r>
            <a:r>
              <a:rPr lang="en-US" sz="4200" dirty="0" err="1" smtClean="0"/>
              <a:t>getNode</a:t>
            </a:r>
            <a:r>
              <a:rPr lang="en-US" sz="4200" dirty="0"/>
              <a:t>(); </a:t>
            </a:r>
            <a:r>
              <a:rPr lang="en-US" sz="4200" dirty="0" smtClean="0"/>
              <a:t>			// </a:t>
            </a:r>
            <a:r>
              <a:rPr lang="en-US" sz="4200" dirty="0"/>
              <a:t>or </a:t>
            </a:r>
            <a:r>
              <a:rPr lang="en-US" sz="4200" dirty="0" err="1"/>
              <a:t>newNode</a:t>
            </a:r>
            <a:r>
              <a:rPr lang="en-US" sz="4200" dirty="0" smtClean="0"/>
              <a:t>=??</a:t>
            </a:r>
            <a:endParaRPr lang="en-US" sz="4200" dirty="0"/>
          </a:p>
          <a:p>
            <a:pPr marL="0" indent="0">
              <a:buNone/>
            </a:pPr>
            <a:r>
              <a:rPr lang="en-US" sz="4200" dirty="0"/>
              <a:t>	</a:t>
            </a:r>
            <a:r>
              <a:rPr lang="en-US" sz="4200" dirty="0" smtClean="0"/>
              <a:t>	</a:t>
            </a:r>
            <a:r>
              <a:rPr lang="en-US" sz="4200" dirty="0" err="1" smtClean="0"/>
              <a:t>newNode</a:t>
            </a:r>
            <a:r>
              <a:rPr lang="en-US" sz="4200" dirty="0" smtClean="0"/>
              <a:t>-</a:t>
            </a:r>
            <a:r>
              <a:rPr lang="en-US" sz="4200" dirty="0"/>
              <a:t>&gt;</a:t>
            </a:r>
            <a:r>
              <a:rPr lang="en-US" sz="4200" dirty="0" smtClean="0"/>
              <a:t>info=item;</a:t>
            </a:r>
          </a:p>
          <a:p>
            <a:pPr marL="0" indent="0">
              <a:buNone/>
            </a:pPr>
            <a:r>
              <a:rPr lang="en-US" sz="4200" dirty="0"/>
              <a:t>	</a:t>
            </a:r>
            <a:r>
              <a:rPr lang="en-US" sz="4200" dirty="0" smtClean="0"/>
              <a:t>	</a:t>
            </a:r>
            <a:r>
              <a:rPr lang="en-US" sz="4200" dirty="0" err="1" smtClean="0"/>
              <a:t>newNode</a:t>
            </a:r>
            <a:r>
              <a:rPr lang="en-US" sz="4200" dirty="0" smtClean="0"/>
              <a:t>-</a:t>
            </a:r>
            <a:r>
              <a:rPr lang="en-US" sz="4200" dirty="0"/>
              <a:t>&gt;next=NULL;</a:t>
            </a:r>
          </a:p>
          <a:p>
            <a:pPr marL="0" indent="0">
              <a:buNone/>
            </a:pPr>
            <a:r>
              <a:rPr lang="en-US" sz="4200" dirty="0"/>
              <a:t>  </a:t>
            </a:r>
            <a:r>
              <a:rPr lang="en-US" sz="4200" dirty="0" smtClean="0"/>
              <a:t>		if(head</a:t>
            </a:r>
            <a:r>
              <a:rPr lang="en-US" sz="4200" dirty="0"/>
              <a:t>==NULL</a:t>
            </a:r>
            <a:r>
              <a:rPr lang="en-US" sz="4200" dirty="0" smtClean="0"/>
              <a:t>) </a:t>
            </a:r>
            <a:r>
              <a:rPr lang="en-US" sz="4200" dirty="0"/>
              <a:t>{</a:t>
            </a:r>
          </a:p>
          <a:p>
            <a:pPr marL="0" indent="0">
              <a:buNone/>
            </a:pPr>
            <a:r>
              <a:rPr lang="en-US" sz="4200" dirty="0"/>
              <a:t>    </a:t>
            </a:r>
            <a:r>
              <a:rPr lang="en-US" sz="4200" dirty="0" smtClean="0"/>
              <a:t>			head=</a:t>
            </a:r>
            <a:r>
              <a:rPr lang="en-US" sz="4200" dirty="0" err="1" smtClean="0"/>
              <a:t>newNode</a:t>
            </a:r>
            <a:r>
              <a:rPr lang="en-US" sz="4200" dirty="0"/>
              <a:t>;</a:t>
            </a:r>
          </a:p>
          <a:p>
            <a:pPr marL="0" indent="0">
              <a:buNone/>
            </a:pPr>
            <a:r>
              <a:rPr lang="en-US" sz="4200" dirty="0"/>
              <a:t>  </a:t>
            </a:r>
            <a:r>
              <a:rPr lang="en-US" sz="4200" dirty="0" smtClean="0"/>
              <a:t>	}</a:t>
            </a:r>
            <a:endParaRPr lang="en-US" sz="4200" dirty="0"/>
          </a:p>
          <a:p>
            <a:pPr marL="0" indent="0">
              <a:buNone/>
            </a:pPr>
            <a:r>
              <a:rPr lang="en-US" sz="4200" dirty="0"/>
              <a:t> </a:t>
            </a:r>
            <a:r>
              <a:rPr lang="en-US" sz="4200" dirty="0" smtClean="0"/>
              <a:t>	else{ </a:t>
            </a:r>
          </a:p>
          <a:p>
            <a:pPr marL="0" indent="0">
              <a:buNone/>
            </a:pPr>
            <a:r>
              <a:rPr lang="en-US" sz="4200" dirty="0" smtClean="0"/>
              <a:t>        		temp=head</a:t>
            </a:r>
            <a:r>
              <a:rPr lang="en-US" sz="4200" dirty="0"/>
              <a:t>;</a:t>
            </a:r>
          </a:p>
          <a:p>
            <a:pPr marL="0" indent="0">
              <a:buNone/>
            </a:pPr>
            <a:r>
              <a:rPr lang="en-US" sz="4200" dirty="0"/>
              <a:t>   </a:t>
            </a:r>
            <a:r>
              <a:rPr lang="en-US" sz="4200" dirty="0" smtClean="0"/>
              <a:t>		 </a:t>
            </a:r>
            <a:r>
              <a:rPr lang="en-US" sz="4200" dirty="0"/>
              <a:t>while(temp-&gt;next!==NULL</a:t>
            </a:r>
            <a:r>
              <a:rPr lang="en-US" sz="4200" dirty="0" smtClean="0"/>
              <a:t>){</a:t>
            </a:r>
            <a:endParaRPr lang="en-US" sz="4200" dirty="0"/>
          </a:p>
          <a:p>
            <a:pPr marL="0" indent="0">
              <a:buNone/>
            </a:pPr>
            <a:r>
              <a:rPr lang="en-US" sz="4200" dirty="0"/>
              <a:t>       </a:t>
            </a:r>
            <a:r>
              <a:rPr lang="en-US" sz="4200" dirty="0" smtClean="0"/>
              <a:t>			temp=temp-</a:t>
            </a:r>
            <a:r>
              <a:rPr lang="en-US" sz="4200" dirty="0"/>
              <a:t>&gt;next;</a:t>
            </a:r>
          </a:p>
          <a:p>
            <a:pPr marL="0" indent="0">
              <a:buNone/>
            </a:pPr>
            <a:r>
              <a:rPr lang="en-US" sz="4200" dirty="0"/>
              <a:t>     </a:t>
            </a:r>
            <a:r>
              <a:rPr lang="en-US" sz="4200" dirty="0" smtClean="0"/>
              <a:t>			}</a:t>
            </a:r>
            <a:endParaRPr lang="en-US" sz="4200" dirty="0"/>
          </a:p>
          <a:p>
            <a:pPr marL="0" indent="0">
              <a:buNone/>
            </a:pPr>
            <a:r>
              <a:rPr lang="en-US" sz="4200" dirty="0"/>
              <a:t>    </a:t>
            </a:r>
            <a:r>
              <a:rPr lang="en-US" sz="4200" dirty="0" smtClean="0"/>
              <a:t>		temp-</a:t>
            </a:r>
            <a:r>
              <a:rPr lang="en-US" sz="4200" dirty="0"/>
              <a:t>&gt;next=</a:t>
            </a:r>
            <a:r>
              <a:rPr lang="en-US" sz="4200" dirty="0" err="1"/>
              <a:t>newNode</a:t>
            </a:r>
            <a:r>
              <a:rPr lang="en-US" sz="4200" dirty="0"/>
              <a:t>;</a:t>
            </a:r>
          </a:p>
          <a:p>
            <a:pPr marL="0" indent="0">
              <a:buNone/>
            </a:pPr>
            <a:r>
              <a:rPr lang="en-US" sz="4200" dirty="0" smtClean="0"/>
              <a:t>	}</a:t>
            </a:r>
            <a:endParaRPr lang="en-US" sz="4200" dirty="0"/>
          </a:p>
        </p:txBody>
      </p:sp>
    </p:spTree>
    <p:extLst>
      <p:ext uri="{BB962C8B-B14F-4D97-AF65-F5344CB8AC3E}">
        <p14:creationId xmlns:p14="http://schemas.microsoft.com/office/powerpoint/2010/main" val="396300450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143000"/>
            <a:ext cx="10668000" cy="5486400"/>
          </a:xfrm>
        </p:spPr>
        <p:txBody>
          <a:bodyPr>
            <a:normAutofit fontScale="85000" lnSpcReduction="20000"/>
          </a:bodyPr>
          <a:lstStyle/>
          <a:p>
            <a:pPr marL="0" indent="0">
              <a:buNone/>
            </a:pPr>
            <a:r>
              <a:rPr lang="en-US" dirty="0" smtClean="0"/>
              <a:t>let *head </a:t>
            </a:r>
            <a:r>
              <a:rPr lang="en-US" dirty="0"/>
              <a:t>be the pointer to first node in the current list</a:t>
            </a:r>
          </a:p>
          <a:p>
            <a:pPr marL="0" indent="0">
              <a:buNone/>
            </a:pPr>
            <a:r>
              <a:rPr lang="en-US" dirty="0"/>
              <a:t>1. Create a new </a:t>
            </a:r>
            <a:r>
              <a:rPr lang="en-US" dirty="0" smtClean="0"/>
              <a:t>node</a:t>
            </a:r>
            <a:r>
              <a:rPr lang="en-US" dirty="0"/>
              <a:t> </a:t>
            </a:r>
            <a:r>
              <a:rPr lang="en-US" b="1" i="1" dirty="0" err="1" smtClean="0"/>
              <a:t>newNode</a:t>
            </a:r>
            <a:r>
              <a:rPr lang="en-US" b="1" i="1" dirty="0" smtClean="0"/>
              <a:t> </a:t>
            </a:r>
            <a:r>
              <a:rPr lang="en-US" b="1" i="1" dirty="0"/>
              <a:t>=(</a:t>
            </a:r>
            <a:r>
              <a:rPr lang="en-US" b="1" i="1" dirty="0" err="1"/>
              <a:t>NodeType</a:t>
            </a:r>
            <a:r>
              <a:rPr lang="en-US" b="1" i="1" dirty="0"/>
              <a:t>*) </a:t>
            </a:r>
            <a:r>
              <a:rPr lang="en-US" b="1" i="1" dirty="0" err="1"/>
              <a:t>malloc</a:t>
            </a:r>
            <a:r>
              <a:rPr lang="en-US" b="1" i="1" dirty="0"/>
              <a:t>(</a:t>
            </a:r>
            <a:r>
              <a:rPr lang="en-US" b="1" i="1" dirty="0" err="1"/>
              <a:t>sizeof</a:t>
            </a:r>
            <a:r>
              <a:rPr lang="en-US" b="1" i="1" dirty="0"/>
              <a:t>(</a:t>
            </a:r>
            <a:r>
              <a:rPr lang="en-US" b="1" i="1" dirty="0" err="1"/>
              <a:t>NodeType</a:t>
            </a:r>
            <a:r>
              <a:rPr lang="en-US" b="1" i="1" dirty="0"/>
              <a:t>));</a:t>
            </a:r>
          </a:p>
          <a:p>
            <a:pPr marL="0" indent="0">
              <a:buNone/>
            </a:pPr>
            <a:r>
              <a:rPr lang="en-US" dirty="0"/>
              <a:t>2. Assign data in info </a:t>
            </a:r>
            <a:r>
              <a:rPr lang="en-US" dirty="0" smtClean="0"/>
              <a:t>field		</a:t>
            </a:r>
            <a:r>
              <a:rPr lang="en-US" b="1" i="1" dirty="0" err="1" smtClean="0"/>
              <a:t>newNode</a:t>
            </a:r>
            <a:r>
              <a:rPr lang="en-US" b="1" i="1" dirty="0" smtClean="0"/>
              <a:t>-</a:t>
            </a:r>
            <a:r>
              <a:rPr lang="en-US" b="1" i="1" dirty="0"/>
              <a:t>&gt;info=data;</a:t>
            </a:r>
          </a:p>
          <a:p>
            <a:pPr marL="0" indent="0">
              <a:buNone/>
            </a:pPr>
            <a:r>
              <a:rPr lang="en-US" dirty="0"/>
              <a:t>3. Enter the position of the node at </a:t>
            </a:r>
            <a:r>
              <a:rPr lang="en-US" dirty="0" err="1"/>
              <a:t>whcih</a:t>
            </a:r>
            <a:r>
              <a:rPr lang="en-US" dirty="0"/>
              <a:t> you want to insert a new node.</a:t>
            </a:r>
          </a:p>
          <a:p>
            <a:pPr marL="0" indent="0">
              <a:buNone/>
            </a:pPr>
            <a:r>
              <a:rPr lang="en-US" dirty="0"/>
              <a:t>   </a:t>
            </a:r>
            <a:r>
              <a:rPr lang="en-US" dirty="0" err="1"/>
              <a:t>postion</a:t>
            </a:r>
            <a:r>
              <a:rPr lang="en-US" dirty="0"/>
              <a:t> is </a:t>
            </a:r>
            <a:r>
              <a:rPr lang="en-US" dirty="0" err="1"/>
              <a:t>pos</a:t>
            </a:r>
            <a:r>
              <a:rPr lang="en-US" dirty="0"/>
              <a:t>;</a:t>
            </a:r>
          </a:p>
          <a:p>
            <a:pPr marL="0" indent="0">
              <a:buNone/>
            </a:pPr>
            <a:r>
              <a:rPr lang="en-US" dirty="0"/>
              <a:t>4. set </a:t>
            </a:r>
            <a:r>
              <a:rPr lang="en-US" i="1" dirty="0"/>
              <a:t>temp=head;</a:t>
            </a:r>
          </a:p>
          <a:p>
            <a:pPr marL="0" indent="0">
              <a:buNone/>
            </a:pPr>
            <a:r>
              <a:rPr lang="en-US" dirty="0"/>
              <a:t>5. </a:t>
            </a:r>
            <a:r>
              <a:rPr lang="en-US" i="1" dirty="0"/>
              <a:t>if(head==NULL) </a:t>
            </a:r>
            <a:r>
              <a:rPr lang="en-US" dirty="0"/>
              <a:t>then</a:t>
            </a:r>
          </a:p>
          <a:p>
            <a:pPr marL="0" indent="0">
              <a:buNone/>
            </a:pPr>
            <a:r>
              <a:rPr lang="en-US" dirty="0"/>
              <a:t>     insert and exit</a:t>
            </a:r>
          </a:p>
          <a:p>
            <a:pPr marL="0" indent="0">
              <a:buNone/>
            </a:pPr>
            <a:r>
              <a:rPr lang="en-US" dirty="0"/>
              <a:t>6. </a:t>
            </a:r>
            <a:r>
              <a:rPr lang="en-US" i="1" dirty="0"/>
              <a:t>for(</a:t>
            </a:r>
            <a:r>
              <a:rPr lang="en-US" i="1" dirty="0" err="1"/>
              <a:t>i</a:t>
            </a:r>
            <a:r>
              <a:rPr lang="en-US" i="1" dirty="0"/>
              <a:t>=1; </a:t>
            </a:r>
            <a:r>
              <a:rPr lang="en-US" i="1" dirty="0" err="1"/>
              <a:t>i</a:t>
            </a:r>
            <a:r>
              <a:rPr lang="en-US" i="1" dirty="0"/>
              <a:t>&lt;pos-1; </a:t>
            </a:r>
            <a:r>
              <a:rPr lang="en-US" i="1" dirty="0" err="1"/>
              <a:t>i</a:t>
            </a:r>
            <a:r>
              <a:rPr lang="en-US" i="1" dirty="0"/>
              <a:t>++)</a:t>
            </a:r>
          </a:p>
          <a:p>
            <a:pPr marL="0" indent="0">
              <a:buNone/>
            </a:pPr>
            <a:r>
              <a:rPr lang="en-US" dirty="0"/>
              <a:t>    </a:t>
            </a:r>
            <a:r>
              <a:rPr lang="en-US" dirty="0" smtClean="0"/>
              <a:t>	</a:t>
            </a:r>
            <a:r>
              <a:rPr lang="en-US" i="1" dirty="0" smtClean="0"/>
              <a:t>temp=temp-</a:t>
            </a:r>
            <a:r>
              <a:rPr lang="en-US" i="1" dirty="0"/>
              <a:t>&gt;next;</a:t>
            </a:r>
          </a:p>
          <a:p>
            <a:pPr marL="0" indent="0">
              <a:buNone/>
            </a:pPr>
            <a:r>
              <a:rPr lang="en-US" dirty="0"/>
              <a:t>7. set </a:t>
            </a:r>
            <a:r>
              <a:rPr lang="en-US" i="1" dirty="0" err="1"/>
              <a:t>newNode</a:t>
            </a:r>
            <a:r>
              <a:rPr lang="en-US" i="1" dirty="0"/>
              <a:t>-&gt;next=temp-&gt;next;</a:t>
            </a:r>
          </a:p>
          <a:p>
            <a:pPr marL="0" indent="0">
              <a:buNone/>
            </a:pPr>
            <a:r>
              <a:rPr lang="en-US" dirty="0"/>
              <a:t>    </a:t>
            </a:r>
            <a:r>
              <a:rPr lang="en-US" i="1" dirty="0"/>
              <a:t>set temp-&gt;next=</a:t>
            </a:r>
            <a:r>
              <a:rPr lang="en-US" i="1" dirty="0" err="1"/>
              <a:t>newNode</a:t>
            </a:r>
            <a:r>
              <a:rPr lang="en-US" i="1" dirty="0"/>
              <a:t>;</a:t>
            </a:r>
          </a:p>
          <a:p>
            <a:pPr marL="0" indent="0">
              <a:buNone/>
            </a:pPr>
            <a:r>
              <a:rPr lang="en-US" dirty="0"/>
              <a:t>8. end</a:t>
            </a:r>
          </a:p>
        </p:txBody>
      </p:sp>
      <p:sp>
        <p:nvSpPr>
          <p:cNvPr id="2" name="Rectangle 1"/>
          <p:cNvSpPr/>
          <p:nvPr/>
        </p:nvSpPr>
        <p:spPr>
          <a:xfrm>
            <a:off x="885370" y="391180"/>
            <a:ext cx="10392229" cy="523220"/>
          </a:xfrm>
          <a:prstGeom prst="rect">
            <a:avLst/>
          </a:prstGeom>
        </p:spPr>
        <p:style>
          <a:lnRef idx="3">
            <a:schemeClr val="lt1"/>
          </a:lnRef>
          <a:fillRef idx="1">
            <a:schemeClr val="accent5"/>
          </a:fillRef>
          <a:effectRef idx="1">
            <a:schemeClr val="accent5"/>
          </a:effectRef>
          <a:fontRef idx="minor">
            <a:schemeClr val="lt1"/>
          </a:fontRef>
        </p:style>
        <p:txBody>
          <a:bodyPr wrap="square">
            <a:spAutoFit/>
          </a:bodyPr>
          <a:lstStyle/>
          <a:p>
            <a:r>
              <a:rPr lang="en-US" sz="2800" b="1" dirty="0"/>
              <a:t>Algorithm to insert a node at specified position</a:t>
            </a:r>
          </a:p>
        </p:txBody>
      </p:sp>
    </p:spTree>
    <p:extLst>
      <p:ext uri="{BB962C8B-B14F-4D97-AF65-F5344CB8AC3E}">
        <p14:creationId xmlns:p14="http://schemas.microsoft.com/office/powerpoint/2010/main" val="73476797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5" name="Content Placeholder 4"/>
          <p:cNvSpPr>
            <a:spLocks noGrp="1"/>
          </p:cNvSpPr>
          <p:nvPr>
            <p:ph idx="1"/>
          </p:nvPr>
        </p:nvSpPr>
        <p:spPr/>
        <p:txBody>
          <a:bodyPr/>
          <a:lstStyle/>
          <a:p>
            <a:endParaRPr lang="en-US"/>
          </a:p>
        </p:txBody>
      </p:sp>
      <p:pic>
        <p:nvPicPr>
          <p:cNvPr id="6" name="Picture 5"/>
          <p:cNvPicPr>
            <a:picLocks noChangeAspect="1"/>
          </p:cNvPicPr>
          <p:nvPr/>
        </p:nvPicPr>
        <p:blipFill>
          <a:blip r:embed="rId2"/>
          <a:stretch>
            <a:fillRect/>
          </a:stretch>
        </p:blipFill>
        <p:spPr>
          <a:xfrm>
            <a:off x="1927516" y="1752600"/>
            <a:ext cx="8511884" cy="3505200"/>
          </a:xfrm>
          <a:prstGeom prst="rect">
            <a:avLst/>
          </a:prstGeom>
        </p:spPr>
      </p:pic>
    </p:spTree>
    <p:extLst>
      <p:ext uri="{BB962C8B-B14F-4D97-AF65-F5344CB8AC3E}">
        <p14:creationId xmlns:p14="http://schemas.microsoft.com/office/powerpoint/2010/main" val="96790020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914400"/>
            <a:ext cx="9296400" cy="5562600"/>
          </a:xfrm>
        </p:spPr>
        <p:txBody>
          <a:bodyPr>
            <a:normAutofit fontScale="62500" lnSpcReduction="20000"/>
          </a:bodyPr>
          <a:lstStyle/>
          <a:p>
            <a:pPr marL="0" indent="0">
              <a:buNone/>
            </a:pPr>
            <a:r>
              <a:rPr lang="en-US" dirty="0" smtClean="0"/>
              <a:t>void </a:t>
            </a:r>
            <a:r>
              <a:rPr lang="en-US" dirty="0" err="1"/>
              <a:t>inspos</a:t>
            </a:r>
            <a:r>
              <a:rPr lang="en-US" dirty="0"/>
              <a:t>(</a:t>
            </a:r>
            <a:r>
              <a:rPr lang="en-US" dirty="0" err="1"/>
              <a:t>int</a:t>
            </a:r>
            <a:r>
              <a:rPr lang="en-US" dirty="0"/>
              <a:t> item</a:t>
            </a:r>
            <a:r>
              <a:rPr lang="en-US" dirty="0" smtClean="0"/>
              <a:t>) </a:t>
            </a:r>
            <a:r>
              <a:rPr lang="en-US" dirty="0"/>
              <a:t>{</a:t>
            </a:r>
          </a:p>
          <a:p>
            <a:pPr marL="0" indent="0">
              <a:buNone/>
            </a:pPr>
            <a:r>
              <a:rPr lang="en-US" dirty="0"/>
              <a:t>  </a:t>
            </a:r>
            <a:r>
              <a:rPr lang="en-US" dirty="0" err="1"/>
              <a:t>NodeType</a:t>
            </a:r>
            <a:r>
              <a:rPr lang="en-US" dirty="0"/>
              <a:t> *</a:t>
            </a:r>
            <a:r>
              <a:rPr lang="en-US" dirty="0" err="1"/>
              <a:t>newNode</a:t>
            </a:r>
            <a:r>
              <a:rPr lang="en-US" dirty="0"/>
              <a:t>;</a:t>
            </a:r>
          </a:p>
          <a:p>
            <a:pPr marL="0" indent="0">
              <a:buNone/>
            </a:pPr>
            <a:r>
              <a:rPr lang="en-US" dirty="0"/>
              <a:t>  </a:t>
            </a:r>
            <a:r>
              <a:rPr lang="en-US" dirty="0" err="1"/>
              <a:t>int</a:t>
            </a:r>
            <a:r>
              <a:rPr lang="en-US" dirty="0"/>
              <a:t> </a:t>
            </a:r>
            <a:r>
              <a:rPr lang="en-US" dirty="0" err="1"/>
              <a:t>pos</a:t>
            </a:r>
            <a:r>
              <a:rPr lang="en-US" dirty="0"/>
              <a:t>, </a:t>
            </a:r>
            <a:r>
              <a:rPr lang="en-US" dirty="0" err="1"/>
              <a:t>i</a:t>
            </a:r>
            <a:r>
              <a:rPr lang="en-US" dirty="0"/>
              <a:t>;</a:t>
            </a:r>
          </a:p>
          <a:p>
            <a:pPr marL="0" indent="0">
              <a:buNone/>
            </a:pPr>
            <a:r>
              <a:rPr lang="en-US" dirty="0"/>
              <a:t>  </a:t>
            </a:r>
            <a:r>
              <a:rPr lang="en-US" dirty="0" err="1"/>
              <a:t>printf</a:t>
            </a:r>
            <a:r>
              <a:rPr lang="en-US" dirty="0"/>
              <a:t>("enter position:");</a:t>
            </a:r>
          </a:p>
          <a:p>
            <a:pPr marL="0" indent="0">
              <a:buNone/>
            </a:pPr>
            <a:r>
              <a:rPr lang="en-US" dirty="0"/>
              <a:t>  </a:t>
            </a:r>
            <a:r>
              <a:rPr lang="en-US" dirty="0" err="1"/>
              <a:t>scanf</a:t>
            </a:r>
            <a:r>
              <a:rPr lang="en-US" dirty="0"/>
              <a:t>("%d", </a:t>
            </a:r>
            <a:r>
              <a:rPr lang="en-US" dirty="0" err="1"/>
              <a:t>pos</a:t>
            </a:r>
            <a:r>
              <a:rPr lang="en-US" dirty="0"/>
              <a:t>);</a:t>
            </a:r>
          </a:p>
          <a:p>
            <a:pPr marL="0" indent="0">
              <a:buNone/>
            </a:pPr>
            <a:r>
              <a:rPr lang="en-US" dirty="0"/>
              <a:t>  if(head==NULL</a:t>
            </a:r>
            <a:r>
              <a:rPr lang="en-US" dirty="0" smtClean="0"/>
              <a:t>){</a:t>
            </a:r>
            <a:endParaRPr lang="en-US" dirty="0"/>
          </a:p>
          <a:p>
            <a:pPr marL="0" indent="0">
              <a:buNone/>
            </a:pPr>
            <a:r>
              <a:rPr lang="en-US" dirty="0"/>
              <a:t>   </a:t>
            </a:r>
            <a:r>
              <a:rPr lang="en-US" dirty="0" err="1"/>
              <a:t>printf</a:t>
            </a:r>
            <a:r>
              <a:rPr lang="en-US" dirty="0"/>
              <a:t>("\n can't insert in </a:t>
            </a:r>
            <a:r>
              <a:rPr lang="en-US" dirty="0" err="1"/>
              <a:t>pos</a:t>
            </a:r>
            <a:r>
              <a:rPr lang="en-US" dirty="0"/>
              <a:t>");</a:t>
            </a:r>
          </a:p>
          <a:p>
            <a:pPr marL="0" indent="0">
              <a:buNone/>
            </a:pPr>
            <a:r>
              <a:rPr lang="en-US" dirty="0"/>
              <a:t>   }</a:t>
            </a:r>
          </a:p>
          <a:p>
            <a:pPr marL="0" indent="0">
              <a:buNone/>
            </a:pPr>
            <a:r>
              <a:rPr lang="en-US" dirty="0"/>
              <a:t>  </a:t>
            </a:r>
            <a:r>
              <a:rPr lang="en-US" dirty="0" smtClean="0"/>
              <a:t>else{</a:t>
            </a:r>
            <a:endParaRPr lang="en-US" dirty="0"/>
          </a:p>
          <a:p>
            <a:pPr marL="0" indent="0">
              <a:buNone/>
            </a:pPr>
            <a:r>
              <a:rPr lang="en-US" dirty="0"/>
              <a:t>    temp=head;</a:t>
            </a:r>
          </a:p>
          <a:p>
            <a:pPr marL="0" indent="0">
              <a:buNone/>
            </a:pPr>
            <a:r>
              <a:rPr lang="en-US" dirty="0"/>
              <a:t>    for(</a:t>
            </a:r>
            <a:r>
              <a:rPr lang="en-US" dirty="0" err="1"/>
              <a:t>i</a:t>
            </a:r>
            <a:r>
              <a:rPr lang="en-US" dirty="0"/>
              <a:t>=0; </a:t>
            </a:r>
            <a:r>
              <a:rPr lang="en-US" dirty="0" err="1"/>
              <a:t>i</a:t>
            </a:r>
            <a:r>
              <a:rPr lang="en-US" dirty="0"/>
              <a:t>&lt;pos-1; </a:t>
            </a:r>
            <a:r>
              <a:rPr lang="en-US" dirty="0" err="1"/>
              <a:t>i</a:t>
            </a:r>
            <a:r>
              <a:rPr lang="en-US" dirty="0" smtClean="0"/>
              <a:t>++){</a:t>
            </a:r>
            <a:endParaRPr lang="en-US" dirty="0"/>
          </a:p>
          <a:p>
            <a:pPr marL="0" indent="0">
              <a:buNone/>
            </a:pPr>
            <a:r>
              <a:rPr lang="en-US" dirty="0"/>
              <a:t>        temp=temp-&gt;next;</a:t>
            </a:r>
          </a:p>
          <a:p>
            <a:pPr marL="0" indent="0">
              <a:buNone/>
            </a:pPr>
            <a:r>
              <a:rPr lang="en-US" dirty="0"/>
              <a:t>       }</a:t>
            </a:r>
          </a:p>
          <a:p>
            <a:pPr marL="0" indent="0">
              <a:buNone/>
            </a:pPr>
            <a:r>
              <a:rPr lang="en-US" dirty="0"/>
              <a:t>    </a:t>
            </a:r>
            <a:r>
              <a:rPr lang="en-US" dirty="0" err="1"/>
              <a:t>newNode</a:t>
            </a:r>
            <a:r>
              <a:rPr lang="en-US" dirty="0"/>
              <a:t>= ???</a:t>
            </a:r>
          </a:p>
          <a:p>
            <a:pPr marL="0" indent="0">
              <a:buNone/>
            </a:pPr>
            <a:r>
              <a:rPr lang="en-US" dirty="0"/>
              <a:t>    </a:t>
            </a:r>
            <a:r>
              <a:rPr lang="en-US" dirty="0" err="1"/>
              <a:t>newNode</a:t>
            </a:r>
            <a:r>
              <a:rPr lang="en-US" dirty="0"/>
              <a:t>-&gt;info=item;</a:t>
            </a:r>
          </a:p>
          <a:p>
            <a:pPr marL="0" indent="0">
              <a:buNone/>
            </a:pPr>
            <a:r>
              <a:rPr lang="en-US" dirty="0"/>
              <a:t>    </a:t>
            </a:r>
            <a:r>
              <a:rPr lang="en-US" dirty="0" err="1"/>
              <a:t>newNode</a:t>
            </a:r>
            <a:r>
              <a:rPr lang="en-US" dirty="0"/>
              <a:t>-&gt;next=temp-&gt;next;</a:t>
            </a:r>
          </a:p>
          <a:p>
            <a:pPr marL="0" indent="0">
              <a:buNone/>
            </a:pPr>
            <a:r>
              <a:rPr lang="en-US" dirty="0"/>
              <a:t>    temp-&gt;next=</a:t>
            </a:r>
            <a:r>
              <a:rPr lang="en-US" dirty="0" err="1"/>
              <a:t>newNode</a:t>
            </a:r>
            <a:r>
              <a:rPr lang="en-US" dirty="0"/>
              <a:t>;</a:t>
            </a:r>
          </a:p>
          <a:p>
            <a:pPr marL="0" indent="0">
              <a:buNone/>
            </a:pPr>
            <a:r>
              <a:rPr lang="en-US" dirty="0"/>
              <a:t>   </a:t>
            </a:r>
            <a:r>
              <a:rPr lang="en-US" dirty="0" smtClean="0"/>
              <a:t>}}</a:t>
            </a:r>
            <a:endParaRPr lang="en-US" dirty="0"/>
          </a:p>
        </p:txBody>
      </p:sp>
      <p:sp>
        <p:nvSpPr>
          <p:cNvPr id="2" name="Rectangle 1"/>
          <p:cNvSpPr/>
          <p:nvPr/>
        </p:nvSpPr>
        <p:spPr>
          <a:xfrm>
            <a:off x="533400" y="152400"/>
            <a:ext cx="10210800" cy="523220"/>
          </a:xfrm>
          <a:prstGeom prst="rect">
            <a:avLst/>
          </a:prstGeom>
        </p:spPr>
        <p:style>
          <a:lnRef idx="3">
            <a:schemeClr val="lt1"/>
          </a:lnRef>
          <a:fillRef idx="1">
            <a:schemeClr val="accent5"/>
          </a:fillRef>
          <a:effectRef idx="1">
            <a:schemeClr val="accent5"/>
          </a:effectRef>
          <a:fontRef idx="minor">
            <a:schemeClr val="lt1"/>
          </a:fontRef>
        </p:style>
        <p:txBody>
          <a:bodyPr wrap="square">
            <a:spAutoFit/>
          </a:bodyPr>
          <a:lstStyle/>
          <a:p>
            <a:r>
              <a:rPr lang="en-US" sz="2800" b="1" dirty="0"/>
              <a:t>C function insert a node at specified position</a:t>
            </a:r>
          </a:p>
        </p:txBody>
      </p:sp>
    </p:spTree>
    <p:extLst>
      <p:ext uri="{BB962C8B-B14F-4D97-AF65-F5344CB8AC3E}">
        <p14:creationId xmlns:p14="http://schemas.microsoft.com/office/powerpoint/2010/main" val="216307583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1447800"/>
            <a:ext cx="10668000" cy="4800600"/>
          </a:xfrm>
        </p:spPr>
        <p:txBody>
          <a:bodyPr>
            <a:normAutofit fontScale="92500" lnSpcReduction="20000"/>
          </a:bodyPr>
          <a:lstStyle/>
          <a:p>
            <a:pPr marL="400050" lvl="1" indent="0">
              <a:buNone/>
            </a:pPr>
            <a:r>
              <a:rPr lang="en-US" dirty="0" smtClean="0"/>
              <a:t>let </a:t>
            </a:r>
            <a:r>
              <a:rPr lang="en-US" dirty="0"/>
              <a:t>*head be the pointer t first node</a:t>
            </a:r>
          </a:p>
          <a:p>
            <a:pPr marL="400050" lvl="1" indent="0">
              <a:buNone/>
            </a:pPr>
            <a:r>
              <a:rPr lang="en-US" dirty="0"/>
              <a:t>*p be the pointer to the node</a:t>
            </a:r>
          </a:p>
          <a:p>
            <a:pPr marL="400050" lvl="1" indent="0">
              <a:buNone/>
            </a:pPr>
            <a:r>
              <a:rPr lang="en-US" dirty="0"/>
              <a:t>1. Create a node using </a:t>
            </a:r>
            <a:r>
              <a:rPr lang="en-US" dirty="0" err="1"/>
              <a:t>malloc</a:t>
            </a:r>
            <a:r>
              <a:rPr lang="en-US" dirty="0"/>
              <a:t> </a:t>
            </a:r>
          </a:p>
          <a:p>
            <a:pPr marL="400050" lvl="1" indent="0">
              <a:buNone/>
            </a:pPr>
            <a:r>
              <a:rPr lang="en-US" dirty="0"/>
              <a:t>   ???</a:t>
            </a:r>
          </a:p>
          <a:p>
            <a:pPr marL="400050" lvl="1" indent="0">
              <a:buNone/>
            </a:pPr>
            <a:r>
              <a:rPr lang="en-US" dirty="0"/>
              <a:t>2. Assign data to info</a:t>
            </a:r>
          </a:p>
          <a:p>
            <a:pPr marL="400050" lvl="1" indent="0">
              <a:buNone/>
            </a:pPr>
            <a:r>
              <a:rPr lang="en-US" dirty="0"/>
              <a:t>     ???</a:t>
            </a:r>
          </a:p>
          <a:p>
            <a:pPr marL="400050" lvl="1" indent="0">
              <a:buNone/>
            </a:pPr>
            <a:r>
              <a:rPr lang="en-US" dirty="0"/>
              <a:t>3. set next of new node to next of p</a:t>
            </a:r>
          </a:p>
          <a:p>
            <a:pPr marL="400050" lvl="1" indent="0">
              <a:buNone/>
            </a:pPr>
            <a:r>
              <a:rPr lang="en-US" dirty="0"/>
              <a:t>    </a:t>
            </a:r>
            <a:r>
              <a:rPr lang="en-US" dirty="0" err="1"/>
              <a:t>newNode</a:t>
            </a:r>
            <a:r>
              <a:rPr lang="en-US" dirty="0"/>
              <a:t>-&gt;next=p-&gt;next;</a:t>
            </a:r>
          </a:p>
          <a:p>
            <a:pPr marL="400050" lvl="1" indent="0">
              <a:buNone/>
            </a:pPr>
            <a:r>
              <a:rPr lang="en-US" dirty="0"/>
              <a:t>4. set next of p to </a:t>
            </a:r>
            <a:r>
              <a:rPr lang="en-US" dirty="0" err="1"/>
              <a:t>newNode</a:t>
            </a:r>
            <a:endParaRPr lang="en-US" dirty="0"/>
          </a:p>
          <a:p>
            <a:pPr marL="400050" lvl="1" indent="0">
              <a:buNone/>
            </a:pPr>
            <a:r>
              <a:rPr lang="en-US" dirty="0"/>
              <a:t>     p-&gt;next =</a:t>
            </a:r>
            <a:r>
              <a:rPr lang="en-US" dirty="0" err="1"/>
              <a:t>newNode</a:t>
            </a:r>
            <a:endParaRPr lang="en-US" dirty="0"/>
          </a:p>
          <a:p>
            <a:pPr marL="400050" lvl="1" indent="0">
              <a:buNone/>
            </a:pPr>
            <a:r>
              <a:rPr lang="en-US" dirty="0"/>
              <a:t>5. end</a:t>
            </a:r>
          </a:p>
        </p:txBody>
      </p:sp>
      <p:sp>
        <p:nvSpPr>
          <p:cNvPr id="2" name="Rectangle 1"/>
          <p:cNvSpPr/>
          <p:nvPr/>
        </p:nvSpPr>
        <p:spPr>
          <a:xfrm>
            <a:off x="533400" y="533400"/>
            <a:ext cx="9677400" cy="584775"/>
          </a:xfrm>
          <a:prstGeom prst="rect">
            <a:avLst/>
          </a:prstGeom>
        </p:spPr>
        <p:style>
          <a:lnRef idx="3">
            <a:schemeClr val="lt1"/>
          </a:lnRef>
          <a:fillRef idx="1">
            <a:schemeClr val="accent5"/>
          </a:fillRef>
          <a:effectRef idx="1">
            <a:schemeClr val="accent5"/>
          </a:effectRef>
          <a:fontRef idx="minor">
            <a:schemeClr val="lt1"/>
          </a:fontRef>
        </p:style>
        <p:txBody>
          <a:bodyPr wrap="square">
            <a:spAutoFit/>
          </a:bodyPr>
          <a:lstStyle/>
          <a:p>
            <a:r>
              <a:rPr lang="en-US" sz="3200" b="1" dirty="0"/>
              <a:t>Insert a node after the given node in SLL</a:t>
            </a:r>
          </a:p>
        </p:txBody>
      </p:sp>
    </p:spTree>
    <p:extLst>
      <p:ext uri="{BB962C8B-B14F-4D97-AF65-F5344CB8AC3E}">
        <p14:creationId xmlns:p14="http://schemas.microsoft.com/office/powerpoint/2010/main" val="219492045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1000"/>
            <a:ext cx="10058400" cy="5638800"/>
          </a:xfrm>
        </p:spPr>
        <p:txBody>
          <a:bodyPr>
            <a:normAutofit fontScale="62500" lnSpcReduction="20000"/>
          </a:bodyPr>
          <a:lstStyle/>
          <a:p>
            <a:pPr marL="0" indent="0">
              <a:buNone/>
            </a:pPr>
            <a:r>
              <a:rPr lang="en-US" sz="6700" b="1" dirty="0"/>
              <a:t>C function</a:t>
            </a:r>
          </a:p>
          <a:p>
            <a:pPr marL="0" indent="0">
              <a:buNone/>
            </a:pPr>
            <a:r>
              <a:rPr lang="en-US" dirty="0"/>
              <a:t>void </a:t>
            </a:r>
            <a:r>
              <a:rPr lang="en-US" dirty="0" err="1"/>
              <a:t>insAfter</a:t>
            </a:r>
            <a:r>
              <a:rPr lang="en-US" dirty="0"/>
              <a:t>(</a:t>
            </a:r>
            <a:r>
              <a:rPr lang="en-US" dirty="0" err="1"/>
              <a:t>NodeType</a:t>
            </a:r>
            <a:r>
              <a:rPr lang="en-US" dirty="0"/>
              <a:t> *p </a:t>
            </a:r>
            <a:r>
              <a:rPr lang="en-US" dirty="0" err="1"/>
              <a:t>int</a:t>
            </a:r>
            <a:r>
              <a:rPr lang="en-US" dirty="0"/>
              <a:t> item)</a:t>
            </a:r>
          </a:p>
          <a:p>
            <a:pPr marL="0" indent="0">
              <a:buNone/>
            </a:pPr>
            <a:r>
              <a:rPr lang="en-US" dirty="0"/>
              <a:t> {</a:t>
            </a:r>
          </a:p>
          <a:p>
            <a:pPr marL="0" indent="0">
              <a:buNone/>
            </a:pPr>
            <a:r>
              <a:rPr lang="en-US" dirty="0"/>
              <a:t>   </a:t>
            </a:r>
            <a:r>
              <a:rPr lang="en-US" dirty="0" err="1"/>
              <a:t>NodeType</a:t>
            </a:r>
            <a:r>
              <a:rPr lang="en-US" dirty="0"/>
              <a:t> *</a:t>
            </a:r>
            <a:r>
              <a:rPr lang="en-US" dirty="0" err="1"/>
              <a:t>newNode</a:t>
            </a:r>
            <a:r>
              <a:rPr lang="en-US" dirty="0"/>
              <a:t>;</a:t>
            </a:r>
          </a:p>
          <a:p>
            <a:pPr marL="0" indent="0">
              <a:buNone/>
            </a:pPr>
            <a:r>
              <a:rPr lang="en-US" dirty="0"/>
              <a:t>   </a:t>
            </a:r>
            <a:r>
              <a:rPr lang="en-US" dirty="0" err="1"/>
              <a:t>newNode</a:t>
            </a:r>
            <a:r>
              <a:rPr lang="en-US" dirty="0"/>
              <a:t>=(</a:t>
            </a:r>
            <a:r>
              <a:rPr lang="en-US" dirty="0" err="1"/>
              <a:t>NodeType</a:t>
            </a:r>
            <a:r>
              <a:rPr lang="en-US" dirty="0"/>
              <a:t>*)</a:t>
            </a:r>
            <a:r>
              <a:rPr lang="en-US" dirty="0" err="1"/>
              <a:t>malloc</a:t>
            </a:r>
            <a:r>
              <a:rPr lang="en-US" dirty="0"/>
              <a:t>(</a:t>
            </a:r>
            <a:r>
              <a:rPr lang="en-US" dirty="0" err="1"/>
              <a:t>sizeof</a:t>
            </a:r>
            <a:r>
              <a:rPr lang="en-US" dirty="0"/>
              <a:t>(</a:t>
            </a:r>
            <a:r>
              <a:rPr lang="en-US" dirty="0" err="1"/>
              <a:t>NodeType</a:t>
            </a:r>
            <a:r>
              <a:rPr lang="en-US" dirty="0"/>
              <a:t>*));</a:t>
            </a:r>
          </a:p>
          <a:p>
            <a:pPr marL="0" indent="0">
              <a:buNone/>
            </a:pPr>
            <a:r>
              <a:rPr lang="en-US" dirty="0"/>
              <a:t>   </a:t>
            </a:r>
            <a:r>
              <a:rPr lang="en-US" dirty="0" err="1"/>
              <a:t>newNode</a:t>
            </a:r>
            <a:r>
              <a:rPr lang="en-US" dirty="0"/>
              <a:t>-&gt;info=data;</a:t>
            </a:r>
          </a:p>
          <a:p>
            <a:pPr marL="0" indent="0">
              <a:buNone/>
            </a:pPr>
            <a:r>
              <a:rPr lang="en-US" dirty="0"/>
              <a:t>   if(p==NULL)</a:t>
            </a:r>
          </a:p>
          <a:p>
            <a:pPr marL="0" indent="0">
              <a:buNone/>
            </a:pPr>
            <a:r>
              <a:rPr lang="en-US" dirty="0"/>
              <a:t>   {</a:t>
            </a:r>
          </a:p>
          <a:p>
            <a:pPr marL="0" indent="0">
              <a:buNone/>
            </a:pPr>
            <a:r>
              <a:rPr lang="en-US" dirty="0"/>
              <a:t>     </a:t>
            </a:r>
            <a:r>
              <a:rPr lang="en-US" dirty="0" err="1"/>
              <a:t>printf</a:t>
            </a:r>
            <a:r>
              <a:rPr lang="en-US" dirty="0"/>
              <a:t>("can't insert");</a:t>
            </a:r>
          </a:p>
          <a:p>
            <a:pPr marL="0" indent="0">
              <a:buNone/>
            </a:pPr>
            <a:r>
              <a:rPr lang="en-US" dirty="0"/>
              <a:t>    }</a:t>
            </a:r>
          </a:p>
          <a:p>
            <a:pPr marL="0" indent="0">
              <a:buNone/>
            </a:pPr>
            <a:r>
              <a:rPr lang="en-US" dirty="0"/>
              <a:t>   else</a:t>
            </a:r>
          </a:p>
          <a:p>
            <a:pPr marL="0" indent="0">
              <a:buNone/>
            </a:pPr>
            <a:r>
              <a:rPr lang="en-US" dirty="0"/>
              <a:t>   {</a:t>
            </a:r>
          </a:p>
          <a:p>
            <a:pPr marL="0" indent="0">
              <a:buNone/>
            </a:pPr>
            <a:r>
              <a:rPr lang="en-US" dirty="0"/>
              <a:t>    </a:t>
            </a:r>
            <a:r>
              <a:rPr lang="en-US" dirty="0" err="1"/>
              <a:t>newNode</a:t>
            </a:r>
            <a:r>
              <a:rPr lang="en-US" dirty="0"/>
              <a:t>-&gt;next=p-&gt;next;</a:t>
            </a:r>
          </a:p>
          <a:p>
            <a:pPr marL="0" indent="0">
              <a:buNone/>
            </a:pPr>
            <a:r>
              <a:rPr lang="en-US" dirty="0"/>
              <a:t>     p-&gt;next=</a:t>
            </a:r>
            <a:r>
              <a:rPr lang="en-US" dirty="0" err="1"/>
              <a:t>newNode</a:t>
            </a:r>
            <a:r>
              <a:rPr lang="en-US" dirty="0"/>
              <a:t>;</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417127578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sz="4400" dirty="0"/>
              <a:t>Delete Nodes:</a:t>
            </a:r>
            <a:endParaRPr lang="en-US" dirty="0"/>
          </a:p>
          <a:p>
            <a:pPr marL="0" indent="0">
              <a:buNone/>
            </a:pPr>
            <a:r>
              <a:rPr lang="en-US" dirty="0"/>
              <a:t> a) from the beginning of the SLL</a:t>
            </a:r>
          </a:p>
          <a:p>
            <a:pPr marL="0" indent="0">
              <a:buNone/>
            </a:pPr>
            <a:r>
              <a:rPr lang="en-US" dirty="0"/>
              <a:t> b) form the end of the SLL</a:t>
            </a:r>
          </a:p>
          <a:p>
            <a:pPr marL="0" indent="0">
              <a:buNone/>
            </a:pPr>
            <a:r>
              <a:rPr lang="en-US" dirty="0"/>
              <a:t> c) form </a:t>
            </a:r>
            <a:r>
              <a:rPr lang="en-US" dirty="0" err="1"/>
              <a:t>specifiec</a:t>
            </a:r>
            <a:r>
              <a:rPr lang="en-US" dirty="0"/>
              <a:t> position in a SLL</a:t>
            </a:r>
          </a:p>
        </p:txBody>
      </p:sp>
    </p:spTree>
    <p:extLst>
      <p:ext uri="{BB962C8B-B14F-4D97-AF65-F5344CB8AC3E}">
        <p14:creationId xmlns:p14="http://schemas.microsoft.com/office/powerpoint/2010/main" val="92939112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Delete form the beginning</a:t>
            </a:r>
          </a:p>
        </p:txBody>
      </p:sp>
      <p:sp>
        <p:nvSpPr>
          <p:cNvPr id="3" name="Content Placeholder 2"/>
          <p:cNvSpPr>
            <a:spLocks noGrp="1"/>
          </p:cNvSpPr>
          <p:nvPr>
            <p:ph idx="1"/>
          </p:nvPr>
        </p:nvSpPr>
        <p:spPr>
          <a:xfrm>
            <a:off x="1981200" y="1219200"/>
            <a:ext cx="8229600" cy="5410200"/>
          </a:xfrm>
        </p:spPr>
        <p:txBody>
          <a:bodyPr>
            <a:normAutofit fontScale="92500" lnSpcReduction="20000"/>
          </a:bodyPr>
          <a:lstStyle/>
          <a:p>
            <a:pPr marL="0" indent="0">
              <a:buNone/>
            </a:pPr>
            <a:r>
              <a:rPr lang="en-US" dirty="0" smtClean="0"/>
              <a:t>let </a:t>
            </a:r>
            <a:r>
              <a:rPr lang="en-US" dirty="0"/>
              <a:t>*head be the pointer to delete the first node of SLL</a:t>
            </a:r>
          </a:p>
          <a:p>
            <a:pPr marL="0" indent="0">
              <a:buNone/>
            </a:pPr>
            <a:r>
              <a:rPr lang="en-US" dirty="0"/>
              <a:t>1. if (head==NULL) then</a:t>
            </a:r>
          </a:p>
          <a:p>
            <a:pPr marL="0" indent="0">
              <a:buNone/>
            </a:pPr>
            <a:r>
              <a:rPr lang="en-US" dirty="0"/>
              <a:t>     </a:t>
            </a:r>
            <a:r>
              <a:rPr lang="en-US" dirty="0" err="1"/>
              <a:t>printf</a:t>
            </a:r>
            <a:r>
              <a:rPr lang="en-US" dirty="0"/>
              <a:t> can't delete</a:t>
            </a:r>
          </a:p>
          <a:p>
            <a:pPr marL="0" indent="0">
              <a:buNone/>
            </a:pPr>
            <a:r>
              <a:rPr lang="en-US" dirty="0"/>
              <a:t>2. store address of first node in a temporary variable</a:t>
            </a:r>
          </a:p>
          <a:p>
            <a:pPr marL="0" indent="0">
              <a:buNone/>
            </a:pPr>
            <a:r>
              <a:rPr lang="en-US" dirty="0"/>
              <a:t>    temp=head;</a:t>
            </a:r>
          </a:p>
          <a:p>
            <a:pPr marL="0" indent="0">
              <a:buNone/>
            </a:pPr>
            <a:r>
              <a:rPr lang="en-US" dirty="0"/>
              <a:t>3.set head to next of head</a:t>
            </a:r>
          </a:p>
          <a:p>
            <a:pPr marL="0" indent="0">
              <a:buNone/>
            </a:pPr>
            <a:r>
              <a:rPr lang="en-US" dirty="0"/>
              <a:t>    head=head-&gt;next;</a:t>
            </a:r>
          </a:p>
          <a:p>
            <a:pPr marL="0" indent="0">
              <a:buNone/>
            </a:pPr>
            <a:r>
              <a:rPr lang="en-US" dirty="0"/>
              <a:t>4. free temp</a:t>
            </a:r>
          </a:p>
          <a:p>
            <a:pPr marL="0" indent="0">
              <a:buNone/>
            </a:pPr>
            <a:r>
              <a:rPr lang="en-US" dirty="0"/>
              <a:t>    free(temp);</a:t>
            </a:r>
          </a:p>
          <a:p>
            <a:pPr marL="0" indent="0">
              <a:buNone/>
            </a:pPr>
            <a:r>
              <a:rPr lang="en-US" dirty="0"/>
              <a:t>5. end</a:t>
            </a:r>
          </a:p>
        </p:txBody>
      </p:sp>
    </p:spTree>
    <p:extLst>
      <p:ext uri="{BB962C8B-B14F-4D97-AF65-F5344CB8AC3E}">
        <p14:creationId xmlns:p14="http://schemas.microsoft.com/office/powerpoint/2010/main" val="325085183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2057400" y="1676401"/>
            <a:ext cx="8229600" cy="3077369"/>
          </a:xfrm>
          <a:prstGeom prst="rect">
            <a:avLst/>
          </a:prstGeom>
        </p:spPr>
      </p:pic>
    </p:spTree>
    <p:extLst>
      <p:ext uri="{BB962C8B-B14F-4D97-AF65-F5344CB8AC3E}">
        <p14:creationId xmlns:p14="http://schemas.microsoft.com/office/powerpoint/2010/main" val="314805238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457200"/>
            <a:ext cx="8229600" cy="6172200"/>
          </a:xfrm>
        </p:spPr>
        <p:txBody>
          <a:bodyPr>
            <a:normAutofit fontScale="85000" lnSpcReduction="20000"/>
          </a:bodyPr>
          <a:lstStyle/>
          <a:p>
            <a:pPr marL="0" indent="0">
              <a:buNone/>
            </a:pPr>
            <a:r>
              <a:rPr lang="en-US" sz="4200" b="1" dirty="0"/>
              <a:t>C function</a:t>
            </a:r>
          </a:p>
          <a:p>
            <a:pPr marL="0" indent="0">
              <a:buNone/>
            </a:pPr>
            <a:r>
              <a:rPr lang="en-US" dirty="0"/>
              <a:t>void </a:t>
            </a:r>
            <a:r>
              <a:rPr lang="en-US" dirty="0" err="1"/>
              <a:t>delFirst</a:t>
            </a:r>
            <a:r>
              <a:rPr lang="en-US" dirty="0"/>
              <a:t>()</a:t>
            </a:r>
          </a:p>
          <a:p>
            <a:pPr marL="0" indent="0">
              <a:buNone/>
            </a:pPr>
            <a:r>
              <a:rPr lang="en-US" dirty="0"/>
              <a:t> {</a:t>
            </a:r>
          </a:p>
          <a:p>
            <a:pPr marL="0" indent="0">
              <a:buNone/>
            </a:pPr>
            <a:r>
              <a:rPr lang="en-US" dirty="0"/>
              <a:t>   </a:t>
            </a:r>
            <a:r>
              <a:rPr lang="en-US" dirty="0" err="1"/>
              <a:t>NodeType</a:t>
            </a:r>
            <a:r>
              <a:rPr lang="en-US" dirty="0"/>
              <a:t> *temp;</a:t>
            </a:r>
          </a:p>
          <a:p>
            <a:pPr marL="0" indent="0">
              <a:buNone/>
            </a:pPr>
            <a:r>
              <a:rPr lang="en-US" dirty="0"/>
              <a:t>   if(head==NULL)</a:t>
            </a:r>
          </a:p>
          <a:p>
            <a:pPr marL="0" indent="0">
              <a:buNone/>
            </a:pPr>
            <a:r>
              <a:rPr lang="en-US" dirty="0"/>
              <a:t>    </a:t>
            </a:r>
            <a:r>
              <a:rPr lang="en-US" dirty="0" err="1"/>
              <a:t>printf</a:t>
            </a:r>
            <a:r>
              <a:rPr lang="en-US" dirty="0"/>
              <a:t>("empty can't delete");</a:t>
            </a:r>
          </a:p>
          <a:p>
            <a:pPr marL="0" indent="0">
              <a:buNone/>
            </a:pPr>
            <a:r>
              <a:rPr lang="en-US" dirty="0"/>
              <a:t>   else</a:t>
            </a:r>
          </a:p>
          <a:p>
            <a:pPr marL="0" indent="0">
              <a:buNone/>
            </a:pPr>
            <a:r>
              <a:rPr lang="en-US" dirty="0"/>
              <a:t>    {</a:t>
            </a:r>
          </a:p>
          <a:p>
            <a:pPr marL="0" indent="0">
              <a:buNone/>
            </a:pPr>
            <a:r>
              <a:rPr lang="en-US" dirty="0"/>
              <a:t>      temp=head;</a:t>
            </a:r>
          </a:p>
          <a:p>
            <a:pPr marL="0" indent="0">
              <a:buNone/>
            </a:pPr>
            <a:r>
              <a:rPr lang="en-US" dirty="0"/>
              <a:t>      </a:t>
            </a:r>
            <a:r>
              <a:rPr lang="en-US" dirty="0" err="1"/>
              <a:t>printf</a:t>
            </a:r>
            <a:r>
              <a:rPr lang="en-US" dirty="0"/>
              <a:t>("\n </a:t>
            </a:r>
            <a:r>
              <a:rPr lang="en-US" dirty="0" err="1"/>
              <a:t>deleated</a:t>
            </a:r>
            <a:r>
              <a:rPr lang="en-US" dirty="0"/>
              <a:t> node is:%d", head-&gt;info);</a:t>
            </a:r>
          </a:p>
          <a:p>
            <a:pPr marL="0" indent="0">
              <a:buNone/>
            </a:pPr>
            <a:r>
              <a:rPr lang="en-US" dirty="0"/>
              <a:t>      head=head-&gt;next;</a:t>
            </a:r>
          </a:p>
          <a:p>
            <a:pPr marL="0" indent="0">
              <a:buNone/>
            </a:pPr>
            <a:r>
              <a:rPr lang="en-US" dirty="0"/>
              <a:t>      free(temp);</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36774056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52400"/>
            <a:ext cx="8229600" cy="6553200"/>
          </a:xfrm>
        </p:spPr>
        <p:txBody>
          <a:bodyPr>
            <a:normAutofit fontScale="77500" lnSpcReduction="20000"/>
          </a:bodyPr>
          <a:lstStyle/>
          <a:p>
            <a:pPr marL="0" indent="0">
              <a:buNone/>
            </a:pPr>
            <a:r>
              <a:rPr lang="en-US" sz="4100" b="1" dirty="0"/>
              <a:t>Delete last node of the linked list</a:t>
            </a:r>
          </a:p>
          <a:p>
            <a:pPr marL="0" indent="0">
              <a:buNone/>
            </a:pPr>
            <a:r>
              <a:rPr lang="en-US" dirty="0"/>
              <a:t>let *head be the pointer to first node in the current list</a:t>
            </a:r>
          </a:p>
          <a:p>
            <a:pPr marL="0" indent="0">
              <a:buNone/>
            </a:pPr>
            <a:r>
              <a:rPr lang="en-US" dirty="0"/>
              <a:t>1. if(head==NULL) </a:t>
            </a:r>
          </a:p>
          <a:p>
            <a:pPr marL="0" indent="0">
              <a:buNone/>
            </a:pPr>
            <a:r>
              <a:rPr lang="en-US" dirty="0"/>
              <a:t>    </a:t>
            </a:r>
            <a:r>
              <a:rPr lang="en-US" dirty="0" smtClean="0"/>
              <a:t>	then </a:t>
            </a:r>
            <a:r>
              <a:rPr lang="en-US" dirty="0"/>
              <a:t>can't delete items</a:t>
            </a:r>
          </a:p>
          <a:p>
            <a:pPr marL="0" indent="0">
              <a:buNone/>
            </a:pPr>
            <a:r>
              <a:rPr lang="en-US" dirty="0"/>
              <a:t>2. else if(head-&gt;next ==NULL)</a:t>
            </a:r>
          </a:p>
          <a:p>
            <a:pPr marL="0" indent="0">
              <a:buNone/>
            </a:pPr>
            <a:r>
              <a:rPr lang="en-US" dirty="0"/>
              <a:t>   </a:t>
            </a:r>
            <a:r>
              <a:rPr lang="en-US" dirty="0" smtClean="0"/>
              <a:t>	set </a:t>
            </a:r>
            <a:r>
              <a:rPr lang="en-US" dirty="0"/>
              <a:t>temp=head;</a:t>
            </a:r>
          </a:p>
          <a:p>
            <a:pPr marL="0" indent="0">
              <a:buNone/>
            </a:pPr>
            <a:r>
              <a:rPr lang="en-US" dirty="0"/>
              <a:t>   </a:t>
            </a:r>
            <a:r>
              <a:rPr lang="en-US" dirty="0" smtClean="0"/>
              <a:t>	display </a:t>
            </a:r>
            <a:r>
              <a:rPr lang="en-US" dirty="0"/>
              <a:t>deleted item head-&gt;info</a:t>
            </a:r>
          </a:p>
          <a:p>
            <a:pPr marL="0" indent="0">
              <a:buNone/>
            </a:pPr>
            <a:r>
              <a:rPr lang="en-US" dirty="0"/>
              <a:t>   </a:t>
            </a:r>
            <a:r>
              <a:rPr lang="en-US" dirty="0" smtClean="0"/>
              <a:t>	then </a:t>
            </a:r>
            <a:r>
              <a:rPr lang="en-US" dirty="0"/>
              <a:t>head=NULL;</a:t>
            </a:r>
          </a:p>
          <a:p>
            <a:pPr marL="0" indent="0">
              <a:buNone/>
            </a:pPr>
            <a:r>
              <a:rPr lang="en-US" dirty="0"/>
              <a:t>   </a:t>
            </a:r>
            <a:r>
              <a:rPr lang="en-US" dirty="0" smtClean="0"/>
              <a:t>	free(temp</a:t>
            </a:r>
            <a:r>
              <a:rPr lang="en-US" dirty="0"/>
              <a:t>);</a:t>
            </a:r>
          </a:p>
          <a:p>
            <a:pPr marL="0" indent="0">
              <a:buNone/>
            </a:pPr>
            <a:r>
              <a:rPr lang="en-US" dirty="0"/>
              <a:t>3. else</a:t>
            </a:r>
          </a:p>
          <a:p>
            <a:pPr marL="0" indent="0">
              <a:buNone/>
            </a:pPr>
            <a:r>
              <a:rPr lang="en-US" dirty="0"/>
              <a:t>    </a:t>
            </a:r>
            <a:r>
              <a:rPr lang="en-US" dirty="0" smtClean="0"/>
              <a:t>	set </a:t>
            </a:r>
            <a:r>
              <a:rPr lang="en-US" dirty="0"/>
              <a:t>temp=head;</a:t>
            </a:r>
          </a:p>
          <a:p>
            <a:pPr marL="0" indent="0">
              <a:buNone/>
            </a:pPr>
            <a:r>
              <a:rPr lang="en-US" dirty="0"/>
              <a:t>   </a:t>
            </a:r>
            <a:r>
              <a:rPr lang="en-US" dirty="0" smtClean="0"/>
              <a:t>	while(temp-</a:t>
            </a:r>
            <a:r>
              <a:rPr lang="en-US" dirty="0"/>
              <a:t>&gt;next-&gt;next!=NULL)</a:t>
            </a:r>
          </a:p>
          <a:p>
            <a:pPr marL="0" indent="0">
              <a:buNone/>
            </a:pPr>
            <a:r>
              <a:rPr lang="en-US" dirty="0"/>
              <a:t>      </a:t>
            </a:r>
            <a:r>
              <a:rPr lang="en-US" dirty="0" smtClean="0"/>
              <a:t>		set </a:t>
            </a:r>
            <a:r>
              <a:rPr lang="en-US" dirty="0"/>
              <a:t>temp=temp-&gt;next;</a:t>
            </a:r>
          </a:p>
          <a:p>
            <a:pPr marL="0" indent="0">
              <a:buNone/>
            </a:pPr>
            <a:r>
              <a:rPr lang="en-US" dirty="0"/>
              <a:t> </a:t>
            </a:r>
            <a:r>
              <a:rPr lang="en-US" dirty="0" smtClean="0"/>
              <a:t>	free(temp-</a:t>
            </a:r>
            <a:r>
              <a:rPr lang="en-US" dirty="0"/>
              <a:t>&gt;next);</a:t>
            </a:r>
          </a:p>
          <a:p>
            <a:pPr marL="0" indent="0">
              <a:buNone/>
            </a:pPr>
            <a:r>
              <a:rPr lang="en-US" dirty="0"/>
              <a:t>  </a:t>
            </a:r>
            <a:r>
              <a:rPr lang="en-US" dirty="0" smtClean="0"/>
              <a:t>	set </a:t>
            </a:r>
            <a:r>
              <a:rPr lang="en-US" dirty="0"/>
              <a:t>temp-&gt;next=NULL;</a:t>
            </a:r>
          </a:p>
          <a:p>
            <a:pPr marL="0" indent="0">
              <a:buNone/>
            </a:pPr>
            <a:r>
              <a:rPr lang="en-US" dirty="0"/>
              <a:t>4. end</a:t>
            </a:r>
          </a:p>
        </p:txBody>
      </p:sp>
    </p:spTree>
    <p:extLst>
      <p:ext uri="{BB962C8B-B14F-4D97-AF65-F5344CB8AC3E}">
        <p14:creationId xmlns:p14="http://schemas.microsoft.com/office/powerpoint/2010/main" val="187530026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8800" y="228600"/>
            <a:ext cx="8382000" cy="6400800"/>
          </a:xfrm>
        </p:spPr>
        <p:txBody>
          <a:bodyPr>
            <a:normAutofit fontScale="70000" lnSpcReduction="20000"/>
          </a:bodyPr>
          <a:lstStyle/>
          <a:p>
            <a:pPr marL="0" indent="0">
              <a:buNone/>
            </a:pPr>
            <a:r>
              <a:rPr lang="en-US" sz="5900" b="1" dirty="0"/>
              <a:t>C function to delete the last node of the SLL</a:t>
            </a:r>
          </a:p>
          <a:p>
            <a:pPr marL="0" indent="0">
              <a:buNone/>
            </a:pPr>
            <a:r>
              <a:rPr lang="en-US" dirty="0"/>
              <a:t>*head be the pointer to first node in the current list</a:t>
            </a:r>
          </a:p>
          <a:p>
            <a:pPr marL="0" indent="0">
              <a:buNone/>
            </a:pPr>
            <a:r>
              <a:rPr lang="en-US" dirty="0"/>
              <a:t>void </a:t>
            </a:r>
            <a:r>
              <a:rPr lang="en-US" dirty="0" err="1"/>
              <a:t>del_last</a:t>
            </a:r>
            <a:r>
              <a:rPr lang="en-US" dirty="0"/>
              <a:t>()</a:t>
            </a:r>
          </a:p>
          <a:p>
            <a:pPr marL="0" indent="0">
              <a:buNone/>
            </a:pPr>
            <a:r>
              <a:rPr lang="en-US" dirty="0"/>
              <a:t>{</a:t>
            </a:r>
          </a:p>
          <a:p>
            <a:pPr marL="0" indent="0">
              <a:buNone/>
            </a:pPr>
            <a:r>
              <a:rPr lang="en-US" dirty="0"/>
              <a:t>  </a:t>
            </a:r>
            <a:r>
              <a:rPr lang="en-US" dirty="0" err="1"/>
              <a:t>NodeType</a:t>
            </a:r>
            <a:r>
              <a:rPr lang="en-US" dirty="0"/>
              <a:t> *temp;</a:t>
            </a:r>
          </a:p>
          <a:p>
            <a:pPr marL="0" indent="0">
              <a:buNone/>
            </a:pPr>
            <a:r>
              <a:rPr lang="en-US" dirty="0"/>
              <a:t>  if(head==NULL)</a:t>
            </a:r>
          </a:p>
          <a:p>
            <a:pPr marL="0" indent="0">
              <a:buNone/>
            </a:pPr>
            <a:r>
              <a:rPr lang="en-US" dirty="0"/>
              <a:t>   {</a:t>
            </a:r>
          </a:p>
          <a:p>
            <a:pPr marL="0" indent="0">
              <a:buNone/>
            </a:pPr>
            <a:r>
              <a:rPr lang="en-US" dirty="0"/>
              <a:t>     </a:t>
            </a:r>
            <a:r>
              <a:rPr lang="en-US" dirty="0" err="1"/>
              <a:t>printf</a:t>
            </a:r>
            <a:r>
              <a:rPr lang="en-US" dirty="0"/>
              <a:t>("\n can't delete item:");</a:t>
            </a:r>
          </a:p>
          <a:p>
            <a:pPr marL="0" indent="0">
              <a:buNone/>
            </a:pPr>
            <a:r>
              <a:rPr lang="en-US" dirty="0"/>
              <a:t>   }</a:t>
            </a:r>
          </a:p>
          <a:p>
            <a:pPr marL="0" indent="0">
              <a:buNone/>
            </a:pPr>
            <a:r>
              <a:rPr lang="en-US" dirty="0"/>
              <a:t>   else if(head-&gt;next==NULL)</a:t>
            </a:r>
          </a:p>
          <a:p>
            <a:pPr marL="0" indent="0">
              <a:buNone/>
            </a:pPr>
            <a:r>
              <a:rPr lang="en-US" dirty="0"/>
              <a:t>    {</a:t>
            </a:r>
          </a:p>
          <a:p>
            <a:pPr marL="0" indent="0">
              <a:buNone/>
            </a:pPr>
            <a:r>
              <a:rPr lang="en-US" dirty="0"/>
              <a:t>      temp=head;</a:t>
            </a:r>
          </a:p>
          <a:p>
            <a:pPr marL="0" indent="0">
              <a:buNone/>
            </a:pPr>
            <a:r>
              <a:rPr lang="en-US" dirty="0"/>
              <a:t>      head=NULL;</a:t>
            </a:r>
          </a:p>
          <a:p>
            <a:pPr marL="0" indent="0">
              <a:buNone/>
            </a:pPr>
            <a:r>
              <a:rPr lang="en-US" dirty="0"/>
              <a:t>      </a:t>
            </a:r>
            <a:r>
              <a:rPr lang="en-US" dirty="0" err="1"/>
              <a:t>printf</a:t>
            </a:r>
            <a:r>
              <a:rPr lang="en-US" dirty="0"/>
              <a:t>("\n %d is deleted node", temp-&gt;info);</a:t>
            </a:r>
          </a:p>
          <a:p>
            <a:pPr marL="0" indent="0">
              <a:buNone/>
            </a:pPr>
            <a:r>
              <a:rPr lang="en-US" dirty="0"/>
              <a:t>      free(temp);</a:t>
            </a:r>
          </a:p>
          <a:p>
            <a:pPr marL="0" indent="0">
              <a:buNone/>
            </a:pPr>
            <a:r>
              <a:rPr lang="en-US" dirty="0"/>
              <a:t>     </a:t>
            </a:r>
            <a:r>
              <a:rPr lang="en-US" dirty="0" smtClean="0"/>
              <a:t>}</a:t>
            </a:r>
            <a:endParaRPr lang="en-US" dirty="0"/>
          </a:p>
        </p:txBody>
      </p:sp>
    </p:spTree>
    <p:extLst>
      <p:ext uri="{BB962C8B-B14F-4D97-AF65-F5344CB8AC3E}">
        <p14:creationId xmlns:p14="http://schemas.microsoft.com/office/powerpoint/2010/main" val="264165279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457201"/>
            <a:ext cx="10972800" cy="5668964"/>
          </a:xfrm>
        </p:spPr>
        <p:txBody>
          <a:bodyPr>
            <a:normAutofit fontScale="92500" lnSpcReduction="10000"/>
          </a:bodyPr>
          <a:lstStyle/>
          <a:p>
            <a:pPr marL="0" indent="0">
              <a:buNone/>
            </a:pPr>
            <a:r>
              <a:rPr lang="en-US" dirty="0"/>
              <a:t>else</a:t>
            </a:r>
          </a:p>
          <a:p>
            <a:pPr marL="0" indent="0">
              <a:buNone/>
            </a:pPr>
            <a:r>
              <a:rPr lang="en-US" dirty="0"/>
              <a:t>     {</a:t>
            </a:r>
          </a:p>
          <a:p>
            <a:pPr marL="0" indent="0">
              <a:buNone/>
            </a:pPr>
            <a:r>
              <a:rPr lang="en-US" dirty="0"/>
              <a:t>       temp=head;</a:t>
            </a:r>
          </a:p>
          <a:p>
            <a:pPr marL="0" indent="0">
              <a:buNone/>
            </a:pPr>
            <a:r>
              <a:rPr lang="en-US" dirty="0"/>
              <a:t>       while(temp-&gt;next-&gt;next!=NULL)</a:t>
            </a:r>
          </a:p>
          <a:p>
            <a:pPr marL="0" indent="0">
              <a:buNone/>
            </a:pPr>
            <a:r>
              <a:rPr lang="en-US" dirty="0"/>
              <a:t>       {</a:t>
            </a:r>
          </a:p>
          <a:p>
            <a:pPr marL="0" indent="0">
              <a:buNone/>
            </a:pPr>
            <a:r>
              <a:rPr lang="en-US" dirty="0"/>
              <a:t>         temp=temp-&gt;next;</a:t>
            </a:r>
          </a:p>
          <a:p>
            <a:pPr marL="0" indent="0">
              <a:buNone/>
            </a:pPr>
            <a:r>
              <a:rPr lang="en-US" dirty="0"/>
              <a:t>       }</a:t>
            </a:r>
          </a:p>
          <a:p>
            <a:pPr marL="0" indent="0">
              <a:buNone/>
            </a:pPr>
            <a:r>
              <a:rPr lang="en-US" dirty="0"/>
              <a:t>      </a:t>
            </a:r>
            <a:r>
              <a:rPr lang="en-US" dirty="0" err="1"/>
              <a:t>printf</a:t>
            </a:r>
            <a:r>
              <a:rPr lang="en-US" dirty="0"/>
              <a:t>("\n %d is deleted item", temp-&gt;next-&gt;info);</a:t>
            </a:r>
          </a:p>
          <a:p>
            <a:pPr marL="0" indent="0">
              <a:buNone/>
            </a:pPr>
            <a:r>
              <a:rPr lang="en-US" dirty="0"/>
              <a:t>      free(temp-&gt;next);</a:t>
            </a:r>
          </a:p>
          <a:p>
            <a:pPr marL="0" indent="0">
              <a:buNone/>
            </a:pPr>
            <a:r>
              <a:rPr lang="en-US" dirty="0"/>
              <a:t>      temp-&gt;next=NULL;</a:t>
            </a:r>
          </a:p>
          <a:p>
            <a:pPr marL="0" indent="0">
              <a:buNone/>
            </a:pPr>
            <a:r>
              <a:rPr lang="en-US" dirty="0"/>
              <a:t> }</a:t>
            </a:r>
          </a:p>
          <a:p>
            <a:pPr marL="0" indent="0">
              <a:buNone/>
            </a:pPr>
            <a:endParaRPr lang="en-US" dirty="0"/>
          </a:p>
        </p:txBody>
      </p:sp>
    </p:spTree>
    <p:extLst>
      <p:ext uri="{BB962C8B-B14F-4D97-AF65-F5344CB8AC3E}">
        <p14:creationId xmlns:p14="http://schemas.microsoft.com/office/powerpoint/2010/main" val="172627107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noAutofit/>
          </a:bodyPr>
          <a:lstStyle/>
          <a:p>
            <a:r>
              <a:rPr lang="en-US" sz="2400" b="1" dirty="0">
                <a:solidFill>
                  <a:srgbClr val="FF0000"/>
                </a:solidFill>
              </a:rPr>
              <a:t>An algorithm to delete a node at the specified position in a singly linked list</a:t>
            </a:r>
            <a:endParaRPr lang="en-US" sz="2400" dirty="0">
              <a:solidFill>
                <a:srgbClr val="FF0000"/>
              </a:solidFill>
            </a:endParaRPr>
          </a:p>
        </p:txBody>
      </p:sp>
      <p:sp>
        <p:nvSpPr>
          <p:cNvPr id="3" name="Content Placeholder 2"/>
          <p:cNvSpPr>
            <a:spLocks noGrp="1"/>
          </p:cNvSpPr>
          <p:nvPr>
            <p:ph idx="1"/>
          </p:nvPr>
        </p:nvSpPr>
        <p:spPr>
          <a:xfrm>
            <a:off x="1905000" y="1219200"/>
            <a:ext cx="8534400" cy="5562600"/>
          </a:xfrm>
        </p:spPr>
        <p:txBody>
          <a:bodyPr>
            <a:normAutofit fontScale="70000" lnSpcReduction="20000"/>
          </a:bodyPr>
          <a:lstStyle/>
          <a:p>
            <a:pPr marL="0" indent="0">
              <a:buNone/>
            </a:pPr>
            <a:r>
              <a:rPr lang="en-US" dirty="0" smtClean="0"/>
              <a:t>let </a:t>
            </a:r>
            <a:r>
              <a:rPr lang="en-US" dirty="0">
                <a:solidFill>
                  <a:srgbClr val="FF0000"/>
                </a:solidFill>
              </a:rPr>
              <a:t>*head </a:t>
            </a:r>
            <a:r>
              <a:rPr lang="en-US" dirty="0"/>
              <a:t>be the pointer to first node in the current list</a:t>
            </a:r>
          </a:p>
          <a:p>
            <a:pPr marL="514350" indent="-514350">
              <a:buAutoNum type="arabicPeriod"/>
            </a:pPr>
            <a:r>
              <a:rPr lang="en-US" i="1" dirty="0" smtClean="0"/>
              <a:t>Read</a:t>
            </a:r>
            <a:r>
              <a:rPr lang="en-US" dirty="0" smtClean="0"/>
              <a:t> </a:t>
            </a:r>
            <a:r>
              <a:rPr lang="en-US" i="1" dirty="0"/>
              <a:t>position</a:t>
            </a:r>
            <a:r>
              <a:rPr lang="en-US" dirty="0"/>
              <a:t> </a:t>
            </a:r>
            <a:r>
              <a:rPr lang="en-US" i="1" dirty="0"/>
              <a:t>of</a:t>
            </a:r>
            <a:r>
              <a:rPr lang="en-US" dirty="0"/>
              <a:t> </a:t>
            </a:r>
            <a:r>
              <a:rPr lang="en-US" i="1" dirty="0"/>
              <a:t>a</a:t>
            </a:r>
            <a:r>
              <a:rPr lang="en-US" dirty="0"/>
              <a:t> </a:t>
            </a:r>
            <a:r>
              <a:rPr lang="en-US" i="1" dirty="0"/>
              <a:t>node</a:t>
            </a:r>
            <a:r>
              <a:rPr lang="en-US" dirty="0"/>
              <a:t> </a:t>
            </a:r>
            <a:r>
              <a:rPr lang="en-US" i="1" dirty="0"/>
              <a:t>which</a:t>
            </a:r>
            <a:r>
              <a:rPr lang="en-US" dirty="0"/>
              <a:t> </a:t>
            </a:r>
            <a:r>
              <a:rPr lang="en-US" i="1" dirty="0"/>
              <a:t>to</a:t>
            </a:r>
            <a:r>
              <a:rPr lang="en-US" dirty="0"/>
              <a:t> </a:t>
            </a:r>
            <a:r>
              <a:rPr lang="en-US" i="1" dirty="0"/>
              <a:t>be</a:t>
            </a:r>
            <a:r>
              <a:rPr lang="en-US" dirty="0"/>
              <a:t> </a:t>
            </a:r>
            <a:r>
              <a:rPr lang="en-US" i="1" dirty="0"/>
              <a:t>deleted,</a:t>
            </a:r>
            <a:r>
              <a:rPr lang="en-US" dirty="0"/>
              <a:t> </a:t>
            </a:r>
            <a:r>
              <a:rPr lang="en-US" i="1" dirty="0"/>
              <a:t>let</a:t>
            </a:r>
            <a:r>
              <a:rPr lang="en-US" dirty="0"/>
              <a:t> </a:t>
            </a:r>
            <a:r>
              <a:rPr lang="en-US" i="1" dirty="0"/>
              <a:t>it</a:t>
            </a:r>
            <a:r>
              <a:rPr lang="en-US" dirty="0"/>
              <a:t> </a:t>
            </a:r>
            <a:r>
              <a:rPr lang="en-US" i="1" dirty="0"/>
              <a:t>be</a:t>
            </a:r>
            <a:r>
              <a:rPr lang="en-US" dirty="0"/>
              <a:t> </a:t>
            </a:r>
            <a:r>
              <a:rPr lang="en-US" i="1" dirty="0"/>
              <a:t>pos.</a:t>
            </a:r>
            <a:r>
              <a:rPr lang="en-US" dirty="0"/>
              <a:t> </a:t>
            </a:r>
            <a:endParaRPr lang="en-US" dirty="0" smtClean="0"/>
          </a:p>
          <a:p>
            <a:pPr marL="514350" indent="-514350">
              <a:buAutoNum type="arabicPeriod"/>
            </a:pPr>
            <a:r>
              <a:rPr lang="en-US" dirty="0" smtClean="0"/>
              <a:t>if </a:t>
            </a:r>
            <a:r>
              <a:rPr lang="en-US" dirty="0"/>
              <a:t>head==</a:t>
            </a:r>
            <a:r>
              <a:rPr lang="en-US" dirty="0" smtClean="0"/>
              <a:t>NULL  </a:t>
            </a:r>
          </a:p>
          <a:p>
            <a:pPr marL="0" indent="0">
              <a:buNone/>
            </a:pPr>
            <a:r>
              <a:rPr lang="en-US" dirty="0" smtClean="0"/>
              <a:t>	print “can’t delete” </a:t>
            </a:r>
            <a:r>
              <a:rPr lang="en-US" dirty="0"/>
              <a:t>and exit</a:t>
            </a:r>
          </a:p>
          <a:p>
            <a:pPr marL="514350" indent="-514350">
              <a:buAutoNum type="arabicPeriod" startAt="3"/>
            </a:pPr>
            <a:r>
              <a:rPr lang="en-US" dirty="0" smtClean="0"/>
              <a:t>Enter </a:t>
            </a:r>
            <a:r>
              <a:rPr lang="en-US" dirty="0"/>
              <a:t>position of a node at which you want to delete </a:t>
            </a:r>
            <a:r>
              <a:rPr lang="en-US" dirty="0" smtClean="0"/>
              <a:t>a new </a:t>
            </a:r>
            <a:r>
              <a:rPr lang="en-US" dirty="0"/>
              <a:t>node. </a:t>
            </a:r>
            <a:endParaRPr lang="en-US" dirty="0" smtClean="0"/>
          </a:p>
          <a:p>
            <a:pPr marL="0" indent="0">
              <a:buNone/>
            </a:pPr>
            <a:r>
              <a:rPr lang="en-US" dirty="0"/>
              <a:t>	</a:t>
            </a:r>
            <a:r>
              <a:rPr lang="en-US" dirty="0" smtClean="0"/>
              <a:t>Let </a:t>
            </a:r>
            <a:r>
              <a:rPr lang="en-US" dirty="0"/>
              <a:t>this position is pos. </a:t>
            </a:r>
            <a:endParaRPr lang="en-US" dirty="0" smtClean="0"/>
          </a:p>
          <a:p>
            <a:pPr marL="514350" indent="-514350">
              <a:buAutoNum type="arabicPeriod" startAt="3"/>
            </a:pPr>
            <a:r>
              <a:rPr lang="en-US" dirty="0" smtClean="0"/>
              <a:t>Set </a:t>
            </a:r>
            <a:r>
              <a:rPr lang="en-US" dirty="0"/>
              <a:t>temp=head</a:t>
            </a:r>
          </a:p>
          <a:p>
            <a:pPr marL="0" indent="0">
              <a:buNone/>
            </a:pPr>
            <a:r>
              <a:rPr lang="en-US" dirty="0" smtClean="0"/>
              <a:t>	declare </a:t>
            </a:r>
            <a:r>
              <a:rPr lang="en-US" dirty="0"/>
              <a:t>a pointer of a structure let it be *p </a:t>
            </a:r>
            <a:endParaRPr lang="en-US" dirty="0" smtClean="0"/>
          </a:p>
          <a:p>
            <a:pPr marL="514350" indent="-514350">
              <a:buAutoNum type="arabicPeriod" startAt="5"/>
            </a:pPr>
            <a:r>
              <a:rPr lang="en-US" dirty="0" smtClean="0"/>
              <a:t> for(</a:t>
            </a:r>
            <a:r>
              <a:rPr lang="en-US" dirty="0" err="1" smtClean="0"/>
              <a:t>i</a:t>
            </a:r>
            <a:r>
              <a:rPr lang="en-US" dirty="0" smtClean="0"/>
              <a:t>=1</a:t>
            </a:r>
            <a:r>
              <a:rPr lang="en-US" dirty="0"/>
              <a:t>; i&lt;pos-1; i++) </a:t>
            </a:r>
          </a:p>
          <a:p>
            <a:pPr marL="0" indent="0">
              <a:buNone/>
            </a:pPr>
            <a:r>
              <a:rPr lang="en-US" dirty="0" smtClean="0"/>
              <a:t>	temp=temp-</a:t>
            </a:r>
            <a:r>
              <a:rPr lang="en-US" dirty="0"/>
              <a:t>&gt;next;</a:t>
            </a:r>
          </a:p>
          <a:p>
            <a:pPr marL="514350" indent="-514350">
              <a:buAutoNum type="arabicPeriod" startAt="6"/>
            </a:pPr>
            <a:r>
              <a:rPr lang="en-US" i="1" dirty="0" smtClean="0"/>
              <a:t>print</a:t>
            </a:r>
            <a:r>
              <a:rPr lang="en-US" dirty="0" smtClean="0"/>
              <a:t> </a:t>
            </a:r>
            <a:r>
              <a:rPr lang="en-US" i="1" dirty="0"/>
              <a:t>deleted</a:t>
            </a:r>
            <a:r>
              <a:rPr lang="en-US" dirty="0"/>
              <a:t> </a:t>
            </a:r>
            <a:r>
              <a:rPr lang="en-US" i="1" dirty="0"/>
              <a:t>item</a:t>
            </a:r>
            <a:r>
              <a:rPr lang="en-US" dirty="0"/>
              <a:t> </a:t>
            </a:r>
            <a:r>
              <a:rPr lang="en-US" i="1" dirty="0"/>
              <a:t>is</a:t>
            </a:r>
            <a:r>
              <a:rPr lang="en-US" dirty="0"/>
              <a:t> </a:t>
            </a:r>
            <a:r>
              <a:rPr lang="en-US" i="1" dirty="0"/>
              <a:t>temp-&gt;next-&gt;info</a:t>
            </a:r>
            <a:r>
              <a:rPr lang="en-US" dirty="0"/>
              <a:t> </a:t>
            </a:r>
            <a:endParaRPr lang="en-US" dirty="0" smtClean="0"/>
          </a:p>
          <a:p>
            <a:pPr marL="514350" indent="-514350">
              <a:buAutoNum type="arabicPeriod" startAt="6"/>
            </a:pPr>
            <a:r>
              <a:rPr lang="en-US" i="1" dirty="0" smtClean="0"/>
              <a:t>Set</a:t>
            </a:r>
            <a:r>
              <a:rPr lang="en-US" dirty="0" smtClean="0"/>
              <a:t> </a:t>
            </a:r>
            <a:r>
              <a:rPr lang="en-US" i="1" dirty="0"/>
              <a:t>p=temp-&gt;next;</a:t>
            </a:r>
            <a:endParaRPr lang="en-US" dirty="0"/>
          </a:p>
          <a:p>
            <a:pPr marL="514350" indent="-514350">
              <a:buAutoNum type="arabicPeriod" startAt="8"/>
            </a:pPr>
            <a:r>
              <a:rPr lang="en-US" i="1" dirty="0" smtClean="0"/>
              <a:t>S</a:t>
            </a:r>
            <a:r>
              <a:rPr lang="en-US" dirty="0" smtClean="0"/>
              <a:t>et </a:t>
            </a:r>
            <a:r>
              <a:rPr lang="en-US" dirty="0"/>
              <a:t>temp-&gt;next =temp-&gt;next-&gt;next; </a:t>
            </a:r>
            <a:endParaRPr lang="en-US" dirty="0" smtClean="0"/>
          </a:p>
          <a:p>
            <a:pPr marL="514350" indent="-514350">
              <a:buAutoNum type="arabicPeriod" startAt="8"/>
            </a:pPr>
            <a:r>
              <a:rPr lang="en-US" dirty="0" smtClean="0"/>
              <a:t>free(p);</a:t>
            </a:r>
          </a:p>
          <a:p>
            <a:pPr marL="514350" indent="-514350">
              <a:buAutoNum type="arabicPeriod" startAt="8"/>
            </a:pPr>
            <a:r>
              <a:rPr lang="en-US" dirty="0" smtClean="0"/>
              <a:t> End</a:t>
            </a:r>
            <a:endParaRPr lang="en-US" dirty="0"/>
          </a:p>
        </p:txBody>
      </p:sp>
    </p:spTree>
    <p:extLst>
      <p:ext uri="{BB962C8B-B14F-4D97-AF65-F5344CB8AC3E}">
        <p14:creationId xmlns:p14="http://schemas.microsoft.com/office/powerpoint/2010/main" val="418207756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228600"/>
            <a:ext cx="8534400" cy="6324600"/>
          </a:xfrm>
        </p:spPr>
        <p:txBody>
          <a:bodyPr>
            <a:noAutofit/>
          </a:bodyPr>
          <a:lstStyle/>
          <a:p>
            <a:pPr marL="0" indent="0">
              <a:buNone/>
            </a:pPr>
            <a:r>
              <a:rPr lang="en-US" sz="2000" b="1" dirty="0">
                <a:solidFill>
                  <a:srgbClr val="FF0000"/>
                </a:solidFill>
              </a:rPr>
              <a:t>The C function to delete a node at the specified position in a singly linked list</a:t>
            </a:r>
            <a:endParaRPr lang="en-US" sz="1600" dirty="0"/>
          </a:p>
          <a:p>
            <a:pPr marL="0" indent="0">
              <a:buNone/>
            </a:pPr>
            <a:r>
              <a:rPr lang="en-US" sz="1600" dirty="0"/>
              <a:t>void </a:t>
            </a:r>
            <a:r>
              <a:rPr lang="en-US" sz="1600" dirty="0" err="1"/>
              <a:t>delPos</a:t>
            </a:r>
            <a:r>
              <a:rPr lang="en-US" sz="1600" dirty="0"/>
              <a:t>()</a:t>
            </a:r>
          </a:p>
          <a:p>
            <a:pPr marL="0" indent="0">
              <a:buNone/>
            </a:pPr>
            <a:r>
              <a:rPr lang="en-US" sz="1600" dirty="0"/>
              <a:t>{	</a:t>
            </a:r>
            <a:r>
              <a:rPr lang="en-US" sz="1600" dirty="0" err="1"/>
              <a:t>NodeType</a:t>
            </a:r>
            <a:r>
              <a:rPr lang="en-US" sz="1600" dirty="0"/>
              <a:t> *temp *</a:t>
            </a:r>
            <a:r>
              <a:rPr lang="en-US" sz="1600" dirty="0" err="1"/>
              <a:t>ptr</a:t>
            </a:r>
            <a:r>
              <a:rPr lang="en-US" sz="1600" dirty="0"/>
              <a:t>; </a:t>
            </a:r>
            <a:r>
              <a:rPr lang="en-US" sz="1600" dirty="0" err="1"/>
              <a:t>int</a:t>
            </a:r>
            <a:r>
              <a:rPr lang="en-US" sz="1600" dirty="0"/>
              <a:t> </a:t>
            </a:r>
            <a:r>
              <a:rPr lang="en-US" sz="1600" dirty="0" err="1"/>
              <a:t>pos</a:t>
            </a:r>
            <a:r>
              <a:rPr lang="en-US" sz="1600" dirty="0"/>
              <a:t>, i; </a:t>
            </a:r>
          </a:p>
          <a:p>
            <a:pPr marL="0" indent="0">
              <a:buNone/>
            </a:pPr>
            <a:r>
              <a:rPr lang="en-US" sz="1600" dirty="0"/>
              <a:t>	if(head==NULL)</a:t>
            </a:r>
          </a:p>
          <a:p>
            <a:pPr marL="0" indent="0">
              <a:buNone/>
            </a:pPr>
            <a:r>
              <a:rPr lang="en-US" sz="1600" dirty="0"/>
              <a:t>	{</a:t>
            </a:r>
          </a:p>
          <a:p>
            <a:pPr marL="0" indent="0">
              <a:buNone/>
            </a:pPr>
            <a:r>
              <a:rPr lang="en-US" sz="1600" dirty="0"/>
              <a:t>	</a:t>
            </a:r>
            <a:r>
              <a:rPr lang="en-US" sz="1600" dirty="0" err="1"/>
              <a:t>printf</a:t>
            </a:r>
            <a:r>
              <a:rPr lang="en-US" sz="1600" dirty="0"/>
              <a:t>(“Empty list”); return;</a:t>
            </a:r>
          </a:p>
          <a:p>
            <a:pPr marL="0" indent="0">
              <a:buNone/>
            </a:pPr>
            <a:r>
              <a:rPr lang="en-US" sz="1600" dirty="0"/>
              <a:t>	} else </a:t>
            </a:r>
          </a:p>
          <a:p>
            <a:pPr marL="0" indent="0">
              <a:buNone/>
            </a:pPr>
            <a:r>
              <a:rPr lang="en-US" sz="1600" dirty="0"/>
              <a:t>	{</a:t>
            </a:r>
          </a:p>
          <a:p>
            <a:pPr marL="0" indent="0">
              <a:buNone/>
            </a:pPr>
            <a:r>
              <a:rPr lang="en-US" sz="1600" dirty="0"/>
              <a:t>	</a:t>
            </a:r>
            <a:r>
              <a:rPr lang="en-US" sz="1600" dirty="0" err="1"/>
              <a:t>printf</a:t>
            </a:r>
            <a:r>
              <a:rPr lang="en-US" sz="1600" dirty="0"/>
              <a:t>(“Enter position of a node which you wand to delete”); </a:t>
            </a:r>
          </a:p>
          <a:p>
            <a:pPr marL="0" indent="0">
              <a:buNone/>
            </a:pPr>
            <a:r>
              <a:rPr lang="en-US" sz="1600" dirty="0"/>
              <a:t>	</a:t>
            </a:r>
            <a:r>
              <a:rPr lang="en-US" sz="1600" dirty="0" err="1"/>
              <a:t>scanf</a:t>
            </a:r>
            <a:r>
              <a:rPr lang="en-US" sz="1600" dirty="0"/>
              <a:t>(“%d” , &amp;</a:t>
            </a:r>
            <a:r>
              <a:rPr lang="en-US" sz="1600" dirty="0" err="1"/>
              <a:t>pos</a:t>
            </a:r>
            <a:r>
              <a:rPr lang="en-US" sz="1600" dirty="0"/>
              <a:t>);</a:t>
            </a:r>
          </a:p>
          <a:p>
            <a:pPr marL="0" indent="0">
              <a:buNone/>
            </a:pPr>
            <a:r>
              <a:rPr lang="en-US" sz="1600" dirty="0"/>
              <a:t>	temp=head;</a:t>
            </a:r>
          </a:p>
          <a:p>
            <a:pPr marL="0" indent="0">
              <a:buNone/>
            </a:pPr>
            <a:r>
              <a:rPr lang="en-US" sz="1600" dirty="0"/>
              <a:t>	for(i=1; i&lt;pos-1; i++) </a:t>
            </a:r>
          </a:p>
          <a:p>
            <a:pPr marL="0" indent="0">
              <a:buNone/>
            </a:pPr>
            <a:r>
              <a:rPr lang="en-US" sz="1600" dirty="0"/>
              <a:t>	{</a:t>
            </a:r>
          </a:p>
          <a:p>
            <a:pPr marL="0" indent="0">
              <a:buNone/>
            </a:pPr>
            <a:r>
              <a:rPr lang="en-US" sz="1600" dirty="0"/>
              <a:t>	 temp=temp-&gt;next; </a:t>
            </a:r>
          </a:p>
          <a:p>
            <a:pPr marL="0" indent="0">
              <a:buNone/>
            </a:pPr>
            <a:r>
              <a:rPr lang="en-US" sz="1600" dirty="0"/>
              <a:t>	}</a:t>
            </a:r>
          </a:p>
          <a:p>
            <a:pPr marL="0" indent="0">
              <a:buNone/>
            </a:pPr>
            <a:r>
              <a:rPr lang="en-US" sz="1600" dirty="0"/>
              <a:t>	</a:t>
            </a:r>
            <a:r>
              <a:rPr lang="en-US" sz="1600" dirty="0" err="1"/>
              <a:t>ptr</a:t>
            </a:r>
            <a:r>
              <a:rPr lang="en-US" sz="1600" dirty="0"/>
              <a:t>=temp-&gt;next;</a:t>
            </a:r>
          </a:p>
          <a:p>
            <a:pPr marL="0" indent="0">
              <a:buNone/>
            </a:pPr>
            <a:r>
              <a:rPr lang="en-US" sz="1600" dirty="0"/>
              <a:t>	</a:t>
            </a:r>
            <a:r>
              <a:rPr lang="en-US" sz="1600" dirty="0" err="1"/>
              <a:t>printf</a:t>
            </a:r>
            <a:r>
              <a:rPr lang="en-US" sz="1600" dirty="0"/>
              <a:t>(“Deleted item is %d”, </a:t>
            </a:r>
            <a:r>
              <a:rPr lang="en-US" sz="1600" dirty="0" err="1"/>
              <a:t>ptr</a:t>
            </a:r>
            <a:r>
              <a:rPr lang="en-US" sz="1600" dirty="0"/>
              <a:t>-&gt;info); </a:t>
            </a:r>
          </a:p>
          <a:p>
            <a:pPr marL="0" indent="0">
              <a:buNone/>
            </a:pPr>
            <a:r>
              <a:rPr lang="en-US" sz="1600" dirty="0"/>
              <a:t>	temp-&gt;next =</a:t>
            </a:r>
            <a:r>
              <a:rPr lang="en-US" sz="1600" dirty="0" err="1"/>
              <a:t>ptr</a:t>
            </a:r>
            <a:r>
              <a:rPr lang="en-US" sz="1600" dirty="0"/>
              <a:t>-&gt;next;</a:t>
            </a:r>
          </a:p>
          <a:p>
            <a:pPr marL="0" indent="0">
              <a:buNone/>
            </a:pPr>
            <a:r>
              <a:rPr lang="en-US" sz="1600" dirty="0"/>
              <a:t>	free(</a:t>
            </a:r>
            <a:r>
              <a:rPr lang="en-US" sz="1600" dirty="0" err="1"/>
              <a:t>ptr</a:t>
            </a:r>
            <a:r>
              <a:rPr lang="en-US" sz="1600" dirty="0"/>
              <a:t>); </a:t>
            </a:r>
          </a:p>
          <a:p>
            <a:pPr marL="0" indent="0">
              <a:buNone/>
            </a:pPr>
            <a:r>
              <a:rPr lang="en-US" sz="1600" dirty="0"/>
              <a:t>}}</a:t>
            </a:r>
          </a:p>
        </p:txBody>
      </p:sp>
    </p:spTree>
    <p:extLst>
      <p:ext uri="{BB962C8B-B14F-4D97-AF65-F5344CB8AC3E}">
        <p14:creationId xmlns:p14="http://schemas.microsoft.com/office/powerpoint/2010/main" val="126388529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2057401" y="1752601"/>
            <a:ext cx="8324289" cy="3315495"/>
          </a:xfrm>
          <a:prstGeom prst="rect">
            <a:avLst/>
          </a:prstGeom>
        </p:spPr>
      </p:pic>
    </p:spTree>
    <p:extLst>
      <p:ext uri="{BB962C8B-B14F-4D97-AF65-F5344CB8AC3E}">
        <p14:creationId xmlns:p14="http://schemas.microsoft.com/office/powerpoint/2010/main" val="57814289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92162"/>
          </a:xfrm>
        </p:spPr>
        <p:txBody>
          <a:bodyPr>
            <a:noAutofit/>
          </a:bodyPr>
          <a:lstStyle/>
          <a:p>
            <a:r>
              <a:rPr lang="en-US" sz="2400" b="1" dirty="0">
                <a:solidFill>
                  <a:srgbClr val="FF0000"/>
                </a:solidFill>
              </a:rPr>
              <a:t>An algorithm to delete a node after the given node in singly linked list</a:t>
            </a:r>
            <a:endParaRPr lang="en-US" sz="2800" dirty="0">
              <a:solidFill>
                <a:srgbClr val="FF0000"/>
              </a:solidFill>
            </a:endParaRPr>
          </a:p>
        </p:txBody>
      </p:sp>
      <p:sp>
        <p:nvSpPr>
          <p:cNvPr id="3" name="Content Placeholder 2"/>
          <p:cNvSpPr>
            <a:spLocks noGrp="1"/>
          </p:cNvSpPr>
          <p:nvPr>
            <p:ph idx="1"/>
          </p:nvPr>
        </p:nvSpPr>
        <p:spPr>
          <a:xfrm>
            <a:off x="1981200" y="1219200"/>
            <a:ext cx="8229600" cy="5181600"/>
          </a:xfrm>
        </p:spPr>
        <p:txBody>
          <a:bodyPr>
            <a:normAutofit/>
          </a:bodyPr>
          <a:lstStyle/>
          <a:p>
            <a:pPr marL="0" indent="0">
              <a:buNone/>
            </a:pPr>
            <a:r>
              <a:rPr lang="en-US" dirty="0" smtClean="0"/>
              <a:t>let </a:t>
            </a:r>
            <a:r>
              <a:rPr lang="en-US" dirty="0">
                <a:solidFill>
                  <a:srgbClr val="FF0000"/>
                </a:solidFill>
              </a:rPr>
              <a:t>*head</a:t>
            </a:r>
            <a:r>
              <a:rPr lang="en-US" dirty="0"/>
              <a:t> be the pointer to first node in the current list and </a:t>
            </a:r>
            <a:r>
              <a:rPr lang="en-US" dirty="0">
                <a:solidFill>
                  <a:srgbClr val="FF0000"/>
                </a:solidFill>
              </a:rPr>
              <a:t>*p</a:t>
            </a:r>
            <a:r>
              <a:rPr lang="en-US" dirty="0"/>
              <a:t> be the pointer to the node after which we want to delete a new node.</a:t>
            </a:r>
          </a:p>
          <a:p>
            <a:pPr marL="514350" indent="-514350">
              <a:buAutoNum type="arabicPeriod"/>
            </a:pPr>
            <a:r>
              <a:rPr lang="en-US" b="1" i="1" dirty="0" smtClean="0"/>
              <a:t>if</a:t>
            </a:r>
            <a:r>
              <a:rPr lang="en-US" i="1" dirty="0" smtClean="0"/>
              <a:t>(p</a:t>
            </a:r>
            <a:r>
              <a:rPr lang="en-US" i="1" dirty="0"/>
              <a:t>==NULL</a:t>
            </a:r>
            <a:r>
              <a:rPr lang="en-US" dirty="0"/>
              <a:t> </a:t>
            </a:r>
            <a:r>
              <a:rPr lang="en-US" i="1" dirty="0"/>
              <a:t>or</a:t>
            </a:r>
            <a:r>
              <a:rPr lang="en-US" dirty="0"/>
              <a:t> </a:t>
            </a:r>
            <a:r>
              <a:rPr lang="en-US" i="1" dirty="0"/>
              <a:t>p-&gt;next==NULL)</a:t>
            </a:r>
            <a:r>
              <a:rPr lang="en-US" dirty="0"/>
              <a:t> </a:t>
            </a:r>
            <a:endParaRPr lang="en-US" dirty="0" smtClean="0"/>
          </a:p>
          <a:p>
            <a:pPr marL="0" indent="0">
              <a:buNone/>
            </a:pPr>
            <a:r>
              <a:rPr lang="en-US" i="1" dirty="0"/>
              <a:t>	</a:t>
            </a:r>
            <a:r>
              <a:rPr lang="en-US" i="1" dirty="0" smtClean="0"/>
              <a:t>then</a:t>
            </a:r>
            <a:r>
              <a:rPr lang="en-US" dirty="0" smtClean="0"/>
              <a:t> </a:t>
            </a:r>
            <a:r>
              <a:rPr lang="en-US" i="1" dirty="0"/>
              <a:t>print</a:t>
            </a:r>
            <a:r>
              <a:rPr lang="en-US" dirty="0"/>
              <a:t> </a:t>
            </a:r>
            <a:r>
              <a:rPr lang="en-US" i="1" dirty="0"/>
              <a:t>“deletion</a:t>
            </a:r>
            <a:r>
              <a:rPr lang="en-US" dirty="0"/>
              <a:t> </a:t>
            </a:r>
            <a:r>
              <a:rPr lang="en-US" i="1" dirty="0"/>
              <a:t>not</a:t>
            </a:r>
            <a:r>
              <a:rPr lang="en-US" dirty="0"/>
              <a:t> </a:t>
            </a:r>
            <a:r>
              <a:rPr lang="en-US" i="1" dirty="0"/>
              <a:t>possible</a:t>
            </a:r>
            <a:r>
              <a:rPr lang="en-US" dirty="0"/>
              <a:t> </a:t>
            </a:r>
            <a:r>
              <a:rPr lang="en-US" i="1" dirty="0"/>
              <a:t>and</a:t>
            </a:r>
            <a:r>
              <a:rPr lang="en-US" dirty="0"/>
              <a:t> </a:t>
            </a:r>
            <a:r>
              <a:rPr lang="en-US" i="1" dirty="0"/>
              <a:t>exit</a:t>
            </a:r>
            <a:endParaRPr lang="en-US" dirty="0"/>
          </a:p>
          <a:p>
            <a:pPr marL="0" indent="0">
              <a:buNone/>
            </a:pPr>
            <a:r>
              <a:rPr lang="en-US" dirty="0" smtClean="0"/>
              <a:t>2.  set </a:t>
            </a:r>
            <a:r>
              <a:rPr lang="en-US" dirty="0"/>
              <a:t>q=p-&gt;next</a:t>
            </a:r>
          </a:p>
          <a:p>
            <a:pPr marL="514350" indent="-514350">
              <a:buAutoNum type="arabicPeriod" startAt="3"/>
            </a:pPr>
            <a:r>
              <a:rPr lang="en-US" i="1" dirty="0" smtClean="0"/>
              <a:t>Set</a:t>
            </a:r>
            <a:r>
              <a:rPr lang="en-US" dirty="0" smtClean="0"/>
              <a:t> </a:t>
            </a:r>
            <a:r>
              <a:rPr lang="en-US" i="1" dirty="0"/>
              <a:t>p-&gt;next=q-&gt;next;</a:t>
            </a:r>
            <a:r>
              <a:rPr lang="en-US" dirty="0"/>
              <a:t> </a:t>
            </a:r>
            <a:endParaRPr lang="en-US" dirty="0" smtClean="0"/>
          </a:p>
          <a:p>
            <a:pPr marL="514350" indent="-514350">
              <a:buAutoNum type="arabicPeriod" startAt="3"/>
            </a:pPr>
            <a:r>
              <a:rPr lang="en-US" dirty="0" smtClean="0"/>
              <a:t> </a:t>
            </a:r>
            <a:r>
              <a:rPr lang="en-US" b="1" dirty="0"/>
              <a:t>free</a:t>
            </a:r>
            <a:r>
              <a:rPr lang="en-US" dirty="0"/>
              <a:t>(q)</a:t>
            </a:r>
          </a:p>
          <a:p>
            <a:pPr marL="0" indent="0">
              <a:buNone/>
            </a:pPr>
            <a:r>
              <a:rPr lang="en-US" i="1" dirty="0" smtClean="0"/>
              <a:t>5.</a:t>
            </a:r>
            <a:r>
              <a:rPr lang="en-US" dirty="0"/>
              <a:t> </a:t>
            </a:r>
            <a:r>
              <a:rPr lang="en-US" dirty="0" smtClean="0"/>
              <a:t> End</a:t>
            </a:r>
            <a:endParaRPr lang="en-US" dirty="0"/>
          </a:p>
          <a:p>
            <a:pPr marL="0" indent="0">
              <a:buNone/>
            </a:pPr>
            <a:endParaRPr lang="en-US" dirty="0"/>
          </a:p>
        </p:txBody>
      </p:sp>
    </p:spTree>
    <p:extLst>
      <p:ext uri="{BB962C8B-B14F-4D97-AF65-F5344CB8AC3E}">
        <p14:creationId xmlns:p14="http://schemas.microsoft.com/office/powerpoint/2010/main" val="360470082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350838"/>
            <a:ext cx="8229600" cy="792162"/>
          </a:xfrm>
        </p:spPr>
        <p:txBody>
          <a:bodyPr>
            <a:noAutofit/>
          </a:bodyPr>
          <a:lstStyle/>
          <a:p>
            <a:r>
              <a:rPr lang="en-US" sz="2800" b="1" dirty="0">
                <a:solidFill>
                  <a:srgbClr val="FF0000"/>
                </a:solidFill>
              </a:rPr>
              <a:t>The C function to delete a node after the given node in singly linked list</a:t>
            </a:r>
            <a:endParaRPr lang="en-US" sz="2800" dirty="0">
              <a:solidFill>
                <a:srgbClr val="FF0000"/>
              </a:solidFill>
            </a:endParaRPr>
          </a:p>
        </p:txBody>
      </p:sp>
      <p:sp>
        <p:nvSpPr>
          <p:cNvPr id="3" name="Content Placeholder 2"/>
          <p:cNvSpPr>
            <a:spLocks noGrp="1"/>
          </p:cNvSpPr>
          <p:nvPr>
            <p:ph idx="1"/>
          </p:nvPr>
        </p:nvSpPr>
        <p:spPr>
          <a:xfrm>
            <a:off x="1981200" y="1219200"/>
            <a:ext cx="8229600" cy="5181600"/>
          </a:xfrm>
        </p:spPr>
        <p:txBody>
          <a:bodyPr>
            <a:normAutofit fontScale="62500" lnSpcReduction="20000"/>
          </a:bodyPr>
          <a:lstStyle/>
          <a:p>
            <a:pPr marL="0" indent="0">
              <a:buNone/>
            </a:pPr>
            <a:r>
              <a:rPr lang="en-US" dirty="0" smtClean="0"/>
              <a:t>let </a:t>
            </a:r>
            <a:r>
              <a:rPr lang="en-US" dirty="0"/>
              <a:t>*p be the pointer to the node after which we want to delete a new node.</a:t>
            </a:r>
          </a:p>
          <a:p>
            <a:pPr marL="0" indent="0">
              <a:buNone/>
            </a:pPr>
            <a:r>
              <a:rPr lang="en-US" dirty="0"/>
              <a:t>void </a:t>
            </a:r>
            <a:r>
              <a:rPr lang="en-US" dirty="0" err="1"/>
              <a:t>deleteAfterNode</a:t>
            </a:r>
            <a:r>
              <a:rPr lang="en-US" dirty="0"/>
              <a:t>(</a:t>
            </a:r>
            <a:r>
              <a:rPr lang="en-US" dirty="0" err="1"/>
              <a:t>NodeType</a:t>
            </a:r>
            <a:r>
              <a:rPr lang="en-US" dirty="0"/>
              <a:t> *p) </a:t>
            </a:r>
            <a:endParaRPr lang="en-US" dirty="0" smtClean="0"/>
          </a:p>
          <a:p>
            <a:pPr marL="0" indent="0">
              <a:buNone/>
            </a:pPr>
            <a:r>
              <a:rPr lang="en-US" dirty="0" smtClean="0"/>
              <a:t>{</a:t>
            </a:r>
            <a:endParaRPr lang="en-US" dirty="0"/>
          </a:p>
          <a:p>
            <a:pPr marL="0" indent="0">
              <a:buNone/>
            </a:pPr>
            <a:r>
              <a:rPr lang="en-US" dirty="0" smtClean="0"/>
              <a:t>	</a:t>
            </a:r>
            <a:r>
              <a:rPr lang="en-US" dirty="0" err="1" smtClean="0"/>
              <a:t>NodeType</a:t>
            </a:r>
            <a:r>
              <a:rPr lang="en-US" dirty="0" smtClean="0"/>
              <a:t> </a:t>
            </a:r>
            <a:r>
              <a:rPr lang="en-US" dirty="0"/>
              <a:t>*q;</a:t>
            </a:r>
          </a:p>
          <a:p>
            <a:pPr marL="0" indent="0">
              <a:buNone/>
            </a:pPr>
            <a:r>
              <a:rPr lang="en-US" dirty="0" smtClean="0"/>
              <a:t>	if(p</a:t>
            </a:r>
            <a:r>
              <a:rPr lang="en-US" dirty="0"/>
              <a:t>==NULL || p-&gt;next==NULL ) </a:t>
            </a:r>
            <a:endParaRPr lang="en-US" dirty="0" smtClean="0"/>
          </a:p>
          <a:p>
            <a:pPr marL="0" indent="0">
              <a:buNone/>
            </a:pPr>
            <a:r>
              <a:rPr lang="en-US" dirty="0"/>
              <a:t>	</a:t>
            </a:r>
            <a:r>
              <a:rPr lang="en-US" dirty="0" smtClean="0"/>
              <a:t>{</a:t>
            </a:r>
            <a:endParaRPr lang="en-US" dirty="0"/>
          </a:p>
          <a:p>
            <a:pPr marL="0" indent="0">
              <a:buNone/>
            </a:pPr>
            <a:r>
              <a:rPr lang="en-US" dirty="0" smtClean="0"/>
              <a:t>	   </a:t>
            </a:r>
            <a:r>
              <a:rPr lang="en-US" dirty="0" err="1" smtClean="0"/>
              <a:t>printf</a:t>
            </a:r>
            <a:r>
              <a:rPr lang="en-US" dirty="0"/>
              <a:t>(“Void insertion”); </a:t>
            </a:r>
            <a:endParaRPr lang="en-US" dirty="0" smtClean="0"/>
          </a:p>
          <a:p>
            <a:pPr marL="0" indent="0">
              <a:buNone/>
            </a:pPr>
            <a:r>
              <a:rPr lang="en-US" dirty="0"/>
              <a:t>	</a:t>
            </a:r>
            <a:r>
              <a:rPr lang="en-US" dirty="0" smtClean="0"/>
              <a:t>   exit(1</a:t>
            </a:r>
            <a:r>
              <a:rPr lang="en-US" dirty="0"/>
              <a:t>);</a:t>
            </a:r>
          </a:p>
          <a:p>
            <a:pPr marL="0" indent="0">
              <a:buNone/>
            </a:pPr>
            <a:r>
              <a:rPr lang="en-US" dirty="0" smtClean="0"/>
              <a:t>	} </a:t>
            </a:r>
          </a:p>
          <a:p>
            <a:pPr marL="0" indent="0">
              <a:buNone/>
            </a:pPr>
            <a:r>
              <a:rPr lang="en-US" dirty="0"/>
              <a:t>	</a:t>
            </a:r>
            <a:r>
              <a:rPr lang="en-US" dirty="0" smtClean="0"/>
              <a:t>else </a:t>
            </a:r>
          </a:p>
          <a:p>
            <a:pPr marL="0" indent="0">
              <a:buNone/>
            </a:pPr>
            <a:r>
              <a:rPr lang="en-US" dirty="0"/>
              <a:t>	</a:t>
            </a:r>
            <a:r>
              <a:rPr lang="en-US" dirty="0" smtClean="0"/>
              <a:t>{</a:t>
            </a:r>
            <a:endParaRPr lang="en-US" dirty="0"/>
          </a:p>
          <a:p>
            <a:pPr marL="0" indent="0">
              <a:buNone/>
            </a:pPr>
            <a:r>
              <a:rPr lang="en-US" i="1" dirty="0" smtClean="0"/>
              <a:t>	 q=p-</a:t>
            </a:r>
            <a:r>
              <a:rPr lang="en-US" i="1" dirty="0"/>
              <a:t>&gt;next;</a:t>
            </a:r>
            <a:endParaRPr lang="en-US" dirty="0"/>
          </a:p>
          <a:p>
            <a:pPr marL="0" indent="0">
              <a:buNone/>
            </a:pPr>
            <a:r>
              <a:rPr lang="en-US" i="1" dirty="0" smtClean="0"/>
              <a:t>	 p-</a:t>
            </a:r>
            <a:r>
              <a:rPr lang="en-US" i="1" dirty="0"/>
              <a:t>&gt;next=q-&gt;next;</a:t>
            </a:r>
            <a:r>
              <a:rPr lang="en-US" dirty="0"/>
              <a:t> </a:t>
            </a:r>
            <a:endParaRPr lang="en-US" dirty="0" smtClean="0"/>
          </a:p>
          <a:p>
            <a:pPr marL="0" indent="0">
              <a:buNone/>
            </a:pPr>
            <a:r>
              <a:rPr lang="en-US" b="1" i="1" dirty="0"/>
              <a:t>	</a:t>
            </a:r>
            <a:r>
              <a:rPr lang="en-US" b="1" i="1" dirty="0" smtClean="0"/>
              <a:t>free</a:t>
            </a:r>
            <a:r>
              <a:rPr lang="en-US" i="1" dirty="0" smtClean="0"/>
              <a:t>(q</a:t>
            </a:r>
            <a:r>
              <a:rPr lang="en-US" i="1" dirty="0"/>
              <a:t>);</a:t>
            </a:r>
            <a:endParaRPr lang="en-US" dirty="0"/>
          </a:p>
          <a:p>
            <a:pPr marL="0" indent="0">
              <a:buNone/>
            </a:pPr>
            <a:r>
              <a:rPr lang="en-US" dirty="0" smtClean="0"/>
              <a:t>	} </a:t>
            </a:r>
          </a:p>
          <a:p>
            <a:pPr marL="0" indent="0">
              <a:buNone/>
            </a:pPr>
            <a:r>
              <a:rPr lang="en-US" dirty="0" smtClean="0"/>
              <a:t>}</a:t>
            </a:r>
            <a:endParaRPr lang="en-US" dirty="0"/>
          </a:p>
          <a:p>
            <a:pPr marL="0" indent="0">
              <a:buNone/>
            </a:pPr>
            <a:endParaRPr lang="en-US" dirty="0"/>
          </a:p>
        </p:txBody>
      </p:sp>
    </p:spTree>
    <p:extLst>
      <p:ext uri="{BB962C8B-B14F-4D97-AF65-F5344CB8AC3E}">
        <p14:creationId xmlns:p14="http://schemas.microsoft.com/office/powerpoint/2010/main" val="371556691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304800"/>
            <a:ext cx="8229600" cy="6553200"/>
          </a:xfrm>
        </p:spPr>
        <p:txBody>
          <a:bodyPr>
            <a:normAutofit fontScale="25000" lnSpcReduction="20000"/>
          </a:bodyPr>
          <a:lstStyle/>
          <a:p>
            <a:pPr marL="0" indent="0">
              <a:buNone/>
            </a:pPr>
            <a:r>
              <a:rPr lang="en-US" sz="12800" b="1" dirty="0">
                <a:solidFill>
                  <a:srgbClr val="FF0000"/>
                </a:solidFill>
              </a:rPr>
              <a:t>Searching an item in a linked list</a:t>
            </a:r>
            <a:endParaRPr lang="en-US" sz="7200" i="1" dirty="0"/>
          </a:p>
          <a:p>
            <a:pPr marL="0" indent="0">
              <a:buNone/>
            </a:pPr>
            <a:r>
              <a:rPr lang="en-US" sz="7200" i="1" dirty="0"/>
              <a:t>let</a:t>
            </a:r>
            <a:r>
              <a:rPr lang="en-US" sz="7200" dirty="0"/>
              <a:t> </a:t>
            </a:r>
            <a:r>
              <a:rPr lang="en-US" sz="7200" i="1" dirty="0"/>
              <a:t>*head</a:t>
            </a:r>
            <a:r>
              <a:rPr lang="en-US" sz="7200" dirty="0"/>
              <a:t> </a:t>
            </a:r>
            <a:r>
              <a:rPr lang="en-US" sz="7200" i="1" dirty="0"/>
              <a:t>be</a:t>
            </a:r>
            <a:r>
              <a:rPr lang="en-US" sz="7200" dirty="0"/>
              <a:t> </a:t>
            </a:r>
            <a:r>
              <a:rPr lang="en-US" sz="7200" i="1" dirty="0"/>
              <a:t>the</a:t>
            </a:r>
            <a:r>
              <a:rPr lang="en-US" sz="7200" dirty="0"/>
              <a:t> </a:t>
            </a:r>
            <a:r>
              <a:rPr lang="en-US" sz="7200" i="1" dirty="0"/>
              <a:t>pointer</a:t>
            </a:r>
            <a:r>
              <a:rPr lang="en-US" sz="7200" dirty="0"/>
              <a:t> </a:t>
            </a:r>
            <a:r>
              <a:rPr lang="en-US" sz="7200" i="1" dirty="0"/>
              <a:t>to</a:t>
            </a:r>
            <a:r>
              <a:rPr lang="en-US" sz="7200" dirty="0"/>
              <a:t> </a:t>
            </a:r>
            <a:r>
              <a:rPr lang="en-US" sz="7200" i="1" dirty="0"/>
              <a:t>first</a:t>
            </a:r>
            <a:r>
              <a:rPr lang="en-US" sz="7200" dirty="0"/>
              <a:t> </a:t>
            </a:r>
            <a:r>
              <a:rPr lang="en-US" sz="7200" i="1" dirty="0"/>
              <a:t>node</a:t>
            </a:r>
            <a:r>
              <a:rPr lang="en-US" sz="7200" dirty="0"/>
              <a:t> </a:t>
            </a:r>
            <a:r>
              <a:rPr lang="en-US" sz="7200" i="1" dirty="0"/>
              <a:t>in</a:t>
            </a:r>
            <a:r>
              <a:rPr lang="en-US" sz="7200" dirty="0"/>
              <a:t> </a:t>
            </a:r>
            <a:r>
              <a:rPr lang="en-US" sz="7200" i="1" dirty="0"/>
              <a:t>the</a:t>
            </a:r>
            <a:r>
              <a:rPr lang="en-US" sz="7200" dirty="0"/>
              <a:t> </a:t>
            </a:r>
            <a:r>
              <a:rPr lang="en-US" sz="7200" i="1" dirty="0"/>
              <a:t>current</a:t>
            </a:r>
            <a:r>
              <a:rPr lang="en-US" sz="7200" dirty="0"/>
              <a:t> </a:t>
            </a:r>
            <a:r>
              <a:rPr lang="en-US" sz="7200" i="1" dirty="0"/>
              <a:t>lis</a:t>
            </a:r>
            <a:r>
              <a:rPr lang="en-US" sz="7200" dirty="0"/>
              <a:t>t </a:t>
            </a:r>
          </a:p>
          <a:p>
            <a:pPr marL="0" indent="0">
              <a:buNone/>
            </a:pPr>
            <a:r>
              <a:rPr lang="en-US" sz="6400" dirty="0"/>
              <a:t>void </a:t>
            </a:r>
            <a:r>
              <a:rPr lang="en-US" sz="6400" dirty="0" err="1"/>
              <a:t>searchItem</a:t>
            </a:r>
            <a:r>
              <a:rPr lang="en-US" sz="6400" dirty="0"/>
              <a:t>()</a:t>
            </a:r>
          </a:p>
          <a:p>
            <a:pPr marL="0" indent="0">
              <a:buNone/>
            </a:pPr>
            <a:r>
              <a:rPr lang="en-US" sz="6400" dirty="0"/>
              <a:t>{</a:t>
            </a:r>
          </a:p>
          <a:p>
            <a:pPr marL="0" indent="0">
              <a:buNone/>
            </a:pPr>
            <a:r>
              <a:rPr lang="en-US" sz="6400" dirty="0"/>
              <a:t>	</a:t>
            </a:r>
            <a:r>
              <a:rPr lang="en-US" sz="6400" dirty="0" err="1"/>
              <a:t>NodeType</a:t>
            </a:r>
            <a:r>
              <a:rPr lang="en-US" sz="6400" dirty="0"/>
              <a:t> *temp; </a:t>
            </a:r>
            <a:r>
              <a:rPr lang="en-US" sz="6400" dirty="0" err="1"/>
              <a:t>int</a:t>
            </a:r>
            <a:r>
              <a:rPr lang="en-US" sz="6400" dirty="0"/>
              <a:t> key; </a:t>
            </a:r>
          </a:p>
          <a:p>
            <a:pPr marL="0" indent="0">
              <a:buNone/>
            </a:pPr>
            <a:r>
              <a:rPr lang="en-US" sz="6400" dirty="0"/>
              <a:t>	if(head==NULL) </a:t>
            </a:r>
          </a:p>
          <a:p>
            <a:pPr marL="0" indent="0">
              <a:buNone/>
            </a:pPr>
            <a:r>
              <a:rPr lang="en-US" sz="6400" dirty="0"/>
              <a:t>	{</a:t>
            </a:r>
          </a:p>
          <a:p>
            <a:pPr marL="0" indent="0">
              <a:buNone/>
            </a:pPr>
            <a:r>
              <a:rPr lang="en-US" sz="6400" dirty="0"/>
              <a:t>		</a:t>
            </a:r>
            <a:r>
              <a:rPr lang="en-US" sz="6400" dirty="0" err="1"/>
              <a:t>printf</a:t>
            </a:r>
            <a:r>
              <a:rPr lang="en-US" sz="6400" dirty="0"/>
              <a:t>(“empty list”); </a:t>
            </a:r>
          </a:p>
          <a:p>
            <a:pPr marL="0" indent="0">
              <a:buNone/>
            </a:pPr>
            <a:r>
              <a:rPr lang="en-US" sz="6400" dirty="0"/>
              <a:t>		exit(1);</a:t>
            </a:r>
          </a:p>
          <a:p>
            <a:pPr marL="0" indent="0">
              <a:buNone/>
            </a:pPr>
            <a:r>
              <a:rPr lang="en-US" sz="6400" dirty="0"/>
              <a:t>	} </a:t>
            </a:r>
          </a:p>
          <a:p>
            <a:pPr marL="0" indent="0">
              <a:buNone/>
            </a:pPr>
            <a:r>
              <a:rPr lang="en-US" sz="6400" dirty="0"/>
              <a:t>	else </a:t>
            </a:r>
          </a:p>
          <a:p>
            <a:pPr marL="0" indent="0">
              <a:buNone/>
            </a:pPr>
            <a:r>
              <a:rPr lang="en-US" sz="6400" dirty="0"/>
              <a:t>	{</a:t>
            </a:r>
          </a:p>
          <a:p>
            <a:pPr marL="0" indent="0">
              <a:buNone/>
            </a:pPr>
            <a:r>
              <a:rPr lang="en-US" sz="6400" dirty="0"/>
              <a:t>	</a:t>
            </a:r>
            <a:r>
              <a:rPr lang="en-US" sz="6400" dirty="0" err="1"/>
              <a:t>printf</a:t>
            </a:r>
            <a:r>
              <a:rPr lang="en-US" sz="6400" dirty="0"/>
              <a:t>(“Enter searched item”);</a:t>
            </a:r>
          </a:p>
          <a:p>
            <a:pPr marL="0" indent="0">
              <a:buNone/>
            </a:pPr>
            <a:r>
              <a:rPr lang="en-US" sz="6400" dirty="0"/>
              <a:t>	 </a:t>
            </a:r>
            <a:r>
              <a:rPr lang="en-US" sz="6400" dirty="0" err="1"/>
              <a:t>scanf</a:t>
            </a:r>
            <a:r>
              <a:rPr lang="en-US" sz="6400" dirty="0"/>
              <a:t>('%d” ,&amp;key); </a:t>
            </a:r>
          </a:p>
          <a:p>
            <a:pPr marL="0" indent="0">
              <a:buNone/>
            </a:pPr>
            <a:r>
              <a:rPr lang="en-US" sz="6400" dirty="0"/>
              <a:t>	temp=head; </a:t>
            </a:r>
          </a:p>
          <a:p>
            <a:pPr marL="0" indent="0">
              <a:buNone/>
            </a:pPr>
            <a:r>
              <a:rPr lang="en-US" sz="6400" dirty="0"/>
              <a:t>	while(temp!=NULL)</a:t>
            </a:r>
          </a:p>
          <a:p>
            <a:pPr marL="0" indent="0">
              <a:buNone/>
            </a:pPr>
            <a:r>
              <a:rPr lang="en-US" sz="6400" dirty="0"/>
              <a:t>	{</a:t>
            </a:r>
          </a:p>
          <a:p>
            <a:pPr marL="0" indent="0">
              <a:buNone/>
            </a:pPr>
            <a:r>
              <a:rPr lang="en-US" sz="6400" dirty="0"/>
              <a:t>		if(temp-&gt;info==key) </a:t>
            </a:r>
          </a:p>
          <a:p>
            <a:pPr marL="0" indent="0">
              <a:buNone/>
            </a:pPr>
            <a:r>
              <a:rPr lang="en-US" sz="6400" dirty="0"/>
              <a:t>		{</a:t>
            </a:r>
          </a:p>
          <a:p>
            <a:pPr marL="0" indent="0">
              <a:buNone/>
            </a:pPr>
            <a:r>
              <a:rPr lang="en-US" sz="6400" dirty="0"/>
              <a:t>		  </a:t>
            </a:r>
            <a:r>
              <a:rPr lang="en-US" sz="6400" dirty="0" err="1"/>
              <a:t>printf</a:t>
            </a:r>
            <a:r>
              <a:rPr lang="en-US" sz="6400" dirty="0"/>
              <a:t>(“Search successful”); break;</a:t>
            </a:r>
          </a:p>
          <a:p>
            <a:pPr marL="0" indent="0">
              <a:buNone/>
            </a:pPr>
            <a:r>
              <a:rPr lang="en-US" sz="6400" dirty="0"/>
              <a:t>		}</a:t>
            </a:r>
          </a:p>
          <a:p>
            <a:pPr marL="0" indent="0">
              <a:buNone/>
            </a:pPr>
            <a:r>
              <a:rPr lang="en-US" sz="6400" dirty="0"/>
              <a:t>		temp=temp-&gt;next; </a:t>
            </a:r>
          </a:p>
          <a:p>
            <a:pPr marL="0" indent="0">
              <a:buNone/>
            </a:pPr>
            <a:r>
              <a:rPr lang="en-US" sz="6400" dirty="0"/>
              <a:t>		}</a:t>
            </a:r>
          </a:p>
          <a:p>
            <a:pPr marL="0" indent="0">
              <a:buNone/>
            </a:pPr>
            <a:r>
              <a:rPr lang="en-US" sz="6400" dirty="0"/>
              <a:t>	if(temp==NULL) </a:t>
            </a:r>
          </a:p>
          <a:p>
            <a:pPr marL="0" indent="0">
              <a:buNone/>
            </a:pPr>
            <a:r>
              <a:rPr lang="en-US" sz="6400" dirty="0"/>
              <a:t>	  </a:t>
            </a:r>
            <a:r>
              <a:rPr lang="en-US" sz="6400" dirty="0" err="1"/>
              <a:t>printf</a:t>
            </a:r>
            <a:r>
              <a:rPr lang="en-US" sz="6400" dirty="0"/>
              <a:t>(“Unsuccessful search”);</a:t>
            </a:r>
          </a:p>
          <a:p>
            <a:pPr marL="0" indent="0">
              <a:buNone/>
            </a:pPr>
            <a:r>
              <a:rPr lang="en-US" sz="6400" dirty="0"/>
              <a:t>} }</a:t>
            </a:r>
          </a:p>
        </p:txBody>
      </p:sp>
    </p:spTree>
    <p:extLst>
      <p:ext uri="{BB962C8B-B14F-4D97-AF65-F5344CB8AC3E}">
        <p14:creationId xmlns:p14="http://schemas.microsoft.com/office/powerpoint/2010/main" val="271827718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382000" cy="1020762"/>
          </a:xfrm>
        </p:spPr>
        <p:txBody>
          <a:bodyPr>
            <a:noAutofit/>
          </a:bodyPr>
          <a:lstStyle/>
          <a:p>
            <a:r>
              <a:rPr lang="en-US" sz="2800" b="1" dirty="0"/>
              <a:t>Traversing a list and displaying information stored</a:t>
            </a:r>
            <a:endParaRPr lang="en-US" sz="2800" dirty="0"/>
          </a:p>
        </p:txBody>
      </p:sp>
      <p:sp>
        <p:nvSpPr>
          <p:cNvPr id="3" name="Content Placeholder 2"/>
          <p:cNvSpPr>
            <a:spLocks noGrp="1"/>
          </p:cNvSpPr>
          <p:nvPr>
            <p:ph idx="1"/>
          </p:nvPr>
        </p:nvSpPr>
        <p:spPr>
          <a:xfrm>
            <a:off x="1981200" y="1295400"/>
            <a:ext cx="8229600" cy="5181600"/>
          </a:xfrm>
        </p:spPr>
        <p:txBody>
          <a:bodyPr/>
          <a:lstStyle/>
          <a:p>
            <a:r>
              <a:rPr lang="en-US" dirty="0"/>
              <a:t>list traversal is the process of visiting all the nodes in the list. </a:t>
            </a:r>
            <a:endParaRPr lang="en-US" dirty="0" smtClean="0"/>
          </a:p>
          <a:p>
            <a:r>
              <a:rPr lang="en-US" dirty="0" smtClean="0"/>
              <a:t>Traversal </a:t>
            </a:r>
            <a:r>
              <a:rPr lang="en-US" dirty="0"/>
              <a:t>is generally needed to print the items stores in each node of the list. </a:t>
            </a:r>
            <a:endParaRPr lang="en-US" dirty="0" smtClean="0"/>
          </a:p>
          <a:p>
            <a:pPr marL="0" indent="0">
              <a:buNone/>
            </a:pPr>
            <a:r>
              <a:rPr lang="en-US" b="1" dirty="0"/>
              <a:t>Algorithm for traversing and displaying</a:t>
            </a:r>
          </a:p>
          <a:p>
            <a:pPr lvl="0"/>
            <a:r>
              <a:rPr lang="en-US" i="1" dirty="0"/>
              <a:t>If the list is empty, print no element exist. </a:t>
            </a:r>
          </a:p>
          <a:p>
            <a:pPr lvl="0"/>
            <a:r>
              <a:rPr lang="en-US" i="1" dirty="0"/>
              <a:t>Else, traverse until the temp is not NULL (temp!=NULL) </a:t>
            </a:r>
          </a:p>
          <a:p>
            <a:r>
              <a:rPr lang="en-US" i="1" dirty="0" smtClean="0"/>
              <a:t>While </a:t>
            </a:r>
            <a:r>
              <a:rPr lang="en-US" i="1" dirty="0"/>
              <a:t>traversing print the info part each time.</a:t>
            </a:r>
          </a:p>
        </p:txBody>
      </p:sp>
    </p:spTree>
    <p:extLst>
      <p:ext uri="{BB962C8B-B14F-4D97-AF65-F5344CB8AC3E}">
        <p14:creationId xmlns:p14="http://schemas.microsoft.com/office/powerpoint/2010/main" val="1772175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1000"/>
                                        <p:tgtEl>
                                          <p:spTgt spid="3">
                                            <p:txEl>
                                              <p:pRg st="3" end="3"/>
                                            </p:txEl>
                                          </p:spTgt>
                                        </p:tgtEl>
                                      </p:cBhvr>
                                    </p:animEffect>
                                    <p:anim calcmode="lin" valueType="num">
                                      <p:cBhvr>
                                        <p:cTn id="1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7"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1000"/>
                                        <p:tgtEl>
                                          <p:spTgt spid="3">
                                            <p:txEl>
                                              <p:pRg st="4" end="4"/>
                                            </p:txEl>
                                          </p:spTgt>
                                        </p:tgtEl>
                                      </p:cBhvr>
                                    </p:animEffect>
                                    <p:anim calcmode="lin" valueType="num">
                                      <p:cBhvr>
                                        <p:cTn id="21"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1000"/>
                                        <p:tgtEl>
                                          <p:spTgt spid="3">
                                            <p:txEl>
                                              <p:pRg st="5" end="5"/>
                                            </p:txEl>
                                          </p:spTgt>
                                        </p:tgtEl>
                                      </p:cBhvr>
                                    </p:animEffect>
                                    <p:anim calcmode="lin" valueType="num">
                                      <p:cBhvr>
                                        <p:cTn id="2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pPr marL="0" indent="0">
              <a:buNone/>
            </a:pPr>
            <a:r>
              <a:rPr lang="en-US" b="1" dirty="0"/>
              <a:t>C Code</a:t>
            </a:r>
            <a:endParaRPr lang="en-US" dirty="0"/>
          </a:p>
          <a:p>
            <a:pPr marL="0" indent="0">
              <a:buNone/>
            </a:pPr>
            <a:r>
              <a:rPr lang="en-US" dirty="0"/>
              <a:t>void display()</a:t>
            </a:r>
          </a:p>
          <a:p>
            <a:pPr marL="0" indent="0">
              <a:buNone/>
            </a:pPr>
            <a:r>
              <a:rPr lang="en-US" dirty="0"/>
              <a:t>{</a:t>
            </a:r>
          </a:p>
          <a:p>
            <a:pPr marL="0" indent="0">
              <a:buNone/>
            </a:pPr>
            <a:r>
              <a:rPr lang="en-US" dirty="0"/>
              <a:t>	</a:t>
            </a:r>
            <a:r>
              <a:rPr lang="en-US" dirty="0" err="1" smtClean="0"/>
              <a:t>nodeType</a:t>
            </a:r>
            <a:r>
              <a:rPr lang="en-US" dirty="0" smtClean="0"/>
              <a:t> </a:t>
            </a:r>
            <a:r>
              <a:rPr lang="en-US" dirty="0"/>
              <a:t>*temp;</a:t>
            </a:r>
          </a:p>
          <a:p>
            <a:pPr marL="0" indent="0">
              <a:buNone/>
            </a:pPr>
            <a:r>
              <a:rPr lang="en-US" dirty="0"/>
              <a:t>	</a:t>
            </a:r>
            <a:r>
              <a:rPr lang="en-US" dirty="0" err="1"/>
              <a:t>printf</a:t>
            </a:r>
            <a:r>
              <a:rPr lang="en-US" dirty="0"/>
              <a:t>("\</a:t>
            </a:r>
            <a:r>
              <a:rPr lang="en-US" dirty="0" err="1"/>
              <a:t>nElements</a:t>
            </a:r>
            <a:r>
              <a:rPr lang="en-US" dirty="0"/>
              <a:t> of linked list are");</a:t>
            </a:r>
          </a:p>
          <a:p>
            <a:pPr marL="0" indent="0">
              <a:buNone/>
            </a:pPr>
            <a:r>
              <a:rPr lang="en-US" dirty="0"/>
              <a:t>	</a:t>
            </a:r>
            <a:r>
              <a:rPr lang="en-US" dirty="0" smtClean="0"/>
              <a:t>temp=head;</a:t>
            </a:r>
            <a:endParaRPr lang="en-US" dirty="0"/>
          </a:p>
          <a:p>
            <a:pPr marL="0" indent="0">
              <a:buNone/>
            </a:pPr>
            <a:r>
              <a:rPr lang="en-US" dirty="0"/>
              <a:t>	while(temp!=NULL)</a:t>
            </a:r>
          </a:p>
          <a:p>
            <a:pPr marL="0" indent="0">
              <a:buNone/>
            </a:pPr>
            <a:r>
              <a:rPr lang="en-US" dirty="0"/>
              <a:t>	{</a:t>
            </a:r>
          </a:p>
          <a:p>
            <a:pPr marL="0" indent="0">
              <a:buNone/>
            </a:pPr>
            <a:r>
              <a:rPr lang="en-US" dirty="0"/>
              <a:t>		</a:t>
            </a:r>
            <a:r>
              <a:rPr lang="en-US" dirty="0" err="1"/>
              <a:t>printf</a:t>
            </a:r>
            <a:r>
              <a:rPr lang="en-US" dirty="0"/>
              <a:t>("%d\</a:t>
            </a:r>
            <a:r>
              <a:rPr lang="en-US" dirty="0" err="1"/>
              <a:t>t",temp</a:t>
            </a:r>
            <a:r>
              <a:rPr lang="en-US" dirty="0"/>
              <a:t>-&gt;info);</a:t>
            </a:r>
          </a:p>
          <a:p>
            <a:pPr marL="0" indent="0">
              <a:buNone/>
            </a:pPr>
            <a:r>
              <a:rPr lang="en-US" dirty="0"/>
              <a:t>		temp=temp-&gt;next;</a:t>
            </a:r>
          </a:p>
          <a:p>
            <a:pPr marL="0" indent="0">
              <a:buNone/>
            </a:pPr>
            <a:r>
              <a:rPr lang="en-US" dirty="0"/>
              <a:t>	</a:t>
            </a:r>
            <a:r>
              <a:rPr lang="en-US" dirty="0" smtClean="0"/>
              <a:t>}</a:t>
            </a:r>
          </a:p>
          <a:p>
            <a:pPr marL="0" indent="0">
              <a:buNone/>
            </a:pPr>
            <a:r>
              <a:rPr lang="en-US" dirty="0"/>
              <a:t> </a:t>
            </a:r>
            <a:r>
              <a:rPr lang="en-US" dirty="0" smtClean="0"/>
              <a:t> </a:t>
            </a:r>
            <a:r>
              <a:rPr lang="en-US" dirty="0" err="1" smtClean="0"/>
              <a:t>getch</a:t>
            </a:r>
            <a:r>
              <a:rPr lang="en-US" dirty="0" smtClean="0"/>
              <a:t>();   </a:t>
            </a:r>
            <a:endParaRPr lang="en-US" dirty="0"/>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240071147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92162"/>
          </a:xfrm>
        </p:spPr>
        <p:txBody>
          <a:bodyPr/>
          <a:lstStyle/>
          <a:p>
            <a:pPr algn="l"/>
            <a:r>
              <a:rPr lang="en-US" dirty="0" smtClean="0"/>
              <a:t>//Singly Linked list</a:t>
            </a:r>
            <a:endParaRPr lang="en-US" dirty="0"/>
          </a:p>
        </p:txBody>
      </p:sp>
      <p:sp>
        <p:nvSpPr>
          <p:cNvPr id="3" name="Content Placeholder 2"/>
          <p:cNvSpPr>
            <a:spLocks noGrp="1"/>
          </p:cNvSpPr>
          <p:nvPr>
            <p:ph idx="1"/>
          </p:nvPr>
        </p:nvSpPr>
        <p:spPr>
          <a:xfrm>
            <a:off x="2286000" y="1143001"/>
            <a:ext cx="7772400" cy="4983163"/>
          </a:xfrm>
        </p:spPr>
        <p:txBody>
          <a:bodyPr>
            <a:noAutofit/>
          </a:bodyPr>
          <a:lstStyle/>
          <a:p>
            <a:pPr marL="0" indent="0">
              <a:buNone/>
            </a:pPr>
            <a:r>
              <a:rPr lang="en-US" sz="2000" dirty="0"/>
              <a:t>#include&lt;</a:t>
            </a:r>
            <a:r>
              <a:rPr lang="en-US" sz="2000" dirty="0" err="1"/>
              <a:t>stdio.h</a:t>
            </a:r>
            <a:r>
              <a:rPr lang="en-US" sz="2000" dirty="0"/>
              <a:t>&gt;</a:t>
            </a:r>
          </a:p>
          <a:p>
            <a:pPr marL="0" indent="0">
              <a:buNone/>
            </a:pPr>
            <a:r>
              <a:rPr lang="en-US" sz="2000" dirty="0"/>
              <a:t>#include&lt;</a:t>
            </a:r>
            <a:r>
              <a:rPr lang="en-US" sz="2000" dirty="0" err="1"/>
              <a:t>conio.h</a:t>
            </a:r>
            <a:r>
              <a:rPr lang="en-US" sz="2000" dirty="0"/>
              <a:t>&gt;</a:t>
            </a:r>
          </a:p>
          <a:p>
            <a:pPr marL="0" indent="0">
              <a:buNone/>
            </a:pPr>
            <a:r>
              <a:rPr lang="en-US" sz="2000" dirty="0"/>
              <a:t>#include&lt;</a:t>
            </a:r>
            <a:r>
              <a:rPr lang="en-US" sz="2000" dirty="0" err="1"/>
              <a:t>stdlib.h</a:t>
            </a:r>
            <a:r>
              <a:rPr lang="en-US" sz="2000" dirty="0"/>
              <a:t>&gt;</a:t>
            </a:r>
          </a:p>
          <a:p>
            <a:pPr marL="0" indent="0">
              <a:buNone/>
            </a:pPr>
            <a:r>
              <a:rPr lang="en-US" sz="2000" dirty="0"/>
              <a:t>void </a:t>
            </a:r>
            <a:r>
              <a:rPr lang="en-US" sz="2000" dirty="0" err="1"/>
              <a:t>f_insert</a:t>
            </a:r>
            <a:r>
              <a:rPr lang="en-US" sz="2000" dirty="0"/>
              <a:t>();   //front</a:t>
            </a:r>
          </a:p>
          <a:p>
            <a:pPr marL="0" indent="0">
              <a:buNone/>
            </a:pPr>
            <a:r>
              <a:rPr lang="en-US" sz="2000" dirty="0"/>
              <a:t>void </a:t>
            </a:r>
            <a:r>
              <a:rPr lang="en-US" sz="2000" dirty="0" err="1"/>
              <a:t>e_insert</a:t>
            </a:r>
            <a:r>
              <a:rPr lang="en-US" sz="2000" dirty="0"/>
              <a:t>();   //end</a:t>
            </a:r>
          </a:p>
          <a:p>
            <a:pPr marL="0" indent="0">
              <a:buNone/>
            </a:pPr>
            <a:r>
              <a:rPr lang="en-US" sz="2000" dirty="0"/>
              <a:t>void </a:t>
            </a:r>
            <a:r>
              <a:rPr lang="en-US" sz="2000" dirty="0" err="1"/>
              <a:t>n_insert</a:t>
            </a:r>
            <a:r>
              <a:rPr lang="en-US" sz="2000" dirty="0"/>
              <a:t>();   //nth position</a:t>
            </a:r>
          </a:p>
          <a:p>
            <a:pPr marL="0" indent="0">
              <a:buNone/>
            </a:pPr>
            <a:r>
              <a:rPr lang="en-US" sz="2000" dirty="0"/>
              <a:t>void search();</a:t>
            </a:r>
          </a:p>
          <a:p>
            <a:pPr marL="0" indent="0">
              <a:buNone/>
            </a:pPr>
            <a:r>
              <a:rPr lang="en-US" sz="2000" dirty="0"/>
              <a:t>void display();</a:t>
            </a:r>
          </a:p>
          <a:p>
            <a:pPr marL="0" indent="0">
              <a:buNone/>
            </a:pPr>
            <a:r>
              <a:rPr lang="en-US" sz="2000" dirty="0"/>
              <a:t>void </a:t>
            </a:r>
            <a:r>
              <a:rPr lang="en-US" sz="2000" dirty="0" err="1"/>
              <a:t>e_del</a:t>
            </a:r>
            <a:r>
              <a:rPr lang="en-US" sz="2000" dirty="0"/>
              <a:t>();</a:t>
            </a:r>
          </a:p>
          <a:p>
            <a:pPr marL="0" indent="0">
              <a:buNone/>
            </a:pPr>
            <a:r>
              <a:rPr lang="en-US" sz="2000" dirty="0"/>
              <a:t>void </a:t>
            </a:r>
            <a:r>
              <a:rPr lang="en-US" sz="2000" dirty="0" err="1"/>
              <a:t>f_del</a:t>
            </a:r>
            <a:r>
              <a:rPr lang="en-US" sz="2000" dirty="0"/>
              <a:t>();</a:t>
            </a:r>
          </a:p>
          <a:p>
            <a:pPr marL="0" indent="0">
              <a:buNone/>
            </a:pPr>
            <a:r>
              <a:rPr lang="en-US" sz="2000" dirty="0"/>
              <a:t>void </a:t>
            </a:r>
            <a:r>
              <a:rPr lang="en-US" sz="2000" dirty="0" err="1"/>
              <a:t>n_del</a:t>
            </a:r>
            <a:r>
              <a:rPr lang="en-US" sz="2000" dirty="0"/>
              <a:t>();</a:t>
            </a:r>
          </a:p>
        </p:txBody>
      </p:sp>
    </p:spTree>
    <p:extLst>
      <p:ext uri="{BB962C8B-B14F-4D97-AF65-F5344CB8AC3E}">
        <p14:creationId xmlns:p14="http://schemas.microsoft.com/office/powerpoint/2010/main" val="727673510"/>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609601"/>
            <a:ext cx="8229600" cy="5516563"/>
          </a:xfrm>
        </p:spPr>
        <p:txBody>
          <a:bodyPr/>
          <a:lstStyle/>
          <a:p>
            <a:pPr marL="0" indent="0">
              <a:buNone/>
            </a:pPr>
            <a:r>
              <a:rPr lang="en-US" dirty="0" err="1" smtClean="0"/>
              <a:t>struct</a:t>
            </a:r>
            <a:r>
              <a:rPr lang="en-US" dirty="0" smtClean="0"/>
              <a:t> list</a:t>
            </a:r>
          </a:p>
          <a:p>
            <a:pPr marL="0" indent="0">
              <a:buNone/>
            </a:pPr>
            <a:r>
              <a:rPr lang="en-US" dirty="0" smtClean="0"/>
              <a:t>{</a:t>
            </a:r>
          </a:p>
          <a:p>
            <a:pPr marL="0" indent="0">
              <a:buNone/>
            </a:pPr>
            <a:r>
              <a:rPr lang="en-US" dirty="0" smtClean="0"/>
              <a:t>   </a:t>
            </a:r>
            <a:r>
              <a:rPr lang="en-US" dirty="0" err="1" smtClean="0"/>
              <a:t>int</a:t>
            </a:r>
            <a:r>
              <a:rPr lang="en-US" dirty="0" smtClean="0"/>
              <a:t> info;</a:t>
            </a:r>
          </a:p>
          <a:p>
            <a:pPr marL="0" indent="0">
              <a:buNone/>
            </a:pPr>
            <a:r>
              <a:rPr lang="en-US" dirty="0" smtClean="0"/>
              <a:t>   </a:t>
            </a:r>
            <a:r>
              <a:rPr lang="en-US" dirty="0" err="1" smtClean="0"/>
              <a:t>struct</a:t>
            </a:r>
            <a:r>
              <a:rPr lang="en-US" dirty="0" smtClean="0"/>
              <a:t> list *next;</a:t>
            </a:r>
          </a:p>
          <a:p>
            <a:pPr marL="0" indent="0">
              <a:buNone/>
            </a:pPr>
            <a:r>
              <a:rPr lang="en-US" dirty="0" smtClean="0"/>
              <a:t>};</a:t>
            </a:r>
          </a:p>
          <a:p>
            <a:pPr marL="0" indent="0">
              <a:buNone/>
            </a:pPr>
            <a:r>
              <a:rPr lang="en-US" dirty="0" err="1" smtClean="0"/>
              <a:t>typedef</a:t>
            </a:r>
            <a:r>
              <a:rPr lang="en-US" dirty="0" smtClean="0"/>
              <a:t> </a:t>
            </a:r>
            <a:r>
              <a:rPr lang="en-US" dirty="0" err="1" smtClean="0"/>
              <a:t>struct</a:t>
            </a:r>
            <a:r>
              <a:rPr lang="en-US" dirty="0" smtClean="0"/>
              <a:t> list node;</a:t>
            </a:r>
          </a:p>
          <a:p>
            <a:pPr marL="0" indent="0">
              <a:buNone/>
            </a:pPr>
            <a:r>
              <a:rPr lang="en-US" dirty="0" smtClean="0"/>
              <a:t>node *</a:t>
            </a:r>
            <a:r>
              <a:rPr lang="en-US" dirty="0" err="1" smtClean="0"/>
              <a:t>ptr</a:t>
            </a:r>
            <a:r>
              <a:rPr lang="en-US" dirty="0" smtClean="0"/>
              <a:t>,*start;</a:t>
            </a:r>
          </a:p>
        </p:txBody>
      </p:sp>
    </p:spTree>
    <p:extLst>
      <p:ext uri="{BB962C8B-B14F-4D97-AF65-F5344CB8AC3E}">
        <p14:creationId xmlns:p14="http://schemas.microsoft.com/office/powerpoint/2010/main" val="156706425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228600"/>
            <a:ext cx="8229600" cy="6477000"/>
          </a:xfrm>
        </p:spPr>
        <p:txBody>
          <a:bodyPr>
            <a:normAutofit fontScale="32500" lnSpcReduction="20000"/>
          </a:bodyPr>
          <a:lstStyle/>
          <a:p>
            <a:pPr marL="0" indent="0">
              <a:buNone/>
            </a:pPr>
            <a:r>
              <a:rPr lang="en-US" sz="4800" dirty="0"/>
              <a:t>void main()</a:t>
            </a:r>
          </a:p>
          <a:p>
            <a:pPr marL="0" indent="0">
              <a:buNone/>
            </a:pPr>
            <a:r>
              <a:rPr lang="en-US" sz="4800" dirty="0"/>
              <a:t>{</a:t>
            </a:r>
          </a:p>
          <a:p>
            <a:pPr marL="0" indent="0">
              <a:buNone/>
            </a:pPr>
            <a:r>
              <a:rPr lang="en-US" sz="4800" dirty="0"/>
              <a:t>   </a:t>
            </a:r>
            <a:r>
              <a:rPr lang="en-US" sz="4800" dirty="0" err="1"/>
              <a:t>int</a:t>
            </a:r>
            <a:r>
              <a:rPr lang="en-US" sz="4800" dirty="0"/>
              <a:t> c;</a:t>
            </a:r>
          </a:p>
          <a:p>
            <a:pPr marL="0" indent="0">
              <a:buNone/>
            </a:pPr>
            <a:r>
              <a:rPr lang="en-US" sz="4800" dirty="0"/>
              <a:t>   </a:t>
            </a:r>
            <a:r>
              <a:rPr lang="en-US" sz="4800" dirty="0" err="1"/>
              <a:t>ptr</a:t>
            </a:r>
            <a:r>
              <a:rPr lang="en-US" sz="4800" dirty="0"/>
              <a:t>=(node *)</a:t>
            </a:r>
            <a:r>
              <a:rPr lang="en-US" sz="4800" dirty="0" err="1"/>
              <a:t>malloc</a:t>
            </a:r>
            <a:r>
              <a:rPr lang="en-US" sz="4800" dirty="0"/>
              <a:t>(</a:t>
            </a:r>
            <a:r>
              <a:rPr lang="en-US" sz="4800" dirty="0" err="1"/>
              <a:t>sizeof</a:t>
            </a:r>
            <a:r>
              <a:rPr lang="en-US" sz="4800" dirty="0"/>
              <a:t>(node));</a:t>
            </a:r>
          </a:p>
          <a:p>
            <a:pPr marL="0" indent="0">
              <a:buNone/>
            </a:pPr>
            <a:r>
              <a:rPr lang="en-US" sz="4800" dirty="0"/>
              <a:t>   do</a:t>
            </a:r>
          </a:p>
          <a:p>
            <a:pPr marL="0" indent="0">
              <a:buNone/>
            </a:pPr>
            <a:r>
              <a:rPr lang="en-US" sz="4800" dirty="0"/>
              <a:t>   {</a:t>
            </a:r>
          </a:p>
          <a:p>
            <a:pPr marL="0" indent="0">
              <a:buNone/>
            </a:pPr>
            <a:r>
              <a:rPr lang="en-US" sz="4800" dirty="0"/>
              <a:t>      </a:t>
            </a:r>
            <a:r>
              <a:rPr lang="en-US" sz="4800" dirty="0" err="1"/>
              <a:t>clrscr</a:t>
            </a:r>
            <a:r>
              <a:rPr lang="en-US" sz="4800" dirty="0"/>
              <a:t>();</a:t>
            </a:r>
          </a:p>
          <a:p>
            <a:pPr marL="0" indent="0">
              <a:buNone/>
            </a:pPr>
            <a:r>
              <a:rPr lang="en-US" sz="4800" dirty="0"/>
              <a:t>      </a:t>
            </a:r>
            <a:r>
              <a:rPr lang="en-US" sz="4800" dirty="0" err="1"/>
              <a:t>printf</a:t>
            </a:r>
            <a:r>
              <a:rPr lang="en-US" sz="4800" dirty="0"/>
              <a:t>("\n Menu Provided");</a:t>
            </a:r>
          </a:p>
          <a:p>
            <a:pPr marL="0" indent="0">
              <a:buNone/>
            </a:pPr>
            <a:r>
              <a:rPr lang="en-US" sz="4800" dirty="0"/>
              <a:t>      </a:t>
            </a:r>
            <a:r>
              <a:rPr lang="en-US" sz="4800" dirty="0" err="1"/>
              <a:t>printf</a:t>
            </a:r>
            <a:r>
              <a:rPr lang="en-US" sz="4800" dirty="0"/>
              <a:t>("\n 1-&gt;Insert From front\n2-&gt;Insert from end </a:t>
            </a:r>
          </a:p>
          <a:p>
            <a:pPr marL="0" indent="0">
              <a:buNone/>
            </a:pPr>
            <a:r>
              <a:rPr lang="en-US" sz="4800" dirty="0"/>
              <a:t>	\n3-&gt;Insert from nth position\n4-&gt;Delete from front</a:t>
            </a:r>
          </a:p>
          <a:p>
            <a:pPr marL="0" indent="0">
              <a:buNone/>
            </a:pPr>
            <a:r>
              <a:rPr lang="en-US" sz="4800" dirty="0"/>
              <a:t>	\n5-&gt;Delete from end \n6-&gt;Delete from nth position\n7-&gt;Traverse</a:t>
            </a:r>
          </a:p>
          <a:p>
            <a:pPr marL="0" indent="0">
              <a:buNone/>
            </a:pPr>
            <a:r>
              <a:rPr lang="en-US" sz="4800" dirty="0"/>
              <a:t>	\n8-&gt;Search\n9-&gt;destroy\n10-&gt;exit");</a:t>
            </a:r>
          </a:p>
          <a:p>
            <a:pPr marL="0" indent="0">
              <a:buNone/>
            </a:pPr>
            <a:r>
              <a:rPr lang="en-US" sz="4800" dirty="0"/>
              <a:t>      </a:t>
            </a:r>
            <a:r>
              <a:rPr lang="en-US" sz="4800" dirty="0" err="1"/>
              <a:t>printf</a:t>
            </a:r>
            <a:r>
              <a:rPr lang="en-US" sz="4800" dirty="0"/>
              <a:t>("\n your option");</a:t>
            </a:r>
          </a:p>
          <a:p>
            <a:pPr marL="0" indent="0">
              <a:buNone/>
            </a:pPr>
            <a:r>
              <a:rPr lang="en-US" sz="4800" dirty="0"/>
              <a:t>      </a:t>
            </a:r>
            <a:r>
              <a:rPr lang="en-US" sz="4800" dirty="0" err="1"/>
              <a:t>scanf</a:t>
            </a:r>
            <a:r>
              <a:rPr lang="en-US" sz="4800" dirty="0"/>
              <a:t>("%</a:t>
            </a:r>
            <a:r>
              <a:rPr lang="en-US" sz="4800" dirty="0" err="1"/>
              <a:t>d",&amp;c</a:t>
            </a:r>
            <a:r>
              <a:rPr lang="en-US" sz="4800" dirty="0"/>
              <a:t>);</a:t>
            </a:r>
          </a:p>
          <a:p>
            <a:pPr marL="0" indent="0">
              <a:buNone/>
            </a:pPr>
            <a:r>
              <a:rPr lang="en-US" sz="4800" dirty="0"/>
              <a:t>      switch(c)</a:t>
            </a:r>
          </a:p>
          <a:p>
            <a:pPr marL="0" indent="0">
              <a:buNone/>
            </a:pPr>
            <a:r>
              <a:rPr lang="en-US" sz="4800" dirty="0"/>
              <a:t>      {</a:t>
            </a:r>
          </a:p>
          <a:p>
            <a:pPr marL="0" indent="0">
              <a:buNone/>
            </a:pPr>
            <a:r>
              <a:rPr lang="en-US" sz="4800" dirty="0"/>
              <a:t>         case 1:</a:t>
            </a:r>
          </a:p>
          <a:p>
            <a:pPr marL="0" indent="0">
              <a:buNone/>
            </a:pPr>
            <a:r>
              <a:rPr lang="en-US" sz="4800" dirty="0"/>
              <a:t>         </a:t>
            </a:r>
            <a:r>
              <a:rPr lang="en-US" sz="4800" dirty="0" err="1"/>
              <a:t>f_insert</a:t>
            </a:r>
            <a:r>
              <a:rPr lang="en-US" sz="4800" dirty="0"/>
              <a:t>();</a:t>
            </a:r>
          </a:p>
          <a:p>
            <a:pPr marL="0" indent="0">
              <a:buNone/>
            </a:pPr>
            <a:r>
              <a:rPr lang="en-US" sz="4800" dirty="0"/>
              <a:t>        	break;</a:t>
            </a:r>
          </a:p>
          <a:p>
            <a:pPr marL="0" indent="0">
              <a:buNone/>
            </a:pPr>
            <a:endParaRPr lang="en-US" sz="4800" dirty="0"/>
          </a:p>
          <a:p>
            <a:pPr marL="0" indent="0">
              <a:buNone/>
            </a:pPr>
            <a:r>
              <a:rPr lang="en-US" sz="4800" dirty="0"/>
              <a:t>         case 2:</a:t>
            </a:r>
          </a:p>
          <a:p>
            <a:pPr marL="0" indent="0">
              <a:buNone/>
            </a:pPr>
            <a:r>
              <a:rPr lang="en-US" sz="4800" dirty="0"/>
              <a:t>         </a:t>
            </a:r>
            <a:r>
              <a:rPr lang="en-US" sz="4800" dirty="0" err="1"/>
              <a:t>e_insert</a:t>
            </a:r>
            <a:r>
              <a:rPr lang="en-US" sz="4800" dirty="0"/>
              <a:t>();</a:t>
            </a:r>
          </a:p>
          <a:p>
            <a:pPr marL="0" indent="0">
              <a:buNone/>
            </a:pPr>
            <a:r>
              <a:rPr lang="en-US" sz="4800" dirty="0"/>
              <a:t>         break;</a:t>
            </a:r>
          </a:p>
          <a:p>
            <a:pPr marL="0" indent="0">
              <a:buNone/>
            </a:pPr>
            <a:endParaRPr lang="en-US" sz="4800" dirty="0"/>
          </a:p>
          <a:p>
            <a:pPr marL="0" indent="0">
              <a:buNone/>
            </a:pPr>
            <a:r>
              <a:rPr lang="en-US" sz="4800" dirty="0"/>
              <a:t>         </a:t>
            </a:r>
            <a:endParaRPr lang="en-US" dirty="0" smtClean="0"/>
          </a:p>
          <a:p>
            <a:pPr marL="0" indent="0">
              <a:buNone/>
            </a:pPr>
            <a:r>
              <a:rPr lang="en-US" dirty="0" smtClean="0"/>
              <a:t>         </a:t>
            </a:r>
            <a:endParaRPr lang="en-US" dirty="0"/>
          </a:p>
        </p:txBody>
      </p:sp>
    </p:spTree>
    <p:extLst>
      <p:ext uri="{BB962C8B-B14F-4D97-AF65-F5344CB8AC3E}">
        <p14:creationId xmlns:p14="http://schemas.microsoft.com/office/powerpoint/2010/main" val="214505615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33600" y="579438"/>
            <a:ext cx="7848600" cy="5440363"/>
          </a:xfrm>
        </p:spPr>
        <p:txBody>
          <a:bodyPr numCol="2">
            <a:normAutofit fontScale="40000" lnSpcReduction="20000"/>
          </a:bodyPr>
          <a:lstStyle/>
          <a:p>
            <a:pPr marL="0" indent="0">
              <a:buNone/>
            </a:pPr>
            <a:r>
              <a:rPr lang="en-US" dirty="0"/>
              <a:t> </a:t>
            </a:r>
            <a:r>
              <a:rPr lang="en-US" dirty="0" smtClean="0"/>
              <a:t>        </a:t>
            </a:r>
            <a:r>
              <a:rPr lang="en-US" sz="4500" dirty="0"/>
              <a:t>case 3:</a:t>
            </a:r>
          </a:p>
          <a:p>
            <a:pPr marL="0" indent="0">
              <a:buNone/>
            </a:pPr>
            <a:r>
              <a:rPr lang="en-US" sz="4500" dirty="0"/>
              <a:t>         </a:t>
            </a:r>
            <a:r>
              <a:rPr lang="en-US" sz="4500" dirty="0" err="1"/>
              <a:t>n_insert</a:t>
            </a:r>
            <a:r>
              <a:rPr lang="en-US" sz="4500" dirty="0"/>
              <a:t>();</a:t>
            </a:r>
          </a:p>
          <a:p>
            <a:pPr marL="0" indent="0">
              <a:buNone/>
            </a:pPr>
            <a:r>
              <a:rPr lang="en-US" sz="4500" dirty="0"/>
              <a:t>         break;</a:t>
            </a:r>
          </a:p>
          <a:p>
            <a:pPr marL="0" indent="0">
              <a:buNone/>
            </a:pPr>
            <a:endParaRPr lang="en-US" sz="4500" dirty="0"/>
          </a:p>
          <a:p>
            <a:pPr marL="0" indent="0">
              <a:buNone/>
            </a:pPr>
            <a:r>
              <a:rPr lang="en-US" sz="4500" dirty="0"/>
              <a:t>         case 4:</a:t>
            </a:r>
          </a:p>
          <a:p>
            <a:pPr marL="0" indent="0">
              <a:buNone/>
            </a:pPr>
            <a:r>
              <a:rPr lang="en-US" sz="4500" dirty="0"/>
              <a:t>         </a:t>
            </a:r>
            <a:r>
              <a:rPr lang="en-US" sz="4500" dirty="0" err="1"/>
              <a:t>f_del</a:t>
            </a:r>
            <a:r>
              <a:rPr lang="en-US" sz="4500" dirty="0"/>
              <a:t>();</a:t>
            </a:r>
          </a:p>
          <a:p>
            <a:pPr marL="0" indent="0">
              <a:buNone/>
            </a:pPr>
            <a:r>
              <a:rPr lang="en-US" sz="4500" dirty="0"/>
              <a:t>         break;</a:t>
            </a:r>
          </a:p>
          <a:p>
            <a:pPr marL="0" indent="0">
              <a:buNone/>
            </a:pPr>
            <a:endParaRPr lang="en-US" sz="4500" dirty="0"/>
          </a:p>
          <a:p>
            <a:pPr marL="0" indent="0">
              <a:buNone/>
            </a:pPr>
            <a:r>
              <a:rPr lang="en-US" sz="4500" dirty="0"/>
              <a:t>         case 5:</a:t>
            </a:r>
          </a:p>
          <a:p>
            <a:pPr marL="0" indent="0">
              <a:buNone/>
            </a:pPr>
            <a:r>
              <a:rPr lang="en-US" sz="4500" dirty="0"/>
              <a:t>         </a:t>
            </a:r>
            <a:r>
              <a:rPr lang="en-US" sz="4500" dirty="0" err="1"/>
              <a:t>e_del</a:t>
            </a:r>
            <a:r>
              <a:rPr lang="en-US" sz="4500" dirty="0"/>
              <a:t>();</a:t>
            </a:r>
          </a:p>
          <a:p>
            <a:pPr marL="0" indent="0">
              <a:buNone/>
            </a:pPr>
            <a:r>
              <a:rPr lang="en-US" sz="4500" dirty="0"/>
              <a:t>         break;</a:t>
            </a:r>
          </a:p>
          <a:p>
            <a:pPr marL="0" indent="0">
              <a:buNone/>
            </a:pPr>
            <a:endParaRPr lang="en-US" sz="4500" dirty="0"/>
          </a:p>
          <a:p>
            <a:pPr marL="0" indent="0">
              <a:buNone/>
            </a:pPr>
            <a:r>
              <a:rPr lang="en-US" sz="4500" dirty="0"/>
              <a:t>         case 6:</a:t>
            </a:r>
          </a:p>
          <a:p>
            <a:pPr marL="0" indent="0">
              <a:buNone/>
            </a:pPr>
            <a:r>
              <a:rPr lang="en-US" sz="4500" dirty="0"/>
              <a:t>         </a:t>
            </a:r>
            <a:r>
              <a:rPr lang="en-US" sz="4500" dirty="0" err="1"/>
              <a:t>n_del</a:t>
            </a:r>
            <a:r>
              <a:rPr lang="en-US" sz="4500" dirty="0"/>
              <a:t>();</a:t>
            </a:r>
          </a:p>
          <a:p>
            <a:pPr marL="0" indent="0">
              <a:buNone/>
            </a:pPr>
            <a:r>
              <a:rPr lang="en-US" sz="4500" dirty="0"/>
              <a:t>         break;</a:t>
            </a:r>
          </a:p>
          <a:p>
            <a:pPr marL="0" indent="0">
              <a:buNone/>
            </a:pPr>
            <a:endParaRPr lang="en-US" sz="4500" dirty="0"/>
          </a:p>
          <a:p>
            <a:pPr marL="0" indent="0">
              <a:buNone/>
            </a:pPr>
            <a:r>
              <a:rPr lang="en-US" sz="4500" dirty="0"/>
              <a:t>         case 7:</a:t>
            </a:r>
          </a:p>
          <a:p>
            <a:pPr marL="0" indent="0">
              <a:buNone/>
            </a:pPr>
            <a:r>
              <a:rPr lang="en-US" sz="4500" dirty="0"/>
              <a:t>         display();</a:t>
            </a:r>
          </a:p>
          <a:p>
            <a:pPr marL="0" indent="0">
              <a:buNone/>
            </a:pPr>
            <a:r>
              <a:rPr lang="en-US" sz="4500" dirty="0"/>
              <a:t>         break;</a:t>
            </a:r>
          </a:p>
          <a:p>
            <a:pPr marL="0" indent="0">
              <a:buNone/>
            </a:pPr>
            <a:endParaRPr lang="en-US" sz="4500" dirty="0"/>
          </a:p>
          <a:p>
            <a:pPr marL="0" indent="0">
              <a:buNone/>
            </a:pPr>
            <a:r>
              <a:rPr lang="en-US" sz="4500" dirty="0"/>
              <a:t>         case 8:</a:t>
            </a:r>
          </a:p>
          <a:p>
            <a:pPr marL="0" indent="0">
              <a:buNone/>
            </a:pPr>
            <a:r>
              <a:rPr lang="en-US" sz="4500" dirty="0"/>
              <a:t>         search();</a:t>
            </a:r>
          </a:p>
          <a:p>
            <a:pPr marL="0" indent="0">
              <a:buNone/>
            </a:pPr>
            <a:r>
              <a:rPr lang="en-US" sz="4500" dirty="0"/>
              <a:t>      	break;</a:t>
            </a:r>
          </a:p>
          <a:p>
            <a:pPr marL="0" indent="0">
              <a:buNone/>
            </a:pPr>
            <a:endParaRPr lang="en-US" sz="4500" dirty="0"/>
          </a:p>
          <a:p>
            <a:pPr marL="0" indent="0">
              <a:buNone/>
            </a:pPr>
            <a:r>
              <a:rPr lang="en-US" sz="4500" dirty="0"/>
              <a:t>         case 9:</a:t>
            </a:r>
          </a:p>
          <a:p>
            <a:pPr marL="0" indent="0">
              <a:buNone/>
            </a:pPr>
            <a:r>
              <a:rPr lang="en-US" sz="4500" dirty="0"/>
              <a:t>         destroy();</a:t>
            </a:r>
          </a:p>
          <a:p>
            <a:pPr marL="0" indent="0">
              <a:buNone/>
            </a:pPr>
            <a:r>
              <a:rPr lang="en-US" sz="4500" dirty="0"/>
              <a:t>         break;</a:t>
            </a:r>
          </a:p>
          <a:p>
            <a:pPr marL="0" indent="0">
              <a:buNone/>
            </a:pPr>
            <a:endParaRPr lang="en-US" sz="4500" dirty="0"/>
          </a:p>
          <a:p>
            <a:pPr marL="0" indent="0">
              <a:buNone/>
            </a:pPr>
            <a:r>
              <a:rPr lang="en-US" sz="4500" dirty="0"/>
              <a:t>         case 10:</a:t>
            </a:r>
          </a:p>
          <a:p>
            <a:pPr marL="0" indent="0">
              <a:buNone/>
            </a:pPr>
            <a:r>
              <a:rPr lang="en-US" sz="4500" dirty="0"/>
              <a:t>         exit(1);</a:t>
            </a:r>
          </a:p>
          <a:p>
            <a:pPr marL="0" indent="0">
              <a:buNone/>
            </a:pPr>
            <a:endParaRPr lang="en-US" sz="4500" dirty="0"/>
          </a:p>
          <a:p>
            <a:pPr marL="0" indent="0">
              <a:buNone/>
            </a:pPr>
            <a:r>
              <a:rPr lang="en-US" sz="4500" dirty="0"/>
              <a:t>         default:</a:t>
            </a:r>
          </a:p>
          <a:p>
            <a:pPr marL="0" indent="0">
              <a:buNone/>
            </a:pPr>
            <a:r>
              <a:rPr lang="en-US" sz="4500" dirty="0"/>
              <a:t>         </a:t>
            </a:r>
            <a:r>
              <a:rPr lang="en-US" sz="4500" dirty="0" err="1"/>
              <a:t>printf</a:t>
            </a:r>
            <a:r>
              <a:rPr lang="en-US" sz="4500" dirty="0"/>
              <a:t>("\n Wrong Selection");</a:t>
            </a:r>
          </a:p>
          <a:p>
            <a:pPr marL="0" indent="0">
              <a:buNone/>
            </a:pPr>
            <a:r>
              <a:rPr lang="en-US" sz="4500" dirty="0"/>
              <a:t>         break;</a:t>
            </a:r>
          </a:p>
          <a:p>
            <a:pPr marL="0" indent="0">
              <a:buNone/>
            </a:pPr>
            <a:r>
              <a:rPr lang="en-US" sz="4500" dirty="0"/>
              <a:t>      }</a:t>
            </a:r>
          </a:p>
          <a:p>
            <a:pPr marL="0" indent="0">
              <a:buNone/>
            </a:pPr>
            <a:r>
              <a:rPr lang="en-US" sz="4500" dirty="0"/>
              <a:t>   }while(c!=10);</a:t>
            </a:r>
          </a:p>
          <a:p>
            <a:pPr marL="0" indent="0">
              <a:buNone/>
            </a:pPr>
            <a:r>
              <a:rPr lang="en-US" sz="4500" dirty="0"/>
              <a:t>   </a:t>
            </a:r>
            <a:r>
              <a:rPr lang="en-US" sz="4500" dirty="0" err="1"/>
              <a:t>getch</a:t>
            </a:r>
            <a:r>
              <a:rPr lang="en-US" sz="4500" dirty="0"/>
              <a:t>();</a:t>
            </a:r>
          </a:p>
          <a:p>
            <a:pPr marL="0" indent="0">
              <a:buNone/>
            </a:pPr>
            <a:r>
              <a:rPr lang="en-US" sz="4500" dirty="0"/>
              <a:t>}</a:t>
            </a:r>
          </a:p>
          <a:p>
            <a:pPr marL="0" indent="0">
              <a:buNone/>
            </a:pPr>
            <a:endParaRPr lang="en-US" dirty="0"/>
          </a:p>
        </p:txBody>
      </p:sp>
    </p:spTree>
    <p:extLst>
      <p:ext uri="{BB962C8B-B14F-4D97-AF65-F5344CB8AC3E}">
        <p14:creationId xmlns:p14="http://schemas.microsoft.com/office/powerpoint/2010/main" val="109099984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457201"/>
            <a:ext cx="8229600" cy="5668963"/>
          </a:xfrm>
        </p:spPr>
        <p:txBody>
          <a:bodyPr>
            <a:normAutofit fontScale="62500" lnSpcReduction="20000"/>
          </a:bodyPr>
          <a:lstStyle/>
          <a:p>
            <a:pPr marL="0" indent="0">
              <a:buNone/>
            </a:pPr>
            <a:r>
              <a:rPr lang="en-US" dirty="0" smtClean="0"/>
              <a:t>void </a:t>
            </a:r>
            <a:r>
              <a:rPr lang="en-US" dirty="0" err="1" smtClean="0"/>
              <a:t>f_insert</a:t>
            </a:r>
            <a:r>
              <a:rPr lang="en-US" dirty="0" smtClean="0"/>
              <a:t>()</a:t>
            </a:r>
          </a:p>
          <a:p>
            <a:pPr marL="0" indent="0">
              <a:buNone/>
            </a:pPr>
            <a:r>
              <a:rPr lang="en-US" dirty="0" smtClean="0"/>
              <a:t>{</a:t>
            </a:r>
          </a:p>
          <a:p>
            <a:pPr marL="0" indent="0">
              <a:buNone/>
            </a:pPr>
            <a:r>
              <a:rPr lang="en-US" dirty="0" smtClean="0"/>
              <a:t>      node *item;</a:t>
            </a:r>
          </a:p>
          <a:p>
            <a:pPr marL="0" indent="0">
              <a:buNone/>
            </a:pPr>
            <a:r>
              <a:rPr lang="en-US" dirty="0" smtClean="0"/>
              <a:t>      item=(node *)</a:t>
            </a:r>
            <a:r>
              <a:rPr lang="en-US" dirty="0" err="1" smtClean="0"/>
              <a:t>malloc</a:t>
            </a:r>
            <a:r>
              <a:rPr lang="en-US" dirty="0" smtClean="0"/>
              <a:t>(</a:t>
            </a:r>
            <a:r>
              <a:rPr lang="en-US" dirty="0" err="1" smtClean="0"/>
              <a:t>sizeof</a:t>
            </a:r>
            <a:r>
              <a:rPr lang="en-US" dirty="0" smtClean="0"/>
              <a:t>(node));</a:t>
            </a:r>
          </a:p>
          <a:p>
            <a:pPr marL="0" indent="0">
              <a:buNone/>
            </a:pPr>
            <a:r>
              <a:rPr lang="en-US" dirty="0" smtClean="0"/>
              <a:t>      </a:t>
            </a:r>
            <a:r>
              <a:rPr lang="en-US" dirty="0" err="1" smtClean="0"/>
              <a:t>printf</a:t>
            </a:r>
            <a:r>
              <a:rPr lang="en-US" dirty="0" smtClean="0"/>
              <a:t>("\</a:t>
            </a:r>
            <a:r>
              <a:rPr lang="en-US" dirty="0" err="1" smtClean="0"/>
              <a:t>nEnter</a:t>
            </a:r>
            <a:r>
              <a:rPr lang="en-US" dirty="0" smtClean="0"/>
              <a:t> data to insert");</a:t>
            </a:r>
          </a:p>
          <a:p>
            <a:pPr marL="0" indent="0">
              <a:buNone/>
            </a:pPr>
            <a:r>
              <a:rPr lang="en-US" dirty="0" smtClean="0"/>
              <a:t>      </a:t>
            </a:r>
            <a:r>
              <a:rPr lang="en-US" dirty="0" err="1" smtClean="0"/>
              <a:t>scanf</a:t>
            </a:r>
            <a:r>
              <a:rPr lang="en-US" dirty="0" smtClean="0"/>
              <a:t>("%</a:t>
            </a:r>
            <a:r>
              <a:rPr lang="en-US" dirty="0" err="1" smtClean="0"/>
              <a:t>d",&amp;item</a:t>
            </a:r>
            <a:r>
              <a:rPr lang="en-US" dirty="0" smtClean="0"/>
              <a:t>-&gt;info);   //palace data into info</a:t>
            </a:r>
          </a:p>
          <a:p>
            <a:pPr marL="0" indent="0">
              <a:buNone/>
            </a:pPr>
            <a:r>
              <a:rPr lang="en-US" dirty="0" smtClean="0"/>
              <a:t>      if(start==NULL)</a:t>
            </a:r>
          </a:p>
          <a:p>
            <a:pPr marL="0" indent="0">
              <a:buNone/>
            </a:pPr>
            <a:r>
              <a:rPr lang="en-US" dirty="0" smtClean="0"/>
              <a:t>      {</a:t>
            </a:r>
          </a:p>
          <a:p>
            <a:pPr marL="0" indent="0">
              <a:buNone/>
            </a:pPr>
            <a:r>
              <a:rPr lang="en-US" dirty="0" smtClean="0"/>
              <a:t>         item-&gt;next=NULL;	// item is a pointer</a:t>
            </a:r>
          </a:p>
          <a:p>
            <a:pPr marL="0" indent="0">
              <a:buNone/>
            </a:pPr>
            <a:r>
              <a:rPr lang="en-US" dirty="0" smtClean="0"/>
              <a:t>         start=item;		//head=item	</a:t>
            </a:r>
          </a:p>
          <a:p>
            <a:pPr marL="0" indent="0">
              <a:buNone/>
            </a:pPr>
            <a:r>
              <a:rPr lang="en-US" dirty="0" smtClean="0"/>
              <a:t>      }</a:t>
            </a:r>
          </a:p>
          <a:p>
            <a:pPr marL="0" indent="0">
              <a:buNone/>
            </a:pPr>
            <a:r>
              <a:rPr lang="en-US" dirty="0" smtClean="0"/>
              <a:t>      else</a:t>
            </a:r>
          </a:p>
          <a:p>
            <a:pPr marL="0" indent="0">
              <a:buNone/>
            </a:pPr>
            <a:r>
              <a:rPr lang="en-US" dirty="0" smtClean="0"/>
              <a:t>      {</a:t>
            </a:r>
          </a:p>
          <a:p>
            <a:pPr marL="0" indent="0">
              <a:buNone/>
            </a:pPr>
            <a:r>
              <a:rPr lang="en-US" dirty="0" smtClean="0"/>
              <a:t>         item-&gt;next=start;		//head-&gt;next==start</a:t>
            </a:r>
          </a:p>
          <a:p>
            <a:pPr marL="0" indent="0">
              <a:buNone/>
            </a:pPr>
            <a:r>
              <a:rPr lang="en-US" dirty="0" smtClean="0"/>
              <a:t>         start=item;			</a:t>
            </a:r>
            <a:r>
              <a:rPr lang="en-US" smtClean="0"/>
              <a:t>//start=item</a:t>
            </a:r>
            <a:endParaRPr lang="en-US" dirty="0" smtClean="0"/>
          </a:p>
          <a:p>
            <a:pPr marL="0" indent="0">
              <a:buNone/>
            </a:pPr>
            <a:r>
              <a:rPr lang="en-US" dirty="0" smtClean="0"/>
              <a:t>      }</a:t>
            </a:r>
          </a:p>
          <a:p>
            <a:pPr marL="0" indent="0">
              <a:buNone/>
            </a:pPr>
            <a:r>
              <a:rPr lang="en-US" dirty="0" smtClean="0"/>
              <a:t>}</a:t>
            </a:r>
          </a:p>
          <a:p>
            <a:pPr marL="0" indent="0">
              <a:buNone/>
            </a:pPr>
            <a:endParaRPr lang="en-US" dirty="0"/>
          </a:p>
        </p:txBody>
      </p:sp>
    </p:spTree>
    <p:extLst>
      <p:ext uri="{BB962C8B-B14F-4D97-AF65-F5344CB8AC3E}">
        <p14:creationId xmlns:p14="http://schemas.microsoft.com/office/powerpoint/2010/main" val="2433041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90800" y="609600"/>
            <a:ext cx="6629400" cy="5562600"/>
          </a:xfrm>
        </p:spPr>
        <p:txBody>
          <a:bodyPr>
            <a:normAutofit fontScale="62500" lnSpcReduction="20000"/>
          </a:bodyPr>
          <a:lstStyle/>
          <a:p>
            <a:pPr marL="0" indent="0">
              <a:buNone/>
            </a:pPr>
            <a:r>
              <a:rPr lang="en-US" dirty="0" smtClean="0"/>
              <a:t>void </a:t>
            </a:r>
            <a:r>
              <a:rPr lang="en-US" dirty="0" err="1" smtClean="0"/>
              <a:t>e_insert</a:t>
            </a:r>
            <a:r>
              <a:rPr lang="en-US" dirty="0" smtClean="0"/>
              <a:t>()</a:t>
            </a:r>
          </a:p>
          <a:p>
            <a:pPr marL="0" indent="0">
              <a:buNone/>
            </a:pPr>
            <a:r>
              <a:rPr lang="en-US" dirty="0" smtClean="0"/>
              <a:t>      {</a:t>
            </a:r>
          </a:p>
          <a:p>
            <a:pPr marL="0" indent="0">
              <a:buNone/>
            </a:pPr>
            <a:r>
              <a:rPr lang="en-US" dirty="0" smtClean="0"/>
              <a:t>         node *item,*temp;</a:t>
            </a:r>
          </a:p>
          <a:p>
            <a:pPr marL="0" indent="0">
              <a:buNone/>
            </a:pPr>
            <a:r>
              <a:rPr lang="en-US" dirty="0" smtClean="0"/>
              <a:t>         item=(node *)</a:t>
            </a:r>
            <a:r>
              <a:rPr lang="en-US" dirty="0" err="1" smtClean="0"/>
              <a:t>malloc</a:t>
            </a:r>
            <a:r>
              <a:rPr lang="en-US" dirty="0" smtClean="0"/>
              <a:t>(</a:t>
            </a:r>
            <a:r>
              <a:rPr lang="en-US" dirty="0" err="1" smtClean="0"/>
              <a:t>sizeof</a:t>
            </a:r>
            <a:r>
              <a:rPr lang="en-US" dirty="0" smtClean="0"/>
              <a:t>(node));</a:t>
            </a:r>
          </a:p>
          <a:p>
            <a:pPr marL="0" indent="0">
              <a:buNone/>
            </a:pPr>
            <a:r>
              <a:rPr lang="en-US" dirty="0" smtClean="0"/>
              <a:t>         </a:t>
            </a:r>
            <a:r>
              <a:rPr lang="en-US" dirty="0" err="1" smtClean="0"/>
              <a:t>printf</a:t>
            </a:r>
            <a:r>
              <a:rPr lang="en-US" dirty="0" smtClean="0"/>
              <a:t>("\</a:t>
            </a:r>
            <a:r>
              <a:rPr lang="en-US" dirty="0" err="1" smtClean="0"/>
              <a:t>nEnter</a:t>
            </a:r>
            <a:r>
              <a:rPr lang="en-US" dirty="0" smtClean="0"/>
              <a:t> data to insert:");</a:t>
            </a:r>
          </a:p>
          <a:p>
            <a:pPr marL="0" indent="0">
              <a:buNone/>
            </a:pPr>
            <a:r>
              <a:rPr lang="en-US" dirty="0" smtClean="0"/>
              <a:t>         </a:t>
            </a:r>
            <a:r>
              <a:rPr lang="en-US" dirty="0" err="1" smtClean="0"/>
              <a:t>scanf</a:t>
            </a:r>
            <a:r>
              <a:rPr lang="en-US" dirty="0" smtClean="0"/>
              <a:t>("%</a:t>
            </a:r>
            <a:r>
              <a:rPr lang="en-US" dirty="0" err="1" smtClean="0"/>
              <a:t>d",&amp;item</a:t>
            </a:r>
            <a:r>
              <a:rPr lang="en-US" dirty="0" smtClean="0"/>
              <a:t>-&gt;info);</a:t>
            </a:r>
          </a:p>
          <a:p>
            <a:pPr marL="0" indent="0">
              <a:buNone/>
            </a:pPr>
            <a:r>
              <a:rPr lang="en-US" dirty="0" smtClean="0"/>
              <a:t>         item-&gt;next=NULL;</a:t>
            </a:r>
          </a:p>
          <a:p>
            <a:pPr marL="0" indent="0">
              <a:buNone/>
            </a:pPr>
            <a:r>
              <a:rPr lang="en-US" dirty="0" smtClean="0"/>
              <a:t>         if(start==NULL)</a:t>
            </a:r>
          </a:p>
          <a:p>
            <a:pPr marL="0" indent="0">
              <a:buNone/>
            </a:pPr>
            <a:r>
              <a:rPr lang="en-US" dirty="0" smtClean="0"/>
              <a:t>         start=item;</a:t>
            </a:r>
          </a:p>
          <a:p>
            <a:pPr marL="0" indent="0">
              <a:buNone/>
            </a:pPr>
            <a:r>
              <a:rPr lang="en-US" dirty="0" smtClean="0"/>
              <a:t>         else</a:t>
            </a:r>
          </a:p>
          <a:p>
            <a:pPr marL="0" indent="0">
              <a:buNone/>
            </a:pPr>
            <a:r>
              <a:rPr lang="en-US" dirty="0" smtClean="0"/>
              <a:t>         {</a:t>
            </a:r>
          </a:p>
          <a:p>
            <a:pPr marL="0" indent="0">
              <a:buNone/>
            </a:pPr>
            <a:r>
              <a:rPr lang="en-US" dirty="0" smtClean="0"/>
              <a:t>            temp=start;</a:t>
            </a:r>
          </a:p>
          <a:p>
            <a:pPr marL="0" indent="0">
              <a:buNone/>
            </a:pPr>
            <a:r>
              <a:rPr lang="en-US" dirty="0" smtClean="0"/>
              <a:t>            while(temp-&gt;next!=NULL)</a:t>
            </a:r>
          </a:p>
          <a:p>
            <a:pPr marL="0" indent="0">
              <a:buNone/>
            </a:pPr>
            <a:r>
              <a:rPr lang="en-US" dirty="0" smtClean="0"/>
              <a:t>               temp=temp-&gt;next;</a:t>
            </a:r>
          </a:p>
          <a:p>
            <a:pPr marL="0" indent="0">
              <a:buNone/>
            </a:pPr>
            <a:r>
              <a:rPr lang="en-US" dirty="0" smtClean="0"/>
              <a:t>            temp-&gt;next=item;</a:t>
            </a:r>
          </a:p>
          <a:p>
            <a:pPr marL="0" indent="0">
              <a:buNone/>
            </a:pPr>
            <a:r>
              <a:rPr lang="en-US" dirty="0" smtClean="0"/>
              <a:t>         }</a:t>
            </a:r>
          </a:p>
          <a:p>
            <a:pPr marL="0" indent="0">
              <a:buNone/>
            </a:pPr>
            <a:r>
              <a:rPr lang="en-US" dirty="0" smtClean="0"/>
              <a:t>      }</a:t>
            </a:r>
          </a:p>
          <a:p>
            <a:pPr marL="0" indent="0">
              <a:buNone/>
            </a:pPr>
            <a:endParaRPr lang="en-US" dirty="0"/>
          </a:p>
        </p:txBody>
      </p:sp>
    </p:spTree>
    <p:extLst>
      <p:ext uri="{BB962C8B-B14F-4D97-AF65-F5344CB8AC3E}">
        <p14:creationId xmlns:p14="http://schemas.microsoft.com/office/powerpoint/2010/main" val="4243520460"/>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533401"/>
            <a:ext cx="8229600" cy="5592763"/>
          </a:xfrm>
        </p:spPr>
        <p:txBody>
          <a:bodyPr>
            <a:normAutofit fontScale="55000" lnSpcReduction="20000"/>
          </a:bodyPr>
          <a:lstStyle/>
          <a:p>
            <a:pPr marL="0" indent="0">
              <a:buNone/>
            </a:pPr>
            <a:r>
              <a:rPr lang="en-US" dirty="0" smtClean="0"/>
              <a:t>void </a:t>
            </a:r>
            <a:r>
              <a:rPr lang="en-US" dirty="0" err="1" smtClean="0"/>
              <a:t>n_insert</a:t>
            </a:r>
            <a:r>
              <a:rPr lang="en-US" dirty="0" smtClean="0"/>
              <a:t>()</a:t>
            </a:r>
          </a:p>
          <a:p>
            <a:pPr marL="0" indent="0">
              <a:buNone/>
            </a:pPr>
            <a:r>
              <a:rPr lang="en-US" dirty="0" smtClean="0"/>
              <a:t>{</a:t>
            </a:r>
          </a:p>
          <a:p>
            <a:pPr marL="0" indent="0">
              <a:buNone/>
            </a:pPr>
            <a:r>
              <a:rPr lang="en-US" dirty="0" smtClean="0"/>
              <a:t>      node *item;</a:t>
            </a:r>
          </a:p>
          <a:p>
            <a:pPr marL="0" indent="0">
              <a:buNone/>
            </a:pPr>
            <a:r>
              <a:rPr lang="en-US" dirty="0" smtClean="0"/>
              <a:t>      </a:t>
            </a:r>
            <a:r>
              <a:rPr lang="en-US" dirty="0" err="1" smtClean="0"/>
              <a:t>int</a:t>
            </a:r>
            <a:r>
              <a:rPr lang="en-US" dirty="0" smtClean="0"/>
              <a:t> </a:t>
            </a:r>
            <a:r>
              <a:rPr lang="en-US" dirty="0" err="1" smtClean="0"/>
              <a:t>n,count</a:t>
            </a:r>
            <a:r>
              <a:rPr lang="en-US" dirty="0" smtClean="0"/>
              <a:t>=1;</a:t>
            </a:r>
          </a:p>
          <a:p>
            <a:pPr marL="0" indent="0">
              <a:buNone/>
            </a:pPr>
            <a:r>
              <a:rPr lang="en-US" dirty="0" smtClean="0"/>
              <a:t>      node *</a:t>
            </a:r>
            <a:r>
              <a:rPr lang="en-US" dirty="0" err="1" smtClean="0"/>
              <a:t>ptr</a:t>
            </a:r>
            <a:r>
              <a:rPr lang="en-US" dirty="0" smtClean="0"/>
              <a:t>,*temp;</a:t>
            </a:r>
          </a:p>
          <a:p>
            <a:pPr marL="0" indent="0">
              <a:buNone/>
            </a:pPr>
            <a:r>
              <a:rPr lang="en-US" dirty="0" smtClean="0"/>
              <a:t>      item=(node *)</a:t>
            </a:r>
            <a:r>
              <a:rPr lang="en-US" dirty="0" err="1" smtClean="0"/>
              <a:t>malloc</a:t>
            </a:r>
            <a:r>
              <a:rPr lang="en-US" dirty="0" smtClean="0"/>
              <a:t>(</a:t>
            </a:r>
            <a:r>
              <a:rPr lang="en-US" dirty="0" err="1" smtClean="0"/>
              <a:t>sizeof</a:t>
            </a:r>
            <a:r>
              <a:rPr lang="en-US" dirty="0" smtClean="0"/>
              <a:t>(node));</a:t>
            </a:r>
          </a:p>
          <a:p>
            <a:pPr marL="0" indent="0">
              <a:buNone/>
            </a:pPr>
            <a:r>
              <a:rPr lang="en-US" dirty="0" smtClean="0"/>
              <a:t>      </a:t>
            </a:r>
            <a:r>
              <a:rPr lang="en-US" dirty="0" err="1" smtClean="0"/>
              <a:t>printf</a:t>
            </a:r>
            <a:r>
              <a:rPr lang="en-US" dirty="0" smtClean="0"/>
              <a:t>("\</a:t>
            </a:r>
            <a:r>
              <a:rPr lang="en-US" dirty="0" err="1" smtClean="0"/>
              <a:t>nEnter</a:t>
            </a:r>
            <a:r>
              <a:rPr lang="en-US" dirty="0" smtClean="0"/>
              <a:t> the position");</a:t>
            </a:r>
          </a:p>
          <a:p>
            <a:pPr marL="0" indent="0">
              <a:buNone/>
            </a:pPr>
            <a:r>
              <a:rPr lang="en-US" dirty="0" smtClean="0"/>
              <a:t>      </a:t>
            </a:r>
            <a:r>
              <a:rPr lang="en-US" dirty="0" err="1" smtClean="0"/>
              <a:t>scanf</a:t>
            </a:r>
            <a:r>
              <a:rPr lang="en-US" dirty="0" smtClean="0"/>
              <a:t>("%</a:t>
            </a:r>
            <a:r>
              <a:rPr lang="en-US" dirty="0" err="1" smtClean="0"/>
              <a:t>d",&amp;n</a:t>
            </a:r>
            <a:r>
              <a:rPr lang="en-US" dirty="0" smtClean="0"/>
              <a:t>);</a:t>
            </a:r>
          </a:p>
          <a:p>
            <a:pPr marL="0" indent="0">
              <a:buNone/>
            </a:pPr>
            <a:r>
              <a:rPr lang="en-US" dirty="0" smtClean="0"/>
              <a:t>      </a:t>
            </a:r>
            <a:r>
              <a:rPr lang="en-US" dirty="0" err="1" smtClean="0"/>
              <a:t>printf</a:t>
            </a:r>
            <a:r>
              <a:rPr lang="en-US" dirty="0" smtClean="0"/>
              <a:t>("\</a:t>
            </a:r>
            <a:r>
              <a:rPr lang="en-US" dirty="0" err="1" smtClean="0"/>
              <a:t>nenter</a:t>
            </a:r>
            <a:r>
              <a:rPr lang="en-US" dirty="0" smtClean="0"/>
              <a:t> the data to insert");</a:t>
            </a:r>
          </a:p>
          <a:p>
            <a:pPr marL="0" indent="0">
              <a:buNone/>
            </a:pPr>
            <a:r>
              <a:rPr lang="en-US" dirty="0" smtClean="0"/>
              <a:t>      </a:t>
            </a:r>
            <a:r>
              <a:rPr lang="en-US" dirty="0" err="1" smtClean="0"/>
              <a:t>scanf</a:t>
            </a:r>
            <a:r>
              <a:rPr lang="en-US" dirty="0" smtClean="0"/>
              <a:t>("%</a:t>
            </a:r>
            <a:r>
              <a:rPr lang="en-US" dirty="0" err="1" smtClean="0"/>
              <a:t>d",&amp;item</a:t>
            </a:r>
            <a:r>
              <a:rPr lang="en-US" dirty="0" smtClean="0"/>
              <a:t>-&gt;info);</a:t>
            </a:r>
          </a:p>
          <a:p>
            <a:pPr marL="0" indent="0">
              <a:buNone/>
            </a:pPr>
            <a:r>
              <a:rPr lang="en-US" dirty="0" smtClean="0"/>
              <a:t>      temp=start;</a:t>
            </a:r>
          </a:p>
          <a:p>
            <a:pPr marL="0" indent="0">
              <a:buNone/>
            </a:pPr>
            <a:r>
              <a:rPr lang="en-US" dirty="0" smtClean="0"/>
              <a:t>      while(count&lt;n)</a:t>
            </a:r>
          </a:p>
          <a:p>
            <a:pPr marL="0" indent="0">
              <a:buNone/>
            </a:pPr>
            <a:r>
              <a:rPr lang="en-US" dirty="0" smtClean="0"/>
              <a:t>      {</a:t>
            </a:r>
          </a:p>
          <a:p>
            <a:pPr marL="0" indent="0">
              <a:buNone/>
            </a:pPr>
            <a:r>
              <a:rPr lang="en-US" dirty="0" smtClean="0"/>
              <a:t>         temp=temp-&gt;next;</a:t>
            </a:r>
          </a:p>
          <a:p>
            <a:pPr marL="0" indent="0">
              <a:buNone/>
            </a:pPr>
            <a:r>
              <a:rPr lang="en-US" dirty="0" smtClean="0"/>
              <a:t>         count++;</a:t>
            </a:r>
          </a:p>
          <a:p>
            <a:pPr marL="0" indent="0">
              <a:buNone/>
            </a:pPr>
            <a:r>
              <a:rPr lang="en-US" dirty="0" smtClean="0"/>
              <a:t>      }</a:t>
            </a:r>
          </a:p>
          <a:p>
            <a:pPr marL="0" indent="0">
              <a:buNone/>
            </a:pPr>
            <a:r>
              <a:rPr lang="en-US" dirty="0" smtClean="0"/>
              <a:t>      item-&gt;next=temp-&gt;next;</a:t>
            </a:r>
          </a:p>
          <a:p>
            <a:pPr marL="0" indent="0">
              <a:buNone/>
            </a:pPr>
            <a:r>
              <a:rPr lang="en-US" dirty="0" smtClean="0"/>
              <a:t>      temp-&gt;next=item;</a:t>
            </a:r>
          </a:p>
          <a:p>
            <a:pPr marL="0" indent="0">
              <a:buNone/>
            </a:pPr>
            <a:r>
              <a:rPr lang="en-US" dirty="0" smtClean="0"/>
              <a:t>}</a:t>
            </a:r>
            <a:endParaRPr lang="en-US" dirty="0"/>
          </a:p>
        </p:txBody>
      </p:sp>
    </p:spTree>
    <p:extLst>
      <p:ext uri="{BB962C8B-B14F-4D97-AF65-F5344CB8AC3E}">
        <p14:creationId xmlns:p14="http://schemas.microsoft.com/office/powerpoint/2010/main" val="79495753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609601"/>
            <a:ext cx="8229600" cy="5516563"/>
          </a:xfrm>
        </p:spPr>
        <p:txBody>
          <a:bodyPr>
            <a:normAutofit fontScale="92500" lnSpcReduction="20000"/>
          </a:bodyPr>
          <a:lstStyle/>
          <a:p>
            <a:pPr marL="0" indent="0">
              <a:buNone/>
            </a:pPr>
            <a:r>
              <a:rPr lang="en-US" dirty="0" smtClean="0"/>
              <a:t>void display()</a:t>
            </a:r>
          </a:p>
          <a:p>
            <a:pPr marL="0" indent="0">
              <a:buNone/>
            </a:pPr>
            <a:r>
              <a:rPr lang="en-US" dirty="0" smtClean="0"/>
              <a:t>{</a:t>
            </a:r>
          </a:p>
          <a:p>
            <a:pPr marL="0" indent="0">
              <a:buNone/>
            </a:pPr>
            <a:r>
              <a:rPr lang="en-US" dirty="0" smtClean="0"/>
              <a:t>   node *temp;</a:t>
            </a:r>
          </a:p>
          <a:p>
            <a:pPr marL="0" indent="0">
              <a:buNone/>
            </a:pPr>
            <a:r>
              <a:rPr lang="en-US" dirty="0" smtClean="0"/>
              <a:t>      </a:t>
            </a:r>
            <a:r>
              <a:rPr lang="en-US" dirty="0" err="1" smtClean="0"/>
              <a:t>printf</a:t>
            </a:r>
            <a:r>
              <a:rPr lang="en-US" dirty="0" smtClean="0"/>
              <a:t>("\n Elements of linked list are");</a:t>
            </a:r>
          </a:p>
          <a:p>
            <a:pPr marL="0" indent="0">
              <a:buNone/>
            </a:pPr>
            <a:r>
              <a:rPr lang="en-US" dirty="0" smtClean="0"/>
              <a:t>      temp=start;</a:t>
            </a:r>
          </a:p>
          <a:p>
            <a:pPr marL="0" indent="0">
              <a:buNone/>
            </a:pPr>
            <a:r>
              <a:rPr lang="en-US" dirty="0" smtClean="0"/>
              <a:t>      while(temp!=NULL)</a:t>
            </a:r>
          </a:p>
          <a:p>
            <a:pPr marL="0" indent="0">
              <a:buNone/>
            </a:pPr>
            <a:r>
              <a:rPr lang="en-US" dirty="0" smtClean="0"/>
              <a:t>      {</a:t>
            </a:r>
          </a:p>
          <a:p>
            <a:pPr marL="0" indent="0">
              <a:buNone/>
            </a:pPr>
            <a:r>
              <a:rPr lang="en-US" dirty="0" smtClean="0"/>
              <a:t>         </a:t>
            </a:r>
            <a:r>
              <a:rPr lang="en-US" dirty="0" err="1" smtClean="0"/>
              <a:t>printf</a:t>
            </a:r>
            <a:r>
              <a:rPr lang="en-US" dirty="0" smtClean="0"/>
              <a:t>("\</a:t>
            </a:r>
            <a:r>
              <a:rPr lang="en-US" dirty="0" err="1" smtClean="0"/>
              <a:t>t%d</a:t>
            </a:r>
            <a:r>
              <a:rPr lang="en-US" dirty="0" smtClean="0"/>
              <a:t>",temp-&gt;info);</a:t>
            </a:r>
          </a:p>
          <a:p>
            <a:pPr marL="0" indent="0">
              <a:buNone/>
            </a:pPr>
            <a:r>
              <a:rPr lang="en-US" dirty="0" smtClean="0"/>
              <a:t>         temp=temp-&gt;next;</a:t>
            </a:r>
          </a:p>
          <a:p>
            <a:pPr marL="0" indent="0">
              <a:buNone/>
            </a:pPr>
            <a:r>
              <a:rPr lang="en-US" dirty="0" smtClean="0"/>
              <a:t>      }</a:t>
            </a:r>
          </a:p>
          <a:p>
            <a:pPr marL="0" indent="0">
              <a:buNone/>
            </a:pPr>
            <a:r>
              <a:rPr lang="en-US" dirty="0" smtClean="0"/>
              <a:t>      </a:t>
            </a:r>
            <a:r>
              <a:rPr lang="en-US" dirty="0" err="1" smtClean="0"/>
              <a:t>getch</a:t>
            </a:r>
            <a:r>
              <a:rPr lang="en-US" dirty="0" smtClean="0"/>
              <a:t>();</a:t>
            </a:r>
          </a:p>
          <a:p>
            <a:pPr marL="0" indent="0">
              <a:buNone/>
            </a:pPr>
            <a:r>
              <a:rPr lang="en-US" dirty="0" smtClean="0"/>
              <a:t>}</a:t>
            </a:r>
          </a:p>
          <a:p>
            <a:pPr marL="0" indent="0">
              <a:buNone/>
            </a:pPr>
            <a:endParaRPr lang="en-US" dirty="0"/>
          </a:p>
        </p:txBody>
      </p:sp>
    </p:spTree>
    <p:extLst>
      <p:ext uri="{BB962C8B-B14F-4D97-AF65-F5344CB8AC3E}">
        <p14:creationId xmlns:p14="http://schemas.microsoft.com/office/powerpoint/2010/main" val="89112150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90800" y="533400"/>
            <a:ext cx="5943600" cy="5867400"/>
          </a:xfrm>
        </p:spPr>
        <p:txBody>
          <a:bodyPr>
            <a:normAutofit fontScale="47500" lnSpcReduction="20000"/>
          </a:bodyPr>
          <a:lstStyle/>
          <a:p>
            <a:pPr marL="0" indent="0">
              <a:buNone/>
            </a:pPr>
            <a:r>
              <a:rPr lang="en-US" dirty="0" smtClean="0"/>
              <a:t>void search()</a:t>
            </a:r>
          </a:p>
          <a:p>
            <a:pPr marL="0" indent="0">
              <a:buNone/>
            </a:pPr>
            <a:r>
              <a:rPr lang="en-US" dirty="0" smtClean="0"/>
              <a:t>{</a:t>
            </a:r>
          </a:p>
          <a:p>
            <a:pPr marL="0" indent="0">
              <a:buNone/>
            </a:pPr>
            <a:r>
              <a:rPr lang="en-US" dirty="0" smtClean="0"/>
              <a:t>   node *temp;</a:t>
            </a:r>
          </a:p>
          <a:p>
            <a:pPr marL="0" indent="0">
              <a:buNone/>
            </a:pPr>
            <a:r>
              <a:rPr lang="en-US" dirty="0" smtClean="0"/>
              <a:t>   </a:t>
            </a:r>
            <a:r>
              <a:rPr lang="en-US" dirty="0" err="1" smtClean="0"/>
              <a:t>int</a:t>
            </a:r>
            <a:r>
              <a:rPr lang="en-US" dirty="0" smtClean="0"/>
              <a:t> </a:t>
            </a:r>
            <a:r>
              <a:rPr lang="en-US" dirty="0" err="1" smtClean="0"/>
              <a:t>num,count</a:t>
            </a:r>
            <a:r>
              <a:rPr lang="en-US" dirty="0" smtClean="0"/>
              <a:t>=0;</a:t>
            </a:r>
          </a:p>
          <a:p>
            <a:pPr marL="0" indent="0">
              <a:buNone/>
            </a:pPr>
            <a:r>
              <a:rPr lang="en-US" dirty="0" smtClean="0"/>
              <a:t>   </a:t>
            </a:r>
            <a:r>
              <a:rPr lang="en-US" dirty="0" err="1" smtClean="0"/>
              <a:t>printf</a:t>
            </a:r>
            <a:r>
              <a:rPr lang="en-US" dirty="0" smtClean="0"/>
              <a:t>("\n Enter a number to search");</a:t>
            </a:r>
          </a:p>
          <a:p>
            <a:pPr marL="0" indent="0">
              <a:buNone/>
            </a:pPr>
            <a:r>
              <a:rPr lang="en-US" dirty="0" smtClean="0"/>
              <a:t>   </a:t>
            </a:r>
            <a:r>
              <a:rPr lang="en-US" dirty="0" err="1" smtClean="0"/>
              <a:t>scanf</a:t>
            </a:r>
            <a:r>
              <a:rPr lang="en-US" dirty="0" smtClean="0"/>
              <a:t>("%d",&amp;</a:t>
            </a:r>
            <a:r>
              <a:rPr lang="en-US" dirty="0" err="1" smtClean="0"/>
              <a:t>num</a:t>
            </a:r>
            <a:r>
              <a:rPr lang="en-US" dirty="0" smtClean="0"/>
              <a:t>);</a:t>
            </a:r>
          </a:p>
          <a:p>
            <a:pPr marL="0" indent="0">
              <a:buNone/>
            </a:pPr>
            <a:r>
              <a:rPr lang="en-US" dirty="0" smtClean="0"/>
              <a:t>   temp=start;</a:t>
            </a:r>
          </a:p>
          <a:p>
            <a:pPr marL="0" indent="0">
              <a:buNone/>
            </a:pPr>
            <a:r>
              <a:rPr lang="en-US" dirty="0" smtClean="0"/>
              <a:t>   do</a:t>
            </a:r>
          </a:p>
          <a:p>
            <a:pPr marL="0" indent="0">
              <a:buNone/>
            </a:pPr>
            <a:r>
              <a:rPr lang="en-US" dirty="0" smtClean="0"/>
              <a:t>   {</a:t>
            </a:r>
          </a:p>
          <a:p>
            <a:pPr marL="0" indent="0">
              <a:buNone/>
            </a:pPr>
            <a:r>
              <a:rPr lang="en-US" dirty="0" smtClean="0"/>
              <a:t>      count ++;</a:t>
            </a:r>
          </a:p>
          <a:p>
            <a:pPr marL="0" indent="0">
              <a:buNone/>
            </a:pPr>
            <a:r>
              <a:rPr lang="en-US" dirty="0" smtClean="0"/>
              <a:t>      if(temp-&gt;info==</a:t>
            </a:r>
            <a:r>
              <a:rPr lang="en-US" dirty="0" err="1" smtClean="0"/>
              <a:t>num</a:t>
            </a:r>
            <a:r>
              <a:rPr lang="en-US" dirty="0" smtClean="0"/>
              <a:t>)</a:t>
            </a:r>
          </a:p>
          <a:p>
            <a:pPr marL="0" indent="0">
              <a:buNone/>
            </a:pPr>
            <a:r>
              <a:rPr lang="en-US" dirty="0" smtClean="0"/>
              <a:t>      {</a:t>
            </a:r>
          </a:p>
          <a:p>
            <a:pPr marL="0" indent="0">
              <a:buNone/>
            </a:pPr>
            <a:r>
              <a:rPr lang="en-US" dirty="0" smtClean="0"/>
              <a:t>         </a:t>
            </a:r>
            <a:r>
              <a:rPr lang="en-US" dirty="0" err="1" smtClean="0"/>
              <a:t>printf</a:t>
            </a:r>
            <a:r>
              <a:rPr lang="en-US" dirty="0" smtClean="0"/>
              <a:t>("\n This no. is at %d </a:t>
            </a:r>
            <a:r>
              <a:rPr lang="en-US" dirty="0" err="1" smtClean="0"/>
              <a:t>position",count</a:t>
            </a:r>
            <a:r>
              <a:rPr lang="en-US" dirty="0" smtClean="0"/>
              <a:t>);</a:t>
            </a:r>
          </a:p>
          <a:p>
            <a:pPr marL="0" indent="0">
              <a:buNone/>
            </a:pPr>
            <a:r>
              <a:rPr lang="en-US" dirty="0" smtClean="0"/>
              <a:t>         </a:t>
            </a:r>
            <a:r>
              <a:rPr lang="en-US" dirty="0" err="1" smtClean="0"/>
              <a:t>getch</a:t>
            </a:r>
            <a:r>
              <a:rPr lang="en-US" dirty="0" smtClean="0"/>
              <a:t>();</a:t>
            </a:r>
          </a:p>
          <a:p>
            <a:pPr marL="0" indent="0">
              <a:buNone/>
            </a:pPr>
            <a:r>
              <a:rPr lang="en-US" dirty="0" smtClean="0"/>
              <a:t>         temp=NULL;</a:t>
            </a:r>
          </a:p>
          <a:p>
            <a:pPr marL="0" indent="0">
              <a:buNone/>
            </a:pPr>
            <a:r>
              <a:rPr lang="en-US" dirty="0" smtClean="0"/>
              <a:t>         return;</a:t>
            </a:r>
          </a:p>
          <a:p>
            <a:pPr marL="0" indent="0">
              <a:buNone/>
            </a:pPr>
            <a:endParaRPr lang="en-US" dirty="0" smtClean="0"/>
          </a:p>
          <a:p>
            <a:pPr marL="0" indent="0">
              <a:buNone/>
            </a:pPr>
            <a:r>
              <a:rPr lang="en-US" dirty="0" smtClean="0"/>
              <a:t>      }</a:t>
            </a:r>
          </a:p>
          <a:p>
            <a:pPr marL="0" indent="0">
              <a:buNone/>
            </a:pPr>
            <a:r>
              <a:rPr lang="en-US" dirty="0" smtClean="0"/>
              <a:t>      else</a:t>
            </a:r>
          </a:p>
          <a:p>
            <a:pPr marL="0" indent="0">
              <a:buNone/>
            </a:pPr>
            <a:r>
              <a:rPr lang="en-US" dirty="0" smtClean="0"/>
              <a:t>         temp=temp-&gt;next;</a:t>
            </a:r>
          </a:p>
          <a:p>
            <a:pPr marL="0" indent="0">
              <a:buNone/>
            </a:pPr>
            <a:r>
              <a:rPr lang="en-US" dirty="0" smtClean="0"/>
              <a:t>   }</a:t>
            </a:r>
          </a:p>
          <a:p>
            <a:pPr marL="0" indent="0">
              <a:buNone/>
            </a:pPr>
            <a:r>
              <a:rPr lang="en-US" dirty="0" smtClean="0"/>
              <a:t>   while(temp!=NULL);</a:t>
            </a:r>
          </a:p>
          <a:p>
            <a:pPr marL="0" indent="0">
              <a:buNone/>
            </a:pPr>
            <a:r>
              <a:rPr lang="en-US" dirty="0" smtClean="0"/>
              <a:t>   </a:t>
            </a:r>
            <a:r>
              <a:rPr lang="en-US" dirty="0" err="1" smtClean="0"/>
              <a:t>printf</a:t>
            </a:r>
            <a:r>
              <a:rPr lang="en-US" dirty="0" smtClean="0"/>
              <a:t>("\n This number </a:t>
            </a:r>
            <a:r>
              <a:rPr lang="en-US" dirty="0" err="1" smtClean="0"/>
              <a:t>doesnot</a:t>
            </a:r>
            <a:r>
              <a:rPr lang="en-US" dirty="0" smtClean="0"/>
              <a:t> exist in list");</a:t>
            </a:r>
          </a:p>
          <a:p>
            <a:pPr marL="0" indent="0">
              <a:buNone/>
            </a:pPr>
            <a:r>
              <a:rPr lang="en-US" dirty="0" smtClean="0"/>
              <a:t>   </a:t>
            </a:r>
            <a:r>
              <a:rPr lang="en-US" dirty="0" err="1" smtClean="0"/>
              <a:t>getch</a:t>
            </a:r>
            <a:r>
              <a:rPr lang="en-US" dirty="0" smtClean="0"/>
              <a:t>();</a:t>
            </a:r>
          </a:p>
          <a:p>
            <a:pPr marL="0" indent="0">
              <a:buNone/>
            </a:pPr>
            <a:r>
              <a:rPr lang="en-US" dirty="0" smtClean="0"/>
              <a:t>}</a:t>
            </a:r>
          </a:p>
          <a:p>
            <a:pPr marL="0" indent="0">
              <a:buNone/>
            </a:pPr>
            <a:endParaRPr lang="en-US" dirty="0"/>
          </a:p>
        </p:txBody>
      </p:sp>
    </p:spTree>
    <p:extLst>
      <p:ext uri="{BB962C8B-B14F-4D97-AF65-F5344CB8AC3E}">
        <p14:creationId xmlns:p14="http://schemas.microsoft.com/office/powerpoint/2010/main" val="357789956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67000" y="609600"/>
            <a:ext cx="6629400" cy="5791200"/>
          </a:xfrm>
        </p:spPr>
        <p:txBody>
          <a:bodyPr>
            <a:normAutofit fontScale="47500" lnSpcReduction="20000"/>
          </a:bodyPr>
          <a:lstStyle/>
          <a:p>
            <a:pPr marL="0" indent="0">
              <a:buNone/>
            </a:pPr>
            <a:r>
              <a:rPr lang="en-US" dirty="0" smtClean="0"/>
              <a:t>void </a:t>
            </a:r>
            <a:r>
              <a:rPr lang="en-US" dirty="0" err="1" smtClean="0"/>
              <a:t>f_del</a:t>
            </a:r>
            <a:r>
              <a:rPr lang="en-US" dirty="0" smtClean="0"/>
              <a:t>()</a:t>
            </a:r>
          </a:p>
          <a:p>
            <a:pPr marL="0" indent="0">
              <a:buNone/>
            </a:pPr>
            <a:r>
              <a:rPr lang="en-US" dirty="0" smtClean="0"/>
              <a:t>{</a:t>
            </a:r>
          </a:p>
          <a:p>
            <a:pPr marL="0" indent="0">
              <a:buNone/>
            </a:pPr>
            <a:r>
              <a:rPr lang="en-US" dirty="0" smtClean="0"/>
              <a:t>   node *</a:t>
            </a:r>
            <a:r>
              <a:rPr lang="en-US" dirty="0" err="1" smtClean="0"/>
              <a:t>ptr</a:t>
            </a:r>
            <a:r>
              <a:rPr lang="en-US" dirty="0" smtClean="0"/>
              <a:t>;</a:t>
            </a:r>
          </a:p>
          <a:p>
            <a:pPr marL="0" indent="0">
              <a:buNone/>
            </a:pPr>
            <a:r>
              <a:rPr lang="en-US" dirty="0" smtClean="0"/>
              <a:t>   if(start==NULL)</a:t>
            </a:r>
          </a:p>
          <a:p>
            <a:pPr marL="0" indent="0">
              <a:buNone/>
            </a:pPr>
            <a:r>
              <a:rPr lang="en-US" dirty="0" smtClean="0"/>
              <a:t>   {</a:t>
            </a:r>
          </a:p>
          <a:p>
            <a:pPr marL="0" indent="0">
              <a:buNone/>
            </a:pPr>
            <a:r>
              <a:rPr lang="en-US" dirty="0" smtClean="0"/>
              <a:t>      </a:t>
            </a:r>
            <a:r>
              <a:rPr lang="en-US" dirty="0" err="1" smtClean="0"/>
              <a:t>printf</a:t>
            </a:r>
            <a:r>
              <a:rPr lang="en-US" dirty="0" smtClean="0"/>
              <a:t>("\n Empty list");</a:t>
            </a:r>
          </a:p>
          <a:p>
            <a:pPr marL="0" indent="0">
              <a:buNone/>
            </a:pPr>
            <a:r>
              <a:rPr lang="en-US" dirty="0" smtClean="0"/>
              <a:t>      </a:t>
            </a:r>
            <a:r>
              <a:rPr lang="en-US" dirty="0" err="1" smtClean="0"/>
              <a:t>getch</a:t>
            </a:r>
            <a:r>
              <a:rPr lang="en-US" dirty="0" smtClean="0"/>
              <a:t>();</a:t>
            </a:r>
          </a:p>
          <a:p>
            <a:pPr marL="0" indent="0">
              <a:buNone/>
            </a:pPr>
            <a:r>
              <a:rPr lang="en-US" dirty="0" smtClean="0"/>
              <a:t>   }</a:t>
            </a:r>
          </a:p>
          <a:p>
            <a:pPr marL="0" indent="0">
              <a:buNone/>
            </a:pPr>
            <a:r>
              <a:rPr lang="en-US" dirty="0" smtClean="0"/>
              <a:t>   else if(start-&gt;next==NULL)</a:t>
            </a:r>
          </a:p>
          <a:p>
            <a:pPr marL="0" indent="0">
              <a:buNone/>
            </a:pPr>
            <a:r>
              <a:rPr lang="en-US" dirty="0" smtClean="0"/>
              <a:t>   {</a:t>
            </a:r>
          </a:p>
          <a:p>
            <a:pPr marL="0" indent="0">
              <a:buNone/>
            </a:pPr>
            <a:r>
              <a:rPr lang="en-US" dirty="0" err="1" smtClean="0"/>
              <a:t>printf</a:t>
            </a:r>
            <a:r>
              <a:rPr lang="en-US" dirty="0" smtClean="0"/>
              <a:t>("\</a:t>
            </a:r>
            <a:r>
              <a:rPr lang="en-US" dirty="0" err="1" smtClean="0"/>
              <a:t>nDeleted</a:t>
            </a:r>
            <a:r>
              <a:rPr lang="en-US" dirty="0" smtClean="0"/>
              <a:t> element is %</a:t>
            </a:r>
            <a:r>
              <a:rPr lang="en-US" dirty="0" err="1" smtClean="0"/>
              <a:t>d",start</a:t>
            </a:r>
            <a:r>
              <a:rPr lang="en-US" dirty="0" smtClean="0"/>
              <a:t>-&gt;info);</a:t>
            </a:r>
          </a:p>
          <a:p>
            <a:pPr marL="0" indent="0">
              <a:buNone/>
            </a:pPr>
            <a:r>
              <a:rPr lang="en-US" dirty="0" smtClean="0"/>
              <a:t>      </a:t>
            </a:r>
            <a:r>
              <a:rPr lang="en-US" dirty="0" err="1" smtClean="0"/>
              <a:t>getch</a:t>
            </a:r>
            <a:r>
              <a:rPr lang="en-US" dirty="0" smtClean="0"/>
              <a:t>();</a:t>
            </a:r>
          </a:p>
          <a:p>
            <a:pPr marL="0" indent="0">
              <a:buNone/>
            </a:pPr>
            <a:r>
              <a:rPr lang="en-US" dirty="0" smtClean="0"/>
              <a:t>      free(start);</a:t>
            </a:r>
          </a:p>
          <a:p>
            <a:pPr marL="0" indent="0">
              <a:buNone/>
            </a:pPr>
            <a:r>
              <a:rPr lang="en-US" dirty="0" smtClean="0"/>
              <a:t>      start=NULL;</a:t>
            </a:r>
          </a:p>
          <a:p>
            <a:pPr marL="0" indent="0">
              <a:buNone/>
            </a:pPr>
            <a:r>
              <a:rPr lang="en-US" dirty="0" smtClean="0"/>
              <a:t>   }</a:t>
            </a:r>
          </a:p>
          <a:p>
            <a:pPr marL="0" indent="0">
              <a:buNone/>
            </a:pPr>
            <a:r>
              <a:rPr lang="en-US" dirty="0" smtClean="0"/>
              <a:t>   else</a:t>
            </a:r>
          </a:p>
          <a:p>
            <a:pPr marL="0" indent="0">
              <a:buNone/>
            </a:pPr>
            <a:r>
              <a:rPr lang="en-US" dirty="0" smtClean="0"/>
              <a:t>   {</a:t>
            </a:r>
          </a:p>
          <a:p>
            <a:pPr marL="0" indent="0">
              <a:buNone/>
            </a:pPr>
            <a:r>
              <a:rPr lang="en-US" dirty="0" smtClean="0"/>
              <a:t>      </a:t>
            </a:r>
            <a:r>
              <a:rPr lang="en-US" dirty="0" err="1" smtClean="0"/>
              <a:t>ptr</a:t>
            </a:r>
            <a:r>
              <a:rPr lang="en-US" dirty="0" smtClean="0"/>
              <a:t>=start;</a:t>
            </a:r>
          </a:p>
          <a:p>
            <a:pPr marL="0" indent="0">
              <a:buNone/>
            </a:pPr>
            <a:r>
              <a:rPr lang="en-US" dirty="0" smtClean="0"/>
              <a:t>      start=start-&gt;next;</a:t>
            </a:r>
          </a:p>
          <a:p>
            <a:pPr marL="0" indent="0">
              <a:buNone/>
            </a:pPr>
            <a:r>
              <a:rPr lang="en-US" dirty="0" smtClean="0"/>
              <a:t>      </a:t>
            </a:r>
            <a:r>
              <a:rPr lang="en-US" dirty="0" err="1" smtClean="0"/>
              <a:t>printf</a:t>
            </a:r>
            <a:r>
              <a:rPr lang="en-US" dirty="0" smtClean="0"/>
              <a:t>("\n Deleted element </a:t>
            </a:r>
            <a:r>
              <a:rPr lang="en-US" dirty="0" err="1" smtClean="0"/>
              <a:t>is%d</a:t>
            </a:r>
            <a:r>
              <a:rPr lang="en-US" dirty="0" smtClean="0"/>
              <a:t>",</a:t>
            </a:r>
            <a:r>
              <a:rPr lang="en-US" dirty="0" err="1" smtClean="0"/>
              <a:t>ptr</a:t>
            </a:r>
            <a:r>
              <a:rPr lang="en-US" dirty="0" smtClean="0"/>
              <a:t>-&gt;info);</a:t>
            </a:r>
          </a:p>
          <a:p>
            <a:pPr marL="0" indent="0">
              <a:buNone/>
            </a:pPr>
            <a:r>
              <a:rPr lang="en-US" dirty="0" smtClean="0"/>
              <a:t>      </a:t>
            </a:r>
            <a:r>
              <a:rPr lang="en-US" dirty="0" err="1" smtClean="0"/>
              <a:t>getch</a:t>
            </a:r>
            <a:r>
              <a:rPr lang="en-US" dirty="0" smtClean="0"/>
              <a:t>();</a:t>
            </a:r>
          </a:p>
          <a:p>
            <a:pPr marL="0" indent="0">
              <a:buNone/>
            </a:pPr>
            <a:r>
              <a:rPr lang="en-US" dirty="0" smtClean="0"/>
              <a:t>      free(</a:t>
            </a:r>
            <a:r>
              <a:rPr lang="en-US" dirty="0" err="1" smtClean="0"/>
              <a:t>ptr</a:t>
            </a:r>
            <a:r>
              <a:rPr lang="en-US" dirty="0" smtClean="0"/>
              <a:t>);</a:t>
            </a:r>
          </a:p>
          <a:p>
            <a:pPr marL="0" indent="0">
              <a:buNone/>
            </a:pPr>
            <a:r>
              <a:rPr lang="en-US" dirty="0" smtClean="0"/>
              <a:t>      }</a:t>
            </a:r>
          </a:p>
          <a:p>
            <a:pPr marL="0" indent="0">
              <a:buNone/>
            </a:pPr>
            <a:r>
              <a:rPr lang="en-US" dirty="0" smtClean="0"/>
              <a:t>}</a:t>
            </a:r>
          </a:p>
          <a:p>
            <a:pPr marL="0" indent="0">
              <a:buNone/>
            </a:pPr>
            <a:endParaRPr lang="en-US" dirty="0"/>
          </a:p>
        </p:txBody>
      </p:sp>
    </p:spTree>
    <p:extLst>
      <p:ext uri="{BB962C8B-B14F-4D97-AF65-F5344CB8AC3E}">
        <p14:creationId xmlns:p14="http://schemas.microsoft.com/office/powerpoint/2010/main" val="192313097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62200" y="381000"/>
            <a:ext cx="8229600" cy="6019800"/>
          </a:xfrm>
        </p:spPr>
        <p:txBody>
          <a:bodyPr>
            <a:normAutofit fontScale="25000" lnSpcReduction="20000"/>
          </a:bodyPr>
          <a:lstStyle/>
          <a:p>
            <a:pPr marL="0" indent="0">
              <a:buNone/>
            </a:pPr>
            <a:r>
              <a:rPr lang="en-US" sz="5600" dirty="0"/>
              <a:t>void </a:t>
            </a:r>
            <a:r>
              <a:rPr lang="en-US" sz="5600" dirty="0" err="1"/>
              <a:t>e_del</a:t>
            </a:r>
            <a:r>
              <a:rPr lang="en-US" sz="5600" dirty="0"/>
              <a:t>()</a:t>
            </a:r>
          </a:p>
          <a:p>
            <a:pPr marL="0" indent="0">
              <a:buNone/>
            </a:pPr>
            <a:r>
              <a:rPr lang="en-US" sz="5600" dirty="0"/>
              <a:t>{</a:t>
            </a:r>
          </a:p>
          <a:p>
            <a:pPr marL="0" indent="0">
              <a:buNone/>
            </a:pPr>
            <a:r>
              <a:rPr lang="en-US" sz="5600" dirty="0"/>
              <a:t>   node *</a:t>
            </a:r>
            <a:r>
              <a:rPr lang="en-US" sz="5600" dirty="0" err="1"/>
              <a:t>ptr</a:t>
            </a:r>
            <a:r>
              <a:rPr lang="en-US" sz="5600" dirty="0"/>
              <a:t>,*</a:t>
            </a:r>
            <a:r>
              <a:rPr lang="en-US" sz="5600" dirty="0" err="1"/>
              <a:t>loc</a:t>
            </a:r>
            <a:r>
              <a:rPr lang="en-US" sz="5600" dirty="0"/>
              <a:t>;</a:t>
            </a:r>
          </a:p>
          <a:p>
            <a:pPr marL="0" indent="0">
              <a:buNone/>
            </a:pPr>
            <a:r>
              <a:rPr lang="en-US" sz="5600" dirty="0"/>
              <a:t>   if(start==NULL)</a:t>
            </a:r>
          </a:p>
          <a:p>
            <a:pPr marL="0" indent="0">
              <a:buNone/>
            </a:pPr>
            <a:r>
              <a:rPr lang="en-US" sz="5600" dirty="0"/>
              <a:t>   {</a:t>
            </a:r>
          </a:p>
          <a:p>
            <a:pPr marL="0" indent="0">
              <a:buNone/>
            </a:pPr>
            <a:r>
              <a:rPr lang="en-US" sz="5600" dirty="0"/>
              <a:t>      </a:t>
            </a:r>
            <a:r>
              <a:rPr lang="en-US" sz="5600" dirty="0" err="1"/>
              <a:t>printf</a:t>
            </a:r>
            <a:r>
              <a:rPr lang="en-US" sz="5600" dirty="0"/>
              <a:t>("\</a:t>
            </a:r>
            <a:r>
              <a:rPr lang="en-US" sz="5600" dirty="0" err="1"/>
              <a:t>nEmpty</a:t>
            </a:r>
            <a:r>
              <a:rPr lang="en-US" sz="5600" dirty="0"/>
              <a:t> list");</a:t>
            </a:r>
          </a:p>
          <a:p>
            <a:pPr marL="0" indent="0">
              <a:buNone/>
            </a:pPr>
            <a:r>
              <a:rPr lang="en-US" sz="5600" dirty="0"/>
              <a:t>      </a:t>
            </a:r>
            <a:r>
              <a:rPr lang="en-US" sz="5600" dirty="0" err="1"/>
              <a:t>getch</a:t>
            </a:r>
            <a:r>
              <a:rPr lang="en-US" sz="5600" dirty="0"/>
              <a:t>();</a:t>
            </a:r>
          </a:p>
          <a:p>
            <a:pPr marL="0" indent="0">
              <a:buNone/>
            </a:pPr>
            <a:r>
              <a:rPr lang="en-US" sz="5600" dirty="0"/>
              <a:t>   }</a:t>
            </a:r>
          </a:p>
          <a:p>
            <a:pPr marL="0" indent="0">
              <a:buNone/>
            </a:pPr>
            <a:r>
              <a:rPr lang="en-US" sz="5600" dirty="0"/>
              <a:t>   else if(start-&gt;next==NULL)</a:t>
            </a:r>
          </a:p>
          <a:p>
            <a:pPr marL="0" indent="0">
              <a:buNone/>
            </a:pPr>
            <a:r>
              <a:rPr lang="en-US" sz="5600" dirty="0"/>
              <a:t>   {</a:t>
            </a:r>
          </a:p>
          <a:p>
            <a:pPr marL="0" indent="0">
              <a:buNone/>
            </a:pPr>
            <a:r>
              <a:rPr lang="en-US" sz="5600" dirty="0"/>
              <a:t>      </a:t>
            </a:r>
            <a:r>
              <a:rPr lang="en-US" sz="5600" dirty="0" err="1"/>
              <a:t>printf</a:t>
            </a:r>
            <a:r>
              <a:rPr lang="en-US" sz="5600" dirty="0"/>
              <a:t>("\</a:t>
            </a:r>
            <a:r>
              <a:rPr lang="en-US" sz="5600" dirty="0" err="1"/>
              <a:t>nDeleted</a:t>
            </a:r>
            <a:r>
              <a:rPr lang="en-US" sz="5600" dirty="0"/>
              <a:t> item is %</a:t>
            </a:r>
            <a:r>
              <a:rPr lang="en-US" sz="5600" dirty="0" err="1"/>
              <a:t>d",start</a:t>
            </a:r>
            <a:r>
              <a:rPr lang="en-US" sz="5600" dirty="0"/>
              <a:t>-&gt;info);</a:t>
            </a:r>
          </a:p>
          <a:p>
            <a:pPr marL="0" indent="0">
              <a:buNone/>
            </a:pPr>
            <a:r>
              <a:rPr lang="en-US" sz="5600" dirty="0"/>
              <a:t>      free(start);</a:t>
            </a:r>
          </a:p>
          <a:p>
            <a:pPr marL="0" indent="0">
              <a:buNone/>
            </a:pPr>
            <a:r>
              <a:rPr lang="en-US" sz="5600" dirty="0"/>
              <a:t>      start=NULL;</a:t>
            </a:r>
          </a:p>
          <a:p>
            <a:pPr marL="0" indent="0">
              <a:buNone/>
            </a:pPr>
            <a:r>
              <a:rPr lang="en-US" sz="5600" dirty="0"/>
              <a:t>   }</a:t>
            </a:r>
          </a:p>
          <a:p>
            <a:pPr marL="0" indent="0">
              <a:buNone/>
            </a:pPr>
            <a:r>
              <a:rPr lang="en-US" sz="5600" dirty="0"/>
              <a:t>else</a:t>
            </a:r>
          </a:p>
          <a:p>
            <a:pPr marL="0" indent="0">
              <a:buNone/>
            </a:pPr>
            <a:r>
              <a:rPr lang="en-US" sz="5600" dirty="0"/>
              <a:t>   {</a:t>
            </a:r>
          </a:p>
          <a:p>
            <a:pPr marL="0" indent="0">
              <a:buNone/>
            </a:pPr>
            <a:r>
              <a:rPr lang="en-US" sz="5600" dirty="0"/>
              <a:t>      </a:t>
            </a:r>
            <a:r>
              <a:rPr lang="en-US" sz="5600" dirty="0" err="1"/>
              <a:t>ptr</a:t>
            </a:r>
            <a:r>
              <a:rPr lang="en-US" sz="5600" dirty="0"/>
              <a:t>=start;</a:t>
            </a:r>
          </a:p>
          <a:p>
            <a:pPr marL="0" indent="0">
              <a:buNone/>
            </a:pPr>
            <a:r>
              <a:rPr lang="en-US" sz="5600" dirty="0"/>
              <a:t>      while(</a:t>
            </a:r>
            <a:r>
              <a:rPr lang="en-US" sz="5600" dirty="0" err="1"/>
              <a:t>ptr</a:t>
            </a:r>
            <a:r>
              <a:rPr lang="en-US" sz="5600" dirty="0"/>
              <a:t>-&gt;next!=NULL)</a:t>
            </a:r>
          </a:p>
          <a:p>
            <a:pPr marL="0" indent="0">
              <a:buNone/>
            </a:pPr>
            <a:r>
              <a:rPr lang="en-US" sz="5600" dirty="0"/>
              <a:t>      {</a:t>
            </a:r>
          </a:p>
          <a:p>
            <a:pPr marL="0" indent="0">
              <a:buNone/>
            </a:pPr>
            <a:r>
              <a:rPr lang="en-US" sz="5600" dirty="0"/>
              <a:t>         </a:t>
            </a:r>
            <a:r>
              <a:rPr lang="en-US" sz="5600" dirty="0" err="1"/>
              <a:t>loc</a:t>
            </a:r>
            <a:r>
              <a:rPr lang="en-US" sz="5600" dirty="0"/>
              <a:t>=</a:t>
            </a:r>
            <a:r>
              <a:rPr lang="en-US" sz="5600" dirty="0" err="1"/>
              <a:t>ptr</a:t>
            </a:r>
            <a:r>
              <a:rPr lang="en-US" sz="5600" dirty="0"/>
              <a:t>;</a:t>
            </a:r>
          </a:p>
          <a:p>
            <a:pPr marL="0" indent="0">
              <a:buNone/>
            </a:pPr>
            <a:r>
              <a:rPr lang="en-US" sz="5600" dirty="0"/>
              <a:t>         </a:t>
            </a:r>
            <a:r>
              <a:rPr lang="en-US" sz="5600" dirty="0" err="1"/>
              <a:t>ptr</a:t>
            </a:r>
            <a:r>
              <a:rPr lang="en-US" sz="5600" dirty="0"/>
              <a:t>=</a:t>
            </a:r>
            <a:r>
              <a:rPr lang="en-US" sz="5600" dirty="0" err="1"/>
              <a:t>ptr</a:t>
            </a:r>
            <a:r>
              <a:rPr lang="en-US" sz="5600" dirty="0"/>
              <a:t>-&gt;next;</a:t>
            </a:r>
          </a:p>
          <a:p>
            <a:pPr marL="0" indent="0">
              <a:buNone/>
            </a:pPr>
            <a:r>
              <a:rPr lang="en-US" sz="5600" dirty="0"/>
              <a:t>      }</a:t>
            </a:r>
          </a:p>
          <a:p>
            <a:pPr marL="0" indent="0">
              <a:buNone/>
            </a:pPr>
            <a:r>
              <a:rPr lang="en-US" sz="5600" dirty="0"/>
              <a:t>      </a:t>
            </a:r>
            <a:r>
              <a:rPr lang="en-US" sz="5600" dirty="0" err="1"/>
              <a:t>loc</a:t>
            </a:r>
            <a:r>
              <a:rPr lang="en-US" sz="5600" dirty="0"/>
              <a:t>-&gt;next=NULL;</a:t>
            </a:r>
          </a:p>
          <a:p>
            <a:pPr marL="0" indent="0">
              <a:buNone/>
            </a:pPr>
            <a:r>
              <a:rPr lang="en-US" sz="5600" dirty="0"/>
              <a:t>      </a:t>
            </a:r>
            <a:r>
              <a:rPr lang="en-US" sz="5600" dirty="0" err="1"/>
              <a:t>printf</a:t>
            </a:r>
            <a:r>
              <a:rPr lang="en-US" sz="5600" dirty="0"/>
              <a:t>("\</a:t>
            </a:r>
            <a:r>
              <a:rPr lang="en-US" sz="5600" dirty="0" err="1"/>
              <a:t>nDeleted</a:t>
            </a:r>
            <a:r>
              <a:rPr lang="en-US" sz="5600" dirty="0"/>
              <a:t> element is %d",</a:t>
            </a:r>
            <a:r>
              <a:rPr lang="en-US" sz="5600" dirty="0" err="1"/>
              <a:t>ptr</a:t>
            </a:r>
            <a:r>
              <a:rPr lang="en-US" sz="5600" dirty="0"/>
              <a:t>-&gt;info);</a:t>
            </a:r>
          </a:p>
          <a:p>
            <a:pPr marL="0" indent="0">
              <a:buNone/>
            </a:pPr>
            <a:r>
              <a:rPr lang="en-US" sz="5600" dirty="0"/>
              <a:t>      </a:t>
            </a:r>
            <a:r>
              <a:rPr lang="en-US" sz="5600" dirty="0" err="1"/>
              <a:t>getch</a:t>
            </a:r>
            <a:r>
              <a:rPr lang="en-US" sz="5600" dirty="0"/>
              <a:t>();</a:t>
            </a:r>
          </a:p>
          <a:p>
            <a:pPr marL="0" indent="0">
              <a:buNone/>
            </a:pPr>
            <a:r>
              <a:rPr lang="en-US" sz="5600" dirty="0"/>
              <a:t>      free(</a:t>
            </a:r>
            <a:r>
              <a:rPr lang="en-US" sz="5600" dirty="0" err="1"/>
              <a:t>ptr</a:t>
            </a:r>
            <a:r>
              <a:rPr lang="en-US" sz="5600" dirty="0"/>
              <a:t>);</a:t>
            </a:r>
          </a:p>
          <a:p>
            <a:pPr marL="0" indent="0">
              <a:buNone/>
            </a:pPr>
            <a:r>
              <a:rPr lang="en-US" sz="5600" dirty="0"/>
              <a:t>   }</a:t>
            </a:r>
          </a:p>
          <a:p>
            <a:pPr marL="0" indent="0">
              <a:buNone/>
            </a:pPr>
            <a:r>
              <a:rPr lang="en-US" sz="5600" dirty="0"/>
              <a:t>}</a:t>
            </a:r>
          </a:p>
          <a:p>
            <a:pPr marL="0" indent="0">
              <a:buNone/>
            </a:pPr>
            <a:endParaRPr lang="en-US" dirty="0"/>
          </a:p>
        </p:txBody>
      </p:sp>
    </p:spTree>
    <p:extLst>
      <p:ext uri="{BB962C8B-B14F-4D97-AF65-F5344CB8AC3E}">
        <p14:creationId xmlns:p14="http://schemas.microsoft.com/office/powerpoint/2010/main" val="159364034"/>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90800" y="381000"/>
            <a:ext cx="6553200" cy="6172200"/>
          </a:xfrm>
        </p:spPr>
        <p:txBody>
          <a:bodyPr>
            <a:normAutofit fontScale="47500" lnSpcReduction="20000"/>
          </a:bodyPr>
          <a:lstStyle/>
          <a:p>
            <a:pPr marL="0" indent="0">
              <a:buNone/>
            </a:pPr>
            <a:r>
              <a:rPr lang="en-US" dirty="0"/>
              <a:t>void </a:t>
            </a:r>
            <a:r>
              <a:rPr lang="en-US" dirty="0" err="1"/>
              <a:t>n_del</a:t>
            </a:r>
            <a:r>
              <a:rPr lang="en-US" dirty="0"/>
              <a:t>()</a:t>
            </a:r>
          </a:p>
          <a:p>
            <a:pPr marL="0" indent="0">
              <a:buNone/>
            </a:pPr>
            <a:r>
              <a:rPr lang="en-US" dirty="0"/>
              <a:t>{</a:t>
            </a:r>
          </a:p>
          <a:p>
            <a:pPr marL="0" indent="0">
              <a:buNone/>
            </a:pPr>
            <a:r>
              <a:rPr lang="en-US" dirty="0"/>
              <a:t>   node *temp,*</a:t>
            </a:r>
            <a:r>
              <a:rPr lang="en-US" dirty="0" err="1"/>
              <a:t>ptr</a:t>
            </a:r>
            <a:r>
              <a:rPr lang="en-US" dirty="0"/>
              <a:t>;</a:t>
            </a:r>
          </a:p>
          <a:p>
            <a:pPr marL="0" indent="0">
              <a:buNone/>
            </a:pPr>
            <a:r>
              <a:rPr lang="en-US" dirty="0"/>
              <a:t>   </a:t>
            </a:r>
            <a:r>
              <a:rPr lang="en-US" dirty="0" err="1"/>
              <a:t>int</a:t>
            </a:r>
            <a:r>
              <a:rPr lang="en-US" dirty="0"/>
              <a:t> </a:t>
            </a:r>
            <a:r>
              <a:rPr lang="en-US" dirty="0" err="1"/>
              <a:t>n,count</a:t>
            </a:r>
            <a:r>
              <a:rPr lang="en-US" dirty="0"/>
              <a:t>=1;</a:t>
            </a:r>
          </a:p>
          <a:p>
            <a:pPr marL="0" indent="0">
              <a:buNone/>
            </a:pPr>
            <a:r>
              <a:rPr lang="en-US" dirty="0"/>
              <a:t>if(start==NULL)</a:t>
            </a:r>
          </a:p>
          <a:p>
            <a:pPr marL="0" indent="0">
              <a:buNone/>
            </a:pPr>
            <a:r>
              <a:rPr lang="en-US" dirty="0"/>
              <a:t>{</a:t>
            </a:r>
          </a:p>
          <a:p>
            <a:pPr marL="0" indent="0">
              <a:buNone/>
            </a:pPr>
            <a:r>
              <a:rPr lang="en-US" dirty="0"/>
              <a:t>   </a:t>
            </a:r>
            <a:r>
              <a:rPr lang="en-US" dirty="0" err="1"/>
              <a:t>printf</a:t>
            </a:r>
            <a:r>
              <a:rPr lang="en-US" dirty="0"/>
              <a:t>("\</a:t>
            </a:r>
            <a:r>
              <a:rPr lang="en-US" dirty="0" err="1"/>
              <a:t>nEmpty</a:t>
            </a:r>
            <a:r>
              <a:rPr lang="en-US" dirty="0"/>
              <a:t> list");</a:t>
            </a:r>
          </a:p>
          <a:p>
            <a:pPr marL="0" indent="0">
              <a:buNone/>
            </a:pPr>
            <a:r>
              <a:rPr lang="en-US" dirty="0"/>
              <a:t>   </a:t>
            </a:r>
            <a:r>
              <a:rPr lang="en-US" dirty="0" err="1"/>
              <a:t>getch</a:t>
            </a:r>
            <a:r>
              <a:rPr lang="en-US" dirty="0"/>
              <a:t>();</a:t>
            </a:r>
          </a:p>
          <a:p>
            <a:pPr marL="0" indent="0">
              <a:buNone/>
            </a:pPr>
            <a:r>
              <a:rPr lang="en-US" dirty="0"/>
              <a:t>}</a:t>
            </a:r>
          </a:p>
          <a:p>
            <a:pPr marL="0" indent="0">
              <a:buNone/>
            </a:pPr>
            <a:r>
              <a:rPr lang="en-US" dirty="0"/>
              <a:t>else</a:t>
            </a:r>
          </a:p>
          <a:p>
            <a:pPr marL="0" indent="0">
              <a:buNone/>
            </a:pPr>
            <a:r>
              <a:rPr lang="en-US" dirty="0"/>
              <a:t>{</a:t>
            </a:r>
          </a:p>
          <a:p>
            <a:pPr marL="0" indent="0">
              <a:buNone/>
            </a:pPr>
            <a:r>
              <a:rPr lang="en-US" dirty="0"/>
              <a:t>   </a:t>
            </a:r>
            <a:r>
              <a:rPr lang="en-US" dirty="0" err="1"/>
              <a:t>printf</a:t>
            </a:r>
            <a:r>
              <a:rPr lang="en-US" dirty="0"/>
              <a:t>("\n Enter a position");</a:t>
            </a:r>
          </a:p>
          <a:p>
            <a:pPr marL="0" indent="0">
              <a:buNone/>
            </a:pPr>
            <a:r>
              <a:rPr lang="en-US" dirty="0"/>
              <a:t>  </a:t>
            </a:r>
            <a:r>
              <a:rPr lang="en-US" dirty="0" smtClean="0"/>
              <a:t>  </a:t>
            </a:r>
            <a:r>
              <a:rPr lang="en-US" dirty="0" err="1" smtClean="0"/>
              <a:t>scanf</a:t>
            </a:r>
            <a:r>
              <a:rPr lang="en-US" dirty="0"/>
              <a:t>("%</a:t>
            </a:r>
            <a:r>
              <a:rPr lang="en-US" dirty="0" err="1"/>
              <a:t>d",&amp;n</a:t>
            </a:r>
            <a:r>
              <a:rPr lang="en-US" dirty="0"/>
              <a:t>);</a:t>
            </a:r>
          </a:p>
          <a:p>
            <a:pPr marL="0" indent="0">
              <a:buNone/>
            </a:pPr>
            <a:r>
              <a:rPr lang="en-US" dirty="0"/>
              <a:t>   </a:t>
            </a:r>
            <a:r>
              <a:rPr lang="en-US" dirty="0" err="1"/>
              <a:t>ptr</a:t>
            </a:r>
            <a:r>
              <a:rPr lang="en-US" dirty="0"/>
              <a:t>=start;</a:t>
            </a:r>
          </a:p>
          <a:p>
            <a:pPr marL="0" indent="0">
              <a:buNone/>
            </a:pPr>
            <a:r>
              <a:rPr lang="en-US" dirty="0"/>
              <a:t>   while(count&lt;n)</a:t>
            </a:r>
          </a:p>
          <a:p>
            <a:pPr marL="0" indent="0">
              <a:buNone/>
            </a:pPr>
            <a:r>
              <a:rPr lang="en-US" dirty="0"/>
              <a:t>   {</a:t>
            </a:r>
          </a:p>
          <a:p>
            <a:pPr marL="0" indent="0">
              <a:buNone/>
            </a:pPr>
            <a:r>
              <a:rPr lang="en-US" dirty="0"/>
              <a:t>      count++;</a:t>
            </a:r>
          </a:p>
          <a:p>
            <a:pPr marL="0" indent="0">
              <a:buNone/>
            </a:pPr>
            <a:r>
              <a:rPr lang="en-US" dirty="0"/>
              <a:t>      temp=</a:t>
            </a:r>
            <a:r>
              <a:rPr lang="en-US" dirty="0" err="1"/>
              <a:t>ptr</a:t>
            </a:r>
            <a:r>
              <a:rPr lang="en-US" dirty="0"/>
              <a:t>;</a:t>
            </a:r>
          </a:p>
          <a:p>
            <a:pPr marL="0" indent="0">
              <a:buNone/>
            </a:pPr>
            <a:r>
              <a:rPr lang="en-US" dirty="0"/>
              <a:t>      </a:t>
            </a:r>
            <a:r>
              <a:rPr lang="en-US" dirty="0" err="1"/>
              <a:t>ptr</a:t>
            </a:r>
            <a:r>
              <a:rPr lang="en-US" dirty="0"/>
              <a:t>=</a:t>
            </a:r>
            <a:r>
              <a:rPr lang="en-US" dirty="0" err="1"/>
              <a:t>ptr</a:t>
            </a:r>
            <a:r>
              <a:rPr lang="en-US" dirty="0"/>
              <a:t>-&gt;next;</a:t>
            </a:r>
          </a:p>
          <a:p>
            <a:pPr marL="0" indent="0">
              <a:buNone/>
            </a:pPr>
            <a:r>
              <a:rPr lang="en-US" dirty="0"/>
              <a:t>   }</a:t>
            </a:r>
          </a:p>
          <a:p>
            <a:pPr marL="0" indent="0">
              <a:buNone/>
            </a:pPr>
            <a:r>
              <a:rPr lang="en-US" dirty="0"/>
              <a:t>   temp-&gt;next=</a:t>
            </a:r>
            <a:r>
              <a:rPr lang="en-US" dirty="0" err="1"/>
              <a:t>ptr</a:t>
            </a:r>
            <a:r>
              <a:rPr lang="en-US" dirty="0"/>
              <a:t>-&gt;next;</a:t>
            </a:r>
          </a:p>
          <a:p>
            <a:pPr marL="0" indent="0">
              <a:buNone/>
            </a:pPr>
            <a:r>
              <a:rPr lang="en-US" dirty="0"/>
              <a:t>   </a:t>
            </a:r>
            <a:r>
              <a:rPr lang="en-US" dirty="0" err="1"/>
              <a:t>printf</a:t>
            </a:r>
            <a:r>
              <a:rPr lang="en-US" dirty="0"/>
              <a:t>("\</a:t>
            </a:r>
            <a:r>
              <a:rPr lang="en-US" dirty="0" err="1"/>
              <a:t>nDeleted</a:t>
            </a:r>
            <a:r>
              <a:rPr lang="en-US" dirty="0"/>
              <a:t> item is %d",</a:t>
            </a:r>
            <a:r>
              <a:rPr lang="en-US" dirty="0" err="1"/>
              <a:t>ptr</a:t>
            </a:r>
            <a:r>
              <a:rPr lang="en-US" dirty="0"/>
              <a:t>-&gt;info);</a:t>
            </a:r>
          </a:p>
          <a:p>
            <a:pPr marL="0" indent="0">
              <a:buNone/>
            </a:pPr>
            <a:r>
              <a:rPr lang="en-US" dirty="0"/>
              <a:t>   </a:t>
            </a:r>
            <a:r>
              <a:rPr lang="en-US" dirty="0" err="1"/>
              <a:t>getch</a:t>
            </a:r>
            <a:r>
              <a:rPr lang="en-US" dirty="0"/>
              <a:t>();</a:t>
            </a:r>
          </a:p>
          <a:p>
            <a:pPr marL="0" indent="0">
              <a:buNone/>
            </a:pPr>
            <a:r>
              <a:rPr lang="en-US" dirty="0"/>
              <a:t>   free(</a:t>
            </a:r>
            <a:r>
              <a:rPr lang="en-US" dirty="0" err="1"/>
              <a:t>ptr</a:t>
            </a:r>
            <a:r>
              <a:rPr lang="en-US" dirty="0"/>
              <a:t>);</a:t>
            </a:r>
          </a:p>
          <a:p>
            <a:pPr marL="0" indent="0">
              <a:buNone/>
            </a:pPr>
            <a:r>
              <a:rPr lang="en-US" dirty="0"/>
              <a:t>}</a:t>
            </a:r>
          </a:p>
          <a:p>
            <a:pPr marL="0" indent="0">
              <a:buNone/>
            </a:pPr>
            <a:r>
              <a:rPr lang="en-US" dirty="0" smtClean="0"/>
              <a:t>}</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879397469"/>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066800" y="304800"/>
            <a:ext cx="10210800" cy="6172200"/>
          </a:xfrm>
        </p:spPr>
        <p:txBody>
          <a:bodyPr>
            <a:normAutofit/>
          </a:bodyPr>
          <a:lstStyle/>
          <a:p>
            <a:pPr marL="0" indent="0">
              <a:buNone/>
            </a:pPr>
            <a:r>
              <a:rPr lang="en-US" sz="3600" b="1" dirty="0"/>
              <a:t>Implementation of Stack using Linked List</a:t>
            </a:r>
            <a:endParaRPr lang="en-US" b="1" dirty="0" smtClean="0"/>
          </a:p>
          <a:p>
            <a:r>
              <a:rPr lang="en-US" dirty="0"/>
              <a:t>S</a:t>
            </a:r>
            <a:r>
              <a:rPr lang="en-US" dirty="0" smtClean="0"/>
              <a:t>tack </a:t>
            </a:r>
            <a:r>
              <a:rPr lang="en-US" dirty="0"/>
              <a:t>is a collection of items in which addition of new items and deletion of existing items are done from only one end known as </a:t>
            </a:r>
            <a:r>
              <a:rPr lang="en-US" b="1" dirty="0"/>
              <a:t>top of stack.</a:t>
            </a:r>
            <a:r>
              <a:rPr lang="en-US" dirty="0"/>
              <a:t> </a:t>
            </a:r>
            <a:endParaRPr lang="en-US" dirty="0" smtClean="0"/>
          </a:p>
          <a:p>
            <a:r>
              <a:rPr lang="en-US" dirty="0" smtClean="0"/>
              <a:t>Since</a:t>
            </a:r>
            <a:r>
              <a:rPr lang="en-US" dirty="0"/>
              <a:t>, linked list is also a list of items, concepts of stack can be implemented using linked lists </a:t>
            </a:r>
            <a:r>
              <a:rPr lang="en-US" b="1" dirty="0"/>
              <a:t>instead of</a:t>
            </a:r>
            <a:r>
              <a:rPr lang="en-US" dirty="0"/>
              <a:t> an array</a:t>
            </a:r>
            <a:r>
              <a:rPr lang="en-US" dirty="0" smtClean="0"/>
              <a:t>.</a:t>
            </a:r>
            <a:endParaRPr lang="en-US" dirty="0"/>
          </a:p>
        </p:txBody>
      </p:sp>
    </p:spTree>
    <p:extLst>
      <p:ext uri="{BB962C8B-B14F-4D97-AF65-F5344CB8AC3E}">
        <p14:creationId xmlns:p14="http://schemas.microsoft.com/office/powerpoint/2010/main" val="3473711830"/>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457200"/>
            <a:ext cx="10287000" cy="6172200"/>
          </a:xfrm>
        </p:spPr>
        <p:txBody>
          <a:bodyPr>
            <a:normAutofit fontScale="92500"/>
          </a:bodyPr>
          <a:lstStyle/>
          <a:p>
            <a:pPr marL="514350" indent="-514350">
              <a:buFont typeface="+mj-lt"/>
              <a:buAutoNum type="arabicPeriod"/>
            </a:pPr>
            <a:r>
              <a:rPr lang="en-US" dirty="0" smtClean="0"/>
              <a:t>The </a:t>
            </a:r>
            <a:r>
              <a:rPr lang="en-US" dirty="0"/>
              <a:t>two operations that we apply on a stack are push (inserting item on the top) and pop (deleting item at the top).</a:t>
            </a:r>
          </a:p>
          <a:p>
            <a:pPr marL="514350" indent="-514350">
              <a:buFont typeface="+mj-lt"/>
              <a:buAutoNum type="arabicPeriod"/>
            </a:pPr>
            <a:r>
              <a:rPr lang="en-US" dirty="0"/>
              <a:t>The </a:t>
            </a:r>
            <a:r>
              <a:rPr lang="en-US" b="1" dirty="0"/>
              <a:t>push</a:t>
            </a:r>
            <a:r>
              <a:rPr lang="en-US" dirty="0"/>
              <a:t> operation is similar to </a:t>
            </a:r>
            <a:r>
              <a:rPr lang="en-US" b="1" dirty="0"/>
              <a:t>adding a new node at the beginning of the list</a:t>
            </a:r>
            <a:r>
              <a:rPr lang="en-US" dirty="0"/>
              <a:t> (</a:t>
            </a:r>
            <a:r>
              <a:rPr lang="en-US" dirty="0" err="1"/>
              <a:t>insertHead</a:t>
            </a:r>
            <a:r>
              <a:rPr lang="en-US" dirty="0"/>
              <a:t>()).</a:t>
            </a:r>
          </a:p>
          <a:p>
            <a:pPr marL="514350" indent="-514350">
              <a:buFont typeface="+mj-lt"/>
              <a:buAutoNum type="arabicPeriod"/>
            </a:pPr>
            <a:r>
              <a:rPr lang="en-US" dirty="0"/>
              <a:t>A stack items can be accessed only through its top, and a </a:t>
            </a:r>
            <a:r>
              <a:rPr lang="en-US" i="1" dirty="0"/>
              <a:t>list items can be accessed from the pointer to the first node.</a:t>
            </a:r>
          </a:p>
          <a:p>
            <a:pPr marL="514350" indent="-514350">
              <a:buFont typeface="+mj-lt"/>
              <a:buAutoNum type="arabicPeriod"/>
            </a:pPr>
            <a:r>
              <a:rPr lang="en-US" dirty="0"/>
              <a:t>Similarly, </a:t>
            </a:r>
            <a:r>
              <a:rPr lang="en-US" b="1" dirty="0"/>
              <a:t>removing the first node</a:t>
            </a:r>
            <a:r>
              <a:rPr lang="en-US" dirty="0"/>
              <a:t> from a linked list (</a:t>
            </a:r>
            <a:r>
              <a:rPr lang="en-US" dirty="0" err="1"/>
              <a:t>deleteHead</a:t>
            </a:r>
            <a:r>
              <a:rPr lang="en-US" dirty="0"/>
              <a:t>()) is similar to </a:t>
            </a:r>
            <a:r>
              <a:rPr lang="en-US" b="1" dirty="0"/>
              <a:t>popping </a:t>
            </a:r>
            <a:r>
              <a:rPr lang="en-US" dirty="0"/>
              <a:t>an item from a stack. In both cases, the only immediately accessible item of a collection is removed from that collection, and the next item becomes immediately accessible one.</a:t>
            </a:r>
          </a:p>
          <a:p>
            <a:pPr marL="514350" indent="-514350">
              <a:buFont typeface="+mj-lt"/>
              <a:buAutoNum type="arabicPeriod"/>
            </a:pPr>
            <a:r>
              <a:rPr lang="en-US" dirty="0"/>
              <a:t>The first node of the list is the top of the </a:t>
            </a:r>
            <a:r>
              <a:rPr lang="en-US" dirty="0" smtClean="0"/>
              <a:t>stack</a:t>
            </a:r>
            <a:endParaRPr lang="en-US" dirty="0"/>
          </a:p>
        </p:txBody>
      </p:sp>
    </p:spTree>
    <p:extLst>
      <p:ext uri="{BB962C8B-B14F-4D97-AF65-F5344CB8AC3E}">
        <p14:creationId xmlns:p14="http://schemas.microsoft.com/office/powerpoint/2010/main" val="381564983"/>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81146" y="381000"/>
            <a:ext cx="8558255" cy="5943600"/>
          </a:xfrm>
        </p:spPr>
      </p:pic>
    </p:spTree>
    <p:extLst>
      <p:ext uri="{BB962C8B-B14F-4D97-AF65-F5344CB8AC3E}">
        <p14:creationId xmlns:p14="http://schemas.microsoft.com/office/powerpoint/2010/main" val="2634029797"/>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639762"/>
          </a:xfrm>
        </p:spPr>
        <p:txBody>
          <a:bodyPr>
            <a:normAutofit fontScale="90000"/>
          </a:bodyPr>
          <a:lstStyle/>
          <a:p>
            <a:r>
              <a:rPr lang="en-US" sz="3600" b="1" i="1" dirty="0">
                <a:solidFill>
                  <a:srgbClr val="FF0000"/>
                </a:solidFill>
              </a:rPr>
              <a:t>Linked list implementation of Stack</a:t>
            </a:r>
            <a:endParaRPr lang="en-US" sz="3600" dirty="0">
              <a:solidFill>
                <a:srgbClr val="FF0000"/>
              </a:solidFill>
            </a:endParaRPr>
          </a:p>
        </p:txBody>
      </p:sp>
      <p:sp>
        <p:nvSpPr>
          <p:cNvPr id="3" name="Content Placeholder 2"/>
          <p:cNvSpPr>
            <a:spLocks noGrp="1"/>
          </p:cNvSpPr>
          <p:nvPr>
            <p:ph idx="1"/>
          </p:nvPr>
        </p:nvSpPr>
        <p:spPr>
          <a:xfrm>
            <a:off x="762000" y="914400"/>
            <a:ext cx="10363200" cy="5791200"/>
          </a:xfrm>
        </p:spPr>
        <p:txBody>
          <a:bodyPr>
            <a:normAutofit fontScale="77500" lnSpcReduction="20000"/>
          </a:bodyPr>
          <a:lstStyle/>
          <a:p>
            <a:pPr marL="0" indent="0">
              <a:buNone/>
            </a:pPr>
            <a:r>
              <a:rPr lang="en-US" b="1" i="1" u="sng" dirty="0"/>
              <a:t>Push function:</a:t>
            </a:r>
            <a:endParaRPr lang="en-US" dirty="0"/>
          </a:p>
          <a:p>
            <a:pPr marL="0" indent="0">
              <a:buNone/>
            </a:pPr>
            <a:r>
              <a:rPr lang="en-US" dirty="0"/>
              <a:t>let *top be the top of the stack or pointer to the first node of the list</a:t>
            </a:r>
            <a:r>
              <a:rPr lang="en-US" dirty="0" smtClean="0"/>
              <a:t>.</a:t>
            </a:r>
            <a:endParaRPr lang="en-US" dirty="0"/>
          </a:p>
          <a:p>
            <a:pPr marL="0" indent="0">
              <a:buNone/>
            </a:pPr>
            <a:r>
              <a:rPr lang="en-US" dirty="0"/>
              <a:t>void push(item) </a:t>
            </a:r>
            <a:endParaRPr lang="en-US" dirty="0" smtClean="0"/>
          </a:p>
          <a:p>
            <a:pPr marL="0" indent="0">
              <a:buNone/>
            </a:pPr>
            <a:r>
              <a:rPr lang="en-US" dirty="0" smtClean="0"/>
              <a:t>{</a:t>
            </a:r>
            <a:endParaRPr lang="en-US" dirty="0"/>
          </a:p>
          <a:p>
            <a:pPr marL="0" indent="0">
              <a:buNone/>
            </a:pPr>
            <a:r>
              <a:rPr lang="en-US" dirty="0" smtClean="0"/>
              <a:t>	</a:t>
            </a:r>
            <a:r>
              <a:rPr lang="en-US" dirty="0" err="1" smtClean="0"/>
              <a:t>NodeType</a:t>
            </a:r>
            <a:r>
              <a:rPr lang="en-US" dirty="0" smtClean="0"/>
              <a:t> </a:t>
            </a:r>
            <a:r>
              <a:rPr lang="en-US" dirty="0"/>
              <a:t>*</a:t>
            </a:r>
            <a:r>
              <a:rPr lang="en-US" dirty="0" err="1"/>
              <a:t>nnode</a:t>
            </a:r>
            <a:r>
              <a:rPr lang="en-US" dirty="0"/>
              <a:t>; </a:t>
            </a:r>
            <a:endParaRPr lang="en-US" dirty="0" smtClean="0"/>
          </a:p>
          <a:p>
            <a:pPr marL="0" indent="0">
              <a:buNone/>
            </a:pPr>
            <a:r>
              <a:rPr lang="en-US" dirty="0" smtClean="0"/>
              <a:t>	</a:t>
            </a:r>
            <a:r>
              <a:rPr lang="en-US" dirty="0" err="1" smtClean="0"/>
              <a:t>int</a:t>
            </a:r>
            <a:r>
              <a:rPr lang="en-US" dirty="0" smtClean="0"/>
              <a:t> </a:t>
            </a:r>
            <a:r>
              <a:rPr lang="en-US" dirty="0"/>
              <a:t>data</a:t>
            </a:r>
            <a:r>
              <a:rPr lang="en-US" dirty="0" smtClean="0"/>
              <a:t>;</a:t>
            </a:r>
            <a:endParaRPr lang="en-US" dirty="0"/>
          </a:p>
          <a:p>
            <a:pPr marL="0" indent="0">
              <a:buNone/>
            </a:pPr>
            <a:r>
              <a:rPr lang="en-US" dirty="0" smtClean="0"/>
              <a:t>	</a:t>
            </a:r>
            <a:r>
              <a:rPr lang="en-US" dirty="0" err="1" smtClean="0"/>
              <a:t>nnode</a:t>
            </a:r>
            <a:r>
              <a:rPr lang="en-US" dirty="0"/>
              <a:t>=( </a:t>
            </a:r>
            <a:r>
              <a:rPr lang="en-US" dirty="0" err="1"/>
              <a:t>NodeType</a:t>
            </a:r>
            <a:r>
              <a:rPr lang="en-US" dirty="0"/>
              <a:t> *)</a:t>
            </a:r>
            <a:r>
              <a:rPr lang="en-US" dirty="0" err="1"/>
              <a:t>malloc</a:t>
            </a:r>
            <a:r>
              <a:rPr lang="en-US" dirty="0"/>
              <a:t>(</a:t>
            </a:r>
            <a:r>
              <a:rPr lang="en-US" dirty="0" err="1"/>
              <a:t>sizeof</a:t>
            </a:r>
            <a:r>
              <a:rPr lang="en-US" dirty="0"/>
              <a:t>(</a:t>
            </a:r>
            <a:r>
              <a:rPr lang="en-US" dirty="0" err="1"/>
              <a:t>NodeType</a:t>
            </a:r>
            <a:r>
              <a:rPr lang="en-US" dirty="0"/>
              <a:t>)); </a:t>
            </a:r>
            <a:endParaRPr lang="en-US" dirty="0" smtClean="0"/>
          </a:p>
          <a:p>
            <a:pPr marL="0" indent="0">
              <a:buNone/>
            </a:pPr>
            <a:r>
              <a:rPr lang="en-US" dirty="0"/>
              <a:t>	</a:t>
            </a:r>
            <a:r>
              <a:rPr lang="en-US" dirty="0" smtClean="0"/>
              <a:t>if(top</a:t>
            </a:r>
            <a:r>
              <a:rPr lang="en-US" dirty="0"/>
              <a:t>==0)</a:t>
            </a:r>
          </a:p>
          <a:p>
            <a:pPr marL="0" indent="0">
              <a:buNone/>
            </a:pPr>
            <a:r>
              <a:rPr lang="en-US" dirty="0" smtClean="0"/>
              <a:t>	{</a:t>
            </a:r>
            <a:endParaRPr lang="en-US" dirty="0"/>
          </a:p>
          <a:p>
            <a:pPr marL="0" indent="0">
              <a:buNone/>
            </a:pPr>
            <a:r>
              <a:rPr lang="en-US" dirty="0" smtClean="0"/>
              <a:t>		</a:t>
            </a:r>
            <a:r>
              <a:rPr lang="en-US" dirty="0" err="1" smtClean="0"/>
              <a:t>nnode</a:t>
            </a:r>
            <a:r>
              <a:rPr lang="en-US" dirty="0" smtClean="0"/>
              <a:t>-</a:t>
            </a:r>
            <a:r>
              <a:rPr lang="en-US" dirty="0"/>
              <a:t>&gt;info=item; </a:t>
            </a:r>
            <a:endParaRPr lang="en-US" dirty="0" smtClean="0"/>
          </a:p>
          <a:p>
            <a:pPr marL="0" indent="0">
              <a:buNone/>
            </a:pPr>
            <a:r>
              <a:rPr lang="en-US" dirty="0"/>
              <a:t>	</a:t>
            </a:r>
            <a:r>
              <a:rPr lang="en-US" dirty="0" smtClean="0"/>
              <a:t>	</a:t>
            </a:r>
            <a:r>
              <a:rPr lang="en-US" dirty="0" err="1" smtClean="0"/>
              <a:t>nnode</a:t>
            </a:r>
            <a:r>
              <a:rPr lang="en-US" dirty="0" smtClean="0"/>
              <a:t>-</a:t>
            </a:r>
            <a:r>
              <a:rPr lang="en-US" dirty="0"/>
              <a:t>&gt;next=NULL; </a:t>
            </a:r>
            <a:endParaRPr lang="en-US" dirty="0" smtClean="0"/>
          </a:p>
          <a:p>
            <a:pPr marL="0" indent="0">
              <a:buNone/>
            </a:pPr>
            <a:r>
              <a:rPr lang="en-US" dirty="0"/>
              <a:t>	</a:t>
            </a:r>
            <a:r>
              <a:rPr lang="en-US" dirty="0" smtClean="0"/>
              <a:t>	top=</a:t>
            </a:r>
            <a:r>
              <a:rPr lang="en-US" dirty="0" err="1" smtClean="0"/>
              <a:t>nnode</a:t>
            </a:r>
            <a:r>
              <a:rPr lang="en-US" dirty="0"/>
              <a:t>;</a:t>
            </a:r>
          </a:p>
          <a:p>
            <a:pPr marL="0" indent="0">
              <a:buNone/>
            </a:pPr>
            <a:r>
              <a:rPr lang="en-US" dirty="0" smtClean="0"/>
              <a:t>	} </a:t>
            </a:r>
          </a:p>
          <a:p>
            <a:pPr marL="0" indent="0">
              <a:buNone/>
            </a:pPr>
            <a:r>
              <a:rPr lang="en-US" smtClean="0"/>
              <a:t>else</a:t>
            </a:r>
            <a:endParaRPr lang="en-US" dirty="0" smtClean="0"/>
          </a:p>
          <a:p>
            <a:pPr marL="0" indent="0">
              <a:buNone/>
            </a:pPr>
            <a:r>
              <a:rPr lang="en-US" dirty="0"/>
              <a:t>	</a:t>
            </a:r>
          </a:p>
        </p:txBody>
      </p:sp>
    </p:spTree>
    <p:extLst>
      <p:ext uri="{BB962C8B-B14F-4D97-AF65-F5344CB8AC3E}">
        <p14:creationId xmlns:p14="http://schemas.microsoft.com/office/powerpoint/2010/main" val="1550087959"/>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838201"/>
            <a:ext cx="10972800" cy="5287964"/>
          </a:xfrm>
        </p:spPr>
        <p:txBody>
          <a:bodyPr/>
          <a:lstStyle/>
          <a:p>
            <a:pPr marL="0" indent="0">
              <a:buNone/>
            </a:pPr>
            <a:r>
              <a:rPr lang="en-US" dirty="0" smtClean="0"/>
              <a:t> </a:t>
            </a:r>
            <a:endParaRPr lang="en-US" dirty="0"/>
          </a:p>
          <a:p>
            <a:pPr marL="0" indent="0">
              <a:buNone/>
            </a:pPr>
            <a:r>
              <a:rPr lang="en-US" dirty="0"/>
              <a:t>	{</a:t>
            </a:r>
          </a:p>
          <a:p>
            <a:pPr marL="0" indent="0">
              <a:buNone/>
            </a:pPr>
            <a:r>
              <a:rPr lang="en-US" dirty="0"/>
              <a:t>		</a:t>
            </a:r>
            <a:r>
              <a:rPr lang="en-US" dirty="0" err="1"/>
              <a:t>nnode</a:t>
            </a:r>
            <a:r>
              <a:rPr lang="en-US" dirty="0"/>
              <a:t>-&gt;info=item; </a:t>
            </a:r>
          </a:p>
          <a:p>
            <a:pPr marL="0" indent="0">
              <a:buNone/>
            </a:pPr>
            <a:r>
              <a:rPr lang="en-US" dirty="0"/>
              <a:t>		</a:t>
            </a:r>
            <a:r>
              <a:rPr lang="en-US" dirty="0" err="1"/>
              <a:t>nnode</a:t>
            </a:r>
            <a:r>
              <a:rPr lang="en-US" dirty="0"/>
              <a:t>-&gt;next=top; </a:t>
            </a:r>
          </a:p>
          <a:p>
            <a:pPr marL="0" indent="0">
              <a:buNone/>
            </a:pPr>
            <a:r>
              <a:rPr lang="en-US" dirty="0"/>
              <a:t>		top=</a:t>
            </a:r>
            <a:r>
              <a:rPr lang="en-US" dirty="0" err="1"/>
              <a:t>nnode</a:t>
            </a:r>
            <a:r>
              <a:rPr lang="en-US" dirty="0"/>
              <a:t>;</a:t>
            </a:r>
          </a:p>
          <a:p>
            <a:pPr marL="0" indent="0">
              <a:buNone/>
            </a:pPr>
            <a:r>
              <a:rPr lang="en-US" dirty="0"/>
              <a:t>} 	}</a:t>
            </a:r>
          </a:p>
          <a:p>
            <a:pPr marL="0" indent="0">
              <a:buNone/>
            </a:pPr>
            <a:endParaRPr lang="en-US" dirty="0"/>
          </a:p>
        </p:txBody>
      </p:sp>
    </p:spTree>
    <p:extLst>
      <p:ext uri="{BB962C8B-B14F-4D97-AF65-F5344CB8AC3E}">
        <p14:creationId xmlns:p14="http://schemas.microsoft.com/office/powerpoint/2010/main" val="422522210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563562"/>
          </a:xfrm>
        </p:spPr>
        <p:txBody>
          <a:bodyPr>
            <a:normAutofit fontScale="90000"/>
          </a:bodyPr>
          <a:lstStyle/>
          <a:p>
            <a:pPr algn="l"/>
            <a:r>
              <a:rPr lang="en-US" sz="4000" b="1" i="1" dirty="0">
                <a:solidFill>
                  <a:srgbClr val="FF0000"/>
                </a:solidFill>
              </a:rPr>
              <a:t>Pop function</a:t>
            </a:r>
            <a:endParaRPr lang="en-US" dirty="0">
              <a:solidFill>
                <a:srgbClr val="FF0000"/>
              </a:solidFill>
            </a:endParaRPr>
          </a:p>
        </p:txBody>
      </p:sp>
      <p:sp>
        <p:nvSpPr>
          <p:cNvPr id="3" name="Content Placeholder 2"/>
          <p:cNvSpPr>
            <a:spLocks noGrp="1"/>
          </p:cNvSpPr>
          <p:nvPr>
            <p:ph idx="1"/>
          </p:nvPr>
        </p:nvSpPr>
        <p:spPr>
          <a:xfrm>
            <a:off x="762000" y="838201"/>
            <a:ext cx="10515600" cy="5714999"/>
          </a:xfrm>
        </p:spPr>
        <p:txBody>
          <a:bodyPr>
            <a:normAutofit fontScale="70000" lnSpcReduction="20000"/>
          </a:bodyPr>
          <a:lstStyle/>
          <a:p>
            <a:pPr marL="0" indent="0">
              <a:buNone/>
            </a:pPr>
            <a:r>
              <a:rPr lang="en-US" dirty="0" smtClean="0"/>
              <a:t>let </a:t>
            </a:r>
            <a:r>
              <a:rPr lang="en-US" dirty="0"/>
              <a:t>*top be the top of the stack or pointer to the first node of the list.</a:t>
            </a:r>
          </a:p>
          <a:p>
            <a:pPr marL="0" indent="0">
              <a:buNone/>
            </a:pPr>
            <a:r>
              <a:rPr lang="en-US" dirty="0" smtClean="0"/>
              <a:t>void </a:t>
            </a:r>
            <a:r>
              <a:rPr lang="en-US" dirty="0"/>
              <a:t>pop() </a:t>
            </a:r>
            <a:endParaRPr lang="en-US" dirty="0" smtClean="0"/>
          </a:p>
          <a:p>
            <a:pPr marL="0" indent="0">
              <a:buNone/>
            </a:pPr>
            <a:r>
              <a:rPr lang="en-US" dirty="0" smtClean="0"/>
              <a:t>{</a:t>
            </a:r>
            <a:endParaRPr lang="en-US" dirty="0"/>
          </a:p>
          <a:p>
            <a:pPr marL="0" indent="0">
              <a:buNone/>
            </a:pPr>
            <a:r>
              <a:rPr lang="en-US" dirty="0" err="1"/>
              <a:t>NodeType</a:t>
            </a:r>
            <a:r>
              <a:rPr lang="en-US" dirty="0"/>
              <a:t> *temp; </a:t>
            </a:r>
            <a:endParaRPr lang="en-US" dirty="0" smtClean="0"/>
          </a:p>
          <a:p>
            <a:pPr marL="0" indent="0">
              <a:buNone/>
            </a:pPr>
            <a:r>
              <a:rPr lang="en-US" dirty="0" smtClean="0"/>
              <a:t>if(top</a:t>
            </a:r>
            <a:r>
              <a:rPr lang="en-US" dirty="0"/>
              <a:t>==0)</a:t>
            </a:r>
          </a:p>
          <a:p>
            <a:pPr marL="0" indent="0">
              <a:buNone/>
            </a:pPr>
            <a:r>
              <a:rPr lang="en-US" dirty="0" smtClean="0"/>
              <a:t>{</a:t>
            </a:r>
            <a:endParaRPr lang="en-US" dirty="0"/>
          </a:p>
          <a:p>
            <a:pPr marL="0" indent="0">
              <a:buNone/>
            </a:pPr>
            <a:r>
              <a:rPr lang="en-US" dirty="0" smtClean="0"/>
              <a:t>	</a:t>
            </a:r>
            <a:r>
              <a:rPr lang="en-US" dirty="0" err="1" smtClean="0"/>
              <a:t>printf</a:t>
            </a:r>
            <a:r>
              <a:rPr lang="en-US" dirty="0"/>
              <a:t>("Stack contain no elements:\n"); </a:t>
            </a:r>
            <a:endParaRPr lang="en-US" dirty="0" smtClean="0"/>
          </a:p>
          <a:p>
            <a:pPr marL="0" indent="0">
              <a:buNone/>
            </a:pPr>
            <a:r>
              <a:rPr lang="en-US" dirty="0"/>
              <a:t>	</a:t>
            </a:r>
            <a:r>
              <a:rPr lang="en-US" dirty="0" smtClean="0"/>
              <a:t>return</a:t>
            </a:r>
            <a:r>
              <a:rPr lang="en-US" dirty="0"/>
              <a:t>;</a:t>
            </a:r>
          </a:p>
          <a:p>
            <a:pPr marL="0" indent="0">
              <a:buNone/>
            </a:pPr>
            <a:r>
              <a:rPr lang="en-US" dirty="0" smtClean="0"/>
              <a:t>} </a:t>
            </a:r>
          </a:p>
          <a:p>
            <a:pPr marL="0" indent="0">
              <a:buNone/>
            </a:pPr>
            <a:r>
              <a:rPr lang="en-US" dirty="0" smtClean="0"/>
              <a:t>else </a:t>
            </a:r>
          </a:p>
          <a:p>
            <a:pPr marL="0" indent="0">
              <a:buNone/>
            </a:pPr>
            <a:r>
              <a:rPr lang="en-US" dirty="0" smtClean="0"/>
              <a:t>{</a:t>
            </a:r>
            <a:endParaRPr lang="en-US" dirty="0"/>
          </a:p>
          <a:p>
            <a:pPr marL="0" indent="0">
              <a:buNone/>
            </a:pPr>
            <a:r>
              <a:rPr lang="en-US" dirty="0"/>
              <a:t>temp=top; </a:t>
            </a:r>
            <a:endParaRPr lang="en-US" dirty="0" smtClean="0"/>
          </a:p>
          <a:p>
            <a:pPr marL="0" indent="0">
              <a:buNone/>
            </a:pPr>
            <a:r>
              <a:rPr lang="en-US" dirty="0" smtClean="0"/>
              <a:t>top=top-</a:t>
            </a:r>
            <a:r>
              <a:rPr lang="en-US" dirty="0"/>
              <a:t>&gt;next;</a:t>
            </a:r>
          </a:p>
          <a:p>
            <a:pPr marL="0" indent="0">
              <a:buNone/>
            </a:pPr>
            <a:r>
              <a:rPr lang="en-US" dirty="0" err="1"/>
              <a:t>printf</a:t>
            </a:r>
            <a:r>
              <a:rPr lang="en-US" dirty="0"/>
              <a:t>("\</a:t>
            </a:r>
            <a:r>
              <a:rPr lang="en-US" dirty="0" err="1"/>
              <a:t>ndeleted</a:t>
            </a:r>
            <a:r>
              <a:rPr lang="en-US" dirty="0"/>
              <a:t> item is %d\t</a:t>
            </a:r>
            <a:r>
              <a:rPr lang="en-US" dirty="0" smtClean="0"/>
              <a:t>", temp-</a:t>
            </a:r>
            <a:r>
              <a:rPr lang="en-US" dirty="0"/>
              <a:t>&gt;info); </a:t>
            </a:r>
            <a:endParaRPr lang="en-US" dirty="0" smtClean="0"/>
          </a:p>
          <a:p>
            <a:pPr marL="0" indent="0">
              <a:buNone/>
            </a:pPr>
            <a:r>
              <a:rPr lang="en-US" dirty="0" smtClean="0"/>
              <a:t>free(temp</a:t>
            </a:r>
            <a:r>
              <a:rPr lang="en-US" dirty="0"/>
              <a:t>);</a:t>
            </a:r>
          </a:p>
          <a:p>
            <a:pPr marL="0" indent="0">
              <a:buNone/>
            </a:pPr>
            <a:r>
              <a:rPr lang="en-US" dirty="0"/>
              <a:t>} }</a:t>
            </a:r>
          </a:p>
          <a:p>
            <a:pPr marL="0" indent="0">
              <a:buNone/>
            </a:pPr>
            <a:endParaRPr lang="en-US" dirty="0"/>
          </a:p>
        </p:txBody>
      </p:sp>
    </p:spTree>
    <p:extLst>
      <p:ext uri="{BB962C8B-B14F-4D97-AF65-F5344CB8AC3E}">
        <p14:creationId xmlns:p14="http://schemas.microsoft.com/office/powerpoint/2010/main" val="2899852585"/>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H/W</a:t>
            </a:r>
            <a:endParaRPr lang="en-US" dirty="0"/>
          </a:p>
        </p:txBody>
      </p:sp>
      <p:sp>
        <p:nvSpPr>
          <p:cNvPr id="3" name="Content Placeholder 2"/>
          <p:cNvSpPr>
            <a:spLocks noGrp="1"/>
          </p:cNvSpPr>
          <p:nvPr>
            <p:ph idx="1"/>
          </p:nvPr>
        </p:nvSpPr>
        <p:spPr>
          <a:xfrm>
            <a:off x="800100" y="1752600"/>
            <a:ext cx="10591800" cy="4297363"/>
          </a:xfrm>
        </p:spPr>
        <p:txBody>
          <a:bodyPr/>
          <a:lstStyle/>
          <a:p>
            <a:r>
              <a:rPr lang="en-US" dirty="0" smtClean="0"/>
              <a:t>WAP Complete program Linked list implementation of Stack.</a:t>
            </a:r>
            <a:endParaRPr lang="en-US" dirty="0"/>
          </a:p>
        </p:txBody>
      </p:sp>
    </p:spTree>
    <p:extLst>
      <p:ext uri="{BB962C8B-B14F-4D97-AF65-F5344CB8AC3E}">
        <p14:creationId xmlns:p14="http://schemas.microsoft.com/office/powerpoint/2010/main" val="170395841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74638"/>
            <a:ext cx="9829800" cy="715962"/>
          </a:xfrm>
        </p:spPr>
        <p:style>
          <a:lnRef idx="3">
            <a:schemeClr val="lt1"/>
          </a:lnRef>
          <a:fillRef idx="1">
            <a:schemeClr val="accent4"/>
          </a:fillRef>
          <a:effectRef idx="1">
            <a:schemeClr val="accent4"/>
          </a:effectRef>
          <a:fontRef idx="minor">
            <a:schemeClr val="lt1"/>
          </a:fontRef>
        </p:style>
        <p:txBody>
          <a:bodyPr>
            <a:normAutofit fontScale="90000"/>
          </a:bodyPr>
          <a:lstStyle/>
          <a:p>
            <a:r>
              <a:rPr lang="en-US" b="1" dirty="0"/>
              <a:t>Implementing Queue using Linked </a:t>
            </a:r>
            <a:r>
              <a:rPr lang="en-US" b="1" dirty="0" smtClean="0"/>
              <a:t>List</a:t>
            </a:r>
            <a:endParaRPr lang="en-US" dirty="0"/>
          </a:p>
        </p:txBody>
      </p:sp>
      <p:sp>
        <p:nvSpPr>
          <p:cNvPr id="3" name="Content Placeholder 2"/>
          <p:cNvSpPr>
            <a:spLocks noGrp="1"/>
          </p:cNvSpPr>
          <p:nvPr>
            <p:ph idx="1"/>
          </p:nvPr>
        </p:nvSpPr>
        <p:spPr>
          <a:xfrm>
            <a:off x="1143000" y="1295400"/>
            <a:ext cx="9906000" cy="5181600"/>
          </a:xfrm>
        </p:spPr>
        <p:txBody>
          <a:bodyPr>
            <a:normAutofit fontScale="92500"/>
          </a:bodyPr>
          <a:lstStyle/>
          <a:p>
            <a:pPr marL="0" indent="0">
              <a:buNone/>
            </a:pPr>
            <a:r>
              <a:rPr lang="en-US" dirty="0"/>
              <a:t>A queue is a special type of list that allows insertion at one end, called </a:t>
            </a:r>
            <a:r>
              <a:rPr lang="en-US" dirty="0" smtClean="0"/>
              <a:t>the rear </a:t>
            </a:r>
            <a:r>
              <a:rPr lang="en-US" dirty="0"/>
              <a:t>of queue, and deletion at other end, called the </a:t>
            </a:r>
            <a:r>
              <a:rPr lang="en-US" dirty="0" smtClean="0"/>
              <a:t>front </a:t>
            </a:r>
            <a:r>
              <a:rPr lang="en-US" dirty="0"/>
              <a:t>of queue</a:t>
            </a:r>
            <a:r>
              <a:rPr lang="en-US" dirty="0" smtClean="0"/>
              <a:t>.</a:t>
            </a:r>
          </a:p>
          <a:p>
            <a:pPr marL="514350" indent="-514350">
              <a:buFont typeface="+mj-lt"/>
              <a:buAutoNum type="arabicPeriod"/>
            </a:pPr>
            <a:r>
              <a:rPr lang="en-US" dirty="0"/>
              <a:t>To implement a queue in a </a:t>
            </a:r>
            <a:r>
              <a:rPr lang="en-US" b="1" dirty="0"/>
              <a:t>linked list</a:t>
            </a:r>
            <a:r>
              <a:rPr lang="en-US" dirty="0"/>
              <a:t>, we make the </a:t>
            </a:r>
            <a:r>
              <a:rPr lang="en-US" i="1" dirty="0"/>
              <a:t>first node of the list as the front</a:t>
            </a:r>
            <a:r>
              <a:rPr lang="en-US" dirty="0"/>
              <a:t> and the </a:t>
            </a:r>
            <a:r>
              <a:rPr lang="en-US" i="1" dirty="0"/>
              <a:t>last node as the rear.</a:t>
            </a:r>
            <a:r>
              <a:rPr lang="en-US" dirty="0"/>
              <a:t> </a:t>
            </a:r>
            <a:endParaRPr lang="en-US" dirty="0" smtClean="0"/>
          </a:p>
          <a:p>
            <a:pPr marL="0" indent="0">
              <a:buNone/>
            </a:pPr>
            <a:r>
              <a:rPr lang="en-US" dirty="0" smtClean="0"/>
              <a:t>So, we </a:t>
            </a:r>
            <a:r>
              <a:rPr lang="en-US" dirty="0"/>
              <a:t>will use two pointer variables – </a:t>
            </a:r>
            <a:r>
              <a:rPr lang="en-US" b="1" i="1" dirty="0"/>
              <a:t>front and rear.</a:t>
            </a:r>
            <a:r>
              <a:rPr lang="en-US" dirty="0"/>
              <a:t> ‘front’ will point to the beginning of the list (like start)  while ‘rear’ will point to the last node of the list </a:t>
            </a:r>
            <a:r>
              <a:rPr lang="en-US" dirty="0" smtClean="0"/>
              <a:t>.</a:t>
            </a:r>
          </a:p>
          <a:p>
            <a:pPr marL="514350" indent="-514350">
              <a:buFont typeface="+mj-lt"/>
              <a:buAutoNum type="arabicPeriod"/>
            </a:pPr>
            <a:r>
              <a:rPr lang="en-US" dirty="0" smtClean="0"/>
              <a:t>Initially</a:t>
            </a:r>
            <a:r>
              <a:rPr lang="en-US" dirty="0"/>
              <a:t>, </a:t>
            </a:r>
            <a:r>
              <a:rPr lang="en-US" b="1" dirty="0"/>
              <a:t>when the queue is empty,</a:t>
            </a:r>
            <a:r>
              <a:rPr lang="en-US" dirty="0"/>
              <a:t> both rear and front will be NULL.</a:t>
            </a:r>
          </a:p>
          <a:p>
            <a:pPr marL="0" indent="0">
              <a:buNone/>
            </a:pPr>
            <a:endParaRPr lang="en-US" dirty="0"/>
          </a:p>
        </p:txBody>
      </p:sp>
    </p:spTree>
    <p:extLst>
      <p:ext uri="{BB962C8B-B14F-4D97-AF65-F5344CB8AC3E}">
        <p14:creationId xmlns:p14="http://schemas.microsoft.com/office/powerpoint/2010/main" val="301882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62000"/>
            <a:ext cx="10287000" cy="5334000"/>
          </a:xfrm>
        </p:spPr>
        <p:txBody>
          <a:bodyPr>
            <a:normAutofit/>
          </a:bodyPr>
          <a:lstStyle/>
          <a:p>
            <a:r>
              <a:rPr lang="en-US" dirty="0" smtClean="0"/>
              <a:t>To </a:t>
            </a:r>
            <a:r>
              <a:rPr lang="en-US" b="1" dirty="0" err="1"/>
              <a:t>enqueue</a:t>
            </a:r>
            <a:r>
              <a:rPr lang="en-US" dirty="0"/>
              <a:t> a new item, we insert it after the rear node and update rear to point to new node. </a:t>
            </a:r>
            <a:endParaRPr lang="en-US" dirty="0" smtClean="0"/>
          </a:p>
          <a:p>
            <a:r>
              <a:rPr lang="en-US" i="1" dirty="0" smtClean="0"/>
              <a:t>This </a:t>
            </a:r>
            <a:r>
              <a:rPr lang="en-US" i="1" dirty="0"/>
              <a:t>function will work similarly as </a:t>
            </a:r>
            <a:r>
              <a:rPr lang="en-US" b="1" i="1" dirty="0" err="1"/>
              <a:t>insertTail</a:t>
            </a:r>
            <a:r>
              <a:rPr lang="en-US" b="1" i="1" dirty="0"/>
              <a:t>()</a:t>
            </a:r>
            <a:r>
              <a:rPr lang="en-US" i="1" dirty="0"/>
              <a:t>, </a:t>
            </a:r>
            <a:r>
              <a:rPr lang="en-US" dirty="0"/>
              <a:t>because both are the process to add new item after the last node. In the case of Queue, we insert a new item after the node pointed by ‘rear’.</a:t>
            </a:r>
          </a:p>
          <a:p>
            <a:r>
              <a:rPr lang="en-US" dirty="0" smtClean="0"/>
              <a:t>To </a:t>
            </a:r>
            <a:r>
              <a:rPr lang="en-US" b="1" dirty="0" err="1"/>
              <a:t>dequeue</a:t>
            </a:r>
            <a:r>
              <a:rPr lang="en-US" dirty="0"/>
              <a:t> an item, we remove the front node and update front to point to the next node. This function will work similarly as </a:t>
            </a:r>
            <a:r>
              <a:rPr lang="en-US" dirty="0" err="1"/>
              <a:t>deleteHead</a:t>
            </a:r>
            <a:r>
              <a:rPr lang="en-US" dirty="0"/>
              <a:t>() of general list or </a:t>
            </a:r>
            <a:r>
              <a:rPr lang="en-US" b="1" i="1" dirty="0"/>
              <a:t>pop()</a:t>
            </a:r>
            <a:r>
              <a:rPr lang="en-US" dirty="0"/>
              <a:t> operation of stack.</a:t>
            </a:r>
          </a:p>
          <a:p>
            <a:pPr marL="0" indent="0">
              <a:buNone/>
            </a:pPr>
            <a:endParaRPr lang="en-US" dirty="0"/>
          </a:p>
        </p:txBody>
      </p:sp>
    </p:spTree>
    <p:extLst>
      <p:ext uri="{BB962C8B-B14F-4D97-AF65-F5344CB8AC3E}">
        <p14:creationId xmlns:p14="http://schemas.microsoft.com/office/powerpoint/2010/main" val="1956255972"/>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74638"/>
            <a:ext cx="10210800" cy="792162"/>
          </a:xfrm>
        </p:spPr>
        <p:style>
          <a:lnRef idx="3">
            <a:schemeClr val="lt1"/>
          </a:lnRef>
          <a:fillRef idx="1">
            <a:schemeClr val="accent4"/>
          </a:fillRef>
          <a:effectRef idx="1">
            <a:schemeClr val="accent4"/>
          </a:effectRef>
          <a:fontRef idx="minor">
            <a:schemeClr val="lt1"/>
          </a:fontRef>
        </p:style>
        <p:txBody>
          <a:bodyPr>
            <a:normAutofit/>
          </a:bodyPr>
          <a:lstStyle/>
          <a:p>
            <a:pPr algn="l"/>
            <a:r>
              <a:rPr lang="en-US" b="1" i="1" dirty="0">
                <a:solidFill>
                  <a:schemeClr val="bg1"/>
                </a:solidFill>
              </a:rPr>
              <a:t>Linked list implementation of </a:t>
            </a:r>
            <a:r>
              <a:rPr lang="en-US" b="1" i="1" dirty="0" smtClean="0">
                <a:solidFill>
                  <a:schemeClr val="bg1"/>
                </a:solidFill>
              </a:rPr>
              <a:t>queue</a:t>
            </a:r>
            <a:endParaRPr lang="en-US" dirty="0">
              <a:solidFill>
                <a:schemeClr val="bg1"/>
              </a:solidFill>
            </a:endParaRPr>
          </a:p>
        </p:txBody>
      </p:sp>
      <p:sp>
        <p:nvSpPr>
          <p:cNvPr id="3" name="Content Placeholder 2"/>
          <p:cNvSpPr>
            <a:spLocks noGrp="1"/>
          </p:cNvSpPr>
          <p:nvPr>
            <p:ph idx="1"/>
          </p:nvPr>
        </p:nvSpPr>
        <p:spPr>
          <a:xfrm>
            <a:off x="685800" y="1447800"/>
            <a:ext cx="10744200" cy="4876800"/>
          </a:xfrm>
        </p:spPr>
        <p:txBody>
          <a:bodyPr>
            <a:normAutofit/>
          </a:bodyPr>
          <a:lstStyle/>
          <a:p>
            <a:pPr marL="0" indent="0">
              <a:buNone/>
            </a:pPr>
            <a:r>
              <a:rPr lang="en-US" dirty="0" smtClean="0"/>
              <a:t>In </a:t>
            </a:r>
            <a:r>
              <a:rPr lang="en-US" dirty="0"/>
              <a:t>the linked queue, there are two pointers maintained in the memory </a:t>
            </a:r>
            <a:r>
              <a:rPr lang="en-US" i="1" dirty="0"/>
              <a:t>i.e. front pointer and rear pointer.</a:t>
            </a:r>
            <a:r>
              <a:rPr lang="en-US" dirty="0"/>
              <a:t> </a:t>
            </a:r>
            <a:endParaRPr lang="en-US" dirty="0" smtClean="0"/>
          </a:p>
          <a:p>
            <a:pPr marL="0" indent="0">
              <a:buNone/>
            </a:pPr>
            <a:r>
              <a:rPr lang="en-US" dirty="0" smtClean="0"/>
              <a:t>The </a:t>
            </a:r>
            <a:r>
              <a:rPr lang="en-US" dirty="0"/>
              <a:t>front pointer contains the address of the starting element of the queue while the rear pointer contains the address of the last element of the queue</a:t>
            </a:r>
            <a:r>
              <a:rPr lang="en-US" dirty="0" smtClean="0"/>
              <a:t>.</a:t>
            </a:r>
          </a:p>
          <a:p>
            <a:pPr marL="0" indent="0">
              <a:buNone/>
            </a:pPr>
            <a:r>
              <a:rPr lang="en-US" dirty="0" smtClean="0"/>
              <a:t>let </a:t>
            </a:r>
            <a:r>
              <a:rPr lang="en-US" dirty="0">
                <a:solidFill>
                  <a:srgbClr val="FF0000"/>
                </a:solidFill>
              </a:rPr>
              <a:t>*rear and *front</a:t>
            </a:r>
            <a:r>
              <a:rPr lang="en-US" dirty="0"/>
              <a:t> are pointers to the first node of the list initially and insertion of node in linked list done at the rear part and deletion of node from the linked list done from front part.</a:t>
            </a:r>
          </a:p>
          <a:p>
            <a:pPr marL="0" indent="0">
              <a:buNone/>
            </a:pPr>
            <a:endParaRPr lang="en-US" dirty="0"/>
          </a:p>
        </p:txBody>
      </p:sp>
    </p:spTree>
    <p:extLst>
      <p:ext uri="{BB962C8B-B14F-4D97-AF65-F5344CB8AC3E}">
        <p14:creationId xmlns:p14="http://schemas.microsoft.com/office/powerpoint/2010/main" val="3005930219"/>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5" name="Content Placeholder 4"/>
          <p:cNvSpPr>
            <a:spLocks noGrp="1"/>
          </p:cNvSpPr>
          <p:nvPr>
            <p:ph idx="1"/>
          </p:nvPr>
        </p:nvSpPr>
        <p:spPr/>
        <p:txBody>
          <a:bodyPr/>
          <a:lstStyle/>
          <a:p>
            <a:endParaRPr lang="en-US"/>
          </a:p>
        </p:txBody>
      </p:sp>
      <p:pic>
        <p:nvPicPr>
          <p:cNvPr id="6" name="Picture 5"/>
          <p:cNvPicPr>
            <a:picLocks noChangeAspect="1"/>
          </p:cNvPicPr>
          <p:nvPr/>
        </p:nvPicPr>
        <p:blipFill>
          <a:blip r:embed="rId2"/>
          <a:stretch>
            <a:fillRect/>
          </a:stretch>
        </p:blipFill>
        <p:spPr>
          <a:xfrm>
            <a:off x="1066800" y="2514600"/>
            <a:ext cx="9874210" cy="2590800"/>
          </a:xfrm>
          <a:prstGeom prst="rect">
            <a:avLst/>
          </a:prstGeom>
        </p:spPr>
      </p:pic>
    </p:spTree>
    <p:extLst>
      <p:ext uri="{BB962C8B-B14F-4D97-AF65-F5344CB8AC3E}">
        <p14:creationId xmlns:p14="http://schemas.microsoft.com/office/powerpoint/2010/main" val="66677056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792162"/>
          </a:xfrm>
        </p:spPr>
        <p:txBody>
          <a:bodyPr/>
          <a:lstStyle/>
          <a:p>
            <a:pPr algn="l"/>
            <a:r>
              <a:rPr lang="en-US" b="1" i="1" dirty="0">
                <a:solidFill>
                  <a:srgbClr val="FF0000"/>
                </a:solidFill>
              </a:rPr>
              <a:t>Insert </a:t>
            </a:r>
            <a:r>
              <a:rPr lang="en-US" b="1" i="1" dirty="0" smtClean="0">
                <a:solidFill>
                  <a:srgbClr val="FF0000"/>
                </a:solidFill>
              </a:rPr>
              <a:t>function</a:t>
            </a:r>
            <a:endParaRPr lang="en-US" dirty="0">
              <a:solidFill>
                <a:srgbClr val="FF0000"/>
              </a:solidFill>
            </a:endParaRPr>
          </a:p>
        </p:txBody>
      </p:sp>
      <p:sp>
        <p:nvSpPr>
          <p:cNvPr id="3" name="Content Placeholder 2"/>
          <p:cNvSpPr>
            <a:spLocks noGrp="1"/>
          </p:cNvSpPr>
          <p:nvPr>
            <p:ph idx="1"/>
          </p:nvPr>
        </p:nvSpPr>
        <p:spPr>
          <a:xfrm>
            <a:off x="914400" y="1219200"/>
            <a:ext cx="9296400" cy="5181600"/>
          </a:xfrm>
        </p:spPr>
        <p:txBody>
          <a:bodyPr>
            <a:noAutofit/>
          </a:bodyPr>
          <a:lstStyle/>
          <a:p>
            <a:pPr marL="0" indent="0">
              <a:buNone/>
            </a:pPr>
            <a:r>
              <a:rPr lang="en-US" sz="2400" dirty="0"/>
              <a:t>void </a:t>
            </a:r>
            <a:r>
              <a:rPr lang="en-US" sz="2400" dirty="0" err="1" smtClean="0"/>
              <a:t>enqueue</a:t>
            </a:r>
            <a:r>
              <a:rPr lang="en-US" sz="2400" dirty="0" smtClean="0"/>
              <a:t>(</a:t>
            </a:r>
            <a:r>
              <a:rPr lang="en-US" sz="2400" dirty="0" err="1" smtClean="0"/>
              <a:t>int</a:t>
            </a:r>
            <a:r>
              <a:rPr lang="en-US" sz="2400" dirty="0" smtClean="0"/>
              <a:t> </a:t>
            </a:r>
            <a:r>
              <a:rPr lang="en-US" sz="2400" dirty="0"/>
              <a:t>item)</a:t>
            </a:r>
          </a:p>
          <a:p>
            <a:pPr marL="0" indent="0">
              <a:buNone/>
            </a:pPr>
            <a:r>
              <a:rPr lang="en-US" sz="2400" dirty="0"/>
              <a:t>{</a:t>
            </a:r>
          </a:p>
          <a:p>
            <a:pPr marL="0" indent="0">
              <a:buNone/>
            </a:pPr>
            <a:r>
              <a:rPr lang="en-US" sz="2400" dirty="0"/>
              <a:t>	</a:t>
            </a:r>
            <a:r>
              <a:rPr lang="en-US" sz="2400" dirty="0" err="1" smtClean="0"/>
              <a:t>struct</a:t>
            </a:r>
            <a:r>
              <a:rPr lang="en-US" sz="2400" dirty="0" smtClean="0"/>
              <a:t> node *</a:t>
            </a:r>
            <a:r>
              <a:rPr lang="en-US" sz="2400" dirty="0" err="1" smtClean="0"/>
              <a:t>newNode</a:t>
            </a:r>
            <a:r>
              <a:rPr lang="en-US" sz="2400" dirty="0"/>
              <a:t>;</a:t>
            </a:r>
          </a:p>
          <a:p>
            <a:pPr marL="0" indent="0">
              <a:buNone/>
            </a:pPr>
            <a:r>
              <a:rPr lang="en-US" sz="2400" dirty="0"/>
              <a:t>	</a:t>
            </a:r>
            <a:r>
              <a:rPr lang="en-US" sz="2400" dirty="0" err="1" smtClean="0"/>
              <a:t>newNode</a:t>
            </a:r>
            <a:r>
              <a:rPr lang="en-US" sz="2400" dirty="0"/>
              <a:t>=( </a:t>
            </a:r>
            <a:r>
              <a:rPr lang="en-US" sz="2400" dirty="0" err="1" smtClean="0"/>
              <a:t>struct</a:t>
            </a:r>
            <a:r>
              <a:rPr lang="en-US" sz="2400" dirty="0" smtClean="0"/>
              <a:t> node*)</a:t>
            </a:r>
            <a:r>
              <a:rPr lang="en-US" sz="2400" dirty="0" err="1" smtClean="0"/>
              <a:t>malloc</a:t>
            </a:r>
            <a:r>
              <a:rPr lang="en-US" sz="2400" dirty="0" smtClean="0"/>
              <a:t>(</a:t>
            </a:r>
            <a:r>
              <a:rPr lang="en-US" sz="2400" dirty="0" err="1" smtClean="0"/>
              <a:t>sizeof</a:t>
            </a:r>
            <a:r>
              <a:rPr lang="en-US" sz="2400" dirty="0" smtClean="0"/>
              <a:t>(</a:t>
            </a:r>
            <a:r>
              <a:rPr lang="en-US" sz="2400" dirty="0" err="1" smtClean="0"/>
              <a:t>struct</a:t>
            </a:r>
            <a:r>
              <a:rPr lang="en-US" sz="2400" dirty="0" smtClean="0"/>
              <a:t> node));</a:t>
            </a:r>
            <a:endParaRPr lang="en-US" sz="2400" dirty="0"/>
          </a:p>
          <a:p>
            <a:pPr marL="0" indent="0">
              <a:buNone/>
            </a:pPr>
            <a:r>
              <a:rPr lang="en-US" sz="2400" dirty="0"/>
              <a:t>	if(rear==0) </a:t>
            </a:r>
          </a:p>
          <a:p>
            <a:pPr marL="0" indent="0">
              <a:buNone/>
            </a:pPr>
            <a:r>
              <a:rPr lang="en-US" sz="2400" dirty="0"/>
              <a:t>	{</a:t>
            </a:r>
          </a:p>
          <a:p>
            <a:pPr marL="0" indent="0">
              <a:buNone/>
            </a:pPr>
            <a:r>
              <a:rPr lang="en-US" sz="2400" dirty="0"/>
              <a:t>		</a:t>
            </a:r>
            <a:r>
              <a:rPr lang="en-US" sz="2400" dirty="0" err="1" smtClean="0"/>
              <a:t>newNode</a:t>
            </a:r>
            <a:r>
              <a:rPr lang="en-US" sz="2400" dirty="0" smtClean="0"/>
              <a:t>-</a:t>
            </a:r>
            <a:r>
              <a:rPr lang="en-US" sz="2400" dirty="0"/>
              <a:t>&gt;info=item; </a:t>
            </a:r>
          </a:p>
          <a:p>
            <a:pPr marL="0" indent="0">
              <a:buNone/>
            </a:pPr>
            <a:r>
              <a:rPr lang="en-US" sz="2400" dirty="0"/>
              <a:t>		</a:t>
            </a:r>
            <a:r>
              <a:rPr lang="en-US" sz="2400" dirty="0" err="1" smtClean="0"/>
              <a:t>newNode</a:t>
            </a:r>
            <a:r>
              <a:rPr lang="en-US" sz="2400" dirty="0" smtClean="0"/>
              <a:t>-</a:t>
            </a:r>
            <a:r>
              <a:rPr lang="en-US" sz="2400" dirty="0"/>
              <a:t>&gt;next=NULL;</a:t>
            </a:r>
          </a:p>
          <a:p>
            <a:pPr marL="0" indent="0">
              <a:buNone/>
            </a:pPr>
            <a:r>
              <a:rPr lang="en-US" sz="2400" dirty="0"/>
              <a:t>		</a:t>
            </a:r>
            <a:r>
              <a:rPr lang="en-US" sz="2400" dirty="0" smtClean="0"/>
              <a:t>rear=front=</a:t>
            </a:r>
            <a:r>
              <a:rPr lang="en-US" sz="2400" dirty="0" err="1" smtClean="0"/>
              <a:t>newNode</a:t>
            </a:r>
            <a:r>
              <a:rPr lang="en-US" sz="2400" dirty="0"/>
              <a:t>; </a:t>
            </a:r>
          </a:p>
          <a:p>
            <a:pPr marL="0" indent="0">
              <a:buNone/>
            </a:pPr>
            <a:r>
              <a:rPr lang="en-US" sz="2400" dirty="0"/>
              <a:t>	</a:t>
            </a:r>
            <a:r>
              <a:rPr lang="en-US" sz="2400" dirty="0" smtClean="0"/>
              <a:t>}</a:t>
            </a:r>
            <a:endParaRPr lang="en-US" sz="2400" dirty="0"/>
          </a:p>
        </p:txBody>
      </p:sp>
    </p:spTree>
    <p:extLst>
      <p:ext uri="{BB962C8B-B14F-4D97-AF65-F5344CB8AC3E}">
        <p14:creationId xmlns:p14="http://schemas.microsoft.com/office/powerpoint/2010/main" val="3261432371"/>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marL="0" indent="0">
              <a:buNone/>
            </a:pPr>
            <a:r>
              <a:rPr lang="en-US" dirty="0" smtClean="0"/>
              <a:t>       else </a:t>
            </a:r>
            <a:endParaRPr lang="en-US" dirty="0"/>
          </a:p>
          <a:p>
            <a:pPr marL="0" indent="0">
              <a:buNone/>
            </a:pPr>
            <a:r>
              <a:rPr lang="en-US" dirty="0"/>
              <a:t>	{</a:t>
            </a:r>
          </a:p>
          <a:p>
            <a:pPr marL="0" indent="0">
              <a:buNone/>
            </a:pPr>
            <a:r>
              <a:rPr lang="en-US" dirty="0"/>
              <a:t>	 	</a:t>
            </a:r>
            <a:r>
              <a:rPr lang="en-US" dirty="0" err="1" smtClean="0"/>
              <a:t>newNode</a:t>
            </a:r>
            <a:r>
              <a:rPr lang="en-US" dirty="0" smtClean="0"/>
              <a:t>-</a:t>
            </a:r>
            <a:r>
              <a:rPr lang="en-US" dirty="0"/>
              <a:t>&gt;info=item; </a:t>
            </a:r>
          </a:p>
          <a:p>
            <a:pPr marL="0" indent="0">
              <a:buNone/>
            </a:pPr>
            <a:r>
              <a:rPr lang="en-US" dirty="0"/>
              <a:t>		</a:t>
            </a:r>
            <a:r>
              <a:rPr lang="en-US" dirty="0" err="1" smtClean="0"/>
              <a:t>newNode</a:t>
            </a:r>
            <a:r>
              <a:rPr lang="en-US" dirty="0" smtClean="0"/>
              <a:t>-</a:t>
            </a:r>
            <a:r>
              <a:rPr lang="en-US" dirty="0"/>
              <a:t>&gt;next=NULL;</a:t>
            </a:r>
          </a:p>
          <a:p>
            <a:pPr marL="0" indent="0">
              <a:buNone/>
            </a:pPr>
            <a:r>
              <a:rPr lang="en-US" dirty="0"/>
              <a:t>		rear-&gt;</a:t>
            </a:r>
            <a:r>
              <a:rPr lang="en-US" dirty="0" smtClean="0"/>
              <a:t>next=</a:t>
            </a:r>
            <a:r>
              <a:rPr lang="en-US" dirty="0" err="1" smtClean="0"/>
              <a:t>newNode</a:t>
            </a:r>
            <a:r>
              <a:rPr lang="en-US" dirty="0"/>
              <a:t>; </a:t>
            </a:r>
          </a:p>
          <a:p>
            <a:pPr marL="0" indent="0">
              <a:buNone/>
            </a:pPr>
            <a:r>
              <a:rPr lang="en-US" dirty="0"/>
              <a:t>		</a:t>
            </a:r>
            <a:r>
              <a:rPr lang="en-US" dirty="0" smtClean="0"/>
              <a:t>rear=</a:t>
            </a:r>
            <a:r>
              <a:rPr lang="en-US" dirty="0" err="1" smtClean="0"/>
              <a:t>newNode</a:t>
            </a:r>
            <a:r>
              <a:rPr lang="en-US" dirty="0"/>
              <a:t>;</a:t>
            </a:r>
          </a:p>
          <a:p>
            <a:pPr marL="0" indent="0">
              <a:buNone/>
            </a:pPr>
            <a:r>
              <a:rPr lang="en-US" dirty="0"/>
              <a:t>	} 	</a:t>
            </a:r>
          </a:p>
          <a:p>
            <a:pPr marL="0" indent="0">
              <a:buNone/>
            </a:pPr>
            <a:r>
              <a:rPr lang="en-US" dirty="0"/>
              <a:t>}</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27103028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4638"/>
            <a:ext cx="9525000" cy="258762"/>
          </a:xfrm>
        </p:spPr>
        <p:txBody>
          <a:bodyPr>
            <a:normAutofit fontScale="90000"/>
          </a:bodyPr>
          <a:lstStyle/>
          <a:p>
            <a:pPr algn="l"/>
            <a:r>
              <a:rPr lang="en-US" b="1" i="1" dirty="0">
                <a:solidFill>
                  <a:srgbClr val="FF0000"/>
                </a:solidFill>
              </a:rPr>
              <a:t>Delete </a:t>
            </a:r>
            <a:r>
              <a:rPr lang="en-US" b="1" i="1" dirty="0" smtClean="0">
                <a:solidFill>
                  <a:srgbClr val="FF0000"/>
                </a:solidFill>
              </a:rPr>
              <a:t>function</a:t>
            </a:r>
            <a:endParaRPr lang="en-US" dirty="0">
              <a:solidFill>
                <a:srgbClr val="FF0000"/>
              </a:solidFill>
            </a:endParaRPr>
          </a:p>
        </p:txBody>
      </p:sp>
      <p:sp>
        <p:nvSpPr>
          <p:cNvPr id="3" name="Content Placeholder 2"/>
          <p:cNvSpPr>
            <a:spLocks noGrp="1"/>
          </p:cNvSpPr>
          <p:nvPr>
            <p:ph idx="1"/>
          </p:nvPr>
        </p:nvSpPr>
        <p:spPr>
          <a:xfrm>
            <a:off x="838200" y="838200"/>
            <a:ext cx="10744200" cy="5791200"/>
          </a:xfrm>
        </p:spPr>
        <p:txBody>
          <a:bodyPr>
            <a:normAutofit fontScale="77500" lnSpcReduction="20000"/>
          </a:bodyPr>
          <a:lstStyle/>
          <a:p>
            <a:pPr marL="0" indent="0">
              <a:buNone/>
            </a:pPr>
            <a:r>
              <a:rPr lang="en-US" dirty="0" smtClean="0"/>
              <a:t>let </a:t>
            </a:r>
            <a:r>
              <a:rPr lang="en-US" dirty="0"/>
              <a:t>*rear and *front are pointers to the first node of the list initially and insertion of node in linked list done at the rear part and deletion of node from the linked list done from front part.</a:t>
            </a:r>
          </a:p>
          <a:p>
            <a:pPr marL="0" indent="0">
              <a:buNone/>
            </a:pPr>
            <a:endParaRPr lang="en-US" sz="2600" dirty="0" smtClean="0"/>
          </a:p>
          <a:p>
            <a:pPr marL="0" indent="0">
              <a:buNone/>
            </a:pPr>
            <a:r>
              <a:rPr lang="en-US" dirty="0" smtClean="0"/>
              <a:t>void </a:t>
            </a:r>
            <a:r>
              <a:rPr lang="en-US" dirty="0" err="1" smtClean="0"/>
              <a:t>dequeue</a:t>
            </a:r>
            <a:r>
              <a:rPr lang="en-US" dirty="0" smtClean="0"/>
              <a:t>() {</a:t>
            </a:r>
            <a:endParaRPr lang="en-US" dirty="0"/>
          </a:p>
          <a:p>
            <a:pPr marL="0" indent="0">
              <a:buNone/>
            </a:pPr>
            <a:r>
              <a:rPr lang="en-US" dirty="0" smtClean="0"/>
              <a:t>	</a:t>
            </a:r>
            <a:r>
              <a:rPr lang="en-US" dirty="0" err="1" smtClean="0"/>
              <a:t>struct</a:t>
            </a:r>
            <a:r>
              <a:rPr lang="en-US" dirty="0" smtClean="0"/>
              <a:t> node </a:t>
            </a:r>
            <a:r>
              <a:rPr lang="en-US" dirty="0"/>
              <a:t>*temp; </a:t>
            </a:r>
            <a:endParaRPr lang="en-US" dirty="0" smtClean="0"/>
          </a:p>
          <a:p>
            <a:pPr marL="0" indent="0">
              <a:buNone/>
            </a:pPr>
            <a:r>
              <a:rPr lang="en-US" dirty="0"/>
              <a:t>	</a:t>
            </a:r>
            <a:r>
              <a:rPr lang="en-US" dirty="0" smtClean="0"/>
              <a:t>if(front</a:t>
            </a:r>
            <a:r>
              <a:rPr lang="en-US" dirty="0"/>
              <a:t>==0</a:t>
            </a:r>
            <a:r>
              <a:rPr lang="en-US" dirty="0" smtClean="0"/>
              <a:t>){</a:t>
            </a:r>
            <a:endParaRPr lang="en-US" dirty="0"/>
          </a:p>
          <a:p>
            <a:pPr marL="0" indent="0">
              <a:buNone/>
            </a:pPr>
            <a:r>
              <a:rPr lang="en-US" dirty="0" smtClean="0"/>
              <a:t>		</a:t>
            </a:r>
            <a:r>
              <a:rPr lang="en-US" dirty="0" err="1" smtClean="0"/>
              <a:t>printf</a:t>
            </a:r>
            <a:r>
              <a:rPr lang="en-US" dirty="0"/>
              <a:t>("Queue contain no elements:\n"); </a:t>
            </a:r>
            <a:endParaRPr lang="en-US" dirty="0" smtClean="0"/>
          </a:p>
          <a:p>
            <a:pPr marL="0" indent="0">
              <a:buNone/>
            </a:pPr>
            <a:r>
              <a:rPr lang="en-US" dirty="0" smtClean="0"/>
              <a:t>	}</a:t>
            </a:r>
            <a:endParaRPr lang="en-US" dirty="0"/>
          </a:p>
          <a:p>
            <a:pPr marL="0" indent="0">
              <a:buNone/>
            </a:pPr>
            <a:r>
              <a:rPr lang="en-US" dirty="0" smtClean="0"/>
              <a:t>	else </a:t>
            </a:r>
            <a:r>
              <a:rPr lang="en-US" dirty="0"/>
              <a:t>if(front-&gt;next==NULL) </a:t>
            </a:r>
            <a:r>
              <a:rPr lang="en-US" dirty="0" smtClean="0"/>
              <a:t>{</a:t>
            </a:r>
            <a:endParaRPr lang="en-US" dirty="0"/>
          </a:p>
          <a:p>
            <a:pPr marL="0" indent="0">
              <a:buNone/>
            </a:pPr>
            <a:r>
              <a:rPr lang="en-US" dirty="0" smtClean="0"/>
              <a:t>		temp=front</a:t>
            </a:r>
            <a:r>
              <a:rPr lang="en-US" dirty="0"/>
              <a:t>; </a:t>
            </a:r>
            <a:endParaRPr lang="en-US" dirty="0" smtClean="0"/>
          </a:p>
          <a:p>
            <a:pPr marL="0" indent="0">
              <a:buNone/>
            </a:pPr>
            <a:r>
              <a:rPr lang="en-US" dirty="0"/>
              <a:t>	</a:t>
            </a:r>
            <a:r>
              <a:rPr lang="en-US" dirty="0" smtClean="0"/>
              <a:t>	rear=front=NULL</a:t>
            </a:r>
            <a:r>
              <a:rPr lang="en-US" dirty="0"/>
              <a:t>;</a:t>
            </a:r>
          </a:p>
          <a:p>
            <a:pPr marL="0" indent="0">
              <a:buNone/>
            </a:pPr>
            <a:r>
              <a:rPr lang="en-US" dirty="0" smtClean="0"/>
              <a:t>		</a:t>
            </a:r>
            <a:r>
              <a:rPr lang="en-US" dirty="0" err="1" smtClean="0"/>
              <a:t>printf</a:t>
            </a:r>
            <a:r>
              <a:rPr lang="en-US" dirty="0"/>
              <a:t>("\</a:t>
            </a:r>
            <a:r>
              <a:rPr lang="en-US" dirty="0" err="1"/>
              <a:t>nDeleted</a:t>
            </a:r>
            <a:r>
              <a:rPr lang="en-US" dirty="0"/>
              <a:t> item is %d\n</a:t>
            </a:r>
            <a:r>
              <a:rPr lang="en-US" dirty="0" smtClean="0"/>
              <a:t>", temp-</a:t>
            </a:r>
            <a:r>
              <a:rPr lang="en-US" dirty="0"/>
              <a:t>&gt;info); </a:t>
            </a:r>
            <a:endParaRPr lang="en-US" dirty="0" smtClean="0"/>
          </a:p>
          <a:p>
            <a:pPr marL="0" indent="0">
              <a:buNone/>
            </a:pPr>
            <a:r>
              <a:rPr lang="en-US" dirty="0"/>
              <a:t>	</a:t>
            </a:r>
            <a:r>
              <a:rPr lang="en-US" dirty="0" smtClean="0"/>
              <a:t>	free(temp</a:t>
            </a:r>
            <a:r>
              <a:rPr lang="en-US" dirty="0"/>
              <a:t>);</a:t>
            </a:r>
          </a:p>
          <a:p>
            <a:pPr marL="0" indent="0">
              <a:buNone/>
            </a:pPr>
            <a:r>
              <a:rPr lang="en-US" dirty="0" smtClean="0"/>
              <a:t>	} </a:t>
            </a:r>
          </a:p>
        </p:txBody>
      </p:sp>
    </p:spTree>
    <p:extLst>
      <p:ext uri="{BB962C8B-B14F-4D97-AF65-F5344CB8AC3E}">
        <p14:creationId xmlns:p14="http://schemas.microsoft.com/office/powerpoint/2010/main" val="2502497929"/>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dirty="0"/>
              <a:t>else </a:t>
            </a:r>
          </a:p>
          <a:p>
            <a:pPr marL="0" indent="0">
              <a:buNone/>
            </a:pPr>
            <a:r>
              <a:rPr lang="en-US" dirty="0"/>
              <a:t>	{</a:t>
            </a:r>
          </a:p>
          <a:p>
            <a:pPr marL="0" indent="0">
              <a:buNone/>
            </a:pPr>
            <a:r>
              <a:rPr lang="en-US" dirty="0"/>
              <a:t>		temp=front; </a:t>
            </a:r>
          </a:p>
          <a:p>
            <a:pPr marL="0" indent="0">
              <a:buNone/>
            </a:pPr>
            <a:r>
              <a:rPr lang="en-US" dirty="0"/>
              <a:t>		front=front-&gt;next;</a:t>
            </a:r>
          </a:p>
          <a:p>
            <a:pPr marL="0" indent="0">
              <a:buNone/>
            </a:pPr>
            <a:r>
              <a:rPr lang="en-US" dirty="0"/>
              <a:t>		</a:t>
            </a:r>
            <a:r>
              <a:rPr lang="en-US" dirty="0" err="1"/>
              <a:t>printf</a:t>
            </a:r>
            <a:r>
              <a:rPr lang="en-US" dirty="0"/>
              <a:t>("\</a:t>
            </a:r>
            <a:r>
              <a:rPr lang="en-US" dirty="0" smtClean="0"/>
              <a:t>n Deleted </a:t>
            </a:r>
            <a:r>
              <a:rPr lang="en-US" dirty="0"/>
              <a:t>item is %d\</a:t>
            </a:r>
            <a:r>
              <a:rPr lang="en-US" dirty="0" err="1"/>
              <a:t>n",temp</a:t>
            </a:r>
            <a:r>
              <a:rPr lang="en-US" dirty="0"/>
              <a:t>-&gt;info); </a:t>
            </a:r>
          </a:p>
          <a:p>
            <a:pPr marL="0" indent="0">
              <a:buNone/>
            </a:pPr>
            <a:r>
              <a:rPr lang="en-US" dirty="0"/>
              <a:t>	free(temp);</a:t>
            </a:r>
          </a:p>
          <a:p>
            <a:pPr marL="0" indent="0">
              <a:buNone/>
            </a:pPr>
            <a:r>
              <a:rPr lang="en-US" dirty="0"/>
              <a:t>} }</a:t>
            </a:r>
          </a:p>
          <a:p>
            <a:pPr marL="0" indent="0">
              <a:buNone/>
            </a:pPr>
            <a:endParaRPr lang="en-US" dirty="0"/>
          </a:p>
        </p:txBody>
      </p:sp>
    </p:spTree>
    <p:extLst>
      <p:ext uri="{BB962C8B-B14F-4D97-AF65-F5344CB8AC3E}">
        <p14:creationId xmlns:p14="http://schemas.microsoft.com/office/powerpoint/2010/main" val="113444338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H/w</a:t>
            </a:r>
            <a:endParaRPr lang="en-US" dirty="0"/>
          </a:p>
        </p:txBody>
      </p:sp>
      <p:sp>
        <p:nvSpPr>
          <p:cNvPr id="3" name="Content Placeholder 2"/>
          <p:cNvSpPr>
            <a:spLocks noGrp="1"/>
          </p:cNvSpPr>
          <p:nvPr>
            <p:ph idx="1"/>
          </p:nvPr>
        </p:nvSpPr>
        <p:spPr/>
        <p:txBody>
          <a:bodyPr/>
          <a:lstStyle/>
          <a:p>
            <a:r>
              <a:rPr lang="en-US" b="1" dirty="0" smtClean="0"/>
              <a:t>Write a </a:t>
            </a:r>
            <a:r>
              <a:rPr lang="en-US" b="1" i="1" dirty="0" smtClean="0"/>
              <a:t>Complete </a:t>
            </a:r>
            <a:r>
              <a:rPr lang="en-US" b="1" i="1" dirty="0"/>
              <a:t>C program for linked list implementation of queue</a:t>
            </a:r>
            <a:r>
              <a:rPr lang="en-US" b="1" i="1" dirty="0" smtClean="0"/>
              <a:t>:</a:t>
            </a:r>
            <a:endParaRPr lang="en-US" b="1" dirty="0"/>
          </a:p>
        </p:txBody>
      </p:sp>
    </p:spTree>
    <p:extLst>
      <p:ext uri="{BB962C8B-B14F-4D97-AF65-F5344CB8AC3E}">
        <p14:creationId xmlns:p14="http://schemas.microsoft.com/office/powerpoint/2010/main" val="679057455"/>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74638"/>
            <a:ext cx="10287000" cy="563562"/>
          </a:xfrm>
        </p:spPr>
        <p:style>
          <a:lnRef idx="3">
            <a:schemeClr val="lt1"/>
          </a:lnRef>
          <a:fillRef idx="1">
            <a:schemeClr val="accent4"/>
          </a:fillRef>
          <a:effectRef idx="1">
            <a:schemeClr val="accent4"/>
          </a:effectRef>
          <a:fontRef idx="minor">
            <a:schemeClr val="lt1"/>
          </a:fontRef>
        </p:style>
        <p:txBody>
          <a:bodyPr>
            <a:noAutofit/>
          </a:bodyPr>
          <a:lstStyle/>
          <a:p>
            <a:r>
              <a:rPr lang="en-US" sz="3200" b="1" dirty="0"/>
              <a:t>Advantages of Linked List over Contiguous List</a:t>
            </a:r>
            <a:endParaRPr lang="en-US" sz="3200" dirty="0"/>
          </a:p>
        </p:txBody>
      </p:sp>
      <p:sp>
        <p:nvSpPr>
          <p:cNvPr id="3" name="Content Placeholder 2"/>
          <p:cNvSpPr>
            <a:spLocks noGrp="1"/>
          </p:cNvSpPr>
          <p:nvPr>
            <p:ph idx="1"/>
          </p:nvPr>
        </p:nvSpPr>
        <p:spPr>
          <a:xfrm>
            <a:off x="533400" y="1219200"/>
            <a:ext cx="10972800" cy="5029200"/>
          </a:xfrm>
        </p:spPr>
        <p:txBody>
          <a:bodyPr>
            <a:normAutofit/>
          </a:bodyPr>
          <a:lstStyle/>
          <a:p>
            <a:pPr lvl="0"/>
            <a:r>
              <a:rPr lang="en-US" sz="3600" dirty="0" smtClean="0"/>
              <a:t>A </a:t>
            </a:r>
            <a:r>
              <a:rPr lang="en-US" sz="3600" dirty="0"/>
              <a:t>Linked list is a dynamic data structure. </a:t>
            </a:r>
            <a:r>
              <a:rPr lang="en-US" sz="3600" dirty="0" smtClean="0"/>
              <a:t>Therefore, can </a:t>
            </a:r>
            <a:r>
              <a:rPr lang="en-US" sz="3600" dirty="0"/>
              <a:t>grow or shrink in size during the execution of a program. </a:t>
            </a:r>
          </a:p>
          <a:p>
            <a:pPr lvl="0"/>
            <a:r>
              <a:rPr lang="en-US" sz="3600" dirty="0"/>
              <a:t>Another advantage is that a linked list doesn’t waste memory space. </a:t>
            </a:r>
          </a:p>
          <a:p>
            <a:r>
              <a:rPr lang="en-US" sz="3600" dirty="0"/>
              <a:t>The third and the more important advantage is that the linked lists provide flexibility in allowing the items to be rearranged </a:t>
            </a:r>
            <a:r>
              <a:rPr lang="en-US" sz="3600" dirty="0" smtClean="0"/>
              <a:t>efficiently.</a:t>
            </a:r>
            <a:endParaRPr lang="en-US" sz="3600" dirty="0"/>
          </a:p>
        </p:txBody>
      </p:sp>
    </p:spTree>
    <p:extLst>
      <p:ext uri="{BB962C8B-B14F-4D97-AF65-F5344CB8AC3E}">
        <p14:creationId xmlns:p14="http://schemas.microsoft.com/office/powerpoint/2010/main" val="4164144543"/>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74638"/>
            <a:ext cx="10591800" cy="639762"/>
          </a:xfrm>
        </p:spPr>
        <p:style>
          <a:lnRef idx="3">
            <a:schemeClr val="lt1"/>
          </a:lnRef>
          <a:fillRef idx="1">
            <a:schemeClr val="accent4"/>
          </a:fillRef>
          <a:effectRef idx="1">
            <a:schemeClr val="accent4"/>
          </a:effectRef>
          <a:fontRef idx="minor">
            <a:schemeClr val="lt1"/>
          </a:fontRef>
        </p:style>
        <p:txBody>
          <a:bodyPr>
            <a:normAutofit fontScale="90000"/>
          </a:bodyPr>
          <a:lstStyle/>
          <a:p>
            <a:pPr algn="l"/>
            <a:r>
              <a:rPr lang="en-US" b="1" dirty="0"/>
              <a:t>Array </a:t>
            </a:r>
            <a:r>
              <a:rPr lang="en-US" b="1" dirty="0" err="1"/>
              <a:t>Vs</a:t>
            </a:r>
            <a:r>
              <a:rPr lang="en-US" b="1" dirty="0"/>
              <a:t> List</a:t>
            </a:r>
            <a:endParaRPr lang="en-US" dirty="0"/>
          </a:p>
        </p:txBody>
      </p:sp>
      <p:sp>
        <p:nvSpPr>
          <p:cNvPr id="3" name="Content Placeholder 2"/>
          <p:cNvSpPr>
            <a:spLocks noGrp="1"/>
          </p:cNvSpPr>
          <p:nvPr>
            <p:ph idx="1"/>
          </p:nvPr>
        </p:nvSpPr>
        <p:spPr>
          <a:xfrm>
            <a:off x="762000" y="1371599"/>
            <a:ext cx="10896600" cy="5036457"/>
          </a:xfrm>
        </p:spPr>
        <p:txBody>
          <a:bodyPr>
            <a:normAutofit/>
          </a:bodyPr>
          <a:lstStyle/>
          <a:p>
            <a:pPr lvl="0"/>
            <a:r>
              <a:rPr lang="en-US" dirty="0" smtClean="0"/>
              <a:t>The </a:t>
            </a:r>
            <a:r>
              <a:rPr lang="en-US" dirty="0"/>
              <a:t>number of elements of an array is fixed when the array is created. </a:t>
            </a:r>
            <a:r>
              <a:rPr lang="en-US" i="1" dirty="0"/>
              <a:t>In contrast, the number of elements in a list can be varied by adding or removing elements.</a:t>
            </a:r>
          </a:p>
          <a:p>
            <a:pPr lvl="0"/>
            <a:r>
              <a:rPr lang="en-US" dirty="0"/>
              <a:t>The index of a component of an array is unique and fixed. </a:t>
            </a:r>
            <a:endParaRPr lang="en-US" dirty="0" smtClean="0"/>
          </a:p>
          <a:p>
            <a:pPr marL="0" lvl="0" indent="0">
              <a:buNone/>
            </a:pPr>
            <a:r>
              <a:rPr lang="en-US" i="1" dirty="0" smtClean="0"/>
              <a:t>In </a:t>
            </a:r>
            <a:r>
              <a:rPr lang="en-US" i="1" dirty="0"/>
              <a:t>contrast, the position of an element in a list can vary over </a:t>
            </a:r>
            <a:r>
              <a:rPr lang="en-US" i="1" dirty="0" smtClean="0"/>
              <a:t>time</a:t>
            </a:r>
            <a:r>
              <a:rPr lang="en-US" dirty="0"/>
              <a:t>.</a:t>
            </a:r>
            <a:r>
              <a:rPr lang="en-US" dirty="0" smtClean="0"/>
              <a:t> </a:t>
            </a:r>
            <a:endParaRPr lang="en-US" dirty="0"/>
          </a:p>
          <a:p>
            <a:r>
              <a:rPr lang="en-US" dirty="0"/>
              <a:t>All components of an array can be accessed easily in constant time, but there is no statement that the same is true for the elements of a list</a:t>
            </a:r>
          </a:p>
        </p:txBody>
      </p:sp>
    </p:spTree>
    <p:extLst>
      <p:ext uri="{BB962C8B-B14F-4D97-AF65-F5344CB8AC3E}">
        <p14:creationId xmlns:p14="http://schemas.microsoft.com/office/powerpoint/2010/main" val="2467221271"/>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944562"/>
          </a:xfrm>
        </p:spPr>
        <p:style>
          <a:lnRef idx="3">
            <a:schemeClr val="lt1"/>
          </a:lnRef>
          <a:fillRef idx="1">
            <a:schemeClr val="accent4"/>
          </a:fillRef>
          <a:effectRef idx="1">
            <a:schemeClr val="accent4"/>
          </a:effectRef>
          <a:fontRef idx="minor">
            <a:schemeClr val="lt1"/>
          </a:fontRef>
        </p:style>
        <p:txBody>
          <a:bodyPr>
            <a:normAutofit/>
          </a:bodyPr>
          <a:lstStyle/>
          <a:p>
            <a:pPr algn="l"/>
            <a:r>
              <a:rPr lang="en-US" b="1" dirty="0"/>
              <a:t>Limitations of Linked </a:t>
            </a:r>
            <a:r>
              <a:rPr lang="en-US" b="1" dirty="0" smtClean="0"/>
              <a:t>Lists</a:t>
            </a:r>
            <a:endParaRPr lang="en-US" dirty="0"/>
          </a:p>
        </p:txBody>
      </p:sp>
      <p:sp>
        <p:nvSpPr>
          <p:cNvPr id="3" name="Content Placeholder 2"/>
          <p:cNvSpPr>
            <a:spLocks noGrp="1"/>
          </p:cNvSpPr>
          <p:nvPr>
            <p:ph idx="1"/>
          </p:nvPr>
        </p:nvSpPr>
        <p:spPr>
          <a:xfrm>
            <a:off x="609600" y="1447801"/>
            <a:ext cx="10972800" cy="4678364"/>
          </a:xfrm>
        </p:spPr>
        <p:txBody>
          <a:bodyPr>
            <a:normAutofit/>
          </a:bodyPr>
          <a:lstStyle/>
          <a:p>
            <a:pPr lvl="0"/>
            <a:r>
              <a:rPr lang="en-US" dirty="0" smtClean="0"/>
              <a:t>Whenever </a:t>
            </a:r>
            <a:r>
              <a:rPr lang="en-US" dirty="0"/>
              <a:t>we deal with a fixed length list, it would be </a:t>
            </a:r>
            <a:r>
              <a:rPr lang="en-US" b="1" i="1" dirty="0"/>
              <a:t>better to use an array </a:t>
            </a:r>
            <a:r>
              <a:rPr lang="en-US" dirty="0"/>
              <a:t>rather than a linked </a:t>
            </a:r>
            <a:r>
              <a:rPr lang="en-US" dirty="0" smtClean="0"/>
              <a:t>list.</a:t>
            </a:r>
          </a:p>
          <a:p>
            <a:pPr lvl="0"/>
            <a:r>
              <a:rPr lang="en-US" dirty="0"/>
              <a:t>L</a:t>
            </a:r>
            <a:r>
              <a:rPr lang="en-US" dirty="0" smtClean="0"/>
              <a:t>inked </a:t>
            </a:r>
            <a:r>
              <a:rPr lang="en-US" dirty="0"/>
              <a:t>list will use </a:t>
            </a:r>
            <a:r>
              <a:rPr lang="en-US" b="1" i="1" dirty="0"/>
              <a:t>more storage</a:t>
            </a:r>
            <a:r>
              <a:rPr lang="en-US" dirty="0"/>
              <a:t> than an array with the same number of items. </a:t>
            </a:r>
            <a:r>
              <a:rPr lang="en-US" i="1" dirty="0" smtClean="0"/>
              <a:t>This </a:t>
            </a:r>
            <a:r>
              <a:rPr lang="en-US" i="1" dirty="0"/>
              <a:t>is because each item has an additional link field.</a:t>
            </a:r>
          </a:p>
          <a:p>
            <a:pPr lvl="0"/>
            <a:r>
              <a:rPr lang="en-US" dirty="0"/>
              <a:t>To visit a particular list we have to start right from the starting </a:t>
            </a:r>
            <a:r>
              <a:rPr lang="en-US" dirty="0" smtClean="0"/>
              <a:t>node</a:t>
            </a:r>
            <a:endParaRPr lang="en-US" dirty="0"/>
          </a:p>
        </p:txBody>
      </p:sp>
    </p:spTree>
    <p:extLst>
      <p:ext uri="{BB962C8B-B14F-4D97-AF65-F5344CB8AC3E}">
        <p14:creationId xmlns:p14="http://schemas.microsoft.com/office/powerpoint/2010/main" val="2270793468"/>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210800" cy="868362"/>
          </a:xfrm>
        </p:spPr>
        <p:style>
          <a:lnRef idx="3">
            <a:schemeClr val="lt1"/>
          </a:lnRef>
          <a:fillRef idx="1">
            <a:schemeClr val="accent4"/>
          </a:fillRef>
          <a:effectRef idx="1">
            <a:schemeClr val="accent4"/>
          </a:effectRef>
          <a:fontRef idx="minor">
            <a:schemeClr val="lt1"/>
          </a:fontRef>
        </p:style>
        <p:txBody>
          <a:bodyPr>
            <a:normAutofit/>
          </a:bodyPr>
          <a:lstStyle/>
          <a:p>
            <a:pPr algn="l"/>
            <a:r>
              <a:rPr lang="en-US" dirty="0"/>
              <a:t> </a:t>
            </a:r>
            <a:r>
              <a:rPr lang="en-US" sz="4000" b="1" i="1" dirty="0">
                <a:solidFill>
                  <a:schemeClr val="bg1"/>
                </a:solidFill>
              </a:rPr>
              <a:t>Circular Linked list</a:t>
            </a:r>
            <a:endParaRPr lang="en-US" sz="4000" dirty="0">
              <a:solidFill>
                <a:schemeClr val="bg1"/>
              </a:solidFill>
            </a:endParaRPr>
          </a:p>
        </p:txBody>
      </p:sp>
      <p:sp>
        <p:nvSpPr>
          <p:cNvPr id="3" name="Content Placeholder 2"/>
          <p:cNvSpPr>
            <a:spLocks noGrp="1"/>
          </p:cNvSpPr>
          <p:nvPr>
            <p:ph idx="1"/>
          </p:nvPr>
        </p:nvSpPr>
        <p:spPr>
          <a:xfrm>
            <a:off x="609600" y="1447800"/>
            <a:ext cx="10515600" cy="4525964"/>
          </a:xfrm>
        </p:spPr>
        <p:txBody>
          <a:bodyPr>
            <a:normAutofit/>
          </a:bodyPr>
          <a:lstStyle/>
          <a:p>
            <a:r>
              <a:rPr lang="en-US" dirty="0"/>
              <a:t>In a circular Singly linked list, </a:t>
            </a:r>
            <a:r>
              <a:rPr lang="en-US" i="1" dirty="0"/>
              <a:t>the last node of the list contains a pointer to the first node of the list.</a:t>
            </a:r>
            <a:endParaRPr lang="en-US" i="1" dirty="0" smtClean="0"/>
          </a:p>
          <a:p>
            <a:r>
              <a:rPr lang="en-US" dirty="0" smtClean="0"/>
              <a:t>Circular </a:t>
            </a:r>
            <a:r>
              <a:rPr lang="en-US" dirty="0"/>
              <a:t>linked lists can be used to help the traverse the same list again and again if needed. </a:t>
            </a:r>
            <a:endParaRPr lang="en-US" dirty="0" smtClean="0"/>
          </a:p>
          <a:p>
            <a:r>
              <a:rPr lang="en-US" dirty="0" smtClean="0"/>
              <a:t>A </a:t>
            </a:r>
            <a:r>
              <a:rPr lang="en-US" dirty="0"/>
              <a:t>circular list is very similar to the linear list where in the circular list the pointer of the last node points </a:t>
            </a:r>
            <a:r>
              <a:rPr lang="en-US" dirty="0">
                <a:solidFill>
                  <a:srgbClr val="FF0000"/>
                </a:solidFill>
              </a:rPr>
              <a:t>not NULL</a:t>
            </a:r>
            <a:r>
              <a:rPr lang="en-US" dirty="0"/>
              <a:t> but the first node</a:t>
            </a:r>
            <a:r>
              <a:rPr lang="en-US" dirty="0" smtClean="0"/>
              <a:t>.</a:t>
            </a:r>
            <a:endParaRPr lang="en-US" dirty="0"/>
          </a:p>
        </p:txBody>
      </p:sp>
    </p:spTree>
    <p:extLst>
      <p:ext uri="{BB962C8B-B14F-4D97-AF65-F5344CB8AC3E}">
        <p14:creationId xmlns:p14="http://schemas.microsoft.com/office/powerpoint/2010/main" val="2405878475"/>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t>Circular Singly Linked </a:t>
            </a:r>
            <a:r>
              <a:rPr lang="en-US" dirty="0" smtClean="0"/>
              <a:t>List</a:t>
            </a:r>
            <a:endParaRPr lang="en-US" dirty="0"/>
          </a:p>
        </p:txBody>
      </p:sp>
      <p:pic>
        <p:nvPicPr>
          <p:cNvPr id="4" name="Content Placeholder 3"/>
          <p:cNvPicPr>
            <a:picLocks noGrp="1" noChangeAspect="1"/>
          </p:cNvPicPr>
          <p:nvPr>
            <p:ph idx="1"/>
          </p:nvPr>
        </p:nvPicPr>
        <p:blipFill>
          <a:blip r:embed="rId2"/>
          <a:stretch>
            <a:fillRect/>
          </a:stretch>
        </p:blipFill>
        <p:spPr>
          <a:xfrm>
            <a:off x="573314" y="1828800"/>
            <a:ext cx="10288718" cy="3810000"/>
          </a:xfrm>
          <a:prstGeom prst="rect">
            <a:avLst/>
          </a:prstGeom>
        </p:spPr>
      </p:pic>
    </p:spTree>
    <p:extLst>
      <p:ext uri="{BB962C8B-B14F-4D97-AF65-F5344CB8AC3E}">
        <p14:creationId xmlns:p14="http://schemas.microsoft.com/office/powerpoint/2010/main" val="11080840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715962"/>
          </a:xfrm>
        </p:spPr>
        <p:txBody>
          <a:bodyPr>
            <a:normAutofit fontScale="90000"/>
          </a:bodyPr>
          <a:lstStyle/>
          <a:p>
            <a:pPr algn="l"/>
            <a:r>
              <a:rPr lang="en-US" dirty="0" smtClean="0"/>
              <a:t>Insert item at beginning of CLL</a:t>
            </a:r>
            <a:endParaRPr lang="en-US" dirty="0"/>
          </a:p>
        </p:txBody>
      </p:sp>
      <p:sp>
        <p:nvSpPr>
          <p:cNvPr id="3" name="Content Placeholder 2"/>
          <p:cNvSpPr>
            <a:spLocks noGrp="1"/>
          </p:cNvSpPr>
          <p:nvPr>
            <p:ph idx="1"/>
          </p:nvPr>
        </p:nvSpPr>
        <p:spPr>
          <a:xfrm>
            <a:off x="609600" y="1219201"/>
            <a:ext cx="10972800" cy="4906964"/>
          </a:xfrm>
        </p:spPr>
        <p:txBody>
          <a:bodyPr>
            <a:normAutofit fontScale="77500" lnSpcReduction="20000"/>
          </a:bodyPr>
          <a:lstStyle/>
          <a:p>
            <a:pPr marL="0" indent="0">
              <a:buNone/>
            </a:pPr>
            <a:r>
              <a:rPr lang="en-US" dirty="0"/>
              <a:t>void </a:t>
            </a:r>
            <a:r>
              <a:rPr lang="en-US" dirty="0" err="1" smtClean="0"/>
              <a:t>ins_beg</a:t>
            </a:r>
            <a:r>
              <a:rPr lang="en-US" dirty="0" smtClean="0"/>
              <a:t>()  </a:t>
            </a:r>
            <a:endParaRPr lang="en-US" dirty="0"/>
          </a:p>
          <a:p>
            <a:pPr marL="0" indent="0">
              <a:buNone/>
            </a:pPr>
            <a:r>
              <a:rPr lang="en-US" dirty="0"/>
              <a:t>{  </a:t>
            </a:r>
            <a:r>
              <a:rPr lang="en-US" dirty="0" smtClean="0"/>
              <a:t>   </a:t>
            </a:r>
            <a:endParaRPr lang="en-US" dirty="0"/>
          </a:p>
          <a:p>
            <a:pPr marL="0" indent="0">
              <a:buNone/>
            </a:pPr>
            <a:r>
              <a:rPr lang="en-US" dirty="0"/>
              <a:t>    </a:t>
            </a:r>
            <a:r>
              <a:rPr lang="en-US" dirty="0" err="1"/>
              <a:t>int</a:t>
            </a:r>
            <a:r>
              <a:rPr lang="en-US" dirty="0"/>
              <a:t> item;   </a:t>
            </a:r>
          </a:p>
          <a:p>
            <a:pPr marL="0" indent="0">
              <a:buNone/>
            </a:pPr>
            <a:r>
              <a:rPr lang="en-US" dirty="0"/>
              <a:t>    </a:t>
            </a:r>
            <a:r>
              <a:rPr lang="en-US" dirty="0" err="1" smtClean="0"/>
              <a:t>newNode</a:t>
            </a:r>
            <a:r>
              <a:rPr lang="en-US" dirty="0" smtClean="0"/>
              <a:t> </a:t>
            </a:r>
            <a:r>
              <a:rPr lang="en-US" dirty="0"/>
              <a:t>= (</a:t>
            </a:r>
            <a:r>
              <a:rPr lang="en-US" dirty="0" err="1"/>
              <a:t>struct</a:t>
            </a:r>
            <a:r>
              <a:rPr lang="en-US" dirty="0"/>
              <a:t> node *)</a:t>
            </a:r>
            <a:r>
              <a:rPr lang="en-US" dirty="0" err="1"/>
              <a:t>malloc</a:t>
            </a:r>
            <a:r>
              <a:rPr lang="en-US" dirty="0"/>
              <a:t>(</a:t>
            </a:r>
            <a:r>
              <a:rPr lang="en-US" dirty="0" err="1"/>
              <a:t>sizeof</a:t>
            </a:r>
            <a:r>
              <a:rPr lang="en-US" dirty="0"/>
              <a:t>(</a:t>
            </a:r>
            <a:r>
              <a:rPr lang="en-US" dirty="0" err="1"/>
              <a:t>struct</a:t>
            </a:r>
            <a:r>
              <a:rPr lang="en-US" dirty="0"/>
              <a:t> node));  </a:t>
            </a:r>
          </a:p>
          <a:p>
            <a:pPr marL="0" indent="0">
              <a:buNone/>
            </a:pPr>
            <a:r>
              <a:rPr lang="en-US" dirty="0"/>
              <a:t> </a:t>
            </a:r>
            <a:r>
              <a:rPr lang="en-US" dirty="0" smtClean="0"/>
              <a:t>    </a:t>
            </a:r>
            <a:r>
              <a:rPr lang="en-US" dirty="0" err="1" smtClean="0"/>
              <a:t>printf</a:t>
            </a:r>
            <a:r>
              <a:rPr lang="en-US" dirty="0"/>
              <a:t>("\</a:t>
            </a:r>
            <a:r>
              <a:rPr lang="en-US" dirty="0" err="1"/>
              <a:t>nEnter</a:t>
            </a:r>
            <a:r>
              <a:rPr lang="en-US" dirty="0"/>
              <a:t> the node data?");  </a:t>
            </a:r>
          </a:p>
          <a:p>
            <a:pPr marL="0" indent="0">
              <a:buNone/>
            </a:pPr>
            <a:r>
              <a:rPr lang="en-US" dirty="0"/>
              <a:t>        </a:t>
            </a:r>
            <a:r>
              <a:rPr lang="en-US" dirty="0" err="1"/>
              <a:t>scanf</a:t>
            </a:r>
            <a:r>
              <a:rPr lang="en-US" dirty="0"/>
              <a:t>("%</a:t>
            </a:r>
            <a:r>
              <a:rPr lang="en-US" dirty="0" err="1"/>
              <a:t>d",&amp;item</a:t>
            </a:r>
            <a:r>
              <a:rPr lang="en-US" dirty="0"/>
              <a:t>);  </a:t>
            </a:r>
          </a:p>
          <a:p>
            <a:pPr marL="0" indent="0">
              <a:buNone/>
            </a:pPr>
            <a:r>
              <a:rPr lang="en-US" dirty="0"/>
              <a:t>        </a:t>
            </a:r>
            <a:r>
              <a:rPr lang="en-US" dirty="0" err="1" smtClean="0"/>
              <a:t>newNode</a:t>
            </a:r>
            <a:r>
              <a:rPr lang="en-US" dirty="0" smtClean="0"/>
              <a:t> -&gt;info </a:t>
            </a:r>
            <a:r>
              <a:rPr lang="en-US" dirty="0"/>
              <a:t>= item;  </a:t>
            </a:r>
          </a:p>
          <a:p>
            <a:pPr marL="0" indent="0">
              <a:buNone/>
            </a:pPr>
            <a:r>
              <a:rPr lang="en-US" dirty="0"/>
              <a:t>        if(head == NULL)  </a:t>
            </a:r>
          </a:p>
          <a:p>
            <a:pPr marL="0" indent="0">
              <a:buNone/>
            </a:pPr>
            <a:r>
              <a:rPr lang="en-US" dirty="0"/>
              <a:t>        {</a:t>
            </a:r>
          </a:p>
          <a:p>
            <a:pPr marL="0" indent="0">
              <a:buNone/>
            </a:pPr>
            <a:r>
              <a:rPr lang="en-US" dirty="0"/>
              <a:t>            head = </a:t>
            </a:r>
            <a:r>
              <a:rPr lang="en-US" dirty="0" err="1" smtClean="0"/>
              <a:t>newNode</a:t>
            </a:r>
            <a:r>
              <a:rPr lang="en-US" dirty="0" smtClean="0"/>
              <a:t>;  </a:t>
            </a:r>
            <a:endParaRPr lang="en-US" dirty="0"/>
          </a:p>
          <a:p>
            <a:pPr marL="0" indent="0">
              <a:buNone/>
            </a:pPr>
            <a:r>
              <a:rPr lang="en-US" dirty="0"/>
              <a:t>            </a:t>
            </a:r>
            <a:r>
              <a:rPr lang="en-US" dirty="0" err="1" smtClean="0"/>
              <a:t>newNode</a:t>
            </a:r>
            <a:r>
              <a:rPr lang="en-US" dirty="0" smtClean="0"/>
              <a:t> </a:t>
            </a:r>
            <a:r>
              <a:rPr lang="en-US" dirty="0"/>
              <a:t>-&gt; next = head; </a:t>
            </a:r>
            <a:endParaRPr lang="en-US" dirty="0" smtClean="0"/>
          </a:p>
          <a:p>
            <a:pPr marL="0" indent="0">
              <a:buNone/>
            </a:pPr>
            <a:r>
              <a:rPr lang="en-US" dirty="0"/>
              <a:t> </a:t>
            </a:r>
            <a:r>
              <a:rPr lang="en-US" dirty="0" smtClean="0"/>
              <a:t>       </a:t>
            </a:r>
            <a:r>
              <a:rPr lang="en-US" sz="4100" dirty="0"/>
              <a:t>}</a:t>
            </a:r>
            <a:r>
              <a:rPr lang="en-US" dirty="0" smtClean="0"/>
              <a:t> </a:t>
            </a:r>
            <a:endParaRPr lang="en-US" dirty="0"/>
          </a:p>
        </p:txBody>
      </p:sp>
    </p:spTree>
    <p:extLst>
      <p:ext uri="{BB962C8B-B14F-4D97-AF65-F5344CB8AC3E}">
        <p14:creationId xmlns:p14="http://schemas.microsoft.com/office/powerpoint/2010/main" val="390748687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685801"/>
            <a:ext cx="10972800" cy="5440364"/>
          </a:xfrm>
        </p:spPr>
        <p:txBody>
          <a:bodyPr>
            <a:normAutofit fontScale="92500" lnSpcReduction="20000"/>
          </a:bodyPr>
          <a:lstStyle/>
          <a:p>
            <a:pPr marL="0" indent="0">
              <a:buNone/>
            </a:pPr>
            <a:r>
              <a:rPr lang="en-US" dirty="0" smtClean="0"/>
              <a:t>        </a:t>
            </a:r>
            <a:r>
              <a:rPr lang="en-US" dirty="0"/>
              <a:t>else   </a:t>
            </a:r>
          </a:p>
          <a:p>
            <a:pPr marL="0" indent="0">
              <a:buNone/>
            </a:pPr>
            <a:r>
              <a:rPr lang="en-US" dirty="0"/>
              <a:t>        {     </a:t>
            </a:r>
          </a:p>
          <a:p>
            <a:pPr marL="0" indent="0">
              <a:buNone/>
            </a:pPr>
            <a:r>
              <a:rPr lang="en-US" dirty="0"/>
              <a:t>            temp = head;  </a:t>
            </a:r>
          </a:p>
          <a:p>
            <a:pPr marL="0" indent="0">
              <a:buNone/>
            </a:pPr>
            <a:r>
              <a:rPr lang="en-US" dirty="0"/>
              <a:t>            while(temp-&gt;next != head</a:t>
            </a:r>
            <a:r>
              <a:rPr lang="en-US" dirty="0" smtClean="0"/>
              <a:t>){  </a:t>
            </a:r>
            <a:endParaRPr lang="en-US" dirty="0"/>
          </a:p>
          <a:p>
            <a:pPr marL="0" indent="0">
              <a:buNone/>
            </a:pPr>
            <a:r>
              <a:rPr lang="en-US" dirty="0"/>
              <a:t>                temp = temp-&gt;next</a:t>
            </a:r>
            <a:r>
              <a:rPr lang="en-US" dirty="0" smtClean="0"/>
              <a:t>;</a:t>
            </a:r>
          </a:p>
          <a:p>
            <a:pPr marL="0" indent="0">
              <a:buNone/>
            </a:pPr>
            <a:r>
              <a:rPr lang="en-US" dirty="0"/>
              <a:t> </a:t>
            </a:r>
            <a:r>
              <a:rPr lang="en-US" dirty="0" smtClean="0"/>
              <a:t>            }  </a:t>
            </a:r>
            <a:endParaRPr lang="en-US" dirty="0"/>
          </a:p>
          <a:p>
            <a:pPr marL="0" indent="0">
              <a:buNone/>
            </a:pPr>
            <a:r>
              <a:rPr lang="en-US" dirty="0"/>
              <a:t>            </a:t>
            </a:r>
            <a:r>
              <a:rPr lang="en-US" dirty="0" smtClean="0"/>
              <a:t>  </a:t>
            </a:r>
            <a:r>
              <a:rPr lang="en-US" dirty="0" err="1" smtClean="0"/>
              <a:t>newNode</a:t>
            </a:r>
            <a:r>
              <a:rPr lang="en-US" dirty="0" smtClean="0"/>
              <a:t>-&gt;</a:t>
            </a:r>
            <a:r>
              <a:rPr lang="en-US" dirty="0"/>
              <a:t>next = head;   </a:t>
            </a:r>
          </a:p>
          <a:p>
            <a:pPr marL="0" indent="0">
              <a:buNone/>
            </a:pPr>
            <a:r>
              <a:rPr lang="en-US" dirty="0"/>
              <a:t>            </a:t>
            </a:r>
            <a:r>
              <a:rPr lang="en-US" dirty="0" smtClean="0"/>
              <a:t>   temp </a:t>
            </a:r>
            <a:r>
              <a:rPr lang="en-US" dirty="0"/>
              <a:t>-&gt; next = </a:t>
            </a:r>
            <a:r>
              <a:rPr lang="en-US" dirty="0" err="1" smtClean="0"/>
              <a:t>newNode</a:t>
            </a:r>
            <a:r>
              <a:rPr lang="en-US" dirty="0" smtClean="0"/>
              <a:t>;   </a:t>
            </a:r>
            <a:endParaRPr lang="en-US" dirty="0"/>
          </a:p>
          <a:p>
            <a:pPr marL="0" indent="0">
              <a:buNone/>
            </a:pPr>
            <a:r>
              <a:rPr lang="en-US" dirty="0"/>
              <a:t>            </a:t>
            </a:r>
            <a:r>
              <a:rPr lang="en-US" dirty="0" smtClean="0"/>
              <a:t>   head </a:t>
            </a:r>
            <a:r>
              <a:rPr lang="en-US" dirty="0"/>
              <a:t>= </a:t>
            </a:r>
            <a:r>
              <a:rPr lang="en-US" dirty="0" err="1" smtClean="0"/>
              <a:t>newNode</a:t>
            </a:r>
            <a:r>
              <a:rPr lang="en-US" dirty="0" smtClean="0"/>
              <a:t>;  </a:t>
            </a:r>
            <a:endParaRPr lang="en-US" dirty="0"/>
          </a:p>
          <a:p>
            <a:pPr marL="0" indent="0">
              <a:buNone/>
            </a:pPr>
            <a:r>
              <a:rPr lang="en-US" dirty="0"/>
              <a:t>        }   </a:t>
            </a:r>
            <a:r>
              <a:rPr lang="en-US" dirty="0" smtClean="0"/>
              <a:t>  </a:t>
            </a:r>
            <a:endParaRPr lang="en-US" dirty="0"/>
          </a:p>
          <a:p>
            <a:pPr marL="0" indent="0">
              <a:buNone/>
            </a:pPr>
            <a:r>
              <a:rPr lang="en-US" dirty="0"/>
              <a:t>    }  </a:t>
            </a:r>
            <a:r>
              <a:rPr lang="en-US" dirty="0" smtClean="0"/>
              <a:t>} </a:t>
            </a:r>
            <a:endParaRPr lang="en-US" dirty="0"/>
          </a:p>
        </p:txBody>
      </p:sp>
    </p:spTree>
    <p:extLst>
      <p:ext uri="{BB962C8B-B14F-4D97-AF65-F5344CB8AC3E}">
        <p14:creationId xmlns:p14="http://schemas.microsoft.com/office/powerpoint/2010/main" val="164152731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639762"/>
          </a:xfrm>
        </p:spPr>
        <p:txBody>
          <a:bodyPr>
            <a:normAutofit fontScale="90000"/>
          </a:bodyPr>
          <a:lstStyle/>
          <a:p>
            <a:pPr algn="l"/>
            <a:r>
              <a:rPr lang="en-US" dirty="0" smtClean="0"/>
              <a:t>Insertion at the end </a:t>
            </a:r>
            <a:endParaRPr lang="en-US" dirty="0"/>
          </a:p>
        </p:txBody>
      </p:sp>
      <p:sp>
        <p:nvSpPr>
          <p:cNvPr id="3" name="Content Placeholder 2"/>
          <p:cNvSpPr>
            <a:spLocks noGrp="1"/>
          </p:cNvSpPr>
          <p:nvPr>
            <p:ph idx="1"/>
          </p:nvPr>
        </p:nvSpPr>
        <p:spPr>
          <a:xfrm>
            <a:off x="609600" y="1066800"/>
            <a:ext cx="10972800" cy="5410199"/>
          </a:xfrm>
        </p:spPr>
        <p:txBody>
          <a:bodyPr>
            <a:normAutofit fontScale="85000" lnSpcReduction="20000"/>
          </a:bodyPr>
          <a:lstStyle/>
          <a:p>
            <a:pPr marL="0" indent="0">
              <a:buNone/>
            </a:pPr>
            <a:r>
              <a:rPr lang="en-US" dirty="0"/>
              <a:t>void </a:t>
            </a:r>
            <a:r>
              <a:rPr lang="en-US" dirty="0" err="1"/>
              <a:t>lastinsert</a:t>
            </a:r>
            <a:r>
              <a:rPr lang="en-US" dirty="0"/>
              <a:t>()  </a:t>
            </a:r>
          </a:p>
          <a:p>
            <a:pPr marL="0" indent="0">
              <a:buNone/>
            </a:pPr>
            <a:r>
              <a:rPr lang="en-US" dirty="0"/>
              <a:t>{  </a:t>
            </a:r>
          </a:p>
          <a:p>
            <a:pPr marL="0" indent="0">
              <a:buNone/>
            </a:pPr>
            <a:r>
              <a:rPr lang="en-US" dirty="0"/>
              <a:t>    </a:t>
            </a:r>
            <a:r>
              <a:rPr lang="en-US" dirty="0" err="1"/>
              <a:t>int</a:t>
            </a:r>
            <a:r>
              <a:rPr lang="en-US" dirty="0"/>
              <a:t> item;  </a:t>
            </a:r>
          </a:p>
          <a:p>
            <a:pPr marL="0" indent="0">
              <a:buNone/>
            </a:pPr>
            <a:r>
              <a:rPr lang="en-US" dirty="0"/>
              <a:t>    </a:t>
            </a:r>
            <a:r>
              <a:rPr lang="en-US" dirty="0" err="1" smtClean="0"/>
              <a:t>newNode</a:t>
            </a:r>
            <a:r>
              <a:rPr lang="en-US" dirty="0" smtClean="0"/>
              <a:t> </a:t>
            </a:r>
            <a:r>
              <a:rPr lang="en-US" dirty="0"/>
              <a:t>= (</a:t>
            </a:r>
            <a:r>
              <a:rPr lang="en-US" dirty="0" err="1"/>
              <a:t>struct</a:t>
            </a:r>
            <a:r>
              <a:rPr lang="en-US" dirty="0"/>
              <a:t> node *)</a:t>
            </a:r>
            <a:r>
              <a:rPr lang="en-US" dirty="0" err="1"/>
              <a:t>malloc</a:t>
            </a:r>
            <a:r>
              <a:rPr lang="en-US" dirty="0"/>
              <a:t>(</a:t>
            </a:r>
            <a:r>
              <a:rPr lang="en-US" dirty="0" err="1"/>
              <a:t>sizeof</a:t>
            </a:r>
            <a:r>
              <a:rPr lang="en-US" dirty="0"/>
              <a:t>(</a:t>
            </a:r>
            <a:r>
              <a:rPr lang="en-US" dirty="0" err="1"/>
              <a:t>struct</a:t>
            </a:r>
            <a:r>
              <a:rPr lang="en-US" dirty="0"/>
              <a:t> node));  </a:t>
            </a:r>
            <a:r>
              <a:rPr lang="en-US" dirty="0" smtClean="0"/>
              <a:t> </a:t>
            </a:r>
            <a:endParaRPr lang="en-US" dirty="0"/>
          </a:p>
          <a:p>
            <a:pPr marL="0" indent="0">
              <a:buNone/>
            </a:pPr>
            <a:r>
              <a:rPr lang="en-US" dirty="0"/>
              <a:t>     </a:t>
            </a:r>
            <a:r>
              <a:rPr lang="en-US" dirty="0" err="1" smtClean="0"/>
              <a:t>printf</a:t>
            </a:r>
            <a:r>
              <a:rPr lang="en-US" dirty="0"/>
              <a:t>("\</a:t>
            </a:r>
            <a:r>
              <a:rPr lang="en-US" dirty="0" err="1"/>
              <a:t>nEnter</a:t>
            </a:r>
            <a:r>
              <a:rPr lang="en-US" dirty="0"/>
              <a:t> Data?");  </a:t>
            </a:r>
          </a:p>
          <a:p>
            <a:pPr marL="0" indent="0">
              <a:buNone/>
            </a:pPr>
            <a:r>
              <a:rPr lang="en-US" dirty="0"/>
              <a:t>     </a:t>
            </a:r>
            <a:r>
              <a:rPr lang="en-US" dirty="0" err="1" smtClean="0"/>
              <a:t>scanf</a:t>
            </a:r>
            <a:r>
              <a:rPr lang="en-US" dirty="0"/>
              <a:t>("%</a:t>
            </a:r>
            <a:r>
              <a:rPr lang="en-US" dirty="0" err="1"/>
              <a:t>d",&amp;item</a:t>
            </a:r>
            <a:r>
              <a:rPr lang="en-US" dirty="0"/>
              <a:t>);  </a:t>
            </a:r>
          </a:p>
          <a:p>
            <a:pPr marL="0" indent="0">
              <a:buNone/>
            </a:pPr>
            <a:r>
              <a:rPr lang="en-US" dirty="0"/>
              <a:t>        </a:t>
            </a:r>
            <a:r>
              <a:rPr lang="en-US" dirty="0" err="1"/>
              <a:t>ptr</a:t>
            </a:r>
            <a:r>
              <a:rPr lang="en-US" dirty="0"/>
              <a:t>-&gt;data = item;  </a:t>
            </a:r>
          </a:p>
          <a:p>
            <a:pPr marL="0" indent="0">
              <a:buNone/>
            </a:pPr>
            <a:r>
              <a:rPr lang="en-US" dirty="0"/>
              <a:t>        if(head == NULL)  </a:t>
            </a:r>
          </a:p>
          <a:p>
            <a:pPr marL="0" indent="0">
              <a:buNone/>
            </a:pPr>
            <a:r>
              <a:rPr lang="en-US" dirty="0"/>
              <a:t>        {  </a:t>
            </a:r>
          </a:p>
          <a:p>
            <a:pPr marL="0" indent="0">
              <a:buNone/>
            </a:pPr>
            <a:r>
              <a:rPr lang="en-US" dirty="0"/>
              <a:t>            head = </a:t>
            </a:r>
            <a:r>
              <a:rPr lang="en-US" dirty="0" err="1" smtClean="0"/>
              <a:t>newNode</a:t>
            </a:r>
            <a:r>
              <a:rPr lang="en-US" dirty="0" smtClean="0"/>
              <a:t>;  </a:t>
            </a:r>
            <a:endParaRPr lang="en-US" dirty="0"/>
          </a:p>
          <a:p>
            <a:pPr marL="0" indent="0">
              <a:buNone/>
            </a:pPr>
            <a:r>
              <a:rPr lang="en-US" dirty="0"/>
              <a:t>            </a:t>
            </a:r>
            <a:r>
              <a:rPr lang="en-US" dirty="0" err="1" smtClean="0"/>
              <a:t>newNode</a:t>
            </a:r>
            <a:r>
              <a:rPr lang="en-US" dirty="0" smtClean="0"/>
              <a:t> </a:t>
            </a:r>
            <a:r>
              <a:rPr lang="en-US" dirty="0"/>
              <a:t>-&gt; next = head;    </a:t>
            </a:r>
          </a:p>
          <a:p>
            <a:pPr marL="0" indent="0">
              <a:buNone/>
            </a:pPr>
            <a:r>
              <a:rPr lang="en-US" dirty="0"/>
              <a:t>        }  </a:t>
            </a:r>
          </a:p>
        </p:txBody>
      </p:sp>
    </p:spTree>
    <p:extLst>
      <p:ext uri="{BB962C8B-B14F-4D97-AF65-F5344CB8AC3E}">
        <p14:creationId xmlns:p14="http://schemas.microsoft.com/office/powerpoint/2010/main" val="232881188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487362"/>
          </a:xfrm>
        </p:spPr>
        <p:txBody>
          <a:bodyPr>
            <a:normAutofit fontScale="90000"/>
          </a:bodyPr>
          <a:lstStyle/>
          <a:p>
            <a:endParaRPr lang="en-US" dirty="0"/>
          </a:p>
        </p:txBody>
      </p:sp>
      <p:sp>
        <p:nvSpPr>
          <p:cNvPr id="3" name="Content Placeholder 2"/>
          <p:cNvSpPr>
            <a:spLocks noGrp="1"/>
          </p:cNvSpPr>
          <p:nvPr>
            <p:ph idx="1"/>
          </p:nvPr>
        </p:nvSpPr>
        <p:spPr>
          <a:xfrm>
            <a:off x="609600" y="990600"/>
            <a:ext cx="10972800" cy="5257799"/>
          </a:xfrm>
        </p:spPr>
        <p:txBody>
          <a:bodyPr>
            <a:normAutofit fontScale="92500" lnSpcReduction="10000"/>
          </a:bodyPr>
          <a:lstStyle/>
          <a:p>
            <a:pPr marL="0" indent="0">
              <a:buNone/>
            </a:pPr>
            <a:r>
              <a:rPr lang="en-US" dirty="0"/>
              <a:t> else  </a:t>
            </a:r>
          </a:p>
          <a:p>
            <a:pPr marL="0" indent="0">
              <a:buNone/>
            </a:pPr>
            <a:r>
              <a:rPr lang="en-US" dirty="0"/>
              <a:t>        {  </a:t>
            </a:r>
          </a:p>
          <a:p>
            <a:pPr marL="0" indent="0">
              <a:buNone/>
            </a:pPr>
            <a:r>
              <a:rPr lang="en-US" dirty="0"/>
              <a:t>            temp = head;  </a:t>
            </a:r>
          </a:p>
          <a:p>
            <a:pPr marL="0" indent="0">
              <a:buNone/>
            </a:pPr>
            <a:r>
              <a:rPr lang="en-US" dirty="0"/>
              <a:t>            while(temp -&gt; next != head)  </a:t>
            </a:r>
          </a:p>
          <a:p>
            <a:pPr marL="0" indent="0">
              <a:buNone/>
            </a:pPr>
            <a:r>
              <a:rPr lang="en-US" dirty="0"/>
              <a:t>            {  </a:t>
            </a:r>
          </a:p>
          <a:p>
            <a:pPr marL="0" indent="0">
              <a:buNone/>
            </a:pPr>
            <a:r>
              <a:rPr lang="en-US" dirty="0"/>
              <a:t>                temp = temp -&gt; next;  </a:t>
            </a:r>
          </a:p>
          <a:p>
            <a:pPr marL="0" indent="0">
              <a:buNone/>
            </a:pPr>
            <a:r>
              <a:rPr lang="en-US" dirty="0"/>
              <a:t>            }  </a:t>
            </a:r>
          </a:p>
          <a:p>
            <a:pPr marL="0" indent="0">
              <a:buNone/>
            </a:pPr>
            <a:r>
              <a:rPr lang="en-US" dirty="0"/>
              <a:t>            temp -&gt; next = </a:t>
            </a:r>
            <a:r>
              <a:rPr lang="en-US" dirty="0" err="1" smtClean="0"/>
              <a:t>newNode</a:t>
            </a:r>
            <a:r>
              <a:rPr lang="en-US" dirty="0" smtClean="0"/>
              <a:t>;   </a:t>
            </a:r>
            <a:endParaRPr lang="en-US" dirty="0"/>
          </a:p>
          <a:p>
            <a:pPr marL="0" indent="0">
              <a:buNone/>
            </a:pPr>
            <a:r>
              <a:rPr lang="en-US" dirty="0"/>
              <a:t>            </a:t>
            </a:r>
            <a:r>
              <a:rPr lang="en-US" dirty="0" err="1" smtClean="0"/>
              <a:t>newNode</a:t>
            </a:r>
            <a:r>
              <a:rPr lang="en-US" dirty="0" smtClean="0"/>
              <a:t> </a:t>
            </a:r>
            <a:r>
              <a:rPr lang="en-US" dirty="0"/>
              <a:t>-&gt; next = head;  </a:t>
            </a:r>
          </a:p>
          <a:p>
            <a:pPr marL="0" indent="0">
              <a:buNone/>
            </a:pPr>
            <a:r>
              <a:rPr lang="en-US" dirty="0"/>
              <a:t>        } </a:t>
            </a:r>
          </a:p>
        </p:txBody>
      </p:sp>
    </p:spTree>
    <p:extLst>
      <p:ext uri="{BB962C8B-B14F-4D97-AF65-F5344CB8AC3E}">
        <p14:creationId xmlns:p14="http://schemas.microsoft.com/office/powerpoint/2010/main" val="207512332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868362"/>
          </a:xfrm>
        </p:spPr>
        <p:txBody>
          <a:bodyPr/>
          <a:lstStyle/>
          <a:p>
            <a:pPr algn="l"/>
            <a:r>
              <a:rPr lang="en-US" dirty="0" smtClean="0"/>
              <a:t>Delete from the </a:t>
            </a:r>
            <a:r>
              <a:rPr lang="en-US" dirty="0" err="1" smtClean="0"/>
              <a:t>begining</a:t>
            </a:r>
            <a:endParaRPr lang="en-US" dirty="0"/>
          </a:p>
        </p:txBody>
      </p:sp>
      <p:sp>
        <p:nvSpPr>
          <p:cNvPr id="3" name="Content Placeholder 2"/>
          <p:cNvSpPr>
            <a:spLocks noGrp="1"/>
          </p:cNvSpPr>
          <p:nvPr>
            <p:ph idx="1"/>
          </p:nvPr>
        </p:nvSpPr>
        <p:spPr>
          <a:xfrm>
            <a:off x="609600" y="1295401"/>
            <a:ext cx="10972800" cy="4830764"/>
          </a:xfrm>
        </p:spPr>
        <p:txBody>
          <a:bodyPr>
            <a:normAutofit fontScale="77500" lnSpcReduction="20000"/>
          </a:bodyPr>
          <a:lstStyle/>
          <a:p>
            <a:pPr marL="0" indent="0">
              <a:buNone/>
            </a:pPr>
            <a:r>
              <a:rPr lang="en-US" dirty="0"/>
              <a:t>void </a:t>
            </a:r>
            <a:r>
              <a:rPr lang="en-US" dirty="0" err="1" smtClean="0"/>
              <a:t>beg_del</a:t>
            </a:r>
            <a:r>
              <a:rPr lang="en-US" dirty="0" smtClean="0"/>
              <a:t>()  </a:t>
            </a:r>
            <a:endParaRPr lang="en-US" dirty="0"/>
          </a:p>
          <a:p>
            <a:pPr marL="0" indent="0">
              <a:buNone/>
            </a:pPr>
            <a:r>
              <a:rPr lang="en-US" dirty="0"/>
              <a:t>{  </a:t>
            </a:r>
          </a:p>
          <a:p>
            <a:pPr marL="0" indent="0">
              <a:buNone/>
            </a:pPr>
            <a:r>
              <a:rPr lang="en-US" dirty="0"/>
              <a:t>    if(head == NULL)  </a:t>
            </a:r>
          </a:p>
          <a:p>
            <a:pPr marL="0" indent="0">
              <a:buNone/>
            </a:pPr>
            <a:r>
              <a:rPr lang="en-US" dirty="0"/>
              <a:t>    {  </a:t>
            </a:r>
          </a:p>
          <a:p>
            <a:pPr marL="0" indent="0">
              <a:buNone/>
            </a:pPr>
            <a:r>
              <a:rPr lang="en-US" dirty="0"/>
              <a:t>        </a:t>
            </a:r>
            <a:r>
              <a:rPr lang="en-US" dirty="0" err="1"/>
              <a:t>printf</a:t>
            </a:r>
            <a:r>
              <a:rPr lang="en-US" dirty="0" smtClean="0"/>
              <a:t>("\n There is no item in CSSL");    </a:t>
            </a:r>
            <a:endParaRPr lang="en-US" dirty="0"/>
          </a:p>
          <a:p>
            <a:pPr marL="0" indent="0">
              <a:buNone/>
            </a:pPr>
            <a:r>
              <a:rPr lang="en-US" dirty="0"/>
              <a:t>    }  </a:t>
            </a:r>
          </a:p>
          <a:p>
            <a:pPr marL="0" indent="0">
              <a:buNone/>
            </a:pPr>
            <a:r>
              <a:rPr lang="en-US" dirty="0"/>
              <a:t>    else if(head-&gt;next == head)  </a:t>
            </a:r>
          </a:p>
          <a:p>
            <a:pPr marL="0" indent="0">
              <a:buNone/>
            </a:pPr>
            <a:r>
              <a:rPr lang="en-US" dirty="0"/>
              <a:t>    {  </a:t>
            </a:r>
            <a:endParaRPr lang="en-US" dirty="0" smtClean="0"/>
          </a:p>
          <a:p>
            <a:pPr marL="0" indent="0">
              <a:buNone/>
            </a:pPr>
            <a:r>
              <a:rPr lang="en-US" dirty="0" smtClean="0"/>
              <a:t>        </a:t>
            </a:r>
            <a:r>
              <a:rPr lang="en-US" dirty="0" err="1" smtClean="0"/>
              <a:t>printf</a:t>
            </a:r>
            <a:r>
              <a:rPr lang="en-US" dirty="0" smtClean="0"/>
              <a:t>(“\n deleted item is %d”, head-&gt;info);</a:t>
            </a:r>
            <a:endParaRPr lang="en-US" dirty="0"/>
          </a:p>
          <a:p>
            <a:pPr marL="0" indent="0">
              <a:buNone/>
            </a:pPr>
            <a:r>
              <a:rPr lang="en-US" dirty="0"/>
              <a:t>        head = </a:t>
            </a:r>
            <a:r>
              <a:rPr lang="en-US" dirty="0" smtClean="0"/>
              <a:t>NULL</a:t>
            </a:r>
            <a:r>
              <a:rPr lang="en-US" dirty="0"/>
              <a:t>;</a:t>
            </a:r>
            <a:r>
              <a:rPr lang="en-US" dirty="0" smtClean="0"/>
              <a:t> </a:t>
            </a:r>
            <a:endParaRPr lang="en-US" dirty="0"/>
          </a:p>
          <a:p>
            <a:pPr marL="0" indent="0">
              <a:buNone/>
            </a:pPr>
            <a:r>
              <a:rPr lang="en-US" dirty="0"/>
              <a:t>        free(head);  </a:t>
            </a:r>
            <a:r>
              <a:rPr lang="en-US" dirty="0" smtClean="0"/>
              <a:t>  </a:t>
            </a:r>
            <a:endParaRPr lang="en-US" dirty="0"/>
          </a:p>
          <a:p>
            <a:pPr marL="0" indent="0">
              <a:buNone/>
            </a:pPr>
            <a:r>
              <a:rPr lang="en-US" dirty="0"/>
              <a:t>    } </a:t>
            </a:r>
          </a:p>
        </p:txBody>
      </p:sp>
    </p:spTree>
    <p:extLst>
      <p:ext uri="{BB962C8B-B14F-4D97-AF65-F5344CB8AC3E}">
        <p14:creationId xmlns:p14="http://schemas.microsoft.com/office/powerpoint/2010/main" val="208089889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334962"/>
          </a:xfrm>
        </p:spPr>
        <p:txBody>
          <a:bodyPr>
            <a:normAutofit fontScale="90000"/>
          </a:bodyPr>
          <a:lstStyle/>
          <a:p>
            <a:endParaRPr lang="en-US" dirty="0"/>
          </a:p>
        </p:txBody>
      </p:sp>
      <p:sp>
        <p:nvSpPr>
          <p:cNvPr id="3" name="Content Placeholder 2"/>
          <p:cNvSpPr>
            <a:spLocks noGrp="1"/>
          </p:cNvSpPr>
          <p:nvPr>
            <p:ph idx="1"/>
          </p:nvPr>
        </p:nvSpPr>
        <p:spPr>
          <a:xfrm>
            <a:off x="609600" y="838200"/>
            <a:ext cx="10972800" cy="5486399"/>
          </a:xfrm>
        </p:spPr>
        <p:txBody>
          <a:bodyPr>
            <a:normAutofit fontScale="92500" lnSpcReduction="10000"/>
          </a:bodyPr>
          <a:lstStyle/>
          <a:p>
            <a:pPr marL="0" indent="0">
              <a:buNone/>
            </a:pPr>
            <a:r>
              <a:rPr lang="en-US" dirty="0"/>
              <a:t>else  </a:t>
            </a:r>
          </a:p>
          <a:p>
            <a:pPr marL="0" indent="0">
              <a:buNone/>
            </a:pPr>
            <a:r>
              <a:rPr lang="en-US" dirty="0"/>
              <a:t>    {   </a:t>
            </a:r>
            <a:r>
              <a:rPr lang="en-US" dirty="0" smtClean="0"/>
              <a:t>temp </a:t>
            </a:r>
            <a:r>
              <a:rPr lang="en-US" dirty="0"/>
              <a:t>= head;   </a:t>
            </a:r>
          </a:p>
          <a:p>
            <a:pPr marL="0" indent="0">
              <a:buNone/>
            </a:pPr>
            <a:r>
              <a:rPr lang="en-US" dirty="0"/>
              <a:t>        </a:t>
            </a:r>
            <a:r>
              <a:rPr lang="en-US" dirty="0" smtClean="0"/>
              <a:t>while(temp </a:t>
            </a:r>
            <a:r>
              <a:rPr lang="en-US" dirty="0"/>
              <a:t>-&gt; next != head</a:t>
            </a:r>
            <a:r>
              <a:rPr lang="en-US" dirty="0" smtClean="0"/>
              <a:t>){  </a:t>
            </a:r>
            <a:endParaRPr lang="en-US" dirty="0"/>
          </a:p>
          <a:p>
            <a:pPr marL="0" indent="0">
              <a:buNone/>
            </a:pPr>
            <a:r>
              <a:rPr lang="en-US" dirty="0"/>
              <a:t>            </a:t>
            </a:r>
            <a:r>
              <a:rPr lang="en-US" dirty="0" smtClean="0"/>
              <a:t>   </a:t>
            </a:r>
            <a:r>
              <a:rPr lang="en-US" dirty="0" err="1" smtClean="0"/>
              <a:t>ptr</a:t>
            </a:r>
            <a:r>
              <a:rPr lang="en-US" dirty="0" smtClean="0"/>
              <a:t> </a:t>
            </a:r>
            <a:r>
              <a:rPr lang="en-US" dirty="0"/>
              <a:t>= </a:t>
            </a:r>
            <a:r>
              <a:rPr lang="en-US" dirty="0" err="1"/>
              <a:t>ptr</a:t>
            </a:r>
            <a:r>
              <a:rPr lang="en-US" dirty="0"/>
              <a:t> -&gt; next;   </a:t>
            </a:r>
            <a:endParaRPr lang="en-US" dirty="0" smtClean="0"/>
          </a:p>
          <a:p>
            <a:pPr marL="0" indent="0">
              <a:buNone/>
            </a:pPr>
            <a:r>
              <a:rPr lang="en-US" dirty="0"/>
              <a:t>	</a:t>
            </a:r>
            <a:r>
              <a:rPr lang="en-US" dirty="0" smtClean="0"/>
              <a:t>}</a:t>
            </a:r>
            <a:endParaRPr lang="en-US" dirty="0"/>
          </a:p>
          <a:p>
            <a:pPr marL="0" indent="0">
              <a:buNone/>
            </a:pPr>
            <a:r>
              <a:rPr lang="en-US" dirty="0"/>
              <a:t>        </a:t>
            </a:r>
            <a:r>
              <a:rPr lang="en-US" dirty="0" smtClean="0"/>
              <a:t>temp-&gt;</a:t>
            </a:r>
            <a:r>
              <a:rPr lang="en-US" dirty="0"/>
              <a:t>next = head-&gt;next;  </a:t>
            </a:r>
            <a:endParaRPr lang="en-US" dirty="0" smtClean="0"/>
          </a:p>
          <a:p>
            <a:pPr marL="0" indent="0">
              <a:buNone/>
            </a:pPr>
            <a:r>
              <a:rPr lang="en-US" dirty="0"/>
              <a:t> </a:t>
            </a:r>
            <a:r>
              <a:rPr lang="en-US" dirty="0" smtClean="0"/>
              <a:t>       </a:t>
            </a:r>
            <a:r>
              <a:rPr lang="en-US" dirty="0" err="1" smtClean="0"/>
              <a:t>printf</a:t>
            </a:r>
            <a:r>
              <a:rPr lang="en-US" dirty="0" smtClean="0"/>
              <a:t>(“\n Deleted item is %d”, head-&gt;info);  </a:t>
            </a:r>
            <a:endParaRPr lang="en-US" dirty="0"/>
          </a:p>
          <a:p>
            <a:pPr marL="0" indent="0">
              <a:buNone/>
            </a:pPr>
            <a:r>
              <a:rPr lang="en-US" dirty="0"/>
              <a:t>        head = </a:t>
            </a:r>
            <a:r>
              <a:rPr lang="en-US" dirty="0" smtClean="0"/>
              <a:t>head-</a:t>
            </a:r>
            <a:r>
              <a:rPr lang="en-US" smtClean="0"/>
              <a:t>&gt;next; </a:t>
            </a:r>
            <a:endParaRPr lang="en-US" dirty="0"/>
          </a:p>
          <a:p>
            <a:pPr marL="0" indent="0">
              <a:buNone/>
            </a:pPr>
            <a:r>
              <a:rPr lang="en-US" dirty="0"/>
              <a:t>    }  </a:t>
            </a:r>
          </a:p>
          <a:p>
            <a:pPr marL="0" indent="0">
              <a:buNone/>
            </a:pPr>
            <a:r>
              <a:rPr lang="en-US" dirty="0"/>
              <a:t>} </a:t>
            </a:r>
          </a:p>
        </p:txBody>
      </p:sp>
    </p:spTree>
    <p:extLst>
      <p:ext uri="{BB962C8B-B14F-4D97-AF65-F5344CB8AC3E}">
        <p14:creationId xmlns:p14="http://schemas.microsoft.com/office/powerpoint/2010/main" val="62041457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57201"/>
            <a:ext cx="10820400" cy="5668963"/>
          </a:xfrm>
        </p:spPr>
        <p:txBody>
          <a:bodyPr>
            <a:normAutofit/>
          </a:bodyPr>
          <a:lstStyle/>
          <a:p>
            <a:pPr marL="0" indent="0">
              <a:buNone/>
            </a:pPr>
            <a:r>
              <a:rPr lang="en-US" b="1" dirty="0">
                <a:solidFill>
                  <a:srgbClr val="FF0000"/>
                </a:solidFill>
              </a:rPr>
              <a:t>In a circular linked list there are two methods to know if a node is the first node or not</a:t>
            </a:r>
            <a:r>
              <a:rPr lang="en-US" b="1" dirty="0" smtClean="0">
                <a:solidFill>
                  <a:srgbClr val="FF0000"/>
                </a:solidFill>
              </a:rPr>
              <a:t>.</a:t>
            </a:r>
          </a:p>
          <a:p>
            <a:endParaRPr lang="en-US" dirty="0" smtClean="0"/>
          </a:p>
          <a:p>
            <a:r>
              <a:rPr lang="en-US" dirty="0" smtClean="0"/>
              <a:t>Either </a:t>
            </a:r>
            <a:r>
              <a:rPr lang="en-US" dirty="0"/>
              <a:t>a external pointer, </a:t>
            </a:r>
            <a:r>
              <a:rPr lang="en-US" b="1" i="1" dirty="0"/>
              <a:t>list</a:t>
            </a:r>
            <a:r>
              <a:rPr lang="en-US" dirty="0"/>
              <a:t>, points the first node </a:t>
            </a:r>
            <a:r>
              <a:rPr lang="en-US" dirty="0" smtClean="0"/>
              <a:t>or</a:t>
            </a:r>
            <a:endParaRPr lang="en-US" dirty="0"/>
          </a:p>
          <a:p>
            <a:r>
              <a:rPr lang="en-US" dirty="0" smtClean="0"/>
              <a:t>A </a:t>
            </a:r>
            <a:r>
              <a:rPr lang="en-US" b="1" i="1" dirty="0"/>
              <a:t>header</a:t>
            </a:r>
            <a:r>
              <a:rPr lang="en-US" dirty="0"/>
              <a:t> </a:t>
            </a:r>
            <a:r>
              <a:rPr lang="en-US" b="1" i="1" dirty="0"/>
              <a:t>node</a:t>
            </a:r>
            <a:r>
              <a:rPr lang="en-US" dirty="0"/>
              <a:t> is placed as the first node of the circular list</a:t>
            </a:r>
            <a:r>
              <a:rPr lang="en-US" dirty="0" smtClean="0"/>
              <a:t>.</a:t>
            </a:r>
            <a:r>
              <a:rPr lang="en-US" dirty="0"/>
              <a:t> </a:t>
            </a:r>
          </a:p>
          <a:p>
            <a:pPr marL="0" indent="0">
              <a:buNone/>
            </a:pPr>
            <a:r>
              <a:rPr lang="en-US" dirty="0"/>
              <a:t>The header node can be separated from the others by either </a:t>
            </a:r>
            <a:r>
              <a:rPr lang="en-US" dirty="0" smtClean="0"/>
              <a:t>having </a:t>
            </a:r>
            <a:r>
              <a:rPr lang="en-US" dirty="0"/>
              <a:t>a </a:t>
            </a:r>
            <a:r>
              <a:rPr lang="en-US" b="1" i="1" dirty="0">
                <a:solidFill>
                  <a:srgbClr val="FF0000"/>
                </a:solidFill>
              </a:rPr>
              <a:t>sentinel</a:t>
            </a:r>
            <a:r>
              <a:rPr lang="en-US" dirty="0">
                <a:solidFill>
                  <a:srgbClr val="FF0000"/>
                </a:solidFill>
              </a:rPr>
              <a:t> </a:t>
            </a:r>
            <a:r>
              <a:rPr lang="en-US" b="1" i="1" dirty="0">
                <a:solidFill>
                  <a:srgbClr val="FF0000"/>
                </a:solidFill>
              </a:rPr>
              <a:t>value</a:t>
            </a:r>
            <a:r>
              <a:rPr lang="en-US" dirty="0"/>
              <a:t> as the info part or having a dedicated </a:t>
            </a:r>
            <a:r>
              <a:rPr lang="en-US" b="1" i="1" dirty="0">
                <a:solidFill>
                  <a:srgbClr val="FF0000"/>
                </a:solidFill>
              </a:rPr>
              <a:t>flag</a:t>
            </a:r>
            <a:r>
              <a:rPr lang="en-US" dirty="0">
                <a:solidFill>
                  <a:srgbClr val="FF0000"/>
                </a:solidFill>
              </a:rPr>
              <a:t> </a:t>
            </a:r>
            <a:r>
              <a:rPr lang="en-US" dirty="0"/>
              <a:t>variable to specify if the node is a header node or not.</a:t>
            </a:r>
          </a:p>
          <a:p>
            <a:pPr marL="0" indent="0">
              <a:buNone/>
            </a:pPr>
            <a:endParaRPr lang="en-US" dirty="0"/>
          </a:p>
        </p:txBody>
      </p:sp>
    </p:spTree>
    <p:extLst>
      <p:ext uri="{BB962C8B-B14F-4D97-AF65-F5344CB8AC3E}">
        <p14:creationId xmlns:p14="http://schemas.microsoft.com/office/powerpoint/2010/main" val="699760728"/>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7400" y="533400"/>
            <a:ext cx="8229600" cy="5791200"/>
          </a:xfrm>
        </p:spPr>
        <p:txBody>
          <a:bodyPr>
            <a:normAutofit fontScale="62500" lnSpcReduction="20000"/>
          </a:bodyPr>
          <a:lstStyle/>
          <a:p>
            <a:pPr marL="0" indent="0">
              <a:buNone/>
            </a:pPr>
            <a:r>
              <a:rPr lang="en-US" sz="4600" b="1" i="1" dirty="0">
                <a:solidFill>
                  <a:srgbClr val="FF0000"/>
                </a:solidFill>
              </a:rPr>
              <a:t>Algorithms to insert a node in a circular linked list</a:t>
            </a:r>
            <a:endParaRPr lang="en-US" sz="4600" dirty="0">
              <a:solidFill>
                <a:srgbClr val="FF0000"/>
              </a:solidFill>
            </a:endParaRPr>
          </a:p>
          <a:p>
            <a:pPr marL="0" indent="0">
              <a:buNone/>
            </a:pPr>
            <a:r>
              <a:rPr lang="en-US" b="1" i="1" u="sng" dirty="0"/>
              <a:t>Algorithm to insert a node at the beginning of a circular linked list</a:t>
            </a:r>
            <a:r>
              <a:rPr lang="en-US" dirty="0"/>
              <a:t>: </a:t>
            </a:r>
            <a:endParaRPr lang="en-US" dirty="0" smtClean="0"/>
          </a:p>
          <a:p>
            <a:pPr marL="0" indent="0">
              <a:buNone/>
            </a:pPr>
            <a:r>
              <a:rPr lang="en-US" dirty="0" smtClean="0"/>
              <a:t>1</a:t>
            </a:r>
            <a:r>
              <a:rPr lang="en-US" dirty="0"/>
              <a:t>. Create a new node as</a:t>
            </a:r>
          </a:p>
          <a:p>
            <a:pPr marL="0" indent="0">
              <a:buNone/>
            </a:pPr>
            <a:r>
              <a:rPr lang="en-US" dirty="0" smtClean="0"/>
              <a:t>	</a:t>
            </a:r>
            <a:r>
              <a:rPr lang="en-US" dirty="0" err="1" smtClean="0"/>
              <a:t>newnode</a:t>
            </a:r>
            <a:r>
              <a:rPr lang="en-US" dirty="0"/>
              <a:t>=(</a:t>
            </a:r>
            <a:r>
              <a:rPr lang="en-US" dirty="0" err="1"/>
              <a:t>NodeType</a:t>
            </a:r>
            <a:r>
              <a:rPr lang="en-US" dirty="0"/>
              <a:t>*)</a:t>
            </a:r>
            <a:r>
              <a:rPr lang="en-US" dirty="0" err="1"/>
              <a:t>malloc</a:t>
            </a:r>
            <a:r>
              <a:rPr lang="en-US" dirty="0"/>
              <a:t>(</a:t>
            </a:r>
            <a:r>
              <a:rPr lang="en-US" dirty="0" err="1"/>
              <a:t>sizeof</a:t>
            </a:r>
            <a:r>
              <a:rPr lang="en-US" dirty="0"/>
              <a:t>(</a:t>
            </a:r>
            <a:r>
              <a:rPr lang="en-US" dirty="0" err="1"/>
              <a:t>NodeType</a:t>
            </a:r>
            <a:r>
              <a:rPr lang="en-US" dirty="0"/>
              <a:t>)); </a:t>
            </a:r>
            <a:endParaRPr lang="en-US" dirty="0" smtClean="0"/>
          </a:p>
          <a:p>
            <a:pPr marL="0" indent="0">
              <a:buNone/>
            </a:pPr>
            <a:r>
              <a:rPr lang="en-US" dirty="0" smtClean="0"/>
              <a:t>2</a:t>
            </a:r>
            <a:r>
              <a:rPr lang="en-US" dirty="0"/>
              <a:t>. if start==NULL then</a:t>
            </a:r>
          </a:p>
          <a:p>
            <a:pPr marL="0" indent="0">
              <a:buNone/>
            </a:pPr>
            <a:r>
              <a:rPr lang="en-US" dirty="0"/>
              <a:t>	</a:t>
            </a:r>
            <a:r>
              <a:rPr lang="en-US" dirty="0" err="1" smtClean="0"/>
              <a:t>newnode</a:t>
            </a:r>
            <a:r>
              <a:rPr lang="en-US" dirty="0" smtClean="0"/>
              <a:t>-</a:t>
            </a:r>
            <a:r>
              <a:rPr lang="en-US" dirty="0"/>
              <a:t>&gt;info=item</a:t>
            </a:r>
          </a:p>
          <a:p>
            <a:pPr marL="0" indent="0">
              <a:buNone/>
            </a:pPr>
            <a:r>
              <a:rPr lang="en-US" dirty="0" smtClean="0"/>
              <a:t>	</a:t>
            </a:r>
            <a:r>
              <a:rPr lang="en-US" dirty="0" err="1" smtClean="0"/>
              <a:t>newnode</a:t>
            </a:r>
            <a:r>
              <a:rPr lang="en-US" dirty="0" smtClean="0"/>
              <a:t>-</a:t>
            </a:r>
            <a:r>
              <a:rPr lang="en-US" dirty="0"/>
              <a:t>&gt;next=</a:t>
            </a:r>
            <a:r>
              <a:rPr lang="en-US" dirty="0" err="1"/>
              <a:t>newnode</a:t>
            </a:r>
            <a:r>
              <a:rPr lang="en-US" dirty="0"/>
              <a:t> </a:t>
            </a:r>
            <a:endParaRPr lang="en-US" dirty="0" smtClean="0"/>
          </a:p>
          <a:p>
            <a:pPr marL="0" indent="0">
              <a:buNone/>
            </a:pPr>
            <a:r>
              <a:rPr lang="en-US" dirty="0"/>
              <a:t>	</a:t>
            </a:r>
            <a:r>
              <a:rPr lang="en-US" dirty="0" smtClean="0"/>
              <a:t>start=</a:t>
            </a:r>
            <a:r>
              <a:rPr lang="en-US" dirty="0" err="1" smtClean="0"/>
              <a:t>newnode</a:t>
            </a:r>
            <a:endParaRPr lang="en-US" dirty="0"/>
          </a:p>
          <a:p>
            <a:pPr marL="0" indent="0">
              <a:buNone/>
            </a:pPr>
            <a:r>
              <a:rPr lang="en-US" dirty="0" smtClean="0"/>
              <a:t>	set </a:t>
            </a:r>
            <a:r>
              <a:rPr lang="en-US" dirty="0"/>
              <a:t>last </a:t>
            </a:r>
            <a:r>
              <a:rPr lang="en-US" dirty="0" err="1" smtClean="0"/>
              <a:t>newnode</a:t>
            </a:r>
            <a:endParaRPr lang="en-US" dirty="0"/>
          </a:p>
          <a:p>
            <a:pPr marL="0" indent="0">
              <a:buNone/>
            </a:pPr>
            <a:r>
              <a:rPr lang="en-US" dirty="0"/>
              <a:t>3. else</a:t>
            </a:r>
          </a:p>
          <a:p>
            <a:pPr marL="0" indent="0">
              <a:buNone/>
            </a:pPr>
            <a:r>
              <a:rPr lang="en-US" dirty="0" smtClean="0"/>
              <a:t>	set </a:t>
            </a:r>
            <a:r>
              <a:rPr lang="en-US" dirty="0" err="1"/>
              <a:t>newnode</a:t>
            </a:r>
            <a:r>
              <a:rPr lang="en-US" dirty="0"/>
              <a:t>-&gt;info=item </a:t>
            </a:r>
            <a:endParaRPr lang="en-US" dirty="0" smtClean="0"/>
          </a:p>
          <a:p>
            <a:pPr marL="0" indent="0">
              <a:buNone/>
            </a:pPr>
            <a:r>
              <a:rPr lang="en-US" dirty="0"/>
              <a:t>	</a:t>
            </a:r>
            <a:r>
              <a:rPr lang="en-US" dirty="0" err="1" smtClean="0"/>
              <a:t>newnode</a:t>
            </a:r>
            <a:r>
              <a:rPr lang="en-US" dirty="0" smtClean="0"/>
              <a:t>-</a:t>
            </a:r>
            <a:r>
              <a:rPr lang="en-US" dirty="0"/>
              <a:t>&gt;next=start </a:t>
            </a:r>
            <a:endParaRPr lang="en-US" dirty="0" smtClean="0"/>
          </a:p>
          <a:p>
            <a:pPr marL="0" indent="0">
              <a:buNone/>
            </a:pPr>
            <a:r>
              <a:rPr lang="en-US" dirty="0"/>
              <a:t>	</a:t>
            </a:r>
            <a:r>
              <a:rPr lang="en-US" dirty="0" smtClean="0"/>
              <a:t>start=</a:t>
            </a:r>
            <a:r>
              <a:rPr lang="en-US" dirty="0" err="1" smtClean="0"/>
              <a:t>newnode</a:t>
            </a:r>
            <a:endParaRPr lang="en-US" dirty="0"/>
          </a:p>
          <a:p>
            <a:pPr marL="457200" lvl="1" indent="0">
              <a:buNone/>
            </a:pPr>
            <a:r>
              <a:rPr lang="en-US" dirty="0" smtClean="0"/>
              <a:t>	set </a:t>
            </a:r>
            <a:r>
              <a:rPr lang="en-US" dirty="0"/>
              <a:t>last-&gt;</a:t>
            </a:r>
            <a:r>
              <a:rPr lang="en-US" dirty="0" smtClean="0"/>
              <a:t>next=</a:t>
            </a:r>
            <a:r>
              <a:rPr lang="en-US" dirty="0" err="1" smtClean="0"/>
              <a:t>newnode</a:t>
            </a:r>
            <a:r>
              <a:rPr lang="en-US" dirty="0"/>
              <a:t> </a:t>
            </a:r>
          </a:p>
          <a:p>
            <a:pPr marL="0" indent="0">
              <a:buNone/>
            </a:pPr>
            <a:r>
              <a:rPr lang="en-US" dirty="0" smtClean="0"/>
              <a:t>	end </a:t>
            </a:r>
            <a:r>
              <a:rPr lang="en-US" dirty="0"/>
              <a:t>else </a:t>
            </a:r>
            <a:endParaRPr lang="en-US" dirty="0" smtClean="0"/>
          </a:p>
          <a:p>
            <a:pPr marL="0" indent="0">
              <a:buNone/>
            </a:pPr>
            <a:r>
              <a:rPr lang="en-US" dirty="0" smtClean="0"/>
              <a:t>4</a:t>
            </a:r>
            <a:r>
              <a:rPr lang="en-US" dirty="0"/>
              <a:t>. End</a:t>
            </a:r>
          </a:p>
        </p:txBody>
      </p:sp>
    </p:spTree>
    <p:extLst>
      <p:ext uri="{BB962C8B-B14F-4D97-AF65-F5344CB8AC3E}">
        <p14:creationId xmlns:p14="http://schemas.microsoft.com/office/powerpoint/2010/main" val="225251298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33600" y="304801"/>
            <a:ext cx="8229600" cy="6248400"/>
          </a:xfrm>
        </p:spPr>
        <p:txBody>
          <a:bodyPr>
            <a:normAutofit fontScale="85000" lnSpcReduction="20000"/>
          </a:bodyPr>
          <a:lstStyle/>
          <a:p>
            <a:pPr marL="0" indent="0">
              <a:buNone/>
            </a:pPr>
            <a:r>
              <a:rPr lang="en-US" sz="3300" b="1" i="1" u="sng" dirty="0">
                <a:solidFill>
                  <a:srgbClr val="FF0000"/>
                </a:solidFill>
              </a:rPr>
              <a:t>Algorithm to insert a node at the end of a circular linked list</a:t>
            </a:r>
            <a:endParaRPr lang="en-US" sz="3300" dirty="0">
              <a:solidFill>
                <a:srgbClr val="FF0000"/>
              </a:solidFill>
            </a:endParaRPr>
          </a:p>
          <a:p>
            <a:pPr marL="0" indent="0">
              <a:buNone/>
            </a:pPr>
            <a:r>
              <a:rPr lang="en-US" dirty="0" smtClean="0"/>
              <a:t>1</a:t>
            </a:r>
            <a:r>
              <a:rPr lang="en-US" dirty="0"/>
              <a:t>. Create a new node as</a:t>
            </a:r>
          </a:p>
          <a:p>
            <a:pPr marL="0" indent="0">
              <a:buNone/>
            </a:pPr>
            <a:r>
              <a:rPr lang="en-US" dirty="0"/>
              <a:t>	</a:t>
            </a:r>
            <a:r>
              <a:rPr lang="en-US" dirty="0" err="1" smtClean="0"/>
              <a:t>newnode</a:t>
            </a:r>
            <a:r>
              <a:rPr lang="en-US" dirty="0"/>
              <a:t>=(</a:t>
            </a:r>
            <a:r>
              <a:rPr lang="en-US" dirty="0" err="1"/>
              <a:t>NodeType</a:t>
            </a:r>
            <a:r>
              <a:rPr lang="en-US" dirty="0"/>
              <a:t>*)</a:t>
            </a:r>
            <a:r>
              <a:rPr lang="en-US" dirty="0" err="1"/>
              <a:t>malloc</a:t>
            </a:r>
            <a:r>
              <a:rPr lang="en-US" dirty="0"/>
              <a:t>(</a:t>
            </a:r>
            <a:r>
              <a:rPr lang="en-US" dirty="0" err="1"/>
              <a:t>sizeof</a:t>
            </a:r>
            <a:r>
              <a:rPr lang="en-US" dirty="0"/>
              <a:t>(</a:t>
            </a:r>
            <a:r>
              <a:rPr lang="en-US" dirty="0" err="1"/>
              <a:t>NodeType</a:t>
            </a:r>
            <a:r>
              <a:rPr lang="en-US" dirty="0"/>
              <a:t>)); </a:t>
            </a:r>
            <a:endParaRPr lang="en-US" dirty="0" smtClean="0"/>
          </a:p>
          <a:p>
            <a:pPr marL="0" indent="0">
              <a:buNone/>
            </a:pPr>
            <a:r>
              <a:rPr lang="en-US" dirty="0" smtClean="0"/>
              <a:t>2</a:t>
            </a:r>
            <a:r>
              <a:rPr lang="en-US" dirty="0"/>
              <a:t>. if start==NULL then</a:t>
            </a:r>
          </a:p>
          <a:p>
            <a:pPr marL="0" indent="0">
              <a:buNone/>
            </a:pPr>
            <a:r>
              <a:rPr lang="en-US" dirty="0" smtClean="0"/>
              <a:t>	set </a:t>
            </a:r>
            <a:r>
              <a:rPr lang="en-US" dirty="0" err="1"/>
              <a:t>newnode</a:t>
            </a:r>
            <a:r>
              <a:rPr lang="en-US" dirty="0"/>
              <a:t>-&gt;info=item</a:t>
            </a:r>
          </a:p>
          <a:p>
            <a:pPr marL="0" indent="0">
              <a:buNone/>
            </a:pPr>
            <a:r>
              <a:rPr lang="en-US" dirty="0" smtClean="0"/>
              <a:t>	</a:t>
            </a:r>
            <a:r>
              <a:rPr lang="en-US" dirty="0" err="1" smtClean="0"/>
              <a:t>newnode</a:t>
            </a:r>
            <a:r>
              <a:rPr lang="en-US" dirty="0" smtClean="0"/>
              <a:t>-</a:t>
            </a:r>
            <a:r>
              <a:rPr lang="en-US" dirty="0"/>
              <a:t>&gt;next=</a:t>
            </a:r>
            <a:r>
              <a:rPr lang="en-US" dirty="0" err="1"/>
              <a:t>newnode</a:t>
            </a:r>
            <a:r>
              <a:rPr lang="en-US" dirty="0"/>
              <a:t> </a:t>
            </a:r>
            <a:endParaRPr lang="en-US" dirty="0" smtClean="0"/>
          </a:p>
          <a:p>
            <a:pPr marL="0" indent="0">
              <a:buNone/>
            </a:pPr>
            <a:r>
              <a:rPr lang="en-US" dirty="0"/>
              <a:t>	</a:t>
            </a:r>
            <a:r>
              <a:rPr lang="en-US" dirty="0" smtClean="0"/>
              <a:t>set </a:t>
            </a:r>
            <a:r>
              <a:rPr lang="en-US" dirty="0"/>
              <a:t>start=</a:t>
            </a:r>
            <a:r>
              <a:rPr lang="en-US" dirty="0" err="1"/>
              <a:t>newnode</a:t>
            </a:r>
            <a:endParaRPr lang="en-US" dirty="0"/>
          </a:p>
          <a:p>
            <a:pPr marL="0" indent="0">
              <a:buNone/>
            </a:pPr>
            <a:r>
              <a:rPr lang="en-US" dirty="0" smtClean="0"/>
              <a:t>	set </a:t>
            </a:r>
            <a:r>
              <a:rPr lang="en-US" dirty="0"/>
              <a:t>last </a:t>
            </a:r>
            <a:r>
              <a:rPr lang="en-US" dirty="0" err="1"/>
              <a:t>newnode</a:t>
            </a:r>
            <a:r>
              <a:rPr lang="en-US" dirty="0"/>
              <a:t> end if</a:t>
            </a:r>
          </a:p>
          <a:p>
            <a:pPr marL="0" indent="0">
              <a:buNone/>
            </a:pPr>
            <a:r>
              <a:rPr lang="en-US" dirty="0"/>
              <a:t>3. else</a:t>
            </a:r>
          </a:p>
          <a:p>
            <a:pPr marL="0" indent="0">
              <a:buNone/>
            </a:pPr>
            <a:r>
              <a:rPr lang="en-US" dirty="0" smtClean="0"/>
              <a:t>	set </a:t>
            </a:r>
            <a:r>
              <a:rPr lang="en-US" dirty="0" err="1"/>
              <a:t>newnode</a:t>
            </a:r>
            <a:r>
              <a:rPr lang="en-US" dirty="0"/>
              <a:t>-&gt;info=item </a:t>
            </a:r>
            <a:endParaRPr lang="en-US" dirty="0" smtClean="0"/>
          </a:p>
          <a:p>
            <a:pPr marL="0" indent="0">
              <a:buNone/>
            </a:pPr>
            <a:r>
              <a:rPr lang="en-US" dirty="0"/>
              <a:t>	</a:t>
            </a:r>
            <a:r>
              <a:rPr lang="en-US" dirty="0" smtClean="0"/>
              <a:t>set </a:t>
            </a:r>
            <a:r>
              <a:rPr lang="en-US" dirty="0"/>
              <a:t>last-&gt;next=</a:t>
            </a:r>
            <a:r>
              <a:rPr lang="en-US" dirty="0" err="1"/>
              <a:t>newnode</a:t>
            </a:r>
            <a:r>
              <a:rPr lang="en-US" dirty="0"/>
              <a:t> </a:t>
            </a:r>
            <a:endParaRPr lang="en-US" dirty="0" smtClean="0"/>
          </a:p>
          <a:p>
            <a:pPr marL="0" indent="0">
              <a:buNone/>
            </a:pPr>
            <a:r>
              <a:rPr lang="en-US" dirty="0"/>
              <a:t>	</a:t>
            </a:r>
            <a:r>
              <a:rPr lang="en-US" dirty="0" smtClean="0"/>
              <a:t>set </a:t>
            </a:r>
            <a:r>
              <a:rPr lang="en-US" dirty="0"/>
              <a:t>last=</a:t>
            </a:r>
            <a:r>
              <a:rPr lang="en-US" dirty="0" err="1"/>
              <a:t>newnode</a:t>
            </a:r>
            <a:endParaRPr lang="en-US" dirty="0"/>
          </a:p>
          <a:p>
            <a:pPr marL="0" indent="0">
              <a:buNone/>
            </a:pPr>
            <a:r>
              <a:rPr lang="en-US" dirty="0" smtClean="0"/>
              <a:t>	set </a:t>
            </a:r>
            <a:r>
              <a:rPr lang="en-US" dirty="0"/>
              <a:t>last-&gt;next=start end else</a:t>
            </a:r>
          </a:p>
          <a:p>
            <a:pPr marL="0" indent="0">
              <a:buNone/>
            </a:pPr>
            <a:r>
              <a:rPr lang="en-US" dirty="0" smtClean="0"/>
              <a:t>4. End</a:t>
            </a:r>
            <a:endParaRPr lang="en-US" dirty="0"/>
          </a:p>
        </p:txBody>
      </p:sp>
    </p:spTree>
    <p:extLst>
      <p:ext uri="{BB962C8B-B14F-4D97-AF65-F5344CB8AC3E}">
        <p14:creationId xmlns:p14="http://schemas.microsoft.com/office/powerpoint/2010/main" val="302605989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838201"/>
            <a:ext cx="8229600" cy="5287963"/>
          </a:xfrm>
        </p:spPr>
        <p:txBody>
          <a:bodyPr>
            <a:normAutofit fontScale="47500" lnSpcReduction="20000"/>
          </a:bodyPr>
          <a:lstStyle/>
          <a:p>
            <a:pPr marL="0" indent="0">
              <a:buNone/>
            </a:pPr>
            <a:r>
              <a:rPr lang="en-US" sz="5100" b="1" i="1" dirty="0">
                <a:solidFill>
                  <a:srgbClr val="FF0000"/>
                </a:solidFill>
              </a:rPr>
              <a:t>C function to insert a node at the beginning of a circular linked list</a:t>
            </a:r>
            <a:endParaRPr lang="en-US" sz="4200" dirty="0">
              <a:solidFill>
                <a:srgbClr val="FF0000"/>
              </a:solidFill>
            </a:endParaRPr>
          </a:p>
          <a:p>
            <a:pPr marL="0" indent="0">
              <a:buNone/>
            </a:pPr>
            <a:r>
              <a:rPr lang="en-US" dirty="0" smtClean="0"/>
              <a:t>void </a:t>
            </a:r>
            <a:r>
              <a:rPr lang="en-US" dirty="0" err="1"/>
              <a:t>InsertAtBeg</a:t>
            </a:r>
            <a:r>
              <a:rPr lang="en-US" dirty="0"/>
              <a:t>(</a:t>
            </a:r>
            <a:r>
              <a:rPr lang="en-US" dirty="0" err="1"/>
              <a:t>int</a:t>
            </a:r>
            <a:r>
              <a:rPr lang="en-US" dirty="0"/>
              <a:t> Item)</a:t>
            </a:r>
          </a:p>
          <a:p>
            <a:pPr marL="0" indent="0">
              <a:buNone/>
            </a:pPr>
            <a:r>
              <a:rPr lang="en-US" dirty="0"/>
              <a:t>{</a:t>
            </a:r>
          </a:p>
          <a:p>
            <a:pPr marL="0" indent="0">
              <a:buNone/>
            </a:pPr>
            <a:r>
              <a:rPr lang="en-US" dirty="0" smtClean="0"/>
              <a:t>	</a:t>
            </a:r>
            <a:r>
              <a:rPr lang="en-US" dirty="0" err="1" smtClean="0"/>
              <a:t>NodeType</a:t>
            </a:r>
            <a:r>
              <a:rPr lang="en-US" dirty="0" smtClean="0"/>
              <a:t> </a:t>
            </a:r>
            <a:r>
              <a:rPr lang="en-US" dirty="0"/>
              <a:t>*</a:t>
            </a:r>
            <a:r>
              <a:rPr lang="en-US" dirty="0" err="1"/>
              <a:t>newnode</a:t>
            </a:r>
            <a:r>
              <a:rPr lang="en-US" dirty="0"/>
              <a:t>; </a:t>
            </a:r>
            <a:r>
              <a:rPr lang="en-US" dirty="0" smtClean="0"/>
              <a:t>	</a:t>
            </a:r>
            <a:r>
              <a:rPr lang="en-US" dirty="0" err="1" smtClean="0"/>
              <a:t>newnode</a:t>
            </a:r>
            <a:r>
              <a:rPr lang="en-US" dirty="0"/>
              <a:t>=(</a:t>
            </a:r>
            <a:r>
              <a:rPr lang="en-US" dirty="0" err="1"/>
              <a:t>NodeType</a:t>
            </a:r>
            <a:r>
              <a:rPr lang="en-US" dirty="0"/>
              <a:t>*)</a:t>
            </a:r>
            <a:r>
              <a:rPr lang="en-US" dirty="0" err="1"/>
              <a:t>malloc</a:t>
            </a:r>
            <a:r>
              <a:rPr lang="en-US" dirty="0"/>
              <a:t>(</a:t>
            </a:r>
            <a:r>
              <a:rPr lang="en-US" dirty="0" err="1"/>
              <a:t>sizeof</a:t>
            </a:r>
            <a:r>
              <a:rPr lang="en-US" dirty="0"/>
              <a:t>(</a:t>
            </a:r>
            <a:r>
              <a:rPr lang="en-US" dirty="0" err="1"/>
              <a:t>NodeType</a:t>
            </a:r>
            <a:r>
              <a:rPr lang="en-US" dirty="0"/>
              <a:t>)); </a:t>
            </a:r>
            <a:r>
              <a:rPr lang="en-US" dirty="0" smtClean="0"/>
              <a:t>	</a:t>
            </a:r>
          </a:p>
          <a:p>
            <a:pPr marL="0" indent="0">
              <a:buNone/>
            </a:pPr>
            <a:r>
              <a:rPr lang="en-US" dirty="0"/>
              <a:t>	</a:t>
            </a:r>
            <a:r>
              <a:rPr lang="en-US" dirty="0" smtClean="0"/>
              <a:t>if(start</a:t>
            </a:r>
            <a:r>
              <a:rPr lang="en-US" dirty="0"/>
              <a:t>==NULL)</a:t>
            </a:r>
          </a:p>
          <a:p>
            <a:pPr marL="0" indent="0">
              <a:buNone/>
            </a:pPr>
            <a:r>
              <a:rPr lang="en-US" dirty="0" smtClean="0"/>
              <a:t>	{</a:t>
            </a:r>
            <a:endParaRPr lang="en-US" dirty="0"/>
          </a:p>
          <a:p>
            <a:pPr marL="0" indent="0">
              <a:buNone/>
            </a:pPr>
            <a:r>
              <a:rPr lang="en-US" dirty="0" smtClean="0"/>
              <a:t>		</a:t>
            </a:r>
            <a:r>
              <a:rPr lang="en-US" dirty="0" err="1" smtClean="0"/>
              <a:t>newnode</a:t>
            </a:r>
            <a:r>
              <a:rPr lang="en-US" dirty="0" smtClean="0"/>
              <a:t>-</a:t>
            </a:r>
            <a:r>
              <a:rPr lang="en-US" dirty="0"/>
              <a:t>&gt;info=item; </a:t>
            </a:r>
            <a:endParaRPr lang="en-US" dirty="0" smtClean="0"/>
          </a:p>
          <a:p>
            <a:pPr marL="0" indent="0">
              <a:buNone/>
            </a:pPr>
            <a:r>
              <a:rPr lang="en-US" dirty="0"/>
              <a:t>	</a:t>
            </a:r>
            <a:r>
              <a:rPr lang="en-US" dirty="0" smtClean="0"/>
              <a:t>	</a:t>
            </a:r>
            <a:r>
              <a:rPr lang="en-US" dirty="0" err="1" smtClean="0"/>
              <a:t>newnode</a:t>
            </a:r>
            <a:r>
              <a:rPr lang="en-US" dirty="0" smtClean="0"/>
              <a:t>-</a:t>
            </a:r>
            <a:r>
              <a:rPr lang="en-US" dirty="0"/>
              <a:t>&gt;next=</a:t>
            </a:r>
            <a:r>
              <a:rPr lang="en-US" dirty="0" err="1"/>
              <a:t>newnode</a:t>
            </a:r>
            <a:r>
              <a:rPr lang="en-US" dirty="0"/>
              <a:t>;</a:t>
            </a:r>
          </a:p>
          <a:p>
            <a:pPr marL="0" indent="0">
              <a:buNone/>
            </a:pPr>
            <a:r>
              <a:rPr lang="en-US" dirty="0" smtClean="0"/>
              <a:t>		start=</a:t>
            </a:r>
            <a:r>
              <a:rPr lang="en-US" dirty="0" err="1" smtClean="0"/>
              <a:t>newnode</a:t>
            </a:r>
            <a:r>
              <a:rPr lang="en-US" dirty="0"/>
              <a:t>; </a:t>
            </a:r>
            <a:endParaRPr lang="en-US" dirty="0" smtClean="0"/>
          </a:p>
          <a:p>
            <a:pPr marL="0" indent="0">
              <a:buNone/>
            </a:pPr>
            <a:r>
              <a:rPr lang="en-US" dirty="0"/>
              <a:t>	</a:t>
            </a:r>
            <a:r>
              <a:rPr lang="en-US" dirty="0" smtClean="0"/>
              <a:t>	last </a:t>
            </a:r>
            <a:r>
              <a:rPr lang="en-US" dirty="0" err="1"/>
              <a:t>newnode</a:t>
            </a:r>
            <a:r>
              <a:rPr lang="en-US" dirty="0"/>
              <a:t>;</a:t>
            </a:r>
          </a:p>
          <a:p>
            <a:pPr marL="0" indent="0">
              <a:buNone/>
            </a:pPr>
            <a:r>
              <a:rPr lang="en-US" dirty="0" smtClean="0"/>
              <a:t>	} </a:t>
            </a:r>
          </a:p>
          <a:p>
            <a:pPr marL="0" indent="0">
              <a:buNone/>
            </a:pPr>
            <a:r>
              <a:rPr lang="en-US" dirty="0" smtClean="0"/>
              <a:t>	else </a:t>
            </a:r>
          </a:p>
          <a:p>
            <a:pPr marL="0" indent="0">
              <a:buNone/>
            </a:pPr>
            <a:r>
              <a:rPr lang="en-US" dirty="0" smtClean="0"/>
              <a:t>	{</a:t>
            </a:r>
            <a:endParaRPr lang="en-US" dirty="0"/>
          </a:p>
          <a:p>
            <a:pPr marL="0" indent="0">
              <a:buNone/>
            </a:pPr>
            <a:r>
              <a:rPr lang="en-US" dirty="0" smtClean="0"/>
              <a:t>		</a:t>
            </a:r>
            <a:r>
              <a:rPr lang="en-US" dirty="0" err="1" smtClean="0"/>
              <a:t>newnode</a:t>
            </a:r>
            <a:r>
              <a:rPr lang="en-US" dirty="0" smtClean="0"/>
              <a:t>-</a:t>
            </a:r>
            <a:r>
              <a:rPr lang="en-US" dirty="0"/>
              <a:t>&gt;info=item </a:t>
            </a:r>
          </a:p>
          <a:p>
            <a:pPr marL="0" indent="0">
              <a:buNone/>
            </a:pPr>
            <a:r>
              <a:rPr lang="en-US" dirty="0" smtClean="0"/>
              <a:t>		</a:t>
            </a:r>
            <a:r>
              <a:rPr lang="en-US" dirty="0" err="1" smtClean="0"/>
              <a:t>newnode</a:t>
            </a:r>
            <a:r>
              <a:rPr lang="en-US" dirty="0" smtClean="0"/>
              <a:t>-</a:t>
            </a:r>
            <a:r>
              <a:rPr lang="en-US" dirty="0"/>
              <a:t>&gt;next=start </a:t>
            </a:r>
          </a:p>
          <a:p>
            <a:pPr marL="0" indent="0">
              <a:buNone/>
            </a:pPr>
            <a:r>
              <a:rPr lang="en-US" dirty="0" smtClean="0"/>
              <a:t>		start=</a:t>
            </a:r>
            <a:r>
              <a:rPr lang="en-US" dirty="0" err="1" smtClean="0"/>
              <a:t>newnode</a:t>
            </a:r>
            <a:endParaRPr lang="en-US" dirty="0"/>
          </a:p>
          <a:p>
            <a:pPr marL="0" indent="0">
              <a:buNone/>
            </a:pPr>
            <a:r>
              <a:rPr lang="en-US" dirty="0"/>
              <a:t>	</a:t>
            </a:r>
            <a:r>
              <a:rPr lang="en-US" dirty="0" smtClean="0"/>
              <a:t>	last-</a:t>
            </a:r>
            <a:r>
              <a:rPr lang="en-US" dirty="0"/>
              <a:t>&gt;</a:t>
            </a:r>
            <a:r>
              <a:rPr lang="en-US" dirty="0" smtClean="0"/>
              <a:t>next=</a:t>
            </a:r>
            <a:r>
              <a:rPr lang="en-US" dirty="0" err="1" smtClean="0"/>
              <a:t>newnode</a:t>
            </a:r>
            <a:r>
              <a:rPr lang="en-US" dirty="0"/>
              <a:t> </a:t>
            </a:r>
          </a:p>
          <a:p>
            <a:pPr marL="0" indent="0">
              <a:buNone/>
            </a:pPr>
            <a:endParaRPr lang="en-US" dirty="0"/>
          </a:p>
          <a:p>
            <a:pPr marL="0" indent="0">
              <a:buNone/>
            </a:pPr>
            <a:r>
              <a:rPr lang="en-US" dirty="0" smtClean="0"/>
              <a:t>	} </a:t>
            </a:r>
          </a:p>
          <a:p>
            <a:pPr marL="0" indent="0">
              <a:buNone/>
            </a:pPr>
            <a:r>
              <a:rPr lang="en-US" dirty="0" smtClean="0"/>
              <a:t>}</a:t>
            </a:r>
            <a:endParaRPr lang="en-US" dirty="0"/>
          </a:p>
          <a:p>
            <a:pPr marL="0" indent="0">
              <a:buNone/>
            </a:pPr>
            <a:endParaRPr lang="en-US" dirty="0"/>
          </a:p>
        </p:txBody>
      </p:sp>
    </p:spTree>
    <p:extLst>
      <p:ext uri="{BB962C8B-B14F-4D97-AF65-F5344CB8AC3E}">
        <p14:creationId xmlns:p14="http://schemas.microsoft.com/office/powerpoint/2010/main" val="196302049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762000"/>
            <a:ext cx="8229600" cy="5562600"/>
          </a:xfrm>
        </p:spPr>
        <p:txBody>
          <a:bodyPr>
            <a:normAutofit fontScale="47500" lnSpcReduction="20000"/>
          </a:bodyPr>
          <a:lstStyle/>
          <a:p>
            <a:pPr marL="0" indent="0">
              <a:buNone/>
            </a:pPr>
            <a:r>
              <a:rPr lang="en-US" sz="4400" b="1" i="1" u="sng" dirty="0">
                <a:solidFill>
                  <a:srgbClr val="FF0000"/>
                </a:solidFill>
              </a:rPr>
              <a:t>C function to insert a node at the end of a circular linked list</a:t>
            </a:r>
            <a:r>
              <a:rPr lang="en-US" sz="3400" dirty="0">
                <a:solidFill>
                  <a:srgbClr val="FF0000"/>
                </a:solidFill>
              </a:rPr>
              <a:t> </a:t>
            </a:r>
          </a:p>
          <a:p>
            <a:pPr marL="0" indent="0">
              <a:buNone/>
            </a:pPr>
            <a:r>
              <a:rPr lang="en-US" dirty="0" smtClean="0"/>
              <a:t>void </a:t>
            </a:r>
            <a:r>
              <a:rPr lang="en-US" dirty="0" err="1"/>
              <a:t>InsertAtEnd</a:t>
            </a:r>
            <a:r>
              <a:rPr lang="en-US" dirty="0"/>
              <a:t>(</a:t>
            </a:r>
            <a:r>
              <a:rPr lang="en-US" dirty="0" err="1"/>
              <a:t>int</a:t>
            </a:r>
            <a:r>
              <a:rPr lang="en-US" dirty="0"/>
              <a:t> Item)</a:t>
            </a:r>
          </a:p>
          <a:p>
            <a:pPr marL="0" indent="0">
              <a:buNone/>
            </a:pPr>
            <a:r>
              <a:rPr lang="en-US" dirty="0"/>
              <a:t>{</a:t>
            </a:r>
          </a:p>
          <a:p>
            <a:pPr marL="0" indent="0">
              <a:buNone/>
            </a:pPr>
            <a:r>
              <a:rPr lang="en-US" dirty="0" smtClean="0"/>
              <a:t>	</a:t>
            </a:r>
            <a:r>
              <a:rPr lang="en-US" dirty="0" err="1" smtClean="0"/>
              <a:t>NodeType</a:t>
            </a:r>
            <a:r>
              <a:rPr lang="en-US" dirty="0" smtClean="0"/>
              <a:t> </a:t>
            </a:r>
            <a:r>
              <a:rPr lang="en-US" dirty="0"/>
              <a:t>*</a:t>
            </a:r>
            <a:r>
              <a:rPr lang="en-US" dirty="0" err="1"/>
              <a:t>newnode</a:t>
            </a:r>
            <a:r>
              <a:rPr lang="en-US" dirty="0"/>
              <a:t>; </a:t>
            </a:r>
            <a:r>
              <a:rPr lang="en-US" dirty="0" smtClean="0"/>
              <a:t>	</a:t>
            </a:r>
            <a:r>
              <a:rPr lang="en-US" dirty="0" err="1" smtClean="0"/>
              <a:t>newnode</a:t>
            </a:r>
            <a:r>
              <a:rPr lang="en-US" dirty="0"/>
              <a:t>=(</a:t>
            </a:r>
            <a:r>
              <a:rPr lang="en-US" dirty="0" err="1"/>
              <a:t>NodeType</a:t>
            </a:r>
            <a:r>
              <a:rPr lang="en-US" dirty="0"/>
              <a:t>*)</a:t>
            </a:r>
            <a:r>
              <a:rPr lang="en-US" dirty="0" err="1"/>
              <a:t>malloc</a:t>
            </a:r>
            <a:r>
              <a:rPr lang="en-US" dirty="0"/>
              <a:t>(</a:t>
            </a:r>
            <a:r>
              <a:rPr lang="en-US" dirty="0" err="1"/>
              <a:t>sizeof</a:t>
            </a:r>
            <a:r>
              <a:rPr lang="en-US" dirty="0"/>
              <a:t>(</a:t>
            </a:r>
            <a:r>
              <a:rPr lang="en-US" dirty="0" err="1"/>
              <a:t>NodeType</a:t>
            </a:r>
            <a:r>
              <a:rPr lang="en-US" dirty="0"/>
              <a:t>)); </a:t>
            </a:r>
            <a:r>
              <a:rPr lang="en-US" dirty="0" smtClean="0"/>
              <a:t>	</a:t>
            </a:r>
          </a:p>
          <a:p>
            <a:pPr marL="0" indent="0">
              <a:buNone/>
            </a:pPr>
            <a:r>
              <a:rPr lang="en-US" dirty="0"/>
              <a:t>	</a:t>
            </a:r>
            <a:r>
              <a:rPr lang="en-US" dirty="0" smtClean="0"/>
              <a:t>if(start</a:t>
            </a:r>
            <a:r>
              <a:rPr lang="en-US" dirty="0"/>
              <a:t>==NULL)</a:t>
            </a:r>
          </a:p>
          <a:p>
            <a:pPr marL="0" indent="0">
              <a:buNone/>
            </a:pPr>
            <a:r>
              <a:rPr lang="en-US" dirty="0" smtClean="0"/>
              <a:t>	{</a:t>
            </a:r>
            <a:endParaRPr lang="en-US" dirty="0"/>
          </a:p>
          <a:p>
            <a:pPr marL="0" indent="0">
              <a:buNone/>
            </a:pPr>
            <a:r>
              <a:rPr lang="en-US" dirty="0" smtClean="0"/>
              <a:t>		</a:t>
            </a:r>
            <a:r>
              <a:rPr lang="en-US" dirty="0" err="1" smtClean="0"/>
              <a:t>newnode</a:t>
            </a:r>
            <a:r>
              <a:rPr lang="en-US" dirty="0" smtClean="0"/>
              <a:t>-</a:t>
            </a:r>
            <a:r>
              <a:rPr lang="en-US" dirty="0"/>
              <a:t>&gt;info=item; </a:t>
            </a:r>
            <a:endParaRPr lang="en-US" dirty="0" smtClean="0"/>
          </a:p>
          <a:p>
            <a:pPr marL="0" indent="0">
              <a:buNone/>
            </a:pPr>
            <a:r>
              <a:rPr lang="en-US" dirty="0"/>
              <a:t>	</a:t>
            </a:r>
            <a:r>
              <a:rPr lang="en-US" dirty="0" smtClean="0"/>
              <a:t>	</a:t>
            </a:r>
            <a:r>
              <a:rPr lang="en-US" dirty="0" err="1" smtClean="0"/>
              <a:t>newnode</a:t>
            </a:r>
            <a:r>
              <a:rPr lang="en-US" dirty="0" smtClean="0"/>
              <a:t>-</a:t>
            </a:r>
            <a:r>
              <a:rPr lang="en-US" dirty="0"/>
              <a:t>&gt;next=</a:t>
            </a:r>
            <a:r>
              <a:rPr lang="en-US" dirty="0" err="1"/>
              <a:t>newnode</a:t>
            </a:r>
            <a:r>
              <a:rPr lang="en-US" dirty="0"/>
              <a:t>;</a:t>
            </a:r>
          </a:p>
          <a:p>
            <a:pPr marL="0" indent="0">
              <a:buNone/>
            </a:pPr>
            <a:r>
              <a:rPr lang="en-US" dirty="0" smtClean="0"/>
              <a:t>		start=</a:t>
            </a:r>
            <a:r>
              <a:rPr lang="en-US" dirty="0" err="1" smtClean="0"/>
              <a:t>newnode</a:t>
            </a:r>
            <a:r>
              <a:rPr lang="en-US" dirty="0"/>
              <a:t>; </a:t>
            </a:r>
            <a:endParaRPr lang="en-US" dirty="0" smtClean="0"/>
          </a:p>
          <a:p>
            <a:pPr marL="0" indent="0">
              <a:buNone/>
            </a:pPr>
            <a:r>
              <a:rPr lang="en-US" dirty="0"/>
              <a:t>	</a:t>
            </a:r>
            <a:r>
              <a:rPr lang="en-US" dirty="0" smtClean="0"/>
              <a:t>	last </a:t>
            </a:r>
            <a:r>
              <a:rPr lang="en-US" dirty="0" err="1"/>
              <a:t>newnode</a:t>
            </a:r>
            <a:r>
              <a:rPr lang="en-US" dirty="0"/>
              <a:t>;</a:t>
            </a:r>
          </a:p>
          <a:p>
            <a:pPr marL="0" indent="0">
              <a:buNone/>
            </a:pPr>
            <a:r>
              <a:rPr lang="en-US" dirty="0" smtClean="0"/>
              <a:t>	} </a:t>
            </a:r>
          </a:p>
          <a:p>
            <a:pPr marL="0" indent="0">
              <a:buNone/>
            </a:pPr>
            <a:r>
              <a:rPr lang="en-US" dirty="0"/>
              <a:t>	</a:t>
            </a:r>
            <a:r>
              <a:rPr lang="en-US" dirty="0" smtClean="0"/>
              <a:t>else </a:t>
            </a:r>
          </a:p>
          <a:p>
            <a:pPr marL="0" indent="0">
              <a:buNone/>
            </a:pPr>
            <a:r>
              <a:rPr lang="en-US" dirty="0"/>
              <a:t>	</a:t>
            </a:r>
            <a:r>
              <a:rPr lang="en-US" dirty="0" smtClean="0"/>
              <a:t>{</a:t>
            </a:r>
            <a:endParaRPr lang="en-US" dirty="0"/>
          </a:p>
          <a:p>
            <a:pPr marL="0" indent="0">
              <a:buNone/>
            </a:pPr>
            <a:r>
              <a:rPr lang="en-US" dirty="0"/>
              <a:t> </a:t>
            </a:r>
          </a:p>
          <a:p>
            <a:pPr marL="0" indent="0">
              <a:buNone/>
            </a:pPr>
            <a:r>
              <a:rPr lang="en-US" dirty="0" smtClean="0"/>
              <a:t>	</a:t>
            </a:r>
            <a:r>
              <a:rPr lang="en-US" dirty="0" err="1" smtClean="0"/>
              <a:t>newnode</a:t>
            </a:r>
            <a:r>
              <a:rPr lang="en-US" dirty="0" smtClean="0"/>
              <a:t>-</a:t>
            </a:r>
            <a:r>
              <a:rPr lang="en-US" dirty="0"/>
              <a:t>&gt;info=item; </a:t>
            </a:r>
            <a:endParaRPr lang="en-US" dirty="0" smtClean="0"/>
          </a:p>
          <a:p>
            <a:pPr marL="0" indent="0">
              <a:buNone/>
            </a:pPr>
            <a:r>
              <a:rPr lang="en-US" dirty="0"/>
              <a:t>	</a:t>
            </a:r>
            <a:r>
              <a:rPr lang="en-US" dirty="0" smtClean="0"/>
              <a:t>last-</a:t>
            </a:r>
            <a:r>
              <a:rPr lang="en-US" dirty="0"/>
              <a:t>&gt;next=</a:t>
            </a:r>
            <a:r>
              <a:rPr lang="en-US" dirty="0" err="1"/>
              <a:t>newnode</a:t>
            </a:r>
            <a:r>
              <a:rPr lang="en-US" dirty="0"/>
              <a:t>; </a:t>
            </a:r>
            <a:endParaRPr lang="en-US" dirty="0" smtClean="0"/>
          </a:p>
          <a:p>
            <a:pPr marL="0" indent="0">
              <a:buNone/>
            </a:pPr>
            <a:r>
              <a:rPr lang="en-US" dirty="0"/>
              <a:t>	</a:t>
            </a:r>
            <a:r>
              <a:rPr lang="en-US" dirty="0" smtClean="0"/>
              <a:t>last=</a:t>
            </a:r>
            <a:r>
              <a:rPr lang="en-US" dirty="0" err="1" smtClean="0"/>
              <a:t>newnode</a:t>
            </a:r>
            <a:r>
              <a:rPr lang="en-US" dirty="0"/>
              <a:t>;</a:t>
            </a:r>
          </a:p>
          <a:p>
            <a:pPr marL="0" indent="0">
              <a:buNone/>
            </a:pPr>
            <a:r>
              <a:rPr lang="en-US" dirty="0" smtClean="0"/>
              <a:t>	last-</a:t>
            </a:r>
            <a:r>
              <a:rPr lang="en-US" dirty="0"/>
              <a:t>&gt;next=start</a:t>
            </a:r>
            <a:r>
              <a:rPr lang="en-US" dirty="0" smtClean="0"/>
              <a:t>;</a:t>
            </a:r>
            <a:r>
              <a:rPr lang="en-US" dirty="0"/>
              <a:t> </a:t>
            </a:r>
          </a:p>
          <a:p>
            <a:pPr marL="0" indent="0">
              <a:buNone/>
            </a:pPr>
            <a:r>
              <a:rPr lang="en-US" dirty="0" smtClean="0"/>
              <a:t>	} </a:t>
            </a:r>
          </a:p>
          <a:p>
            <a:pPr marL="0" indent="0">
              <a:buNone/>
            </a:pPr>
            <a:r>
              <a:rPr lang="en-US" dirty="0" smtClean="0"/>
              <a:t>}</a:t>
            </a:r>
            <a:endParaRPr lang="en-US" dirty="0"/>
          </a:p>
          <a:p>
            <a:endParaRPr lang="en-US" dirty="0"/>
          </a:p>
        </p:txBody>
      </p:sp>
    </p:spTree>
    <p:extLst>
      <p:ext uri="{BB962C8B-B14F-4D97-AF65-F5344CB8AC3E}">
        <p14:creationId xmlns:p14="http://schemas.microsoft.com/office/powerpoint/2010/main" val="415282106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noAutofit/>
          </a:bodyPr>
          <a:lstStyle/>
          <a:p>
            <a:r>
              <a:rPr lang="en-US" sz="3200" dirty="0">
                <a:solidFill>
                  <a:srgbClr val="FF0000"/>
                </a:solidFill>
              </a:rPr>
              <a:t>Algorithms to delete a node from a circular linked list</a:t>
            </a:r>
            <a:endParaRPr lang="en-US" sz="3200" dirty="0"/>
          </a:p>
        </p:txBody>
      </p:sp>
      <p:sp>
        <p:nvSpPr>
          <p:cNvPr id="3" name="Content Placeholder 2"/>
          <p:cNvSpPr>
            <a:spLocks noGrp="1"/>
          </p:cNvSpPr>
          <p:nvPr>
            <p:ph idx="1"/>
          </p:nvPr>
        </p:nvSpPr>
        <p:spPr>
          <a:xfrm>
            <a:off x="1981200" y="1219200"/>
            <a:ext cx="8229600" cy="5029200"/>
          </a:xfrm>
        </p:spPr>
        <p:txBody>
          <a:bodyPr>
            <a:normAutofit fontScale="92500" lnSpcReduction="20000"/>
          </a:bodyPr>
          <a:lstStyle/>
          <a:p>
            <a:pPr marL="0" indent="0">
              <a:buNone/>
            </a:pPr>
            <a:r>
              <a:rPr lang="en-US" i="1" dirty="0" smtClean="0"/>
              <a:t>Algorithm </a:t>
            </a:r>
            <a:r>
              <a:rPr lang="en-US" i="1" dirty="0"/>
              <a:t>to delete a node from the beginning of a circular linked </a:t>
            </a:r>
            <a:r>
              <a:rPr lang="en-US" i="1" dirty="0" smtClean="0"/>
              <a:t>list</a:t>
            </a:r>
            <a:endParaRPr lang="en-US" dirty="0" smtClean="0"/>
          </a:p>
          <a:p>
            <a:pPr marL="0" indent="0">
              <a:buNone/>
            </a:pPr>
            <a:r>
              <a:rPr lang="en-US" dirty="0" smtClean="0"/>
              <a:t>1</a:t>
            </a:r>
            <a:r>
              <a:rPr lang="en-US" dirty="0"/>
              <a:t>. if start==NULL then</a:t>
            </a:r>
          </a:p>
          <a:p>
            <a:pPr marL="0" indent="0">
              <a:buNone/>
            </a:pPr>
            <a:r>
              <a:rPr lang="en-US" dirty="0" smtClean="0"/>
              <a:t>	“</a:t>
            </a:r>
            <a:r>
              <a:rPr lang="en-US" dirty="0"/>
              <a:t>empty list” and exit </a:t>
            </a:r>
            <a:endParaRPr lang="en-US" dirty="0" smtClean="0"/>
          </a:p>
          <a:p>
            <a:pPr marL="0" indent="0">
              <a:buNone/>
            </a:pPr>
            <a:r>
              <a:rPr lang="en-US" dirty="0" smtClean="0"/>
              <a:t>2</a:t>
            </a:r>
            <a:r>
              <a:rPr lang="en-US" dirty="0"/>
              <a:t>. else</a:t>
            </a:r>
          </a:p>
          <a:p>
            <a:pPr marL="0" indent="0">
              <a:buNone/>
            </a:pPr>
            <a:r>
              <a:rPr lang="en-US" dirty="0" smtClean="0"/>
              <a:t>	set </a:t>
            </a:r>
            <a:r>
              <a:rPr lang="en-US" dirty="0"/>
              <a:t>temp=start</a:t>
            </a:r>
          </a:p>
          <a:p>
            <a:pPr marL="0" indent="0">
              <a:buNone/>
            </a:pPr>
            <a:r>
              <a:rPr lang="en-US" dirty="0" smtClean="0"/>
              <a:t>	set </a:t>
            </a:r>
            <a:r>
              <a:rPr lang="en-US" dirty="0"/>
              <a:t>start=start-&gt;next</a:t>
            </a:r>
          </a:p>
          <a:p>
            <a:pPr marL="0" indent="0">
              <a:buNone/>
            </a:pPr>
            <a:r>
              <a:rPr lang="en-US" dirty="0" smtClean="0"/>
              <a:t>	print “the </a:t>
            </a:r>
            <a:r>
              <a:rPr lang="en-US" dirty="0"/>
              <a:t>deleted element=temp-&gt;</a:t>
            </a:r>
            <a:r>
              <a:rPr lang="en-US" dirty="0" smtClean="0"/>
              <a:t>info” </a:t>
            </a:r>
          </a:p>
          <a:p>
            <a:pPr marL="0" indent="0">
              <a:buNone/>
            </a:pPr>
            <a:r>
              <a:rPr lang="en-US" dirty="0"/>
              <a:t>	</a:t>
            </a:r>
            <a:r>
              <a:rPr lang="en-US" dirty="0" smtClean="0"/>
              <a:t>set </a:t>
            </a:r>
            <a:r>
              <a:rPr lang="en-US" dirty="0"/>
              <a:t>last-&gt;next=start;</a:t>
            </a:r>
          </a:p>
          <a:p>
            <a:pPr marL="0" indent="0">
              <a:buNone/>
            </a:pPr>
            <a:r>
              <a:rPr lang="en-US" dirty="0" smtClean="0"/>
              <a:t>	free(temp</a:t>
            </a:r>
            <a:r>
              <a:rPr lang="en-US" dirty="0"/>
              <a:t>) end else</a:t>
            </a:r>
          </a:p>
          <a:p>
            <a:pPr marL="0" indent="0">
              <a:buNone/>
            </a:pPr>
            <a:r>
              <a:rPr lang="en-US" dirty="0"/>
              <a:t>3. End</a:t>
            </a:r>
          </a:p>
          <a:p>
            <a:endParaRPr lang="en-US" dirty="0"/>
          </a:p>
        </p:txBody>
      </p:sp>
    </p:spTree>
    <p:extLst>
      <p:ext uri="{BB962C8B-B14F-4D97-AF65-F5344CB8AC3E}">
        <p14:creationId xmlns:p14="http://schemas.microsoft.com/office/powerpoint/2010/main" val="412571396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15962"/>
          </a:xfrm>
        </p:spPr>
        <p:txBody>
          <a:bodyPr>
            <a:noAutofit/>
          </a:bodyPr>
          <a:lstStyle/>
          <a:p>
            <a:r>
              <a:rPr lang="en-US" sz="3200" b="1" i="1" dirty="0">
                <a:solidFill>
                  <a:srgbClr val="FF0000"/>
                </a:solidFill>
              </a:rPr>
              <a:t>Algorithm</a:t>
            </a:r>
            <a:r>
              <a:rPr lang="en-US" sz="3200" dirty="0">
                <a:solidFill>
                  <a:srgbClr val="FF0000"/>
                </a:solidFill>
              </a:rPr>
              <a:t> </a:t>
            </a:r>
            <a:r>
              <a:rPr lang="en-US" sz="3200" b="1" i="1" dirty="0">
                <a:solidFill>
                  <a:srgbClr val="FF0000"/>
                </a:solidFill>
              </a:rPr>
              <a:t>to</a:t>
            </a:r>
            <a:r>
              <a:rPr lang="en-US" sz="3200" dirty="0">
                <a:solidFill>
                  <a:srgbClr val="FF0000"/>
                </a:solidFill>
              </a:rPr>
              <a:t> </a:t>
            </a:r>
            <a:r>
              <a:rPr lang="en-US" sz="3200" b="1" i="1" dirty="0">
                <a:solidFill>
                  <a:srgbClr val="FF0000"/>
                </a:solidFill>
              </a:rPr>
              <a:t>delete</a:t>
            </a:r>
            <a:r>
              <a:rPr lang="en-US" sz="3200" dirty="0">
                <a:solidFill>
                  <a:srgbClr val="FF0000"/>
                </a:solidFill>
              </a:rPr>
              <a:t> </a:t>
            </a:r>
            <a:r>
              <a:rPr lang="en-US" sz="3200" b="1" i="1" dirty="0">
                <a:solidFill>
                  <a:srgbClr val="FF0000"/>
                </a:solidFill>
              </a:rPr>
              <a:t>a</a:t>
            </a:r>
            <a:r>
              <a:rPr lang="en-US" sz="3200" dirty="0">
                <a:solidFill>
                  <a:srgbClr val="FF0000"/>
                </a:solidFill>
              </a:rPr>
              <a:t> </a:t>
            </a:r>
            <a:r>
              <a:rPr lang="en-US" sz="3200" b="1" i="1" dirty="0">
                <a:solidFill>
                  <a:srgbClr val="FF0000"/>
                </a:solidFill>
              </a:rPr>
              <a:t>node</a:t>
            </a:r>
            <a:r>
              <a:rPr lang="en-US" sz="3200" dirty="0">
                <a:solidFill>
                  <a:srgbClr val="FF0000"/>
                </a:solidFill>
              </a:rPr>
              <a:t> </a:t>
            </a:r>
            <a:r>
              <a:rPr lang="en-US" sz="3200" b="1" i="1" dirty="0">
                <a:solidFill>
                  <a:srgbClr val="FF0000"/>
                </a:solidFill>
              </a:rPr>
              <a:t>from</a:t>
            </a:r>
            <a:r>
              <a:rPr lang="en-US" sz="3200" dirty="0">
                <a:solidFill>
                  <a:srgbClr val="FF0000"/>
                </a:solidFill>
              </a:rPr>
              <a:t> </a:t>
            </a:r>
            <a:r>
              <a:rPr lang="en-US" sz="3200" b="1" i="1" dirty="0">
                <a:solidFill>
                  <a:srgbClr val="FF0000"/>
                </a:solidFill>
              </a:rPr>
              <a:t>the</a:t>
            </a:r>
            <a:r>
              <a:rPr lang="en-US" sz="3200" dirty="0">
                <a:solidFill>
                  <a:srgbClr val="FF0000"/>
                </a:solidFill>
              </a:rPr>
              <a:t> </a:t>
            </a:r>
            <a:r>
              <a:rPr lang="en-US" sz="3200" b="1" i="1" dirty="0">
                <a:solidFill>
                  <a:srgbClr val="FF0000"/>
                </a:solidFill>
              </a:rPr>
              <a:t>end</a:t>
            </a:r>
            <a:r>
              <a:rPr lang="en-US" sz="3200" dirty="0">
                <a:solidFill>
                  <a:srgbClr val="FF0000"/>
                </a:solidFill>
              </a:rPr>
              <a:t> </a:t>
            </a:r>
            <a:r>
              <a:rPr lang="en-US" sz="3200" b="1" i="1" dirty="0">
                <a:solidFill>
                  <a:srgbClr val="FF0000"/>
                </a:solidFill>
              </a:rPr>
              <a:t>of</a:t>
            </a:r>
            <a:r>
              <a:rPr lang="en-US" sz="3200" dirty="0">
                <a:solidFill>
                  <a:srgbClr val="FF0000"/>
                </a:solidFill>
              </a:rPr>
              <a:t> </a:t>
            </a:r>
            <a:r>
              <a:rPr lang="en-US" sz="3200" b="1" i="1" dirty="0">
                <a:solidFill>
                  <a:srgbClr val="FF0000"/>
                </a:solidFill>
              </a:rPr>
              <a:t>a</a:t>
            </a:r>
            <a:r>
              <a:rPr lang="en-US" sz="3200" dirty="0">
                <a:solidFill>
                  <a:srgbClr val="FF0000"/>
                </a:solidFill>
              </a:rPr>
              <a:t> </a:t>
            </a:r>
            <a:r>
              <a:rPr lang="en-US" sz="3200" b="1" i="1" dirty="0">
                <a:solidFill>
                  <a:srgbClr val="FF0000"/>
                </a:solidFill>
              </a:rPr>
              <a:t>circular</a:t>
            </a:r>
            <a:r>
              <a:rPr lang="en-US" sz="3200" dirty="0">
                <a:solidFill>
                  <a:srgbClr val="FF0000"/>
                </a:solidFill>
              </a:rPr>
              <a:t> </a:t>
            </a:r>
            <a:r>
              <a:rPr lang="en-US" sz="3200" b="1" i="1" dirty="0">
                <a:solidFill>
                  <a:srgbClr val="FF0000"/>
                </a:solidFill>
              </a:rPr>
              <a:t>linked</a:t>
            </a:r>
            <a:r>
              <a:rPr lang="en-US" sz="3200" dirty="0">
                <a:solidFill>
                  <a:srgbClr val="FF0000"/>
                </a:solidFill>
              </a:rPr>
              <a:t> </a:t>
            </a:r>
            <a:r>
              <a:rPr lang="en-US" sz="3200" b="1" i="1" dirty="0">
                <a:solidFill>
                  <a:srgbClr val="FF0000"/>
                </a:solidFill>
              </a:rPr>
              <a:t>list</a:t>
            </a:r>
            <a:endParaRPr lang="en-US" sz="3200" dirty="0">
              <a:solidFill>
                <a:srgbClr val="FF0000"/>
              </a:solidFill>
            </a:endParaRPr>
          </a:p>
        </p:txBody>
      </p:sp>
      <p:sp>
        <p:nvSpPr>
          <p:cNvPr id="3" name="Content Placeholder 2"/>
          <p:cNvSpPr>
            <a:spLocks noGrp="1"/>
          </p:cNvSpPr>
          <p:nvPr>
            <p:ph idx="1"/>
          </p:nvPr>
        </p:nvSpPr>
        <p:spPr>
          <a:xfrm>
            <a:off x="2438400" y="1219200"/>
            <a:ext cx="7543800" cy="5181600"/>
          </a:xfrm>
        </p:spPr>
        <p:txBody>
          <a:bodyPr>
            <a:normAutofit fontScale="55000" lnSpcReduction="20000"/>
          </a:bodyPr>
          <a:lstStyle/>
          <a:p>
            <a:pPr marL="0" indent="0">
              <a:buNone/>
            </a:pPr>
            <a:r>
              <a:rPr lang="en-US" dirty="0" smtClean="0"/>
              <a:t>1</a:t>
            </a:r>
            <a:r>
              <a:rPr lang="en-US" dirty="0"/>
              <a:t>. if start==NULL then</a:t>
            </a:r>
          </a:p>
          <a:p>
            <a:pPr marL="0" indent="0">
              <a:buNone/>
            </a:pPr>
            <a:r>
              <a:rPr lang="en-US" dirty="0" smtClean="0"/>
              <a:t>	“</a:t>
            </a:r>
            <a:r>
              <a:rPr lang="en-US" dirty="0"/>
              <a:t>empty list” and exit </a:t>
            </a:r>
            <a:endParaRPr lang="en-US" dirty="0" smtClean="0"/>
          </a:p>
          <a:p>
            <a:pPr marL="0" indent="0">
              <a:buNone/>
            </a:pPr>
            <a:r>
              <a:rPr lang="en-US" dirty="0" smtClean="0"/>
              <a:t>2</a:t>
            </a:r>
            <a:r>
              <a:rPr lang="en-US" dirty="0"/>
              <a:t>. else </a:t>
            </a:r>
            <a:endParaRPr lang="en-US" dirty="0" smtClean="0"/>
          </a:p>
          <a:p>
            <a:pPr marL="0" indent="0">
              <a:buNone/>
            </a:pPr>
            <a:r>
              <a:rPr lang="en-US" dirty="0"/>
              <a:t>	</a:t>
            </a:r>
            <a:r>
              <a:rPr lang="en-US" dirty="0" smtClean="0"/>
              <a:t>if </a:t>
            </a:r>
            <a:r>
              <a:rPr lang="en-US" dirty="0"/>
              <a:t>start==last</a:t>
            </a:r>
          </a:p>
          <a:p>
            <a:pPr marL="0" indent="0">
              <a:buNone/>
            </a:pPr>
            <a:r>
              <a:rPr lang="en-US" dirty="0" smtClean="0"/>
              <a:t>	set </a:t>
            </a:r>
            <a:r>
              <a:rPr lang="en-US" dirty="0"/>
              <a:t>temp=start</a:t>
            </a:r>
          </a:p>
          <a:p>
            <a:pPr marL="0" indent="0">
              <a:buNone/>
            </a:pPr>
            <a:r>
              <a:rPr lang="en-US" dirty="0" smtClean="0"/>
              <a:t>	print </a:t>
            </a:r>
            <a:r>
              <a:rPr lang="en-US" dirty="0"/>
              <a:t>deleted element=temp-&gt;info </a:t>
            </a:r>
            <a:endParaRPr lang="en-US" dirty="0" smtClean="0"/>
          </a:p>
          <a:p>
            <a:pPr marL="0" indent="0">
              <a:buNone/>
            </a:pPr>
            <a:r>
              <a:rPr lang="en-US" dirty="0"/>
              <a:t>	</a:t>
            </a:r>
            <a:r>
              <a:rPr lang="en-US" dirty="0" smtClean="0"/>
              <a:t>free(temp</a:t>
            </a:r>
            <a:r>
              <a:rPr lang="en-US" dirty="0"/>
              <a:t>)</a:t>
            </a:r>
          </a:p>
          <a:p>
            <a:pPr marL="0" indent="0">
              <a:buNone/>
            </a:pPr>
            <a:r>
              <a:rPr lang="en-US" dirty="0" smtClean="0"/>
              <a:t>	start=last=NULL </a:t>
            </a:r>
          </a:p>
          <a:p>
            <a:pPr marL="0" indent="0">
              <a:buNone/>
            </a:pPr>
            <a:r>
              <a:rPr lang="en-US" dirty="0" smtClean="0"/>
              <a:t>3</a:t>
            </a:r>
            <a:r>
              <a:rPr lang="en-US" dirty="0"/>
              <a:t>. else</a:t>
            </a:r>
          </a:p>
          <a:p>
            <a:pPr marL="0" indent="0">
              <a:buNone/>
            </a:pPr>
            <a:r>
              <a:rPr lang="en-US" dirty="0" smtClean="0"/>
              <a:t>	set </a:t>
            </a:r>
            <a:r>
              <a:rPr lang="en-US" dirty="0"/>
              <a:t>temp=start</a:t>
            </a:r>
          </a:p>
          <a:p>
            <a:pPr marL="0" indent="0">
              <a:buNone/>
            </a:pPr>
            <a:r>
              <a:rPr lang="en-US" dirty="0" smtClean="0"/>
              <a:t>	while</a:t>
            </a:r>
            <a:r>
              <a:rPr lang="en-US" dirty="0"/>
              <a:t>( temp-&gt;next!=last)</a:t>
            </a:r>
          </a:p>
          <a:p>
            <a:pPr marL="0" indent="0">
              <a:buNone/>
            </a:pPr>
            <a:r>
              <a:rPr lang="en-US" dirty="0" smtClean="0"/>
              <a:t>	set </a:t>
            </a:r>
            <a:r>
              <a:rPr lang="en-US" dirty="0"/>
              <a:t>temp=temp-&gt;next end </a:t>
            </a:r>
            <a:r>
              <a:rPr lang="en-US" dirty="0" smtClean="0"/>
              <a:t>while</a:t>
            </a:r>
          </a:p>
          <a:p>
            <a:pPr marL="0" indent="0">
              <a:buNone/>
            </a:pPr>
            <a:r>
              <a:rPr lang="en-US" dirty="0"/>
              <a:t>	</a:t>
            </a:r>
            <a:r>
              <a:rPr lang="en-US" dirty="0" smtClean="0"/>
              <a:t>set </a:t>
            </a:r>
            <a:r>
              <a:rPr lang="en-US" dirty="0"/>
              <a:t>hold=temp-&gt;next </a:t>
            </a:r>
            <a:endParaRPr lang="en-US" dirty="0" smtClean="0"/>
          </a:p>
          <a:p>
            <a:pPr marL="0" indent="0">
              <a:buNone/>
            </a:pPr>
            <a:r>
              <a:rPr lang="en-US" dirty="0"/>
              <a:t>	</a:t>
            </a:r>
            <a:r>
              <a:rPr lang="en-US" dirty="0" smtClean="0"/>
              <a:t>set </a:t>
            </a:r>
            <a:r>
              <a:rPr lang="en-US" dirty="0"/>
              <a:t>last=temp</a:t>
            </a:r>
          </a:p>
          <a:p>
            <a:pPr marL="0" indent="0">
              <a:buNone/>
            </a:pPr>
            <a:r>
              <a:rPr lang="en-US" dirty="0" smtClean="0"/>
              <a:t>	set </a:t>
            </a:r>
            <a:r>
              <a:rPr lang="en-US" dirty="0"/>
              <a:t>last-&gt;next=start</a:t>
            </a:r>
          </a:p>
          <a:p>
            <a:pPr marL="0" indent="0">
              <a:buNone/>
            </a:pPr>
            <a:r>
              <a:rPr lang="en-US" dirty="0" smtClean="0"/>
              <a:t>	print </a:t>
            </a:r>
            <a:r>
              <a:rPr lang="en-US" dirty="0"/>
              <a:t>the deleted element=hold-&gt;info </a:t>
            </a:r>
            <a:endParaRPr lang="en-US" dirty="0" smtClean="0"/>
          </a:p>
          <a:p>
            <a:pPr marL="0" indent="0">
              <a:buNone/>
            </a:pPr>
            <a:r>
              <a:rPr lang="en-US" dirty="0"/>
              <a:t>	</a:t>
            </a:r>
            <a:r>
              <a:rPr lang="en-US" dirty="0" smtClean="0"/>
              <a:t>free(hold)  end else </a:t>
            </a:r>
          </a:p>
          <a:p>
            <a:pPr marL="0" indent="0">
              <a:buNone/>
            </a:pPr>
            <a:r>
              <a:rPr lang="en-US" dirty="0" smtClean="0"/>
              <a:t>4</a:t>
            </a:r>
            <a:r>
              <a:rPr lang="en-US" dirty="0"/>
              <a:t>. End</a:t>
            </a:r>
          </a:p>
          <a:p>
            <a:endParaRPr lang="en-US" dirty="0"/>
          </a:p>
        </p:txBody>
      </p:sp>
    </p:spTree>
    <p:extLst>
      <p:ext uri="{BB962C8B-B14F-4D97-AF65-F5344CB8AC3E}">
        <p14:creationId xmlns:p14="http://schemas.microsoft.com/office/powerpoint/2010/main" val="401714248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2400"/>
            <a:ext cx="8229600" cy="1143000"/>
          </a:xfrm>
        </p:spPr>
        <p:txBody>
          <a:bodyPr>
            <a:noAutofit/>
          </a:bodyPr>
          <a:lstStyle/>
          <a:p>
            <a:r>
              <a:rPr lang="en-US" sz="3200" b="1" i="1" dirty="0">
                <a:solidFill>
                  <a:srgbClr val="FF0000"/>
                </a:solidFill>
              </a:rPr>
              <a:t>C function to delete a node from the beginning of a circular linked list</a:t>
            </a:r>
            <a:endParaRPr lang="en-US" sz="3200" dirty="0">
              <a:solidFill>
                <a:srgbClr val="FF0000"/>
              </a:solidFill>
            </a:endParaRPr>
          </a:p>
        </p:txBody>
      </p:sp>
      <p:sp>
        <p:nvSpPr>
          <p:cNvPr id="3" name="Content Placeholder 2"/>
          <p:cNvSpPr>
            <a:spLocks noGrp="1"/>
          </p:cNvSpPr>
          <p:nvPr>
            <p:ph idx="1"/>
          </p:nvPr>
        </p:nvSpPr>
        <p:spPr>
          <a:xfrm>
            <a:off x="2286000" y="1295401"/>
            <a:ext cx="7924800" cy="4830763"/>
          </a:xfrm>
        </p:spPr>
        <p:txBody>
          <a:bodyPr>
            <a:normAutofit fontScale="62500" lnSpcReduction="20000"/>
          </a:bodyPr>
          <a:lstStyle/>
          <a:p>
            <a:pPr marL="0" indent="0">
              <a:buNone/>
            </a:pPr>
            <a:r>
              <a:rPr lang="en-US" dirty="0" smtClean="0"/>
              <a:t>void </a:t>
            </a:r>
            <a:r>
              <a:rPr lang="en-US" dirty="0" err="1"/>
              <a:t>DeleteFirst</a:t>
            </a:r>
            <a:r>
              <a:rPr lang="en-US" dirty="0"/>
              <a:t>()</a:t>
            </a:r>
          </a:p>
          <a:p>
            <a:pPr marL="0" indent="0">
              <a:buNone/>
            </a:pPr>
            <a:r>
              <a:rPr lang="en-US" dirty="0"/>
              <a:t>{</a:t>
            </a:r>
          </a:p>
          <a:p>
            <a:pPr marL="0" indent="0">
              <a:buNone/>
            </a:pPr>
            <a:r>
              <a:rPr lang="en-US" dirty="0" smtClean="0"/>
              <a:t>	if(start</a:t>
            </a:r>
            <a:r>
              <a:rPr lang="en-US" dirty="0"/>
              <a:t>==NULL) </a:t>
            </a:r>
            <a:endParaRPr lang="en-US" dirty="0" smtClean="0"/>
          </a:p>
          <a:p>
            <a:pPr marL="0" indent="0">
              <a:buNone/>
            </a:pPr>
            <a:r>
              <a:rPr lang="en-US" dirty="0"/>
              <a:t>	</a:t>
            </a:r>
            <a:r>
              <a:rPr lang="en-US" dirty="0" smtClean="0"/>
              <a:t>{</a:t>
            </a:r>
            <a:endParaRPr lang="en-US" dirty="0"/>
          </a:p>
          <a:p>
            <a:pPr marL="0" indent="0">
              <a:buNone/>
            </a:pPr>
            <a:r>
              <a:rPr lang="en-US" dirty="0" smtClean="0"/>
              <a:t>	  </a:t>
            </a:r>
            <a:r>
              <a:rPr lang="en-US" dirty="0" err="1" smtClean="0"/>
              <a:t>printf</a:t>
            </a:r>
            <a:r>
              <a:rPr lang="en-US" dirty="0"/>
              <a:t>(“Empty list”); </a:t>
            </a:r>
            <a:endParaRPr lang="en-US" dirty="0" smtClean="0"/>
          </a:p>
          <a:p>
            <a:pPr marL="0" indent="0">
              <a:buNone/>
            </a:pPr>
            <a:r>
              <a:rPr lang="en-US" dirty="0"/>
              <a:t>	</a:t>
            </a:r>
            <a:r>
              <a:rPr lang="en-US" dirty="0" smtClean="0"/>
              <a:t>  exit(1</a:t>
            </a:r>
            <a:r>
              <a:rPr lang="en-US" dirty="0"/>
              <a:t>);</a:t>
            </a:r>
          </a:p>
          <a:p>
            <a:pPr marL="0" indent="0">
              <a:buNone/>
            </a:pPr>
            <a:r>
              <a:rPr lang="en-US" dirty="0" smtClean="0"/>
              <a:t>	} </a:t>
            </a:r>
          </a:p>
          <a:p>
            <a:pPr marL="0" indent="0">
              <a:buNone/>
            </a:pPr>
            <a:r>
              <a:rPr lang="en-US" dirty="0"/>
              <a:t>	</a:t>
            </a:r>
            <a:r>
              <a:rPr lang="en-US" dirty="0" smtClean="0"/>
              <a:t>else </a:t>
            </a:r>
          </a:p>
          <a:p>
            <a:pPr marL="0" indent="0">
              <a:buNone/>
            </a:pPr>
            <a:r>
              <a:rPr lang="en-US" dirty="0"/>
              <a:t>	</a:t>
            </a:r>
            <a:r>
              <a:rPr lang="en-US" dirty="0" smtClean="0"/>
              <a:t>{</a:t>
            </a:r>
            <a:endParaRPr lang="en-US" dirty="0"/>
          </a:p>
          <a:p>
            <a:pPr marL="0" indent="0">
              <a:buNone/>
            </a:pPr>
            <a:r>
              <a:rPr lang="en-US" dirty="0" smtClean="0"/>
              <a:t>	 temp=start</a:t>
            </a:r>
            <a:r>
              <a:rPr lang="en-US" dirty="0"/>
              <a:t>; </a:t>
            </a:r>
            <a:endParaRPr lang="en-US" dirty="0" smtClean="0"/>
          </a:p>
          <a:p>
            <a:pPr marL="0" indent="0">
              <a:buNone/>
            </a:pPr>
            <a:r>
              <a:rPr lang="en-US" dirty="0"/>
              <a:t>	</a:t>
            </a:r>
            <a:r>
              <a:rPr lang="en-US" dirty="0" smtClean="0"/>
              <a:t> start=start-</a:t>
            </a:r>
            <a:r>
              <a:rPr lang="en-US" dirty="0"/>
              <a:t>&gt;next;</a:t>
            </a:r>
          </a:p>
          <a:p>
            <a:pPr marL="0" indent="0">
              <a:buNone/>
            </a:pPr>
            <a:r>
              <a:rPr lang="en-US" dirty="0" smtClean="0"/>
              <a:t>	</a:t>
            </a:r>
            <a:r>
              <a:rPr lang="en-US" dirty="0" err="1" smtClean="0"/>
              <a:t>printf</a:t>
            </a:r>
            <a:r>
              <a:rPr lang="en-US" dirty="0"/>
              <a:t>(“ the deleted element=%d”, temp-&gt;info); </a:t>
            </a:r>
            <a:endParaRPr lang="en-US" dirty="0" smtClean="0"/>
          </a:p>
          <a:p>
            <a:pPr marL="0" indent="0">
              <a:buNone/>
            </a:pPr>
            <a:r>
              <a:rPr lang="en-US" dirty="0"/>
              <a:t>	</a:t>
            </a:r>
            <a:r>
              <a:rPr lang="en-US" dirty="0" smtClean="0"/>
              <a:t>last-</a:t>
            </a:r>
            <a:r>
              <a:rPr lang="en-US" dirty="0"/>
              <a:t>&gt;next=start;</a:t>
            </a:r>
          </a:p>
          <a:p>
            <a:pPr marL="0" indent="0">
              <a:buNone/>
            </a:pPr>
            <a:r>
              <a:rPr lang="en-US" dirty="0"/>
              <a:t>free(temp</a:t>
            </a:r>
            <a:r>
              <a:rPr lang="en-US" dirty="0" smtClean="0"/>
              <a:t>)</a:t>
            </a:r>
            <a:endParaRPr lang="en-US" dirty="0"/>
          </a:p>
          <a:p>
            <a:pPr marL="0" indent="0">
              <a:buNone/>
            </a:pPr>
            <a:r>
              <a:rPr lang="en-US" dirty="0"/>
              <a:t>} }</a:t>
            </a:r>
          </a:p>
          <a:p>
            <a:pPr marL="0" indent="0">
              <a:buNone/>
            </a:pPr>
            <a:endParaRPr lang="en-US" dirty="0"/>
          </a:p>
        </p:txBody>
      </p:sp>
    </p:spTree>
    <p:extLst>
      <p:ext uri="{BB962C8B-B14F-4D97-AF65-F5344CB8AC3E}">
        <p14:creationId xmlns:p14="http://schemas.microsoft.com/office/powerpoint/2010/main" val="4283337492"/>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52400"/>
            <a:ext cx="9296400" cy="639762"/>
          </a:xfrm>
        </p:spPr>
        <p:txBody>
          <a:bodyPr>
            <a:noAutofit/>
          </a:bodyPr>
          <a:lstStyle/>
          <a:p>
            <a:r>
              <a:rPr lang="en-US" sz="2800" b="1" i="1" dirty="0">
                <a:solidFill>
                  <a:srgbClr val="FF0000"/>
                </a:solidFill>
              </a:rPr>
              <a:t>C</a:t>
            </a:r>
            <a:r>
              <a:rPr lang="en-US" sz="2800" dirty="0">
                <a:solidFill>
                  <a:srgbClr val="FF0000"/>
                </a:solidFill>
              </a:rPr>
              <a:t> </a:t>
            </a:r>
            <a:r>
              <a:rPr lang="en-US" sz="2800" b="1" i="1" dirty="0">
                <a:solidFill>
                  <a:srgbClr val="FF0000"/>
                </a:solidFill>
              </a:rPr>
              <a:t>function</a:t>
            </a:r>
            <a:r>
              <a:rPr lang="en-US" sz="2800" dirty="0">
                <a:solidFill>
                  <a:srgbClr val="FF0000"/>
                </a:solidFill>
              </a:rPr>
              <a:t> </a:t>
            </a:r>
            <a:r>
              <a:rPr lang="en-US" sz="2800" b="1" i="1" dirty="0">
                <a:solidFill>
                  <a:srgbClr val="FF0000"/>
                </a:solidFill>
              </a:rPr>
              <a:t>to</a:t>
            </a:r>
            <a:r>
              <a:rPr lang="en-US" sz="2800" dirty="0">
                <a:solidFill>
                  <a:srgbClr val="FF0000"/>
                </a:solidFill>
              </a:rPr>
              <a:t> </a:t>
            </a:r>
            <a:r>
              <a:rPr lang="en-US" sz="2800" b="1" i="1" dirty="0">
                <a:solidFill>
                  <a:srgbClr val="FF0000"/>
                </a:solidFill>
              </a:rPr>
              <a:t>delete</a:t>
            </a:r>
            <a:r>
              <a:rPr lang="en-US" sz="2800" dirty="0">
                <a:solidFill>
                  <a:srgbClr val="FF0000"/>
                </a:solidFill>
              </a:rPr>
              <a:t> </a:t>
            </a:r>
            <a:r>
              <a:rPr lang="en-US" sz="2800" b="1" i="1" dirty="0">
                <a:solidFill>
                  <a:srgbClr val="FF0000"/>
                </a:solidFill>
              </a:rPr>
              <a:t>a</a:t>
            </a:r>
            <a:r>
              <a:rPr lang="en-US" sz="2800" dirty="0">
                <a:solidFill>
                  <a:srgbClr val="FF0000"/>
                </a:solidFill>
              </a:rPr>
              <a:t> </a:t>
            </a:r>
            <a:r>
              <a:rPr lang="en-US" sz="2800" b="1" i="1" dirty="0">
                <a:solidFill>
                  <a:srgbClr val="FF0000"/>
                </a:solidFill>
              </a:rPr>
              <a:t>node</a:t>
            </a:r>
            <a:r>
              <a:rPr lang="en-US" sz="2800" dirty="0">
                <a:solidFill>
                  <a:srgbClr val="FF0000"/>
                </a:solidFill>
              </a:rPr>
              <a:t> </a:t>
            </a:r>
            <a:r>
              <a:rPr lang="en-US" sz="2800" b="1" i="1" dirty="0">
                <a:solidFill>
                  <a:srgbClr val="FF0000"/>
                </a:solidFill>
              </a:rPr>
              <a:t>from</a:t>
            </a:r>
            <a:r>
              <a:rPr lang="en-US" sz="2800" dirty="0">
                <a:solidFill>
                  <a:srgbClr val="FF0000"/>
                </a:solidFill>
              </a:rPr>
              <a:t> </a:t>
            </a:r>
            <a:r>
              <a:rPr lang="en-US" sz="2800" b="1" i="1" dirty="0">
                <a:solidFill>
                  <a:srgbClr val="FF0000"/>
                </a:solidFill>
              </a:rPr>
              <a:t>the</a:t>
            </a:r>
            <a:r>
              <a:rPr lang="en-US" sz="2800" dirty="0">
                <a:solidFill>
                  <a:srgbClr val="FF0000"/>
                </a:solidFill>
              </a:rPr>
              <a:t> </a:t>
            </a:r>
            <a:r>
              <a:rPr lang="en-US" sz="2800" b="1" i="1" dirty="0">
                <a:solidFill>
                  <a:srgbClr val="FF0000"/>
                </a:solidFill>
              </a:rPr>
              <a:t>end</a:t>
            </a:r>
            <a:r>
              <a:rPr lang="en-US" sz="2800" dirty="0">
                <a:solidFill>
                  <a:srgbClr val="FF0000"/>
                </a:solidFill>
              </a:rPr>
              <a:t> </a:t>
            </a:r>
            <a:r>
              <a:rPr lang="en-US" sz="2800" b="1" i="1" dirty="0">
                <a:solidFill>
                  <a:srgbClr val="FF0000"/>
                </a:solidFill>
              </a:rPr>
              <a:t>of</a:t>
            </a:r>
            <a:r>
              <a:rPr lang="en-US" sz="2800" dirty="0">
                <a:solidFill>
                  <a:srgbClr val="FF0000"/>
                </a:solidFill>
              </a:rPr>
              <a:t> </a:t>
            </a:r>
            <a:r>
              <a:rPr lang="en-US" sz="2800" b="1" i="1" dirty="0">
                <a:solidFill>
                  <a:srgbClr val="FF0000"/>
                </a:solidFill>
              </a:rPr>
              <a:t>a</a:t>
            </a:r>
            <a:r>
              <a:rPr lang="en-US" sz="2800" dirty="0">
                <a:solidFill>
                  <a:srgbClr val="FF0000"/>
                </a:solidFill>
              </a:rPr>
              <a:t> </a:t>
            </a:r>
            <a:r>
              <a:rPr lang="en-US" sz="2800" b="1" i="1" dirty="0">
                <a:solidFill>
                  <a:srgbClr val="FF0000"/>
                </a:solidFill>
              </a:rPr>
              <a:t>circular</a:t>
            </a:r>
            <a:r>
              <a:rPr lang="en-US" sz="2800" dirty="0">
                <a:solidFill>
                  <a:srgbClr val="FF0000"/>
                </a:solidFill>
              </a:rPr>
              <a:t> </a:t>
            </a:r>
            <a:r>
              <a:rPr lang="en-US" sz="2800" b="1" i="1" dirty="0">
                <a:solidFill>
                  <a:srgbClr val="FF0000"/>
                </a:solidFill>
              </a:rPr>
              <a:t>linked</a:t>
            </a:r>
            <a:r>
              <a:rPr lang="en-US" sz="2800" dirty="0">
                <a:solidFill>
                  <a:srgbClr val="FF0000"/>
                </a:solidFill>
              </a:rPr>
              <a:t> </a:t>
            </a:r>
            <a:r>
              <a:rPr lang="en-US" sz="2800" b="1" i="1" dirty="0">
                <a:solidFill>
                  <a:srgbClr val="FF0000"/>
                </a:solidFill>
              </a:rPr>
              <a:t>list</a:t>
            </a:r>
            <a:endParaRPr lang="en-US" sz="2800" dirty="0">
              <a:solidFill>
                <a:srgbClr val="FF0000"/>
              </a:solidFill>
            </a:endParaRPr>
          </a:p>
        </p:txBody>
      </p:sp>
      <p:sp>
        <p:nvSpPr>
          <p:cNvPr id="3" name="Content Placeholder 2"/>
          <p:cNvSpPr>
            <a:spLocks noGrp="1"/>
          </p:cNvSpPr>
          <p:nvPr>
            <p:ph idx="1"/>
          </p:nvPr>
        </p:nvSpPr>
        <p:spPr>
          <a:xfrm>
            <a:off x="914400" y="914400"/>
            <a:ext cx="10515600" cy="5562600"/>
          </a:xfrm>
        </p:spPr>
        <p:txBody>
          <a:bodyPr>
            <a:normAutofit fontScale="40000" lnSpcReduction="20000"/>
          </a:bodyPr>
          <a:lstStyle/>
          <a:p>
            <a:pPr marL="0" indent="0">
              <a:buNone/>
            </a:pPr>
            <a:r>
              <a:rPr lang="en-US" dirty="0" smtClean="0"/>
              <a:t>void </a:t>
            </a:r>
            <a:r>
              <a:rPr lang="en-US" dirty="0" err="1"/>
              <a:t>DeleteLast</a:t>
            </a:r>
            <a:r>
              <a:rPr lang="en-US" dirty="0"/>
              <a:t>()</a:t>
            </a:r>
          </a:p>
          <a:p>
            <a:pPr marL="0" indent="0">
              <a:buNone/>
            </a:pPr>
            <a:r>
              <a:rPr lang="en-US" dirty="0"/>
              <a:t>{</a:t>
            </a:r>
          </a:p>
          <a:p>
            <a:pPr marL="0" indent="0">
              <a:buNone/>
            </a:pPr>
            <a:r>
              <a:rPr lang="en-US" dirty="0" smtClean="0"/>
              <a:t>	if(start</a:t>
            </a:r>
            <a:r>
              <a:rPr lang="en-US" dirty="0"/>
              <a:t>==NULL) </a:t>
            </a:r>
            <a:endParaRPr lang="en-US" dirty="0" smtClean="0"/>
          </a:p>
          <a:p>
            <a:pPr marL="0" indent="0">
              <a:buNone/>
            </a:pPr>
            <a:r>
              <a:rPr lang="en-US" dirty="0"/>
              <a:t>	</a:t>
            </a:r>
            <a:r>
              <a:rPr lang="en-US" dirty="0" smtClean="0"/>
              <a:t>{</a:t>
            </a:r>
            <a:endParaRPr lang="en-US" dirty="0"/>
          </a:p>
          <a:p>
            <a:pPr marL="0" indent="0">
              <a:buNone/>
            </a:pPr>
            <a:r>
              <a:rPr lang="en-US" dirty="0" smtClean="0"/>
              <a:t>	</a:t>
            </a:r>
            <a:r>
              <a:rPr lang="en-US" dirty="0" err="1" smtClean="0"/>
              <a:t>printf</a:t>
            </a:r>
            <a:r>
              <a:rPr lang="en-US" dirty="0"/>
              <a:t>(“Empty list”); </a:t>
            </a:r>
            <a:endParaRPr lang="en-US" dirty="0" smtClean="0"/>
          </a:p>
          <a:p>
            <a:pPr marL="0" indent="0">
              <a:buNone/>
            </a:pPr>
            <a:r>
              <a:rPr lang="en-US" dirty="0"/>
              <a:t>	</a:t>
            </a:r>
            <a:r>
              <a:rPr lang="en-US" dirty="0" smtClean="0"/>
              <a:t>exit(1</a:t>
            </a:r>
            <a:r>
              <a:rPr lang="en-US" dirty="0"/>
              <a:t>);</a:t>
            </a:r>
          </a:p>
          <a:p>
            <a:pPr marL="0" indent="0">
              <a:buNone/>
            </a:pPr>
            <a:r>
              <a:rPr lang="en-US" dirty="0" smtClean="0"/>
              <a:t>	}</a:t>
            </a:r>
            <a:endParaRPr lang="en-US" dirty="0"/>
          </a:p>
          <a:p>
            <a:pPr marL="0" indent="0">
              <a:buNone/>
            </a:pPr>
            <a:r>
              <a:rPr lang="en-US" dirty="0" smtClean="0"/>
              <a:t>	else </a:t>
            </a:r>
            <a:r>
              <a:rPr lang="en-US" dirty="0"/>
              <a:t>if(start==last) </a:t>
            </a:r>
            <a:r>
              <a:rPr lang="en-US" dirty="0" smtClean="0"/>
              <a:t>	//</a:t>
            </a:r>
            <a:r>
              <a:rPr lang="en-US" dirty="0"/>
              <a:t>for only one node </a:t>
            </a:r>
            <a:endParaRPr lang="en-US" dirty="0" smtClean="0"/>
          </a:p>
          <a:p>
            <a:pPr marL="0" indent="0">
              <a:buNone/>
            </a:pPr>
            <a:r>
              <a:rPr lang="en-US" dirty="0"/>
              <a:t>	</a:t>
            </a:r>
            <a:r>
              <a:rPr lang="en-US" dirty="0" smtClean="0"/>
              <a:t>{</a:t>
            </a:r>
            <a:endParaRPr lang="en-US" dirty="0"/>
          </a:p>
          <a:p>
            <a:pPr marL="0" indent="0">
              <a:buNone/>
            </a:pPr>
            <a:r>
              <a:rPr lang="en-US" dirty="0" smtClean="0"/>
              <a:t>	temp=start</a:t>
            </a:r>
            <a:r>
              <a:rPr lang="en-US" dirty="0"/>
              <a:t>;</a:t>
            </a:r>
          </a:p>
          <a:p>
            <a:pPr marL="0" indent="0">
              <a:buNone/>
            </a:pPr>
            <a:r>
              <a:rPr lang="en-US" dirty="0" smtClean="0"/>
              <a:t>	</a:t>
            </a:r>
            <a:r>
              <a:rPr lang="en-US" dirty="0" err="1" smtClean="0"/>
              <a:t>printf</a:t>
            </a:r>
            <a:r>
              <a:rPr lang="en-US" dirty="0"/>
              <a:t>(“deleted element=%d”, temp-&gt;info); </a:t>
            </a:r>
            <a:endParaRPr lang="en-US" dirty="0" smtClean="0"/>
          </a:p>
          <a:p>
            <a:pPr marL="0" indent="0">
              <a:buNone/>
            </a:pPr>
            <a:r>
              <a:rPr lang="en-US" dirty="0"/>
              <a:t>	</a:t>
            </a:r>
            <a:r>
              <a:rPr lang="en-US" dirty="0" smtClean="0"/>
              <a:t>free(temp</a:t>
            </a:r>
            <a:r>
              <a:rPr lang="en-US" dirty="0"/>
              <a:t>);</a:t>
            </a:r>
          </a:p>
          <a:p>
            <a:pPr marL="0" indent="0">
              <a:buNone/>
            </a:pPr>
            <a:r>
              <a:rPr lang="en-US" dirty="0" smtClean="0"/>
              <a:t>	start=last=NULL</a:t>
            </a:r>
            <a:r>
              <a:rPr lang="en-US" dirty="0"/>
              <a:t>; </a:t>
            </a:r>
            <a:endParaRPr lang="en-US" dirty="0" smtClean="0"/>
          </a:p>
          <a:p>
            <a:pPr marL="0" indent="0">
              <a:buNone/>
            </a:pPr>
            <a:r>
              <a:rPr lang="en-US" dirty="0"/>
              <a:t>	</a:t>
            </a:r>
            <a:r>
              <a:rPr lang="en-US" dirty="0" smtClean="0"/>
              <a:t>}</a:t>
            </a:r>
            <a:endParaRPr lang="en-US" dirty="0"/>
          </a:p>
          <a:p>
            <a:pPr marL="0" indent="0">
              <a:buNone/>
            </a:pPr>
            <a:r>
              <a:rPr lang="en-US" dirty="0" smtClean="0"/>
              <a:t>	else </a:t>
            </a:r>
          </a:p>
          <a:p>
            <a:pPr marL="0" indent="0">
              <a:buNone/>
            </a:pPr>
            <a:r>
              <a:rPr lang="en-US" dirty="0"/>
              <a:t>	</a:t>
            </a:r>
            <a:r>
              <a:rPr lang="en-US" dirty="0" smtClean="0"/>
              <a:t>{</a:t>
            </a:r>
            <a:endParaRPr lang="en-US" dirty="0"/>
          </a:p>
          <a:p>
            <a:pPr marL="0" indent="0">
              <a:buNone/>
            </a:pPr>
            <a:r>
              <a:rPr lang="en-US" dirty="0" smtClean="0"/>
              <a:t>	temp=start</a:t>
            </a:r>
            <a:r>
              <a:rPr lang="en-US" dirty="0"/>
              <a:t>;</a:t>
            </a:r>
          </a:p>
          <a:p>
            <a:pPr marL="0" indent="0">
              <a:buNone/>
            </a:pPr>
            <a:r>
              <a:rPr lang="en-US" dirty="0" smtClean="0"/>
              <a:t>	while</a:t>
            </a:r>
            <a:r>
              <a:rPr lang="en-US" dirty="0"/>
              <a:t>( temp-&gt;next!=last) </a:t>
            </a:r>
            <a:endParaRPr lang="en-US" dirty="0" smtClean="0"/>
          </a:p>
          <a:p>
            <a:pPr marL="0" indent="0">
              <a:buNone/>
            </a:pPr>
            <a:r>
              <a:rPr lang="en-US" dirty="0"/>
              <a:t>	</a:t>
            </a:r>
            <a:r>
              <a:rPr lang="en-US" dirty="0" smtClean="0"/>
              <a:t>temp=temp-</a:t>
            </a:r>
            <a:r>
              <a:rPr lang="en-US" dirty="0"/>
              <a:t>&gt;next;</a:t>
            </a:r>
          </a:p>
          <a:p>
            <a:pPr marL="0" indent="0">
              <a:buNone/>
            </a:pPr>
            <a:r>
              <a:rPr lang="en-US" dirty="0" smtClean="0"/>
              <a:t>	hold=temp-</a:t>
            </a:r>
            <a:r>
              <a:rPr lang="en-US" dirty="0"/>
              <a:t>&gt;next; </a:t>
            </a:r>
            <a:endParaRPr lang="en-US" dirty="0" smtClean="0"/>
          </a:p>
          <a:p>
            <a:pPr marL="0" indent="0">
              <a:buNone/>
            </a:pPr>
            <a:r>
              <a:rPr lang="en-US" dirty="0"/>
              <a:t>	</a:t>
            </a:r>
            <a:r>
              <a:rPr lang="en-US" dirty="0" smtClean="0"/>
              <a:t>last=temp</a:t>
            </a:r>
            <a:r>
              <a:rPr lang="en-US" dirty="0"/>
              <a:t>;</a:t>
            </a:r>
          </a:p>
          <a:p>
            <a:pPr marL="0" indent="0">
              <a:buNone/>
            </a:pPr>
            <a:r>
              <a:rPr lang="en-US" dirty="0" smtClean="0"/>
              <a:t>	last-</a:t>
            </a:r>
            <a:r>
              <a:rPr lang="en-US" dirty="0"/>
              <a:t>&gt;next=start;</a:t>
            </a:r>
          </a:p>
          <a:p>
            <a:pPr marL="0" indent="0">
              <a:buNone/>
            </a:pPr>
            <a:r>
              <a:rPr lang="en-US" dirty="0" err="1"/>
              <a:t>printf</a:t>
            </a:r>
            <a:r>
              <a:rPr lang="en-US" dirty="0"/>
              <a:t>(“the deleted element=%d”, hold-&gt;info); </a:t>
            </a:r>
            <a:endParaRPr lang="en-US" dirty="0" smtClean="0"/>
          </a:p>
          <a:p>
            <a:pPr marL="0" indent="0">
              <a:buNone/>
            </a:pPr>
            <a:r>
              <a:rPr lang="en-US" dirty="0" smtClean="0"/>
              <a:t>free(hold</a:t>
            </a:r>
            <a:r>
              <a:rPr lang="en-US" dirty="0"/>
              <a:t>);</a:t>
            </a:r>
          </a:p>
          <a:p>
            <a:pPr marL="0" indent="0">
              <a:buNone/>
            </a:pPr>
            <a:r>
              <a:rPr lang="en-US" dirty="0"/>
              <a:t>} }</a:t>
            </a:r>
          </a:p>
          <a:p>
            <a:pPr marL="0" indent="0">
              <a:buNone/>
            </a:pPr>
            <a:endParaRPr lang="en-US" dirty="0"/>
          </a:p>
        </p:txBody>
      </p:sp>
    </p:spTree>
    <p:extLst>
      <p:ext uri="{BB962C8B-B14F-4D97-AF65-F5344CB8AC3E}">
        <p14:creationId xmlns:p14="http://schemas.microsoft.com/office/powerpoint/2010/main" val="2917140729"/>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457200"/>
            <a:ext cx="10515600" cy="5715000"/>
          </a:xfrm>
        </p:spPr>
        <p:txBody>
          <a:bodyPr>
            <a:normAutofit fontScale="85000" lnSpcReduction="20000"/>
          </a:bodyPr>
          <a:lstStyle/>
          <a:p>
            <a:pPr marL="0" indent="0">
              <a:buNone/>
            </a:pPr>
            <a:r>
              <a:rPr lang="en-US" sz="4100" b="1" i="1" u="sng" dirty="0">
                <a:solidFill>
                  <a:srgbClr val="FF0000"/>
                </a:solidFill>
              </a:rPr>
              <a:t>Stack as a circular List</a:t>
            </a:r>
            <a:endParaRPr lang="en-US" sz="4100" dirty="0">
              <a:solidFill>
                <a:srgbClr val="FF0000"/>
              </a:solidFill>
            </a:endParaRPr>
          </a:p>
          <a:p>
            <a:r>
              <a:rPr lang="en-US" dirty="0"/>
              <a:t>To implement a stack in a circular linked list, </a:t>
            </a:r>
            <a:endParaRPr lang="en-US" dirty="0" smtClean="0"/>
          </a:p>
          <a:p>
            <a:r>
              <a:rPr lang="en-US" dirty="0" smtClean="0"/>
              <a:t>let </a:t>
            </a:r>
            <a:r>
              <a:rPr lang="en-US" dirty="0" err="1">
                <a:solidFill>
                  <a:srgbClr val="FF0000"/>
                </a:solidFill>
              </a:rPr>
              <a:t>pstack</a:t>
            </a:r>
            <a:r>
              <a:rPr lang="en-US" dirty="0"/>
              <a:t> be a pointer to the last node of a circular list. </a:t>
            </a:r>
            <a:endParaRPr lang="en-US" dirty="0" smtClean="0"/>
          </a:p>
          <a:p>
            <a:r>
              <a:rPr lang="en-US" dirty="0" smtClean="0"/>
              <a:t>Actually </a:t>
            </a:r>
            <a:r>
              <a:rPr lang="en-US" dirty="0"/>
              <a:t>there is no any end of a list but for convention let us assume that the first node(</a:t>
            </a:r>
            <a:r>
              <a:rPr lang="en-US" dirty="0">
                <a:solidFill>
                  <a:srgbClr val="FF0000"/>
                </a:solidFill>
              </a:rPr>
              <a:t>rightmost</a:t>
            </a:r>
            <a:r>
              <a:rPr lang="en-US" dirty="0"/>
              <a:t> node of a list) is the top of the stack.</a:t>
            </a:r>
          </a:p>
          <a:p>
            <a:pPr lvl="1"/>
            <a:r>
              <a:rPr lang="en-US" dirty="0"/>
              <a:t>An empty stack is represented by a null list.</a:t>
            </a:r>
          </a:p>
          <a:p>
            <a:pPr lvl="1"/>
            <a:r>
              <a:rPr lang="en-US" i="1" dirty="0"/>
              <a:t>The</a:t>
            </a:r>
            <a:r>
              <a:rPr lang="en-US" dirty="0"/>
              <a:t> </a:t>
            </a:r>
            <a:r>
              <a:rPr lang="en-US" i="1" dirty="0"/>
              <a:t>structure</a:t>
            </a:r>
            <a:r>
              <a:rPr lang="en-US" dirty="0"/>
              <a:t> </a:t>
            </a:r>
            <a:r>
              <a:rPr lang="en-US" i="1" dirty="0"/>
              <a:t>for</a:t>
            </a:r>
            <a:r>
              <a:rPr lang="en-US" dirty="0"/>
              <a:t> </a:t>
            </a:r>
            <a:r>
              <a:rPr lang="en-US" i="1" dirty="0"/>
              <a:t>the</a:t>
            </a:r>
            <a:r>
              <a:rPr lang="en-US" dirty="0"/>
              <a:t> </a:t>
            </a:r>
            <a:r>
              <a:rPr lang="en-US" i="1" dirty="0"/>
              <a:t>circular</a:t>
            </a:r>
            <a:r>
              <a:rPr lang="en-US" dirty="0"/>
              <a:t> </a:t>
            </a:r>
            <a:r>
              <a:rPr lang="en-US" i="1" dirty="0"/>
              <a:t>linked</a:t>
            </a:r>
            <a:r>
              <a:rPr lang="en-US" dirty="0"/>
              <a:t> </a:t>
            </a:r>
            <a:r>
              <a:rPr lang="en-US" i="1" dirty="0"/>
              <a:t>list</a:t>
            </a:r>
            <a:r>
              <a:rPr lang="en-US" dirty="0"/>
              <a:t> </a:t>
            </a:r>
            <a:r>
              <a:rPr lang="en-US" i="1" dirty="0"/>
              <a:t>implementation</a:t>
            </a:r>
            <a:r>
              <a:rPr lang="en-US" dirty="0"/>
              <a:t> </a:t>
            </a:r>
            <a:r>
              <a:rPr lang="en-US" i="1" dirty="0" smtClean="0"/>
              <a:t>of</a:t>
            </a:r>
            <a:r>
              <a:rPr lang="en-US" dirty="0" smtClean="0"/>
              <a:t> </a:t>
            </a:r>
            <a:r>
              <a:rPr lang="en-US" i="1" dirty="0" smtClean="0"/>
              <a:t>stack</a:t>
            </a:r>
            <a:r>
              <a:rPr lang="en-US" dirty="0" smtClean="0"/>
              <a:t> </a:t>
            </a:r>
            <a:r>
              <a:rPr lang="en-US" i="1" dirty="0"/>
              <a:t>is:</a:t>
            </a:r>
            <a:r>
              <a:rPr lang="en-US" dirty="0"/>
              <a:t> </a:t>
            </a:r>
          </a:p>
          <a:p>
            <a:pPr marL="457200" lvl="1" indent="0">
              <a:buNone/>
            </a:pPr>
            <a:r>
              <a:rPr lang="en-US" b="1" i="1" dirty="0" err="1" smtClean="0"/>
              <a:t>struct</a:t>
            </a:r>
            <a:r>
              <a:rPr lang="en-US" dirty="0" smtClean="0"/>
              <a:t> </a:t>
            </a:r>
            <a:r>
              <a:rPr lang="en-US" b="1" i="1" dirty="0"/>
              <a:t>node</a:t>
            </a:r>
            <a:endParaRPr lang="en-US" dirty="0"/>
          </a:p>
          <a:p>
            <a:pPr marL="457200" lvl="1" indent="0">
              <a:buNone/>
            </a:pPr>
            <a:r>
              <a:rPr lang="en-US" b="1" i="1" dirty="0"/>
              <a:t>{</a:t>
            </a:r>
            <a:endParaRPr lang="en-US" dirty="0"/>
          </a:p>
          <a:p>
            <a:pPr marL="0" indent="0">
              <a:buNone/>
            </a:pPr>
            <a:r>
              <a:rPr lang="en-US" b="1" i="1" dirty="0"/>
              <a:t>	</a:t>
            </a:r>
            <a:r>
              <a:rPr lang="en-US" b="1" i="1" dirty="0" err="1" smtClean="0"/>
              <a:t>int</a:t>
            </a:r>
            <a:r>
              <a:rPr lang="en-US" dirty="0" smtClean="0"/>
              <a:t> </a:t>
            </a:r>
            <a:r>
              <a:rPr lang="en-US" b="1" i="1" dirty="0"/>
              <a:t>info;</a:t>
            </a:r>
            <a:endParaRPr lang="en-US" dirty="0"/>
          </a:p>
          <a:p>
            <a:pPr marL="0" indent="0">
              <a:buNone/>
            </a:pPr>
            <a:r>
              <a:rPr lang="en-US" b="1" i="1" dirty="0" smtClean="0"/>
              <a:t>	</a:t>
            </a:r>
            <a:r>
              <a:rPr lang="en-US" b="1" i="1" dirty="0" err="1" smtClean="0"/>
              <a:t>struct</a:t>
            </a:r>
            <a:r>
              <a:rPr lang="en-US" dirty="0" smtClean="0"/>
              <a:t> </a:t>
            </a:r>
            <a:r>
              <a:rPr lang="en-US" b="1" i="1" dirty="0"/>
              <a:t>node</a:t>
            </a:r>
            <a:r>
              <a:rPr lang="en-US" dirty="0"/>
              <a:t> </a:t>
            </a:r>
            <a:r>
              <a:rPr lang="en-US" b="1" i="1" dirty="0"/>
              <a:t>*next;</a:t>
            </a:r>
            <a:r>
              <a:rPr lang="en-US" dirty="0"/>
              <a:t> </a:t>
            </a:r>
            <a:endParaRPr lang="en-US" dirty="0" smtClean="0"/>
          </a:p>
          <a:p>
            <a:pPr marL="0" indent="0">
              <a:buNone/>
            </a:pPr>
            <a:r>
              <a:rPr lang="en-US" b="1" i="1" dirty="0" smtClean="0"/>
              <a:t>      };</a:t>
            </a:r>
            <a:endParaRPr lang="en-US" dirty="0"/>
          </a:p>
          <a:p>
            <a:pPr marL="0" indent="0">
              <a:buNone/>
            </a:pPr>
            <a:r>
              <a:rPr lang="en-US" b="1" i="1" dirty="0" err="1" smtClean="0"/>
              <a:t>typedef</a:t>
            </a:r>
            <a:r>
              <a:rPr lang="en-US" dirty="0" smtClean="0"/>
              <a:t> </a:t>
            </a:r>
            <a:r>
              <a:rPr lang="en-US" b="1" i="1" dirty="0" err="1"/>
              <a:t>struct</a:t>
            </a:r>
            <a:r>
              <a:rPr lang="en-US" dirty="0"/>
              <a:t> </a:t>
            </a:r>
            <a:r>
              <a:rPr lang="en-US" b="1" i="1" dirty="0"/>
              <a:t>node</a:t>
            </a:r>
            <a:r>
              <a:rPr lang="en-US" dirty="0"/>
              <a:t> </a:t>
            </a:r>
            <a:r>
              <a:rPr lang="en-US" b="1" i="1" dirty="0" err="1">
                <a:solidFill>
                  <a:srgbClr val="FF0000"/>
                </a:solidFill>
              </a:rPr>
              <a:t>NodeType</a:t>
            </a:r>
            <a:r>
              <a:rPr lang="en-US" b="1" i="1" dirty="0"/>
              <a:t>;</a:t>
            </a:r>
            <a:r>
              <a:rPr lang="en-US" dirty="0"/>
              <a:t> </a:t>
            </a:r>
            <a:endParaRPr lang="en-US" dirty="0" smtClean="0"/>
          </a:p>
          <a:p>
            <a:pPr marL="0" indent="0">
              <a:buNone/>
            </a:pPr>
            <a:r>
              <a:rPr lang="en-US" b="1" i="1" dirty="0" err="1" smtClean="0"/>
              <a:t>NodeType</a:t>
            </a:r>
            <a:r>
              <a:rPr lang="en-US" dirty="0" smtClean="0"/>
              <a:t> </a:t>
            </a:r>
            <a:r>
              <a:rPr lang="en-US" b="1" i="1" dirty="0"/>
              <a:t>*</a:t>
            </a:r>
            <a:r>
              <a:rPr lang="en-US" b="1" i="1" dirty="0" err="1"/>
              <a:t>pstack</a:t>
            </a:r>
            <a:r>
              <a:rPr lang="en-US" b="1" i="1" dirty="0"/>
              <a:t>=NULL;</a:t>
            </a:r>
            <a:endParaRPr lang="en-US" dirty="0"/>
          </a:p>
          <a:p>
            <a:pPr marL="0" indent="0">
              <a:buNone/>
            </a:pPr>
            <a:endParaRPr lang="en-US" dirty="0"/>
          </a:p>
        </p:txBody>
      </p:sp>
    </p:spTree>
    <p:extLst>
      <p:ext uri="{BB962C8B-B14F-4D97-AF65-F5344CB8AC3E}">
        <p14:creationId xmlns:p14="http://schemas.microsoft.com/office/powerpoint/2010/main" val="2837375821"/>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609601"/>
            <a:ext cx="8229600" cy="5516563"/>
          </a:xfrm>
        </p:spPr>
        <p:txBody>
          <a:bodyPr>
            <a:normAutofit/>
          </a:bodyPr>
          <a:lstStyle/>
          <a:p>
            <a:pPr marL="0" indent="0">
              <a:buNone/>
            </a:pPr>
            <a:r>
              <a:rPr lang="en-US" b="1" i="1" u="sng" dirty="0">
                <a:solidFill>
                  <a:srgbClr val="FF0000"/>
                </a:solidFill>
              </a:rPr>
              <a:t>C function to check whether the list is empty or not as </a:t>
            </a:r>
            <a:r>
              <a:rPr lang="en-US" b="1" i="1" u="sng" dirty="0" smtClean="0">
                <a:solidFill>
                  <a:srgbClr val="FF0000"/>
                </a:solidFill>
              </a:rPr>
              <a:t>follows</a:t>
            </a:r>
            <a:endParaRPr lang="en-US" dirty="0" smtClean="0">
              <a:solidFill>
                <a:srgbClr val="FF0000"/>
              </a:solidFill>
            </a:endParaRPr>
          </a:p>
          <a:p>
            <a:pPr marL="0" indent="0">
              <a:buNone/>
            </a:pPr>
            <a:r>
              <a:rPr lang="en-US" dirty="0" err="1" smtClean="0"/>
              <a:t>int</a:t>
            </a:r>
            <a:r>
              <a:rPr lang="en-US" dirty="0" smtClean="0"/>
              <a:t> </a:t>
            </a:r>
            <a:r>
              <a:rPr lang="en-US" dirty="0" err="1"/>
              <a:t>IsEmpty</a:t>
            </a:r>
            <a:r>
              <a:rPr lang="en-US" dirty="0"/>
              <a:t>()</a:t>
            </a:r>
          </a:p>
          <a:p>
            <a:pPr marL="0" indent="0">
              <a:buNone/>
            </a:pPr>
            <a:r>
              <a:rPr lang="en-US" dirty="0"/>
              <a:t>{</a:t>
            </a:r>
          </a:p>
          <a:p>
            <a:pPr marL="0" indent="0">
              <a:buNone/>
            </a:pPr>
            <a:r>
              <a:rPr lang="en-US" dirty="0" smtClean="0"/>
              <a:t>	if(</a:t>
            </a:r>
            <a:r>
              <a:rPr lang="en-US" dirty="0" err="1" smtClean="0"/>
              <a:t>pstack</a:t>
            </a:r>
            <a:r>
              <a:rPr lang="en-US" dirty="0"/>
              <a:t>==NULL) </a:t>
            </a:r>
            <a:endParaRPr lang="en-US" dirty="0" smtClean="0"/>
          </a:p>
          <a:p>
            <a:pPr marL="0" indent="0">
              <a:buNone/>
            </a:pPr>
            <a:r>
              <a:rPr lang="en-US" dirty="0"/>
              <a:t>	</a:t>
            </a:r>
            <a:r>
              <a:rPr lang="en-US" dirty="0" smtClean="0"/>
              <a:t>return(1</a:t>
            </a:r>
            <a:r>
              <a:rPr lang="en-US" dirty="0"/>
              <a:t>);</a:t>
            </a:r>
          </a:p>
          <a:p>
            <a:pPr marL="0" indent="0">
              <a:buNone/>
            </a:pPr>
            <a:r>
              <a:rPr lang="en-US" dirty="0" smtClean="0"/>
              <a:t>	else</a:t>
            </a:r>
            <a:endParaRPr lang="en-US" dirty="0"/>
          </a:p>
          <a:p>
            <a:pPr marL="0" indent="0">
              <a:buNone/>
            </a:pPr>
            <a:r>
              <a:rPr lang="en-US" dirty="0" smtClean="0"/>
              <a:t>	return(0</a:t>
            </a:r>
            <a:r>
              <a:rPr lang="en-US" dirty="0"/>
              <a:t>); </a:t>
            </a:r>
            <a:endParaRPr lang="en-US" dirty="0" smtClean="0"/>
          </a:p>
          <a:p>
            <a:pPr marL="0" indent="0">
              <a:buNone/>
            </a:pPr>
            <a:r>
              <a:rPr lang="en-US" dirty="0" smtClean="0"/>
              <a:t>}</a:t>
            </a:r>
            <a:endParaRPr lang="en-US" dirty="0"/>
          </a:p>
        </p:txBody>
      </p:sp>
    </p:spTree>
    <p:extLst>
      <p:ext uri="{BB962C8B-B14F-4D97-AF65-F5344CB8AC3E}">
        <p14:creationId xmlns:p14="http://schemas.microsoft.com/office/powerpoint/2010/main" val="3055679496"/>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74638"/>
            <a:ext cx="9753600" cy="715962"/>
          </a:xfrm>
        </p:spPr>
        <p:style>
          <a:lnRef idx="3">
            <a:schemeClr val="lt1"/>
          </a:lnRef>
          <a:fillRef idx="1">
            <a:schemeClr val="accent4"/>
          </a:fillRef>
          <a:effectRef idx="1">
            <a:schemeClr val="accent4"/>
          </a:effectRef>
          <a:fontRef idx="minor">
            <a:schemeClr val="lt1"/>
          </a:fontRef>
        </p:style>
        <p:txBody>
          <a:bodyPr/>
          <a:lstStyle/>
          <a:p>
            <a:pPr algn="l"/>
            <a:r>
              <a:rPr lang="en-US" sz="4000" b="1" dirty="0">
                <a:solidFill>
                  <a:schemeClr val="bg1"/>
                </a:solidFill>
              </a:rPr>
              <a:t>PUSH function</a:t>
            </a:r>
            <a:endParaRPr lang="en-US" dirty="0">
              <a:solidFill>
                <a:schemeClr val="bg1"/>
              </a:solidFill>
            </a:endParaRPr>
          </a:p>
        </p:txBody>
      </p:sp>
      <p:sp>
        <p:nvSpPr>
          <p:cNvPr id="3" name="Content Placeholder 2"/>
          <p:cNvSpPr>
            <a:spLocks noGrp="1"/>
          </p:cNvSpPr>
          <p:nvPr>
            <p:ph idx="1"/>
          </p:nvPr>
        </p:nvSpPr>
        <p:spPr>
          <a:xfrm>
            <a:off x="1219200" y="1295400"/>
            <a:ext cx="9753600" cy="5105400"/>
          </a:xfrm>
        </p:spPr>
        <p:txBody>
          <a:bodyPr>
            <a:normAutofit fontScale="70000" lnSpcReduction="20000"/>
          </a:bodyPr>
          <a:lstStyle/>
          <a:p>
            <a:pPr marL="0" indent="0">
              <a:buNone/>
            </a:pPr>
            <a:r>
              <a:rPr lang="en-US" dirty="0" smtClean="0"/>
              <a:t>void </a:t>
            </a:r>
            <a:r>
              <a:rPr lang="en-US" dirty="0"/>
              <a:t>PUSH(</a:t>
            </a:r>
            <a:r>
              <a:rPr lang="en-US" dirty="0" err="1"/>
              <a:t>int</a:t>
            </a:r>
            <a:r>
              <a:rPr lang="en-US" dirty="0"/>
              <a:t> item) </a:t>
            </a:r>
            <a:endParaRPr lang="en-US" dirty="0" smtClean="0"/>
          </a:p>
          <a:p>
            <a:pPr marL="0" indent="0">
              <a:buNone/>
            </a:pPr>
            <a:r>
              <a:rPr lang="en-US" dirty="0" smtClean="0"/>
              <a:t>{</a:t>
            </a:r>
            <a:endParaRPr lang="en-US" dirty="0"/>
          </a:p>
          <a:p>
            <a:pPr marL="0" indent="0">
              <a:buNone/>
            </a:pPr>
            <a:r>
              <a:rPr lang="en-US" dirty="0" err="1" smtClean="0"/>
              <a:t>NodeType</a:t>
            </a:r>
            <a:r>
              <a:rPr lang="en-US" dirty="0" smtClean="0"/>
              <a:t> </a:t>
            </a:r>
            <a:r>
              <a:rPr lang="en-US" dirty="0" err="1"/>
              <a:t>newnode</a:t>
            </a:r>
            <a:r>
              <a:rPr lang="en-US" dirty="0"/>
              <a:t>; </a:t>
            </a:r>
            <a:endParaRPr lang="en-US" dirty="0" smtClean="0"/>
          </a:p>
          <a:p>
            <a:pPr marL="0" indent="0">
              <a:buNone/>
            </a:pPr>
            <a:r>
              <a:rPr lang="en-US" dirty="0" err="1" smtClean="0"/>
              <a:t>newnode</a:t>
            </a:r>
            <a:r>
              <a:rPr lang="en-US" dirty="0"/>
              <a:t>=(</a:t>
            </a:r>
            <a:r>
              <a:rPr lang="en-US" dirty="0" err="1"/>
              <a:t>NodeType</a:t>
            </a:r>
            <a:r>
              <a:rPr lang="en-US" dirty="0"/>
              <a:t>*)</a:t>
            </a:r>
            <a:r>
              <a:rPr lang="en-US" dirty="0" err="1"/>
              <a:t>malloc</a:t>
            </a:r>
            <a:r>
              <a:rPr lang="en-US" dirty="0"/>
              <a:t>(</a:t>
            </a:r>
            <a:r>
              <a:rPr lang="en-US" dirty="0" err="1"/>
              <a:t>sizeof</a:t>
            </a:r>
            <a:r>
              <a:rPr lang="en-US" dirty="0"/>
              <a:t>(</a:t>
            </a:r>
            <a:r>
              <a:rPr lang="en-US" dirty="0" err="1"/>
              <a:t>NodeType</a:t>
            </a:r>
            <a:r>
              <a:rPr lang="en-US" dirty="0"/>
              <a:t>)); </a:t>
            </a:r>
            <a:endParaRPr lang="en-US" dirty="0" smtClean="0"/>
          </a:p>
          <a:p>
            <a:pPr marL="0" indent="0">
              <a:buNone/>
            </a:pPr>
            <a:r>
              <a:rPr lang="en-US" dirty="0" err="1" smtClean="0"/>
              <a:t>newnode</a:t>
            </a:r>
            <a:r>
              <a:rPr lang="en-US" dirty="0" smtClean="0"/>
              <a:t>-</a:t>
            </a:r>
            <a:r>
              <a:rPr lang="en-US" dirty="0"/>
              <a:t>&gt;info=item;</a:t>
            </a:r>
          </a:p>
          <a:p>
            <a:pPr marL="0" indent="0">
              <a:buNone/>
            </a:pPr>
            <a:r>
              <a:rPr lang="en-US" dirty="0"/>
              <a:t>if(</a:t>
            </a:r>
            <a:r>
              <a:rPr lang="en-US" dirty="0" err="1"/>
              <a:t>pstack</a:t>
            </a:r>
            <a:r>
              <a:rPr lang="en-US" dirty="0"/>
              <a:t>==NULL) </a:t>
            </a:r>
            <a:endParaRPr lang="en-US" dirty="0" smtClean="0"/>
          </a:p>
          <a:p>
            <a:pPr marL="0" indent="0">
              <a:buNone/>
            </a:pPr>
            <a:r>
              <a:rPr lang="en-US" dirty="0" smtClean="0"/>
              <a:t>{</a:t>
            </a:r>
            <a:endParaRPr lang="en-US" dirty="0"/>
          </a:p>
          <a:p>
            <a:pPr marL="0" indent="0">
              <a:buNone/>
            </a:pPr>
            <a:r>
              <a:rPr lang="en-US" dirty="0" smtClean="0"/>
              <a:t>	</a:t>
            </a:r>
            <a:r>
              <a:rPr lang="en-US" dirty="0" err="1" smtClean="0"/>
              <a:t>pstack</a:t>
            </a:r>
            <a:r>
              <a:rPr lang="en-US" dirty="0" smtClean="0"/>
              <a:t>=</a:t>
            </a:r>
            <a:r>
              <a:rPr lang="en-US" dirty="0" err="1" smtClean="0"/>
              <a:t>newnode</a:t>
            </a:r>
            <a:r>
              <a:rPr lang="en-US" dirty="0"/>
              <a:t>; </a:t>
            </a:r>
            <a:endParaRPr lang="en-US" dirty="0" smtClean="0"/>
          </a:p>
          <a:p>
            <a:pPr marL="0" indent="0">
              <a:buNone/>
            </a:pPr>
            <a:r>
              <a:rPr lang="en-US" dirty="0"/>
              <a:t>	</a:t>
            </a:r>
            <a:r>
              <a:rPr lang="en-US" dirty="0" err="1" smtClean="0"/>
              <a:t>pstack</a:t>
            </a:r>
            <a:r>
              <a:rPr lang="en-US" dirty="0" smtClean="0"/>
              <a:t>-</a:t>
            </a:r>
            <a:r>
              <a:rPr lang="en-US" dirty="0"/>
              <a:t>&gt;next=</a:t>
            </a:r>
            <a:r>
              <a:rPr lang="en-US" dirty="0" err="1"/>
              <a:t>pstack</a:t>
            </a:r>
            <a:r>
              <a:rPr lang="en-US" dirty="0"/>
              <a:t>;</a:t>
            </a:r>
          </a:p>
          <a:p>
            <a:pPr marL="0" indent="0">
              <a:buNone/>
            </a:pPr>
            <a:r>
              <a:rPr lang="en-US" dirty="0"/>
              <a:t>} </a:t>
            </a:r>
            <a:endParaRPr lang="en-US" dirty="0" smtClean="0"/>
          </a:p>
          <a:p>
            <a:pPr marL="0" indent="0">
              <a:buNone/>
            </a:pPr>
            <a:r>
              <a:rPr lang="en-US" dirty="0" smtClean="0"/>
              <a:t>else </a:t>
            </a:r>
          </a:p>
          <a:p>
            <a:pPr marL="0" indent="0">
              <a:buNone/>
            </a:pPr>
            <a:r>
              <a:rPr lang="en-US" dirty="0" smtClean="0"/>
              <a:t>{</a:t>
            </a:r>
            <a:endParaRPr lang="en-US" dirty="0"/>
          </a:p>
          <a:p>
            <a:pPr marL="0" indent="0">
              <a:buNone/>
            </a:pPr>
            <a:r>
              <a:rPr lang="en-US" dirty="0" smtClean="0"/>
              <a:t>	</a:t>
            </a:r>
            <a:r>
              <a:rPr lang="en-US" dirty="0" err="1" smtClean="0"/>
              <a:t>newnode</a:t>
            </a:r>
            <a:r>
              <a:rPr lang="en-US" dirty="0" smtClean="0"/>
              <a:t>-</a:t>
            </a:r>
            <a:r>
              <a:rPr lang="en-US" dirty="0"/>
              <a:t>&gt;next=</a:t>
            </a:r>
            <a:r>
              <a:rPr lang="en-US" dirty="0" err="1"/>
              <a:t>pstack</a:t>
            </a:r>
            <a:r>
              <a:rPr lang="en-US" dirty="0"/>
              <a:t>-&gt;next; </a:t>
            </a:r>
            <a:endParaRPr lang="en-US" dirty="0" smtClean="0"/>
          </a:p>
          <a:p>
            <a:pPr marL="0" indent="0">
              <a:buNone/>
            </a:pPr>
            <a:r>
              <a:rPr lang="en-US" dirty="0" smtClean="0"/>
              <a:t>	</a:t>
            </a:r>
            <a:r>
              <a:rPr lang="en-US" dirty="0" err="1" smtClean="0"/>
              <a:t>pstack</a:t>
            </a:r>
            <a:r>
              <a:rPr lang="en-US" dirty="0" smtClean="0"/>
              <a:t>-</a:t>
            </a:r>
            <a:r>
              <a:rPr lang="en-US" dirty="0"/>
              <a:t>&gt;next=</a:t>
            </a:r>
            <a:r>
              <a:rPr lang="en-US" dirty="0" err="1"/>
              <a:t>newnode</a:t>
            </a:r>
            <a:r>
              <a:rPr lang="en-US" dirty="0"/>
              <a:t>;</a:t>
            </a:r>
          </a:p>
          <a:p>
            <a:pPr marL="0" indent="0">
              <a:buNone/>
            </a:pPr>
            <a:r>
              <a:rPr lang="en-US" dirty="0"/>
              <a:t>} </a:t>
            </a:r>
            <a:r>
              <a:rPr lang="en-US" dirty="0" smtClean="0"/>
              <a:t>}</a:t>
            </a:r>
            <a:endParaRPr lang="en-US" dirty="0"/>
          </a:p>
          <a:p>
            <a:endParaRPr lang="en-US" dirty="0"/>
          </a:p>
        </p:txBody>
      </p:sp>
    </p:spTree>
    <p:extLst>
      <p:ext uri="{BB962C8B-B14F-4D97-AF65-F5344CB8AC3E}">
        <p14:creationId xmlns:p14="http://schemas.microsoft.com/office/powerpoint/2010/main" val="190441880"/>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355848" y="4495800"/>
            <a:ext cx="8372475" cy="1970590"/>
          </a:xfrm>
          <a:prstGeom prst="rect">
            <a:avLst/>
          </a:prstGeom>
        </p:spPr>
      </p:pic>
      <p:pic>
        <p:nvPicPr>
          <p:cNvPr id="4" name="Picture 3"/>
          <p:cNvPicPr>
            <a:picLocks noChangeAspect="1"/>
          </p:cNvPicPr>
          <p:nvPr/>
        </p:nvPicPr>
        <p:blipFill>
          <a:blip r:embed="rId3"/>
          <a:stretch>
            <a:fillRect/>
          </a:stretch>
        </p:blipFill>
        <p:spPr>
          <a:xfrm>
            <a:off x="1365372" y="2194155"/>
            <a:ext cx="8464427" cy="2073135"/>
          </a:xfrm>
          <a:prstGeom prst="rect">
            <a:avLst/>
          </a:prstGeom>
        </p:spPr>
      </p:pic>
      <p:sp>
        <p:nvSpPr>
          <p:cNvPr id="5" name="TextBox 4"/>
          <p:cNvSpPr txBox="1"/>
          <p:nvPr/>
        </p:nvSpPr>
        <p:spPr>
          <a:xfrm>
            <a:off x="2088634" y="4282845"/>
            <a:ext cx="1314784" cy="523220"/>
          </a:xfrm>
          <a:prstGeom prst="rect">
            <a:avLst/>
          </a:prstGeom>
          <a:noFill/>
        </p:spPr>
        <p:txBody>
          <a:bodyPr wrap="none" rtlCol="0">
            <a:spAutoFit/>
          </a:bodyPr>
          <a:lstStyle/>
          <a:p>
            <a:r>
              <a:rPr lang="en-US" sz="2800" b="1" dirty="0" smtClean="0"/>
              <a:t>Insert 1</a:t>
            </a:r>
            <a:endParaRPr lang="en-US" b="1" dirty="0"/>
          </a:p>
        </p:txBody>
      </p:sp>
      <p:pic>
        <p:nvPicPr>
          <p:cNvPr id="2" name="Picture 1"/>
          <p:cNvPicPr>
            <a:picLocks noChangeAspect="1"/>
          </p:cNvPicPr>
          <p:nvPr/>
        </p:nvPicPr>
        <p:blipFill>
          <a:blip r:embed="rId4"/>
          <a:stretch>
            <a:fillRect/>
          </a:stretch>
        </p:blipFill>
        <p:spPr>
          <a:xfrm>
            <a:off x="5701934" y="438021"/>
            <a:ext cx="4026389" cy="1847979"/>
          </a:xfrm>
          <a:prstGeom prst="rect">
            <a:avLst/>
          </a:prstGeom>
        </p:spPr>
      </p:pic>
      <p:sp>
        <p:nvSpPr>
          <p:cNvPr id="6" name="Rectangle 5"/>
          <p:cNvSpPr/>
          <p:nvPr/>
        </p:nvSpPr>
        <p:spPr>
          <a:xfrm>
            <a:off x="1143000" y="304800"/>
            <a:ext cx="3124200" cy="461665"/>
          </a:xfrm>
          <a:prstGeom prst="rect">
            <a:avLst/>
          </a:prstGeom>
        </p:spPr>
        <p:txBody>
          <a:bodyPr wrap="square">
            <a:spAutoFit/>
          </a:bodyPr>
          <a:lstStyle/>
          <a:p>
            <a:r>
              <a:rPr lang="en-US" sz="2400" dirty="0"/>
              <a:t>Three at the beginning</a:t>
            </a:r>
          </a:p>
        </p:txBody>
      </p:sp>
      <p:sp>
        <p:nvSpPr>
          <p:cNvPr id="7" name="Rectangle 6"/>
          <p:cNvSpPr/>
          <p:nvPr/>
        </p:nvSpPr>
        <p:spPr>
          <a:xfrm>
            <a:off x="1841318" y="2194155"/>
            <a:ext cx="3124200" cy="523220"/>
          </a:xfrm>
          <a:prstGeom prst="rect">
            <a:avLst/>
          </a:prstGeom>
        </p:spPr>
        <p:txBody>
          <a:bodyPr wrap="square">
            <a:spAutoFit/>
          </a:bodyPr>
          <a:lstStyle/>
          <a:p>
            <a:r>
              <a:rPr lang="en-US" sz="2800" b="1" dirty="0" smtClean="0"/>
              <a:t>Insert 2 </a:t>
            </a:r>
            <a:endParaRPr lang="en-US" sz="2400" b="1" dirty="0"/>
          </a:p>
        </p:txBody>
      </p:sp>
    </p:spTree>
    <p:extLst>
      <p:ext uri="{BB962C8B-B14F-4D97-AF65-F5344CB8AC3E}">
        <p14:creationId xmlns:p14="http://schemas.microsoft.com/office/powerpoint/2010/main" val="4017469273"/>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74638"/>
            <a:ext cx="10134600" cy="563562"/>
          </a:xfrm>
        </p:spPr>
        <p:style>
          <a:lnRef idx="3">
            <a:schemeClr val="lt1"/>
          </a:lnRef>
          <a:fillRef idx="1">
            <a:schemeClr val="accent4"/>
          </a:fillRef>
          <a:effectRef idx="1">
            <a:schemeClr val="accent4"/>
          </a:effectRef>
          <a:fontRef idx="minor">
            <a:schemeClr val="lt1"/>
          </a:fontRef>
        </p:style>
        <p:txBody>
          <a:bodyPr>
            <a:normAutofit fontScale="90000"/>
          </a:bodyPr>
          <a:lstStyle/>
          <a:p>
            <a:pPr algn="l"/>
            <a:r>
              <a:rPr lang="en-US" b="1" i="1" dirty="0">
                <a:solidFill>
                  <a:schemeClr val="bg1"/>
                </a:solidFill>
              </a:rPr>
              <a:t>POP </a:t>
            </a:r>
            <a:r>
              <a:rPr lang="en-US" b="1" i="1" dirty="0" smtClean="0">
                <a:solidFill>
                  <a:schemeClr val="bg1"/>
                </a:solidFill>
              </a:rPr>
              <a:t>function</a:t>
            </a:r>
            <a:endParaRPr lang="en-US" dirty="0">
              <a:solidFill>
                <a:schemeClr val="bg1"/>
              </a:solidFill>
            </a:endParaRPr>
          </a:p>
        </p:txBody>
      </p:sp>
      <p:sp>
        <p:nvSpPr>
          <p:cNvPr id="3" name="Content Placeholder 2"/>
          <p:cNvSpPr>
            <a:spLocks noGrp="1"/>
          </p:cNvSpPr>
          <p:nvPr>
            <p:ph idx="1"/>
          </p:nvPr>
        </p:nvSpPr>
        <p:spPr>
          <a:xfrm>
            <a:off x="533400" y="1066800"/>
            <a:ext cx="10363200" cy="5334000"/>
          </a:xfrm>
        </p:spPr>
        <p:txBody>
          <a:bodyPr>
            <a:normAutofit fontScale="62500" lnSpcReduction="20000"/>
          </a:bodyPr>
          <a:lstStyle/>
          <a:p>
            <a:pPr marL="0" indent="0">
              <a:buNone/>
            </a:pPr>
            <a:r>
              <a:rPr lang="en-US" dirty="0" smtClean="0"/>
              <a:t>void </a:t>
            </a:r>
            <a:r>
              <a:rPr lang="en-US" dirty="0"/>
              <a:t>POP</a:t>
            </a:r>
            <a:r>
              <a:rPr lang="en-US" dirty="0" smtClean="0"/>
              <a:t>(){</a:t>
            </a:r>
            <a:endParaRPr lang="en-US" dirty="0"/>
          </a:p>
          <a:p>
            <a:pPr marL="0" indent="0">
              <a:buNone/>
            </a:pPr>
            <a:r>
              <a:rPr lang="en-US" dirty="0" smtClean="0"/>
              <a:t>	</a:t>
            </a:r>
            <a:r>
              <a:rPr lang="en-US" dirty="0" err="1" smtClean="0"/>
              <a:t>NodeType</a:t>
            </a:r>
            <a:r>
              <a:rPr lang="en-US" dirty="0" smtClean="0"/>
              <a:t> </a:t>
            </a:r>
            <a:r>
              <a:rPr lang="en-US" dirty="0"/>
              <a:t>*temp; </a:t>
            </a:r>
            <a:endParaRPr lang="en-US" dirty="0" smtClean="0"/>
          </a:p>
          <a:p>
            <a:pPr marL="0" indent="0">
              <a:buNone/>
            </a:pPr>
            <a:r>
              <a:rPr lang="en-US" dirty="0"/>
              <a:t>	</a:t>
            </a:r>
            <a:r>
              <a:rPr lang="en-US" dirty="0" smtClean="0"/>
              <a:t>if(</a:t>
            </a:r>
            <a:r>
              <a:rPr lang="en-US" dirty="0" err="1" smtClean="0"/>
              <a:t>pstack</a:t>
            </a:r>
            <a:r>
              <a:rPr lang="en-US" dirty="0"/>
              <a:t>==NULL) </a:t>
            </a:r>
            <a:r>
              <a:rPr lang="en-US" dirty="0" smtClean="0"/>
              <a:t>{</a:t>
            </a:r>
            <a:endParaRPr lang="en-US" dirty="0"/>
          </a:p>
          <a:p>
            <a:pPr marL="0" indent="0">
              <a:buNone/>
            </a:pPr>
            <a:r>
              <a:rPr lang="en-US" dirty="0" smtClean="0"/>
              <a:t>		</a:t>
            </a:r>
            <a:r>
              <a:rPr lang="en-US" dirty="0" err="1" smtClean="0"/>
              <a:t>printf</a:t>
            </a:r>
            <a:r>
              <a:rPr lang="en-US" dirty="0"/>
              <a:t>(“Stack underflow\n'); </a:t>
            </a:r>
            <a:endParaRPr lang="en-US" dirty="0" smtClean="0"/>
          </a:p>
          <a:p>
            <a:pPr marL="0" indent="0">
              <a:buNone/>
            </a:pPr>
            <a:r>
              <a:rPr lang="en-US" dirty="0"/>
              <a:t>	</a:t>
            </a:r>
            <a:r>
              <a:rPr lang="en-US" dirty="0" smtClean="0"/>
              <a:t>	exit(1</a:t>
            </a:r>
            <a:r>
              <a:rPr lang="en-US" dirty="0"/>
              <a:t>);</a:t>
            </a:r>
          </a:p>
          <a:p>
            <a:pPr marL="0" indent="0">
              <a:buNone/>
            </a:pPr>
            <a:r>
              <a:rPr lang="en-US" dirty="0" smtClean="0"/>
              <a:t>	}</a:t>
            </a:r>
            <a:endParaRPr lang="en-US" dirty="0"/>
          </a:p>
          <a:p>
            <a:pPr marL="0" indent="0">
              <a:buNone/>
            </a:pPr>
            <a:r>
              <a:rPr lang="en-US" dirty="0" smtClean="0"/>
              <a:t>	else </a:t>
            </a:r>
            <a:r>
              <a:rPr lang="en-US" dirty="0"/>
              <a:t>if(</a:t>
            </a:r>
            <a:r>
              <a:rPr lang="en-US" dirty="0" err="1"/>
              <a:t>pstack</a:t>
            </a:r>
            <a:r>
              <a:rPr lang="en-US" dirty="0"/>
              <a:t>-&gt;next==</a:t>
            </a:r>
            <a:r>
              <a:rPr lang="en-US" dirty="0" err="1"/>
              <a:t>pstack</a:t>
            </a:r>
            <a:r>
              <a:rPr lang="en-US" dirty="0" smtClean="0"/>
              <a:t>){</a:t>
            </a:r>
            <a:endParaRPr lang="en-US" dirty="0"/>
          </a:p>
          <a:p>
            <a:pPr marL="0" indent="0">
              <a:buNone/>
            </a:pPr>
            <a:r>
              <a:rPr lang="en-US" dirty="0" smtClean="0"/>
              <a:t>		</a:t>
            </a:r>
            <a:r>
              <a:rPr lang="en-US" dirty="0" err="1" smtClean="0"/>
              <a:t>printf</a:t>
            </a:r>
            <a:r>
              <a:rPr lang="en-US" dirty="0"/>
              <a:t>(“</a:t>
            </a:r>
            <a:r>
              <a:rPr lang="en-US" dirty="0" err="1"/>
              <a:t>poped</a:t>
            </a:r>
            <a:r>
              <a:rPr lang="en-US" dirty="0"/>
              <a:t> item=%d”, </a:t>
            </a:r>
            <a:r>
              <a:rPr lang="en-US" dirty="0" err="1"/>
              <a:t>pstack</a:t>
            </a:r>
            <a:r>
              <a:rPr lang="en-US" dirty="0"/>
              <a:t>-&gt;info); </a:t>
            </a:r>
            <a:endParaRPr lang="en-US" dirty="0" smtClean="0"/>
          </a:p>
          <a:p>
            <a:pPr marL="0" indent="0">
              <a:buNone/>
            </a:pPr>
            <a:r>
              <a:rPr lang="en-US" dirty="0" smtClean="0"/>
              <a:t>	</a:t>
            </a:r>
            <a:r>
              <a:rPr lang="en-US" dirty="0"/>
              <a:t>	</a:t>
            </a:r>
            <a:r>
              <a:rPr lang="en-US" dirty="0" err="1" smtClean="0"/>
              <a:t>pstack</a:t>
            </a:r>
            <a:r>
              <a:rPr lang="en-US" dirty="0" smtClean="0"/>
              <a:t>=NULL</a:t>
            </a:r>
            <a:r>
              <a:rPr lang="en-US" dirty="0"/>
              <a:t>;</a:t>
            </a:r>
          </a:p>
          <a:p>
            <a:pPr marL="0" indent="0">
              <a:buNone/>
            </a:pPr>
            <a:r>
              <a:rPr lang="en-US" dirty="0" smtClean="0"/>
              <a:t>	}</a:t>
            </a:r>
          </a:p>
          <a:p>
            <a:pPr marL="0" indent="0">
              <a:buNone/>
            </a:pPr>
            <a:r>
              <a:rPr lang="en-US" dirty="0"/>
              <a:t>	</a:t>
            </a:r>
            <a:r>
              <a:rPr lang="en-US" dirty="0" smtClean="0"/>
              <a:t> </a:t>
            </a:r>
            <a:r>
              <a:rPr lang="en-US" dirty="0"/>
              <a:t>else </a:t>
            </a:r>
            <a:r>
              <a:rPr lang="en-US" dirty="0" smtClean="0"/>
              <a:t>{</a:t>
            </a:r>
            <a:endParaRPr lang="en-US" dirty="0"/>
          </a:p>
          <a:p>
            <a:pPr marL="0" indent="0">
              <a:buNone/>
            </a:pPr>
            <a:r>
              <a:rPr lang="en-US" dirty="0" smtClean="0"/>
              <a:t>		temp=</a:t>
            </a:r>
            <a:r>
              <a:rPr lang="en-US" dirty="0" err="1" smtClean="0"/>
              <a:t>pstack</a:t>
            </a:r>
            <a:r>
              <a:rPr lang="en-US" dirty="0" smtClean="0"/>
              <a:t>; </a:t>
            </a:r>
          </a:p>
          <a:p>
            <a:pPr marL="0" indent="0">
              <a:buNone/>
            </a:pPr>
            <a:r>
              <a:rPr lang="en-US" dirty="0"/>
              <a:t>	</a:t>
            </a:r>
            <a:r>
              <a:rPr lang="en-US" dirty="0" smtClean="0"/>
              <a:t>	</a:t>
            </a:r>
            <a:r>
              <a:rPr lang="en-US" dirty="0" err="1" smtClean="0"/>
              <a:t>pstack</a:t>
            </a:r>
            <a:r>
              <a:rPr lang="en-US" dirty="0" smtClean="0"/>
              <a:t>-</a:t>
            </a:r>
            <a:r>
              <a:rPr lang="en-US" dirty="0"/>
              <a:t>&gt;next=temp-&gt;next;</a:t>
            </a:r>
          </a:p>
          <a:p>
            <a:pPr marL="0" indent="0">
              <a:buNone/>
            </a:pPr>
            <a:r>
              <a:rPr lang="en-US" dirty="0" smtClean="0"/>
              <a:t>		</a:t>
            </a:r>
            <a:r>
              <a:rPr lang="en-US" dirty="0" err="1" smtClean="0"/>
              <a:t>printf</a:t>
            </a:r>
            <a:r>
              <a:rPr lang="en-US" dirty="0"/>
              <a:t>(“</a:t>
            </a:r>
            <a:r>
              <a:rPr lang="en-US" dirty="0" err="1"/>
              <a:t>poped</a:t>
            </a:r>
            <a:r>
              <a:rPr lang="en-US" dirty="0"/>
              <a:t> item=%d”, temp-&gt;info); </a:t>
            </a:r>
            <a:endParaRPr lang="en-US" dirty="0" smtClean="0"/>
          </a:p>
          <a:p>
            <a:pPr marL="0" indent="0">
              <a:buNone/>
            </a:pPr>
            <a:r>
              <a:rPr lang="en-US" dirty="0"/>
              <a:t>	</a:t>
            </a:r>
            <a:r>
              <a:rPr lang="en-US" dirty="0" smtClean="0"/>
              <a:t>	free(temp</a:t>
            </a:r>
            <a:r>
              <a:rPr lang="en-US" dirty="0"/>
              <a:t>);</a:t>
            </a:r>
          </a:p>
          <a:p>
            <a:pPr marL="0" indent="0">
              <a:buNone/>
            </a:pPr>
            <a:r>
              <a:rPr lang="en-US" dirty="0" smtClean="0"/>
              <a:t>	} </a:t>
            </a:r>
          </a:p>
          <a:p>
            <a:pPr marL="0" indent="0">
              <a:buNone/>
            </a:pPr>
            <a:r>
              <a:rPr lang="en-US" dirty="0" smtClean="0"/>
              <a:t>}</a:t>
            </a:r>
            <a:endParaRPr lang="en-US" dirty="0"/>
          </a:p>
        </p:txBody>
      </p:sp>
    </p:spTree>
    <p:extLst>
      <p:ext uri="{BB962C8B-B14F-4D97-AF65-F5344CB8AC3E}">
        <p14:creationId xmlns:p14="http://schemas.microsoft.com/office/powerpoint/2010/main" val="2950072778"/>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74638"/>
            <a:ext cx="10820400" cy="639762"/>
          </a:xfrm>
        </p:spPr>
        <p:style>
          <a:lnRef idx="3">
            <a:schemeClr val="lt1"/>
          </a:lnRef>
          <a:fillRef idx="1">
            <a:schemeClr val="accent4"/>
          </a:fillRef>
          <a:effectRef idx="1">
            <a:schemeClr val="accent4"/>
          </a:effectRef>
          <a:fontRef idx="minor">
            <a:schemeClr val="lt1"/>
          </a:fontRef>
        </p:style>
        <p:txBody>
          <a:bodyPr>
            <a:normAutofit fontScale="90000"/>
          </a:bodyPr>
          <a:lstStyle/>
          <a:p>
            <a:pPr algn="l"/>
            <a:r>
              <a:rPr lang="en-US" sz="4000" b="1" i="1" dirty="0">
                <a:solidFill>
                  <a:schemeClr val="bg1"/>
                </a:solidFill>
              </a:rPr>
              <a:t>Queue as a circular List</a:t>
            </a:r>
            <a:endParaRPr lang="en-US" dirty="0">
              <a:solidFill>
                <a:schemeClr val="bg1"/>
              </a:solidFill>
            </a:endParaRPr>
          </a:p>
        </p:txBody>
      </p:sp>
      <p:sp>
        <p:nvSpPr>
          <p:cNvPr id="3" name="Content Placeholder 2"/>
          <p:cNvSpPr>
            <a:spLocks noGrp="1"/>
          </p:cNvSpPr>
          <p:nvPr>
            <p:ph idx="1"/>
          </p:nvPr>
        </p:nvSpPr>
        <p:spPr>
          <a:xfrm>
            <a:off x="685800" y="914400"/>
            <a:ext cx="10820400" cy="5257800"/>
          </a:xfrm>
        </p:spPr>
        <p:txBody>
          <a:bodyPr>
            <a:normAutofit fontScale="77500" lnSpcReduction="20000"/>
          </a:bodyPr>
          <a:lstStyle/>
          <a:p>
            <a:endParaRPr lang="en-US" dirty="0"/>
          </a:p>
          <a:p>
            <a:r>
              <a:rPr lang="en-US" sz="4900" dirty="0"/>
              <a:t>It is easier to represent a queue as a circular list than as a linear list. </a:t>
            </a:r>
            <a:endParaRPr lang="en-US" sz="4900" dirty="0" smtClean="0"/>
          </a:p>
          <a:p>
            <a:r>
              <a:rPr lang="en-US" sz="4900" dirty="0" smtClean="0"/>
              <a:t>As </a:t>
            </a:r>
            <a:r>
              <a:rPr lang="en-US" sz="4900" dirty="0"/>
              <a:t>a linear </a:t>
            </a:r>
            <a:r>
              <a:rPr lang="en-US" sz="4900" dirty="0" smtClean="0"/>
              <a:t>list</a:t>
            </a:r>
            <a:r>
              <a:rPr lang="en-US" sz="4900" dirty="0"/>
              <a:t> </a:t>
            </a:r>
            <a:r>
              <a:rPr lang="en-US" sz="4900" dirty="0" smtClean="0"/>
              <a:t>a </a:t>
            </a:r>
            <a:r>
              <a:rPr lang="en-US" sz="4900" dirty="0"/>
              <a:t>queue is specified by two pointers, one to the front of the list and the other to its rear. </a:t>
            </a:r>
          </a:p>
          <a:p>
            <a:r>
              <a:rPr lang="en-US" sz="4900" dirty="0"/>
              <a:t>However, by using a circular list, a queue may be specified by a single pointer q to that list. </a:t>
            </a:r>
          </a:p>
          <a:p>
            <a:r>
              <a:rPr lang="en-US" sz="4900" dirty="0"/>
              <a:t>node(q) is the rear of the queue and the following node is its front. </a:t>
            </a:r>
          </a:p>
        </p:txBody>
      </p:sp>
    </p:spTree>
    <p:extLst>
      <p:ext uri="{BB962C8B-B14F-4D97-AF65-F5344CB8AC3E}">
        <p14:creationId xmlns:p14="http://schemas.microsoft.com/office/powerpoint/2010/main" val="3902796345"/>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457200"/>
            <a:ext cx="10972800" cy="5821364"/>
          </a:xfrm>
        </p:spPr>
        <p:txBody>
          <a:bodyPr>
            <a:normAutofit fontScale="85000" lnSpcReduction="20000"/>
          </a:bodyPr>
          <a:lstStyle/>
          <a:p>
            <a:pPr marL="0" indent="0">
              <a:buNone/>
            </a:pPr>
            <a:r>
              <a:rPr lang="en-US" b="1" i="1" u="sng" dirty="0"/>
              <a:t>Insertion function: </a:t>
            </a:r>
          </a:p>
          <a:p>
            <a:pPr marL="0" indent="0">
              <a:buNone/>
            </a:pPr>
            <a:r>
              <a:rPr lang="en-US" dirty="0"/>
              <a:t>void insert(</a:t>
            </a:r>
            <a:r>
              <a:rPr lang="en-US" dirty="0" err="1"/>
              <a:t>int</a:t>
            </a:r>
            <a:r>
              <a:rPr lang="en-US" dirty="0"/>
              <a:t> item)</a:t>
            </a:r>
          </a:p>
          <a:p>
            <a:pPr marL="0" indent="0">
              <a:buNone/>
            </a:pPr>
            <a:r>
              <a:rPr lang="en-US" dirty="0"/>
              <a:t>{</a:t>
            </a:r>
          </a:p>
          <a:p>
            <a:pPr marL="0" indent="0">
              <a:buNone/>
            </a:pPr>
            <a:r>
              <a:rPr lang="en-US" dirty="0"/>
              <a:t>	</a:t>
            </a:r>
            <a:r>
              <a:rPr lang="en-US" dirty="0" err="1"/>
              <a:t>NodeType</a:t>
            </a:r>
            <a:r>
              <a:rPr lang="en-US" dirty="0"/>
              <a:t> *</a:t>
            </a:r>
            <a:r>
              <a:rPr lang="en-US" dirty="0" err="1"/>
              <a:t>nnode</a:t>
            </a:r>
            <a:r>
              <a:rPr lang="en-US" dirty="0"/>
              <a:t>;</a:t>
            </a:r>
          </a:p>
          <a:p>
            <a:pPr marL="0" indent="0">
              <a:buNone/>
            </a:pPr>
            <a:r>
              <a:rPr lang="en-US" dirty="0"/>
              <a:t>	</a:t>
            </a:r>
            <a:r>
              <a:rPr lang="en-US" dirty="0" err="1"/>
              <a:t>nnode</a:t>
            </a:r>
            <a:r>
              <a:rPr lang="en-US" dirty="0"/>
              <a:t>=( </a:t>
            </a:r>
            <a:r>
              <a:rPr lang="en-US" dirty="0" err="1"/>
              <a:t>NodeType</a:t>
            </a:r>
            <a:r>
              <a:rPr lang="en-US" dirty="0"/>
              <a:t> *)</a:t>
            </a:r>
            <a:r>
              <a:rPr lang="en-US" dirty="0" err="1"/>
              <a:t>malloc</a:t>
            </a:r>
            <a:r>
              <a:rPr lang="en-US" dirty="0"/>
              <a:t>(</a:t>
            </a:r>
            <a:r>
              <a:rPr lang="en-US" dirty="0" err="1"/>
              <a:t>sizeof</a:t>
            </a:r>
            <a:r>
              <a:rPr lang="en-US" dirty="0"/>
              <a:t>(</a:t>
            </a:r>
            <a:r>
              <a:rPr lang="en-US" dirty="0" err="1"/>
              <a:t>NodeType</a:t>
            </a:r>
            <a:r>
              <a:rPr lang="en-US" dirty="0"/>
              <a:t>)); </a:t>
            </a:r>
          </a:p>
          <a:p>
            <a:pPr marL="0" indent="0">
              <a:buNone/>
            </a:pPr>
            <a:r>
              <a:rPr lang="en-US" dirty="0"/>
              <a:t>	</a:t>
            </a:r>
            <a:r>
              <a:rPr lang="en-US" dirty="0" err="1"/>
              <a:t>nnode</a:t>
            </a:r>
            <a:r>
              <a:rPr lang="en-US" dirty="0"/>
              <a:t>-&gt;info=item;</a:t>
            </a:r>
          </a:p>
          <a:p>
            <a:pPr marL="0" indent="0">
              <a:buNone/>
            </a:pPr>
            <a:r>
              <a:rPr lang="en-US" dirty="0"/>
              <a:t>	if(</a:t>
            </a:r>
            <a:r>
              <a:rPr lang="en-US" dirty="0" err="1"/>
              <a:t>pq</a:t>
            </a:r>
            <a:r>
              <a:rPr lang="en-US" dirty="0"/>
              <a:t>==NULL) </a:t>
            </a:r>
          </a:p>
          <a:p>
            <a:pPr marL="0" indent="0">
              <a:buNone/>
            </a:pPr>
            <a:r>
              <a:rPr lang="en-US" dirty="0"/>
              <a:t>	</a:t>
            </a:r>
            <a:r>
              <a:rPr lang="en-US" dirty="0" err="1"/>
              <a:t>pq</a:t>
            </a:r>
            <a:r>
              <a:rPr lang="en-US" dirty="0"/>
              <a:t>=</a:t>
            </a:r>
            <a:r>
              <a:rPr lang="en-US" dirty="0" err="1"/>
              <a:t>nnode</a:t>
            </a:r>
            <a:r>
              <a:rPr lang="en-US" dirty="0"/>
              <a:t>;</a:t>
            </a:r>
          </a:p>
          <a:p>
            <a:pPr marL="0" indent="0">
              <a:buNone/>
            </a:pPr>
            <a:r>
              <a:rPr lang="en-US" dirty="0"/>
              <a:t>	else </a:t>
            </a:r>
          </a:p>
          <a:p>
            <a:pPr marL="0" indent="0">
              <a:buNone/>
            </a:pPr>
            <a:r>
              <a:rPr lang="en-US" dirty="0"/>
              <a:t>	{</a:t>
            </a:r>
          </a:p>
          <a:p>
            <a:pPr marL="0" indent="0">
              <a:buNone/>
            </a:pPr>
            <a:r>
              <a:rPr lang="en-US" dirty="0"/>
              <a:t>	</a:t>
            </a:r>
            <a:r>
              <a:rPr lang="en-US" dirty="0" err="1"/>
              <a:t>nnode</a:t>
            </a:r>
            <a:r>
              <a:rPr lang="en-US" dirty="0"/>
              <a:t>-&gt;next=</a:t>
            </a:r>
            <a:r>
              <a:rPr lang="en-US" dirty="0" err="1"/>
              <a:t>pq</a:t>
            </a:r>
            <a:r>
              <a:rPr lang="en-US" dirty="0"/>
              <a:t>-&gt;next; </a:t>
            </a:r>
          </a:p>
          <a:p>
            <a:pPr marL="0" indent="0">
              <a:buNone/>
            </a:pPr>
            <a:r>
              <a:rPr lang="en-US" dirty="0"/>
              <a:t>	</a:t>
            </a:r>
            <a:r>
              <a:rPr lang="en-US" dirty="0" err="1"/>
              <a:t>pq</a:t>
            </a:r>
            <a:r>
              <a:rPr lang="en-US" dirty="0"/>
              <a:t>-&gt;next=</a:t>
            </a:r>
            <a:r>
              <a:rPr lang="en-US" dirty="0" err="1"/>
              <a:t>nnode</a:t>
            </a:r>
            <a:r>
              <a:rPr lang="en-US" dirty="0"/>
              <a:t>; </a:t>
            </a:r>
          </a:p>
          <a:p>
            <a:pPr marL="0" indent="0">
              <a:buNone/>
            </a:pPr>
            <a:r>
              <a:rPr lang="en-US" dirty="0"/>
              <a:t>	</a:t>
            </a:r>
            <a:r>
              <a:rPr lang="en-US" dirty="0" err="1"/>
              <a:t>pq</a:t>
            </a:r>
            <a:r>
              <a:rPr lang="en-US" dirty="0"/>
              <a:t>=</a:t>
            </a:r>
            <a:r>
              <a:rPr lang="en-US" dirty="0" err="1"/>
              <a:t>nnode</a:t>
            </a:r>
            <a:r>
              <a:rPr lang="en-US" dirty="0"/>
              <a:t>;</a:t>
            </a:r>
          </a:p>
          <a:p>
            <a:pPr marL="0" indent="0">
              <a:buNone/>
            </a:pPr>
            <a:r>
              <a:rPr lang="en-US" dirty="0"/>
              <a:t>} } </a:t>
            </a:r>
          </a:p>
          <a:p>
            <a:pPr marL="0" indent="0">
              <a:buNone/>
            </a:pPr>
            <a:endParaRPr lang="en-US" dirty="0"/>
          </a:p>
        </p:txBody>
      </p:sp>
    </p:spTree>
    <p:extLst>
      <p:ext uri="{BB962C8B-B14F-4D97-AF65-F5344CB8AC3E}">
        <p14:creationId xmlns:p14="http://schemas.microsoft.com/office/powerpoint/2010/main" val="782906854"/>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74638"/>
            <a:ext cx="9448800" cy="411162"/>
          </a:xfrm>
        </p:spPr>
        <p:txBody>
          <a:bodyPr>
            <a:normAutofit fontScale="90000"/>
          </a:bodyPr>
          <a:lstStyle/>
          <a:p>
            <a:pPr algn="l"/>
            <a:r>
              <a:rPr lang="en-US" b="1" dirty="0"/>
              <a:t>Deletion </a:t>
            </a:r>
            <a:r>
              <a:rPr lang="en-US" b="1" i="1" dirty="0" smtClean="0"/>
              <a:t>function</a:t>
            </a:r>
            <a:endParaRPr lang="en-US" dirty="0"/>
          </a:p>
        </p:txBody>
      </p:sp>
      <p:sp>
        <p:nvSpPr>
          <p:cNvPr id="3" name="Content Placeholder 2"/>
          <p:cNvSpPr>
            <a:spLocks noGrp="1"/>
          </p:cNvSpPr>
          <p:nvPr>
            <p:ph idx="1"/>
          </p:nvPr>
        </p:nvSpPr>
        <p:spPr>
          <a:xfrm>
            <a:off x="762000" y="914399"/>
            <a:ext cx="10134600" cy="5562601"/>
          </a:xfrm>
        </p:spPr>
        <p:txBody>
          <a:bodyPr>
            <a:normAutofit fontScale="77500" lnSpcReduction="20000"/>
          </a:bodyPr>
          <a:lstStyle/>
          <a:p>
            <a:pPr marL="0" indent="0">
              <a:buNone/>
            </a:pPr>
            <a:r>
              <a:rPr lang="en-US" dirty="0"/>
              <a:t>void </a:t>
            </a:r>
            <a:r>
              <a:rPr lang="en-US" dirty="0" err="1"/>
              <a:t>delet</a:t>
            </a:r>
            <a:r>
              <a:rPr lang="en-US" dirty="0"/>
              <a:t>(</a:t>
            </a:r>
            <a:r>
              <a:rPr lang="en-US" dirty="0" err="1"/>
              <a:t>int</a:t>
            </a:r>
            <a:r>
              <a:rPr lang="en-US" dirty="0"/>
              <a:t> item</a:t>
            </a:r>
            <a:r>
              <a:rPr lang="en-US" dirty="0" smtClean="0"/>
              <a:t>){</a:t>
            </a:r>
            <a:endParaRPr lang="en-US" dirty="0"/>
          </a:p>
          <a:p>
            <a:pPr marL="0" indent="0">
              <a:buNone/>
            </a:pPr>
            <a:r>
              <a:rPr lang="en-US" dirty="0" smtClean="0"/>
              <a:t>	</a:t>
            </a:r>
            <a:r>
              <a:rPr lang="en-US" dirty="0" err="1" smtClean="0"/>
              <a:t>NodeType</a:t>
            </a:r>
            <a:r>
              <a:rPr lang="en-US" dirty="0" smtClean="0"/>
              <a:t> </a:t>
            </a:r>
            <a:r>
              <a:rPr lang="en-US" dirty="0"/>
              <a:t>*temp; </a:t>
            </a:r>
            <a:endParaRPr lang="en-US" dirty="0" smtClean="0"/>
          </a:p>
          <a:p>
            <a:pPr marL="0" indent="0">
              <a:buNone/>
            </a:pPr>
            <a:r>
              <a:rPr lang="en-US" dirty="0"/>
              <a:t>	</a:t>
            </a:r>
            <a:r>
              <a:rPr lang="en-US" dirty="0" smtClean="0"/>
              <a:t>if(</a:t>
            </a:r>
            <a:r>
              <a:rPr lang="en-US" dirty="0" err="1" smtClean="0"/>
              <a:t>pq</a:t>
            </a:r>
            <a:r>
              <a:rPr lang="en-US" dirty="0"/>
              <a:t>==NULL</a:t>
            </a:r>
            <a:r>
              <a:rPr lang="en-US" dirty="0" smtClean="0"/>
              <a:t>){</a:t>
            </a:r>
            <a:endParaRPr lang="en-US" dirty="0"/>
          </a:p>
          <a:p>
            <a:pPr marL="0" indent="0">
              <a:buNone/>
            </a:pPr>
            <a:r>
              <a:rPr lang="en-US" dirty="0" smtClean="0"/>
              <a:t>	  </a:t>
            </a:r>
            <a:r>
              <a:rPr lang="en-US" dirty="0" err="1" smtClean="0"/>
              <a:t>printf</a:t>
            </a:r>
            <a:r>
              <a:rPr lang="en-US" dirty="0"/>
              <a:t>(“void deletion\n”); exit(1);</a:t>
            </a:r>
          </a:p>
          <a:p>
            <a:pPr marL="0" indent="0">
              <a:buNone/>
            </a:pPr>
            <a:r>
              <a:rPr lang="en-US" dirty="0" smtClean="0"/>
              <a:t>	}</a:t>
            </a:r>
            <a:endParaRPr lang="en-US" dirty="0"/>
          </a:p>
          <a:p>
            <a:pPr marL="0" indent="0">
              <a:buNone/>
            </a:pPr>
            <a:r>
              <a:rPr lang="en-US" dirty="0" smtClean="0"/>
              <a:t>	 else </a:t>
            </a:r>
            <a:r>
              <a:rPr lang="en-US" dirty="0"/>
              <a:t>if(</a:t>
            </a:r>
            <a:r>
              <a:rPr lang="en-US" dirty="0" err="1"/>
              <a:t>pq</a:t>
            </a:r>
            <a:r>
              <a:rPr lang="en-US" dirty="0"/>
              <a:t>-&gt;next==</a:t>
            </a:r>
            <a:r>
              <a:rPr lang="en-US" dirty="0" err="1" smtClean="0"/>
              <a:t>pq</a:t>
            </a:r>
            <a:r>
              <a:rPr lang="en-US" dirty="0"/>
              <a:t>)</a:t>
            </a:r>
            <a:r>
              <a:rPr lang="en-US" dirty="0" smtClean="0"/>
              <a:t>{</a:t>
            </a:r>
          </a:p>
          <a:p>
            <a:pPr marL="0" indent="0">
              <a:buNone/>
            </a:pPr>
            <a:r>
              <a:rPr lang="en-US" dirty="0" smtClean="0"/>
              <a:t>	 </a:t>
            </a:r>
            <a:r>
              <a:rPr lang="en-US" dirty="0" err="1" smtClean="0"/>
              <a:t>printf</a:t>
            </a:r>
            <a:r>
              <a:rPr lang="en-US" dirty="0"/>
              <a:t>(“</a:t>
            </a:r>
            <a:r>
              <a:rPr lang="en-US" dirty="0" err="1"/>
              <a:t>poped</a:t>
            </a:r>
            <a:r>
              <a:rPr lang="en-US" dirty="0"/>
              <a:t> item=%d”, </a:t>
            </a:r>
            <a:r>
              <a:rPr lang="en-US" dirty="0" err="1"/>
              <a:t>pq</a:t>
            </a:r>
            <a:r>
              <a:rPr lang="en-US" dirty="0"/>
              <a:t>-&gt;info); </a:t>
            </a:r>
            <a:endParaRPr lang="en-US" dirty="0" smtClean="0"/>
          </a:p>
          <a:p>
            <a:pPr marL="0" indent="0">
              <a:buNone/>
            </a:pPr>
            <a:r>
              <a:rPr lang="en-US" dirty="0"/>
              <a:t>	</a:t>
            </a:r>
            <a:r>
              <a:rPr lang="en-US" dirty="0" smtClean="0"/>
              <a:t> </a:t>
            </a:r>
            <a:r>
              <a:rPr lang="en-US" dirty="0" err="1" smtClean="0"/>
              <a:t>pq</a:t>
            </a:r>
            <a:r>
              <a:rPr lang="en-US" dirty="0" smtClean="0"/>
              <a:t>=NULL</a:t>
            </a:r>
            <a:r>
              <a:rPr lang="en-US" dirty="0"/>
              <a:t>;</a:t>
            </a:r>
          </a:p>
          <a:p>
            <a:pPr marL="0" indent="0">
              <a:buNone/>
            </a:pPr>
            <a:r>
              <a:rPr lang="en-US" dirty="0" smtClean="0"/>
              <a:t>	}</a:t>
            </a:r>
            <a:r>
              <a:rPr lang="en-US" dirty="0"/>
              <a:t> </a:t>
            </a:r>
          </a:p>
          <a:p>
            <a:pPr marL="0" indent="0">
              <a:buNone/>
            </a:pPr>
            <a:r>
              <a:rPr lang="en-US" dirty="0" smtClean="0"/>
              <a:t>	else {</a:t>
            </a:r>
            <a:endParaRPr lang="en-US" dirty="0"/>
          </a:p>
          <a:p>
            <a:pPr marL="0" indent="0">
              <a:buNone/>
            </a:pPr>
            <a:r>
              <a:rPr lang="en-US" dirty="0" smtClean="0"/>
              <a:t>	</a:t>
            </a:r>
            <a:r>
              <a:rPr lang="en-US" dirty="0"/>
              <a:t> </a:t>
            </a:r>
            <a:r>
              <a:rPr lang="en-US" dirty="0" smtClean="0"/>
              <a:t> temp=</a:t>
            </a:r>
            <a:r>
              <a:rPr lang="en-US" dirty="0" err="1" smtClean="0"/>
              <a:t>pq</a:t>
            </a:r>
            <a:r>
              <a:rPr lang="en-US" dirty="0" smtClean="0"/>
              <a:t>-</a:t>
            </a:r>
            <a:r>
              <a:rPr lang="en-US" dirty="0"/>
              <a:t>&gt;next;</a:t>
            </a:r>
          </a:p>
          <a:p>
            <a:pPr marL="0" indent="0">
              <a:buNone/>
            </a:pPr>
            <a:r>
              <a:rPr lang="en-US" dirty="0" smtClean="0"/>
              <a:t>	  </a:t>
            </a:r>
            <a:r>
              <a:rPr lang="en-US" dirty="0" err="1" smtClean="0"/>
              <a:t>pq</a:t>
            </a:r>
            <a:r>
              <a:rPr lang="en-US" dirty="0" smtClean="0"/>
              <a:t>-</a:t>
            </a:r>
            <a:r>
              <a:rPr lang="en-US" dirty="0"/>
              <a:t>&gt;next=temp-&gt;next;</a:t>
            </a:r>
          </a:p>
          <a:p>
            <a:pPr marL="0" indent="0">
              <a:buNone/>
            </a:pPr>
            <a:r>
              <a:rPr lang="en-US" dirty="0" smtClean="0"/>
              <a:t>	  </a:t>
            </a:r>
            <a:r>
              <a:rPr lang="en-US" dirty="0" err="1" smtClean="0"/>
              <a:t>printf</a:t>
            </a:r>
            <a:r>
              <a:rPr lang="en-US" dirty="0"/>
              <a:t>(“</a:t>
            </a:r>
            <a:r>
              <a:rPr lang="en-US" dirty="0" err="1"/>
              <a:t>poped</a:t>
            </a:r>
            <a:r>
              <a:rPr lang="en-US" dirty="0"/>
              <a:t> item=%d”, temp-&gt;info); free(temp);</a:t>
            </a:r>
          </a:p>
          <a:p>
            <a:pPr marL="0" indent="0">
              <a:buNone/>
            </a:pPr>
            <a:r>
              <a:rPr lang="en-US" dirty="0" smtClean="0"/>
              <a:t>	} }</a:t>
            </a:r>
            <a:endParaRPr lang="en-US" dirty="0"/>
          </a:p>
          <a:p>
            <a:pPr marL="0" indent="0">
              <a:buNone/>
            </a:pPr>
            <a:endParaRPr lang="en-US" dirty="0"/>
          </a:p>
        </p:txBody>
      </p:sp>
    </p:spTree>
    <p:extLst>
      <p:ext uri="{BB962C8B-B14F-4D97-AF65-F5344CB8AC3E}">
        <p14:creationId xmlns:p14="http://schemas.microsoft.com/office/powerpoint/2010/main" val="3808526269"/>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4638"/>
            <a:ext cx="10058400" cy="715962"/>
          </a:xfrm>
        </p:spPr>
        <p:style>
          <a:lnRef idx="3">
            <a:schemeClr val="lt1"/>
          </a:lnRef>
          <a:fillRef idx="1">
            <a:schemeClr val="accent4"/>
          </a:fillRef>
          <a:effectRef idx="1">
            <a:schemeClr val="accent4"/>
          </a:effectRef>
          <a:fontRef idx="minor">
            <a:schemeClr val="lt1"/>
          </a:fontRef>
        </p:style>
        <p:txBody>
          <a:bodyPr>
            <a:normAutofit fontScale="90000"/>
          </a:bodyPr>
          <a:lstStyle/>
          <a:p>
            <a:pPr algn="l"/>
            <a:r>
              <a:rPr lang="en-US" b="1" i="1" dirty="0"/>
              <a:t>Doubly Linked </a:t>
            </a:r>
            <a:r>
              <a:rPr lang="en-US" b="1" i="1" dirty="0" smtClean="0"/>
              <a:t>List</a:t>
            </a:r>
            <a:endParaRPr lang="en-US" dirty="0"/>
          </a:p>
        </p:txBody>
      </p:sp>
      <p:sp>
        <p:nvSpPr>
          <p:cNvPr id="3" name="Content Placeholder 2"/>
          <p:cNvSpPr>
            <a:spLocks noGrp="1"/>
          </p:cNvSpPr>
          <p:nvPr>
            <p:ph idx="1"/>
          </p:nvPr>
        </p:nvSpPr>
        <p:spPr>
          <a:xfrm>
            <a:off x="838200" y="1066800"/>
            <a:ext cx="10058400" cy="5257800"/>
          </a:xfrm>
        </p:spPr>
        <p:txBody>
          <a:bodyPr>
            <a:normAutofit/>
          </a:bodyPr>
          <a:lstStyle/>
          <a:p>
            <a:r>
              <a:rPr lang="en-US" sz="2800" dirty="0"/>
              <a:t>A linked list in which all nodes are linked together by multiple number of links </a:t>
            </a:r>
            <a:r>
              <a:rPr lang="en-US" sz="2800" dirty="0" smtClean="0"/>
              <a:t>i.e. </a:t>
            </a:r>
            <a:r>
              <a:rPr lang="en-US" sz="2800" dirty="0"/>
              <a:t>each node contains three fields (two pointer fields and one data field) rather than two fields is called doubly linked list.</a:t>
            </a:r>
          </a:p>
          <a:p>
            <a:r>
              <a:rPr lang="en-US" sz="2800" dirty="0"/>
              <a:t>It provides bidirectional traversal</a:t>
            </a:r>
            <a:r>
              <a:rPr lang="en-US" sz="2800" dirty="0" smtClean="0"/>
              <a:t>.</a:t>
            </a:r>
            <a:endParaRPr lang="en-US" sz="2800" dirty="0"/>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7512" t="55000" r="48779" b="31325"/>
          <a:stretch/>
        </p:blipFill>
        <p:spPr bwMode="auto">
          <a:xfrm>
            <a:off x="1752601" y="3599428"/>
            <a:ext cx="6400800" cy="2179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18664039"/>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457200" y="1752600"/>
            <a:ext cx="10634031" cy="3048000"/>
          </a:xfrm>
          <a:prstGeom prst="rect">
            <a:avLst/>
          </a:prstGeom>
        </p:spPr>
      </p:pic>
    </p:spTree>
    <p:extLst>
      <p:ext uri="{BB962C8B-B14F-4D97-AF65-F5344CB8AC3E}">
        <p14:creationId xmlns:p14="http://schemas.microsoft.com/office/powerpoint/2010/main" val="31248179"/>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28600"/>
            <a:ext cx="9753600" cy="868362"/>
          </a:xfrm>
        </p:spPr>
        <p:style>
          <a:lnRef idx="3">
            <a:schemeClr val="lt1"/>
          </a:lnRef>
          <a:fillRef idx="1">
            <a:schemeClr val="accent4"/>
          </a:fillRef>
          <a:effectRef idx="1">
            <a:schemeClr val="accent4"/>
          </a:effectRef>
          <a:fontRef idx="minor">
            <a:schemeClr val="lt1"/>
          </a:fontRef>
        </p:style>
        <p:txBody>
          <a:bodyPr>
            <a:normAutofit/>
          </a:bodyPr>
          <a:lstStyle/>
          <a:p>
            <a:pPr algn="l"/>
            <a:r>
              <a:rPr lang="en-US" b="1" i="1" dirty="0">
                <a:solidFill>
                  <a:schemeClr val="bg1"/>
                </a:solidFill>
              </a:rPr>
              <a:t>C representation of doubly linked list:</a:t>
            </a:r>
            <a:endParaRPr lang="en-US" dirty="0">
              <a:solidFill>
                <a:schemeClr val="bg1"/>
              </a:solidFill>
            </a:endParaRPr>
          </a:p>
        </p:txBody>
      </p:sp>
      <p:sp>
        <p:nvSpPr>
          <p:cNvPr id="3" name="Content Placeholder 2"/>
          <p:cNvSpPr>
            <a:spLocks noGrp="1"/>
          </p:cNvSpPr>
          <p:nvPr>
            <p:ph idx="1"/>
          </p:nvPr>
        </p:nvSpPr>
        <p:spPr>
          <a:xfrm>
            <a:off x="1066800" y="1295401"/>
            <a:ext cx="9753600" cy="4830763"/>
          </a:xfrm>
        </p:spPr>
        <p:txBody>
          <a:bodyPr/>
          <a:lstStyle/>
          <a:p>
            <a:pPr marL="0" indent="0">
              <a:buNone/>
            </a:pPr>
            <a:r>
              <a:rPr lang="en-US" b="1" dirty="0" err="1" smtClean="0"/>
              <a:t>struct</a:t>
            </a:r>
            <a:r>
              <a:rPr lang="en-US" dirty="0" smtClean="0"/>
              <a:t> </a:t>
            </a:r>
            <a:r>
              <a:rPr lang="en-US" dirty="0"/>
              <a:t>node</a:t>
            </a:r>
          </a:p>
          <a:p>
            <a:pPr marL="0" indent="0">
              <a:buNone/>
            </a:pPr>
            <a:r>
              <a:rPr lang="en-US" dirty="0"/>
              <a:t>{</a:t>
            </a:r>
          </a:p>
          <a:p>
            <a:pPr marL="0" indent="0">
              <a:buNone/>
            </a:pPr>
            <a:r>
              <a:rPr lang="en-US" dirty="0" smtClean="0"/>
              <a:t>	</a:t>
            </a:r>
            <a:r>
              <a:rPr lang="en-US" dirty="0" err="1" smtClean="0"/>
              <a:t>int</a:t>
            </a:r>
            <a:r>
              <a:rPr lang="en-US" dirty="0" smtClean="0"/>
              <a:t> </a:t>
            </a:r>
            <a:r>
              <a:rPr lang="en-US" dirty="0"/>
              <a:t>info;</a:t>
            </a:r>
          </a:p>
          <a:p>
            <a:pPr marL="0" indent="0">
              <a:buNone/>
            </a:pPr>
            <a:r>
              <a:rPr lang="en-US" dirty="0" smtClean="0"/>
              <a:t>	</a:t>
            </a:r>
            <a:r>
              <a:rPr lang="en-US" dirty="0" err="1" smtClean="0"/>
              <a:t>struct</a:t>
            </a:r>
            <a:r>
              <a:rPr lang="en-US" dirty="0" smtClean="0"/>
              <a:t> </a:t>
            </a:r>
            <a:r>
              <a:rPr lang="en-US" dirty="0"/>
              <a:t>node *</a:t>
            </a:r>
            <a:r>
              <a:rPr lang="en-US" dirty="0" err="1"/>
              <a:t>prev</a:t>
            </a:r>
            <a:r>
              <a:rPr lang="en-US" dirty="0"/>
              <a:t>; </a:t>
            </a:r>
            <a:endParaRPr lang="en-US" dirty="0" smtClean="0"/>
          </a:p>
          <a:p>
            <a:pPr marL="0" indent="0">
              <a:buNone/>
            </a:pPr>
            <a:r>
              <a:rPr lang="en-US" dirty="0" smtClean="0"/>
              <a:t>	</a:t>
            </a:r>
            <a:r>
              <a:rPr lang="en-US" dirty="0" err="1" smtClean="0"/>
              <a:t>struct</a:t>
            </a:r>
            <a:r>
              <a:rPr lang="en-US" dirty="0" smtClean="0"/>
              <a:t> </a:t>
            </a:r>
            <a:r>
              <a:rPr lang="en-US" dirty="0"/>
              <a:t>node *next;</a:t>
            </a:r>
          </a:p>
          <a:p>
            <a:pPr marL="0" indent="0">
              <a:buNone/>
            </a:pPr>
            <a:r>
              <a:rPr lang="en-US" dirty="0"/>
              <a:t>};</a:t>
            </a:r>
          </a:p>
          <a:p>
            <a:pPr marL="0" indent="0">
              <a:buNone/>
            </a:pPr>
            <a:r>
              <a:rPr lang="en-US" dirty="0" err="1"/>
              <a:t>typedef</a:t>
            </a:r>
            <a:r>
              <a:rPr lang="en-US" dirty="0"/>
              <a:t> </a:t>
            </a:r>
            <a:r>
              <a:rPr lang="en-US" dirty="0" err="1"/>
              <a:t>struct</a:t>
            </a:r>
            <a:r>
              <a:rPr lang="en-US" dirty="0"/>
              <a:t> </a:t>
            </a:r>
            <a:r>
              <a:rPr lang="en-US" dirty="0" smtClean="0"/>
              <a:t>node *temp,* </a:t>
            </a:r>
            <a:r>
              <a:rPr lang="en-US" dirty="0" err="1" smtClean="0"/>
              <a:t>newNode</a:t>
            </a:r>
            <a:r>
              <a:rPr lang="en-US" dirty="0" smtClean="0"/>
              <a:t> *head=NULL</a:t>
            </a:r>
            <a:r>
              <a:rPr lang="en-US" dirty="0"/>
              <a:t>;</a:t>
            </a:r>
          </a:p>
        </p:txBody>
      </p:sp>
    </p:spTree>
    <p:extLst>
      <p:ext uri="{BB962C8B-B14F-4D97-AF65-F5344CB8AC3E}">
        <p14:creationId xmlns:p14="http://schemas.microsoft.com/office/powerpoint/2010/main" val="505271969"/>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04800"/>
            <a:ext cx="10134600" cy="715962"/>
          </a:xfrm>
        </p:spPr>
        <p:style>
          <a:lnRef idx="3">
            <a:schemeClr val="lt1"/>
          </a:lnRef>
          <a:fillRef idx="1">
            <a:schemeClr val="accent4"/>
          </a:fillRef>
          <a:effectRef idx="1">
            <a:schemeClr val="accent4"/>
          </a:effectRef>
          <a:fontRef idx="minor">
            <a:schemeClr val="lt1"/>
          </a:fontRef>
        </p:style>
        <p:txBody>
          <a:bodyPr>
            <a:noAutofit/>
          </a:bodyPr>
          <a:lstStyle/>
          <a:p>
            <a:pPr algn="l"/>
            <a:r>
              <a:rPr lang="en-US" sz="2800" b="1" i="1" dirty="0">
                <a:solidFill>
                  <a:schemeClr val="bg1"/>
                </a:solidFill>
              </a:rPr>
              <a:t>Algorithms to insert a node in a doubly linked list</a:t>
            </a:r>
            <a:endParaRPr lang="en-US" sz="2800" dirty="0">
              <a:solidFill>
                <a:schemeClr val="bg1"/>
              </a:solidFill>
            </a:endParaRPr>
          </a:p>
        </p:txBody>
      </p:sp>
      <p:sp>
        <p:nvSpPr>
          <p:cNvPr id="3" name="Content Placeholder 2"/>
          <p:cNvSpPr>
            <a:spLocks noGrp="1"/>
          </p:cNvSpPr>
          <p:nvPr>
            <p:ph idx="1"/>
          </p:nvPr>
        </p:nvSpPr>
        <p:spPr>
          <a:xfrm>
            <a:off x="914400" y="1219200"/>
            <a:ext cx="10668000" cy="5211763"/>
          </a:xfrm>
        </p:spPr>
        <p:txBody>
          <a:bodyPr>
            <a:normAutofit fontScale="92500" lnSpcReduction="10000"/>
          </a:bodyPr>
          <a:lstStyle/>
          <a:p>
            <a:pPr marL="0" indent="0">
              <a:buNone/>
            </a:pPr>
            <a:r>
              <a:rPr lang="en-US" sz="2600" b="1" i="1" u="sng" dirty="0"/>
              <a:t>Algorithm to insert a node at the beginning of a doubl</a:t>
            </a:r>
            <a:r>
              <a:rPr lang="en-US" sz="2600" b="1" i="1" u="dbl" dirty="0"/>
              <a:t>y </a:t>
            </a:r>
            <a:r>
              <a:rPr lang="en-US" sz="2600" b="1" i="1" u="sng" dirty="0"/>
              <a:t>linked list</a:t>
            </a:r>
            <a:r>
              <a:rPr lang="en-US" sz="2600" dirty="0"/>
              <a:t>: </a:t>
            </a:r>
          </a:p>
          <a:p>
            <a:pPr marL="0" indent="0">
              <a:buNone/>
            </a:pPr>
            <a:r>
              <a:rPr lang="en-US" dirty="0" smtClean="0"/>
              <a:t>1. Allocate </a:t>
            </a:r>
            <a:r>
              <a:rPr lang="en-US" dirty="0"/>
              <a:t>memory for the new node as,</a:t>
            </a:r>
          </a:p>
          <a:p>
            <a:pPr marL="0" indent="0">
              <a:buNone/>
            </a:pPr>
            <a:r>
              <a:rPr lang="en-US" dirty="0" err="1" smtClean="0"/>
              <a:t>newnode</a:t>
            </a:r>
            <a:r>
              <a:rPr lang="en-US" dirty="0"/>
              <a:t>=(</a:t>
            </a:r>
            <a:r>
              <a:rPr lang="en-US" dirty="0" err="1"/>
              <a:t>NodeType</a:t>
            </a:r>
            <a:r>
              <a:rPr lang="en-US" dirty="0"/>
              <a:t>*)</a:t>
            </a:r>
            <a:r>
              <a:rPr lang="en-US" dirty="0" err="1"/>
              <a:t>malloc</a:t>
            </a:r>
            <a:r>
              <a:rPr lang="en-US" dirty="0"/>
              <a:t>(</a:t>
            </a:r>
            <a:r>
              <a:rPr lang="en-US" dirty="0" err="1"/>
              <a:t>sizeof</a:t>
            </a:r>
            <a:r>
              <a:rPr lang="en-US" dirty="0"/>
              <a:t>(</a:t>
            </a:r>
            <a:r>
              <a:rPr lang="en-US" dirty="0" err="1"/>
              <a:t>NodeType</a:t>
            </a:r>
            <a:r>
              <a:rPr lang="en-US" dirty="0"/>
              <a:t>)) </a:t>
            </a:r>
            <a:endParaRPr lang="en-US" dirty="0" smtClean="0"/>
          </a:p>
          <a:p>
            <a:pPr marL="0" indent="0">
              <a:buNone/>
            </a:pPr>
            <a:r>
              <a:rPr lang="en-US" dirty="0" smtClean="0"/>
              <a:t>2</a:t>
            </a:r>
            <a:r>
              <a:rPr lang="en-US" dirty="0"/>
              <a:t>. Assign value to info field of a new node</a:t>
            </a:r>
          </a:p>
          <a:p>
            <a:pPr marL="0" indent="0">
              <a:buNone/>
            </a:pPr>
            <a:r>
              <a:rPr lang="en-US" dirty="0" smtClean="0"/>
              <a:t>	set </a:t>
            </a:r>
            <a:r>
              <a:rPr lang="en-US" dirty="0" err="1"/>
              <a:t>newnode</a:t>
            </a:r>
            <a:r>
              <a:rPr lang="en-US" dirty="0"/>
              <a:t>-&gt;info=item</a:t>
            </a:r>
          </a:p>
          <a:p>
            <a:pPr marL="0" indent="0">
              <a:buNone/>
            </a:pPr>
            <a:r>
              <a:rPr lang="en-US" dirty="0"/>
              <a:t>3. set </a:t>
            </a:r>
            <a:r>
              <a:rPr lang="en-US" dirty="0" err="1"/>
              <a:t>newnode</a:t>
            </a:r>
            <a:r>
              <a:rPr lang="en-US" dirty="0"/>
              <a:t>-&gt;</a:t>
            </a:r>
            <a:r>
              <a:rPr lang="en-US" dirty="0" err="1"/>
              <a:t>prev</a:t>
            </a:r>
            <a:r>
              <a:rPr lang="en-US" dirty="0"/>
              <a:t>=</a:t>
            </a:r>
            <a:r>
              <a:rPr lang="en-US" dirty="0" err="1"/>
              <a:t>newnode</a:t>
            </a:r>
            <a:r>
              <a:rPr lang="en-US" dirty="0"/>
              <a:t>-&gt;</a:t>
            </a:r>
            <a:r>
              <a:rPr lang="en-US" dirty="0" smtClean="0"/>
              <a:t>next=NULL </a:t>
            </a:r>
          </a:p>
          <a:p>
            <a:pPr marL="0" indent="0">
              <a:buNone/>
            </a:pPr>
            <a:r>
              <a:rPr lang="en-US" dirty="0" smtClean="0"/>
              <a:t>4</a:t>
            </a:r>
            <a:r>
              <a:rPr lang="en-US" dirty="0"/>
              <a:t>. set </a:t>
            </a:r>
            <a:r>
              <a:rPr lang="en-US" dirty="0" err="1"/>
              <a:t>newnode</a:t>
            </a:r>
            <a:r>
              <a:rPr lang="en-US" dirty="0"/>
              <a:t>-&gt;next=head</a:t>
            </a:r>
          </a:p>
          <a:p>
            <a:pPr marL="0" indent="0">
              <a:buNone/>
            </a:pPr>
            <a:r>
              <a:rPr lang="en-US" dirty="0"/>
              <a:t>5. set head-&gt;</a:t>
            </a:r>
            <a:r>
              <a:rPr lang="en-US" dirty="0" err="1"/>
              <a:t>prev</a:t>
            </a:r>
            <a:r>
              <a:rPr lang="en-US" dirty="0"/>
              <a:t>=</a:t>
            </a:r>
            <a:r>
              <a:rPr lang="en-US" dirty="0" err="1"/>
              <a:t>newnode</a:t>
            </a:r>
            <a:r>
              <a:rPr lang="en-US" dirty="0"/>
              <a:t> </a:t>
            </a:r>
            <a:endParaRPr lang="en-US" dirty="0" smtClean="0"/>
          </a:p>
          <a:p>
            <a:pPr marL="0" indent="0">
              <a:buNone/>
            </a:pPr>
            <a:r>
              <a:rPr lang="en-US" dirty="0" smtClean="0"/>
              <a:t>6</a:t>
            </a:r>
            <a:r>
              <a:rPr lang="en-US" dirty="0"/>
              <a:t>. set head=</a:t>
            </a:r>
            <a:r>
              <a:rPr lang="en-US" dirty="0" err="1"/>
              <a:t>newnode</a:t>
            </a:r>
            <a:endParaRPr lang="en-US" dirty="0"/>
          </a:p>
          <a:p>
            <a:pPr marL="0" indent="0">
              <a:buNone/>
            </a:pPr>
            <a:r>
              <a:rPr lang="en-US" dirty="0"/>
              <a:t>7. </a:t>
            </a:r>
            <a:r>
              <a:rPr lang="en-US" dirty="0" smtClean="0"/>
              <a:t>End</a:t>
            </a:r>
            <a:endParaRPr lang="en-US" dirty="0"/>
          </a:p>
        </p:txBody>
      </p:sp>
    </p:spTree>
    <p:extLst>
      <p:ext uri="{BB962C8B-B14F-4D97-AF65-F5344CB8AC3E}">
        <p14:creationId xmlns:p14="http://schemas.microsoft.com/office/powerpoint/2010/main" val="3560782218"/>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74638"/>
            <a:ext cx="10591800" cy="868362"/>
          </a:xfrm>
        </p:spPr>
        <p:style>
          <a:lnRef idx="3">
            <a:schemeClr val="lt1"/>
          </a:lnRef>
          <a:fillRef idx="1">
            <a:schemeClr val="accent4"/>
          </a:fillRef>
          <a:effectRef idx="1">
            <a:schemeClr val="accent4"/>
          </a:effectRef>
          <a:fontRef idx="minor">
            <a:schemeClr val="lt1"/>
          </a:fontRef>
        </p:style>
        <p:txBody>
          <a:bodyPr>
            <a:noAutofit/>
          </a:bodyPr>
          <a:lstStyle/>
          <a:p>
            <a:pPr algn="l"/>
            <a:r>
              <a:rPr lang="en-US" sz="3200" b="1" i="1" dirty="0">
                <a:solidFill>
                  <a:schemeClr val="bg1"/>
                </a:solidFill>
              </a:rPr>
              <a:t>C function to insert a node at the beginning of a </a:t>
            </a:r>
            <a:r>
              <a:rPr lang="en-US" sz="3200" b="1" i="1" dirty="0" smtClean="0">
                <a:solidFill>
                  <a:schemeClr val="bg1"/>
                </a:solidFill>
              </a:rPr>
              <a:t>DLL</a:t>
            </a:r>
            <a:endParaRPr lang="en-US" sz="3200" dirty="0">
              <a:solidFill>
                <a:schemeClr val="bg1"/>
              </a:solidFill>
            </a:endParaRPr>
          </a:p>
        </p:txBody>
      </p:sp>
      <p:sp>
        <p:nvSpPr>
          <p:cNvPr id="3" name="Content Placeholder 2"/>
          <p:cNvSpPr>
            <a:spLocks noGrp="1"/>
          </p:cNvSpPr>
          <p:nvPr>
            <p:ph idx="1"/>
          </p:nvPr>
        </p:nvSpPr>
        <p:spPr>
          <a:xfrm>
            <a:off x="685800" y="1371600"/>
            <a:ext cx="10591800" cy="5029200"/>
          </a:xfrm>
        </p:spPr>
        <p:txBody>
          <a:bodyPr>
            <a:normAutofit lnSpcReduction="10000"/>
          </a:bodyPr>
          <a:lstStyle/>
          <a:p>
            <a:pPr marL="0" indent="0">
              <a:buNone/>
            </a:pPr>
            <a:r>
              <a:rPr lang="en-US" dirty="0" smtClean="0"/>
              <a:t>void </a:t>
            </a:r>
            <a:r>
              <a:rPr lang="en-US" dirty="0" err="1" smtClean="0"/>
              <a:t>Ins_Beg</a:t>
            </a:r>
            <a:r>
              <a:rPr lang="en-US" dirty="0" smtClean="0"/>
              <a:t>(</a:t>
            </a:r>
            <a:r>
              <a:rPr lang="en-US" dirty="0" err="1" smtClean="0"/>
              <a:t>int</a:t>
            </a:r>
            <a:r>
              <a:rPr lang="en-US" dirty="0" smtClean="0"/>
              <a:t> </a:t>
            </a:r>
            <a:r>
              <a:rPr lang="en-US" dirty="0"/>
              <a:t>Item</a:t>
            </a:r>
            <a:r>
              <a:rPr lang="en-US" dirty="0" smtClean="0"/>
              <a:t>){</a:t>
            </a:r>
            <a:endParaRPr lang="en-US" dirty="0"/>
          </a:p>
          <a:p>
            <a:pPr marL="0" indent="0">
              <a:buNone/>
            </a:pPr>
            <a:r>
              <a:rPr lang="en-US" dirty="0" smtClean="0"/>
              <a:t>	</a:t>
            </a:r>
            <a:r>
              <a:rPr lang="en-US" dirty="0" err="1" smtClean="0"/>
              <a:t>NodeType</a:t>
            </a:r>
            <a:r>
              <a:rPr lang="en-US" dirty="0" smtClean="0"/>
              <a:t> </a:t>
            </a:r>
            <a:r>
              <a:rPr lang="en-US" dirty="0"/>
              <a:t>*</a:t>
            </a:r>
            <a:r>
              <a:rPr lang="en-US" dirty="0" err="1"/>
              <a:t>newnode</a:t>
            </a:r>
            <a:r>
              <a:rPr lang="en-US" dirty="0"/>
              <a:t>; </a:t>
            </a:r>
            <a:r>
              <a:rPr lang="en-US" dirty="0" smtClean="0"/>
              <a:t>	</a:t>
            </a:r>
          </a:p>
          <a:p>
            <a:pPr marL="0" indent="0">
              <a:buNone/>
            </a:pPr>
            <a:r>
              <a:rPr lang="en-US" dirty="0"/>
              <a:t>	</a:t>
            </a:r>
            <a:r>
              <a:rPr lang="en-US" dirty="0" err="1" smtClean="0"/>
              <a:t>newNode</a:t>
            </a:r>
            <a:r>
              <a:rPr lang="en-US" dirty="0" smtClean="0"/>
              <a:t>=(</a:t>
            </a:r>
            <a:r>
              <a:rPr lang="en-US" dirty="0" err="1" smtClean="0"/>
              <a:t>struct</a:t>
            </a:r>
            <a:r>
              <a:rPr lang="en-US" dirty="0" smtClean="0"/>
              <a:t> node*)</a:t>
            </a:r>
            <a:r>
              <a:rPr lang="en-US" dirty="0" err="1" smtClean="0"/>
              <a:t>malloc</a:t>
            </a:r>
            <a:r>
              <a:rPr lang="en-US" dirty="0" smtClean="0"/>
              <a:t>(</a:t>
            </a:r>
            <a:r>
              <a:rPr lang="en-US" dirty="0" err="1" smtClean="0"/>
              <a:t>sizeof</a:t>
            </a:r>
            <a:r>
              <a:rPr lang="en-US" dirty="0" smtClean="0"/>
              <a:t>(</a:t>
            </a:r>
            <a:r>
              <a:rPr lang="en-US" dirty="0" err="1" smtClean="0"/>
              <a:t>struct</a:t>
            </a:r>
            <a:r>
              <a:rPr lang="en-US" dirty="0" smtClean="0"/>
              <a:t> node)); 	</a:t>
            </a:r>
            <a:r>
              <a:rPr lang="en-US" dirty="0" err="1" smtClean="0"/>
              <a:t>newNode</a:t>
            </a:r>
            <a:r>
              <a:rPr lang="en-US" dirty="0" smtClean="0"/>
              <a:t>-</a:t>
            </a:r>
            <a:r>
              <a:rPr lang="en-US" dirty="0"/>
              <a:t>&gt;info=item;</a:t>
            </a:r>
          </a:p>
          <a:p>
            <a:pPr marL="0" indent="0">
              <a:buNone/>
            </a:pPr>
            <a:r>
              <a:rPr lang="en-US" dirty="0" smtClean="0"/>
              <a:t>	</a:t>
            </a:r>
            <a:r>
              <a:rPr lang="en-US" dirty="0" err="1" smtClean="0"/>
              <a:t>newNode</a:t>
            </a:r>
            <a:r>
              <a:rPr lang="en-US" dirty="0" smtClean="0"/>
              <a:t>-</a:t>
            </a:r>
            <a:r>
              <a:rPr lang="en-US" dirty="0"/>
              <a:t>&gt;</a:t>
            </a:r>
            <a:r>
              <a:rPr lang="en-US" dirty="0" err="1" smtClean="0"/>
              <a:t>prev</a:t>
            </a:r>
            <a:r>
              <a:rPr lang="en-US" dirty="0" smtClean="0"/>
              <a:t>=</a:t>
            </a:r>
            <a:r>
              <a:rPr lang="en-US" dirty="0" err="1" smtClean="0"/>
              <a:t>newNode</a:t>
            </a:r>
            <a:r>
              <a:rPr lang="en-US" dirty="0" smtClean="0"/>
              <a:t>-</a:t>
            </a:r>
            <a:r>
              <a:rPr lang="en-US" dirty="0"/>
              <a:t>&gt;next=NULL</a:t>
            </a:r>
            <a:r>
              <a:rPr lang="en-US" dirty="0" smtClean="0"/>
              <a:t>;</a:t>
            </a:r>
            <a:endParaRPr lang="en-US" dirty="0"/>
          </a:p>
          <a:p>
            <a:pPr marL="0" indent="0">
              <a:buNone/>
            </a:pPr>
            <a:r>
              <a:rPr lang="en-US" dirty="0" smtClean="0"/>
              <a:t>	</a:t>
            </a:r>
            <a:r>
              <a:rPr lang="en-US" dirty="0" err="1" smtClean="0"/>
              <a:t>newNode</a:t>
            </a:r>
            <a:r>
              <a:rPr lang="en-US" dirty="0" smtClean="0"/>
              <a:t>-</a:t>
            </a:r>
            <a:r>
              <a:rPr lang="en-US" dirty="0"/>
              <a:t>&gt;next=head; </a:t>
            </a:r>
            <a:endParaRPr lang="en-US" dirty="0" smtClean="0"/>
          </a:p>
          <a:p>
            <a:pPr marL="0" indent="0">
              <a:buNone/>
            </a:pPr>
            <a:r>
              <a:rPr lang="en-US" dirty="0" smtClean="0"/>
              <a:t>	head-</a:t>
            </a:r>
            <a:r>
              <a:rPr lang="en-US" dirty="0"/>
              <a:t>&gt;</a:t>
            </a:r>
            <a:r>
              <a:rPr lang="en-US" dirty="0" err="1" smtClean="0"/>
              <a:t>prev</a:t>
            </a:r>
            <a:r>
              <a:rPr lang="en-US" dirty="0" smtClean="0"/>
              <a:t>=</a:t>
            </a:r>
            <a:r>
              <a:rPr lang="en-US" dirty="0" err="1" smtClean="0"/>
              <a:t>newNode</a:t>
            </a:r>
            <a:r>
              <a:rPr lang="en-US" dirty="0"/>
              <a:t>; </a:t>
            </a:r>
            <a:endParaRPr lang="en-US" dirty="0" smtClean="0"/>
          </a:p>
          <a:p>
            <a:pPr marL="0" indent="0">
              <a:buNone/>
            </a:pPr>
            <a:r>
              <a:rPr lang="en-US" dirty="0" smtClean="0"/>
              <a:t>	head=</a:t>
            </a:r>
            <a:r>
              <a:rPr lang="en-US" dirty="0" err="1" smtClean="0"/>
              <a:t>newNode</a:t>
            </a:r>
            <a:r>
              <a:rPr lang="en-US" dirty="0" smtClean="0"/>
              <a:t>;</a:t>
            </a:r>
          </a:p>
          <a:p>
            <a:pPr marL="0" indent="0">
              <a:buNone/>
            </a:pPr>
            <a:r>
              <a:rPr lang="en-US" dirty="0" smtClean="0"/>
              <a:t>}</a:t>
            </a:r>
            <a:endParaRPr lang="en-US" dirty="0"/>
          </a:p>
        </p:txBody>
      </p:sp>
    </p:spTree>
    <p:extLst>
      <p:ext uri="{BB962C8B-B14F-4D97-AF65-F5344CB8AC3E}">
        <p14:creationId xmlns:p14="http://schemas.microsoft.com/office/powerpoint/2010/main" val="1234926750"/>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10896600" cy="868362"/>
          </a:xfrm>
        </p:spPr>
        <p:style>
          <a:lnRef idx="3">
            <a:schemeClr val="lt1"/>
          </a:lnRef>
          <a:fillRef idx="1">
            <a:schemeClr val="accent4"/>
          </a:fillRef>
          <a:effectRef idx="1">
            <a:schemeClr val="accent4"/>
          </a:effectRef>
          <a:fontRef idx="minor">
            <a:schemeClr val="lt1"/>
          </a:fontRef>
        </p:style>
        <p:txBody>
          <a:bodyPr>
            <a:noAutofit/>
          </a:bodyPr>
          <a:lstStyle/>
          <a:p>
            <a:r>
              <a:rPr lang="en-US" sz="3200" b="1" i="1" dirty="0"/>
              <a:t>Algorithm to insert a node at the end of a doubly linked list</a:t>
            </a:r>
            <a:endParaRPr lang="en-US" sz="3200" dirty="0"/>
          </a:p>
        </p:txBody>
      </p:sp>
      <p:sp>
        <p:nvSpPr>
          <p:cNvPr id="3" name="Content Placeholder 2"/>
          <p:cNvSpPr>
            <a:spLocks noGrp="1"/>
          </p:cNvSpPr>
          <p:nvPr>
            <p:ph idx="1"/>
          </p:nvPr>
        </p:nvSpPr>
        <p:spPr>
          <a:xfrm>
            <a:off x="685800" y="1143001"/>
            <a:ext cx="10744200" cy="5410200"/>
          </a:xfrm>
        </p:spPr>
        <p:txBody>
          <a:bodyPr>
            <a:normAutofit fontScale="70000" lnSpcReduction="20000"/>
          </a:bodyPr>
          <a:lstStyle/>
          <a:p>
            <a:pPr marL="0" indent="0">
              <a:buNone/>
            </a:pPr>
            <a:r>
              <a:rPr lang="en-US" dirty="0" smtClean="0"/>
              <a:t>1</a:t>
            </a:r>
            <a:r>
              <a:rPr lang="en-US" dirty="0"/>
              <a:t>. Allocate memory for the new node as,</a:t>
            </a:r>
          </a:p>
          <a:p>
            <a:pPr marL="0" indent="0">
              <a:buNone/>
            </a:pPr>
            <a:r>
              <a:rPr lang="en-US" dirty="0" err="1" smtClean="0"/>
              <a:t>newNode</a:t>
            </a:r>
            <a:r>
              <a:rPr lang="en-US" dirty="0" smtClean="0"/>
              <a:t>=(</a:t>
            </a:r>
            <a:r>
              <a:rPr lang="en-US" dirty="0" err="1" smtClean="0"/>
              <a:t>struct</a:t>
            </a:r>
            <a:r>
              <a:rPr lang="en-US" dirty="0" smtClean="0"/>
              <a:t> node*)</a:t>
            </a:r>
            <a:r>
              <a:rPr lang="en-US" dirty="0" err="1" smtClean="0"/>
              <a:t>malloc</a:t>
            </a:r>
            <a:r>
              <a:rPr lang="en-US" dirty="0" smtClean="0"/>
              <a:t>(</a:t>
            </a:r>
            <a:r>
              <a:rPr lang="en-US" dirty="0" err="1" smtClean="0"/>
              <a:t>sizeof</a:t>
            </a:r>
            <a:r>
              <a:rPr lang="en-US" dirty="0" smtClean="0"/>
              <a:t>(</a:t>
            </a:r>
            <a:r>
              <a:rPr lang="en-US" dirty="0" err="1" smtClean="0"/>
              <a:t>struct</a:t>
            </a:r>
            <a:r>
              <a:rPr lang="en-US" dirty="0" smtClean="0"/>
              <a:t> node)) </a:t>
            </a:r>
          </a:p>
          <a:p>
            <a:pPr marL="0" indent="0">
              <a:buNone/>
            </a:pPr>
            <a:r>
              <a:rPr lang="en-US" dirty="0" smtClean="0"/>
              <a:t>2</a:t>
            </a:r>
            <a:r>
              <a:rPr lang="en-US" dirty="0"/>
              <a:t>. Assign value to info field of a new node</a:t>
            </a:r>
          </a:p>
          <a:p>
            <a:pPr marL="0" indent="0">
              <a:buNone/>
            </a:pPr>
            <a:r>
              <a:rPr lang="en-US" dirty="0" smtClean="0"/>
              <a:t>	set </a:t>
            </a:r>
            <a:r>
              <a:rPr lang="en-US" dirty="0" err="1" smtClean="0"/>
              <a:t>newNode</a:t>
            </a:r>
            <a:r>
              <a:rPr lang="en-US" dirty="0" smtClean="0"/>
              <a:t>-</a:t>
            </a:r>
            <a:r>
              <a:rPr lang="en-US" dirty="0"/>
              <a:t>&gt;info=item </a:t>
            </a:r>
            <a:endParaRPr lang="en-US" dirty="0" smtClean="0"/>
          </a:p>
          <a:p>
            <a:pPr marL="0" indent="0">
              <a:buNone/>
            </a:pPr>
            <a:r>
              <a:rPr lang="en-US" dirty="0" smtClean="0"/>
              <a:t>3</a:t>
            </a:r>
            <a:r>
              <a:rPr lang="en-US" dirty="0"/>
              <a:t>. set </a:t>
            </a:r>
            <a:r>
              <a:rPr lang="en-US" dirty="0" err="1" smtClean="0"/>
              <a:t>newNode</a:t>
            </a:r>
            <a:r>
              <a:rPr lang="en-US" dirty="0" smtClean="0"/>
              <a:t>-</a:t>
            </a:r>
            <a:r>
              <a:rPr lang="en-US" dirty="0"/>
              <a:t>&gt;next=NULL </a:t>
            </a:r>
            <a:endParaRPr lang="en-US" dirty="0" smtClean="0"/>
          </a:p>
          <a:p>
            <a:pPr marL="0" indent="0">
              <a:buNone/>
            </a:pPr>
            <a:r>
              <a:rPr lang="en-US" dirty="0" smtClean="0"/>
              <a:t>4</a:t>
            </a:r>
            <a:r>
              <a:rPr lang="en-US" dirty="0"/>
              <a:t>. if head==NULL</a:t>
            </a:r>
          </a:p>
          <a:p>
            <a:pPr marL="0" indent="0">
              <a:buNone/>
            </a:pPr>
            <a:r>
              <a:rPr lang="en-US" dirty="0" smtClean="0"/>
              <a:t>	set </a:t>
            </a:r>
            <a:r>
              <a:rPr lang="en-US" dirty="0" err="1" smtClean="0"/>
              <a:t>newNode</a:t>
            </a:r>
            <a:r>
              <a:rPr lang="en-US" dirty="0" smtClean="0"/>
              <a:t>-</a:t>
            </a:r>
            <a:r>
              <a:rPr lang="en-US" dirty="0"/>
              <a:t>&gt;</a:t>
            </a:r>
            <a:r>
              <a:rPr lang="en-US" dirty="0" err="1"/>
              <a:t>prev</a:t>
            </a:r>
            <a:r>
              <a:rPr lang="en-US" dirty="0"/>
              <a:t>=NULL; </a:t>
            </a:r>
            <a:endParaRPr lang="en-US" dirty="0" smtClean="0"/>
          </a:p>
          <a:p>
            <a:pPr marL="0" indent="0">
              <a:buNone/>
            </a:pPr>
            <a:r>
              <a:rPr lang="en-US" dirty="0"/>
              <a:t>	</a:t>
            </a:r>
            <a:r>
              <a:rPr lang="en-US" dirty="0" smtClean="0"/>
              <a:t>set head=</a:t>
            </a:r>
            <a:r>
              <a:rPr lang="en-US" dirty="0" err="1" smtClean="0"/>
              <a:t>newNode</a:t>
            </a:r>
            <a:r>
              <a:rPr lang="en-US" dirty="0"/>
              <a:t>;</a:t>
            </a:r>
          </a:p>
          <a:p>
            <a:pPr marL="0" indent="0">
              <a:buNone/>
            </a:pPr>
            <a:r>
              <a:rPr lang="en-US" dirty="0"/>
              <a:t>5. if head!=NULL</a:t>
            </a:r>
          </a:p>
          <a:p>
            <a:pPr marL="0" indent="0">
              <a:buNone/>
            </a:pPr>
            <a:r>
              <a:rPr lang="en-US" dirty="0" smtClean="0"/>
              <a:t>	set </a:t>
            </a:r>
            <a:r>
              <a:rPr lang="en-US" dirty="0"/>
              <a:t>temp=head</a:t>
            </a:r>
          </a:p>
          <a:p>
            <a:pPr marL="0" indent="0">
              <a:buNone/>
            </a:pPr>
            <a:r>
              <a:rPr lang="en-US" dirty="0" smtClean="0"/>
              <a:t>	while(temp-</a:t>
            </a:r>
            <a:r>
              <a:rPr lang="en-US" dirty="0"/>
              <a:t>&gt;next!=NULL) </a:t>
            </a:r>
            <a:endParaRPr lang="en-US" dirty="0" smtClean="0"/>
          </a:p>
          <a:p>
            <a:pPr marL="0" indent="0">
              <a:buNone/>
            </a:pPr>
            <a:r>
              <a:rPr lang="en-US" dirty="0"/>
              <a:t>	</a:t>
            </a:r>
            <a:r>
              <a:rPr lang="en-US" dirty="0" smtClean="0"/>
              <a:t>     temp=temp-</a:t>
            </a:r>
            <a:r>
              <a:rPr lang="en-US" dirty="0"/>
              <a:t>&gt;next;</a:t>
            </a:r>
          </a:p>
          <a:p>
            <a:pPr marL="0" indent="0">
              <a:buNone/>
            </a:pPr>
            <a:r>
              <a:rPr lang="en-US" dirty="0" smtClean="0"/>
              <a:t>	end </a:t>
            </a:r>
            <a:r>
              <a:rPr lang="en-US" dirty="0"/>
              <a:t>while</a:t>
            </a:r>
          </a:p>
          <a:p>
            <a:pPr marL="0" indent="0">
              <a:buNone/>
            </a:pPr>
            <a:r>
              <a:rPr lang="en-US" dirty="0" smtClean="0"/>
              <a:t>	set </a:t>
            </a:r>
            <a:r>
              <a:rPr lang="en-US" dirty="0"/>
              <a:t>temp-&gt;</a:t>
            </a:r>
            <a:r>
              <a:rPr lang="en-US" dirty="0" smtClean="0"/>
              <a:t>next=</a:t>
            </a:r>
            <a:r>
              <a:rPr lang="en-US" dirty="0" err="1" smtClean="0"/>
              <a:t>newNode</a:t>
            </a:r>
            <a:r>
              <a:rPr lang="en-US" dirty="0"/>
              <a:t>; </a:t>
            </a:r>
            <a:endParaRPr lang="en-US" dirty="0" smtClean="0"/>
          </a:p>
          <a:p>
            <a:pPr marL="0" indent="0">
              <a:buNone/>
            </a:pPr>
            <a:r>
              <a:rPr lang="en-US" dirty="0"/>
              <a:t>	</a:t>
            </a:r>
            <a:r>
              <a:rPr lang="en-US" dirty="0" smtClean="0"/>
              <a:t>set </a:t>
            </a:r>
            <a:r>
              <a:rPr lang="en-US" dirty="0" err="1" smtClean="0"/>
              <a:t>newNode</a:t>
            </a:r>
            <a:r>
              <a:rPr lang="en-US" dirty="0" smtClean="0"/>
              <a:t>-</a:t>
            </a:r>
            <a:r>
              <a:rPr lang="en-US" dirty="0"/>
              <a:t>&gt;</a:t>
            </a:r>
            <a:r>
              <a:rPr lang="en-US" dirty="0" err="1"/>
              <a:t>prev</a:t>
            </a:r>
            <a:r>
              <a:rPr lang="en-US" dirty="0"/>
              <a:t>=temp</a:t>
            </a:r>
          </a:p>
          <a:p>
            <a:pPr marL="0" indent="0">
              <a:buNone/>
            </a:pPr>
            <a:r>
              <a:rPr lang="en-US" dirty="0"/>
              <a:t>6. </a:t>
            </a:r>
            <a:r>
              <a:rPr lang="en-US" dirty="0" smtClean="0"/>
              <a:t>End</a:t>
            </a:r>
            <a:endParaRPr lang="en-US" dirty="0"/>
          </a:p>
        </p:txBody>
      </p:sp>
    </p:spTree>
    <p:extLst>
      <p:ext uri="{BB962C8B-B14F-4D97-AF65-F5344CB8AC3E}">
        <p14:creationId xmlns:p14="http://schemas.microsoft.com/office/powerpoint/2010/main" val="3239825054"/>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792162"/>
          </a:xfrm>
        </p:spPr>
        <p:style>
          <a:lnRef idx="3">
            <a:schemeClr val="lt1"/>
          </a:lnRef>
          <a:fillRef idx="1">
            <a:schemeClr val="accent4"/>
          </a:fillRef>
          <a:effectRef idx="1">
            <a:schemeClr val="accent4"/>
          </a:effectRef>
          <a:fontRef idx="minor">
            <a:schemeClr val="lt1"/>
          </a:fontRef>
        </p:style>
        <p:txBody>
          <a:bodyPr>
            <a:noAutofit/>
          </a:bodyPr>
          <a:lstStyle/>
          <a:p>
            <a:pPr algn="l"/>
            <a:r>
              <a:rPr lang="en-US" sz="3200" b="1" i="1" dirty="0"/>
              <a:t>Algorithm to delete a node from beginning of a </a:t>
            </a:r>
            <a:r>
              <a:rPr lang="en-US" sz="3200" b="1" i="1" dirty="0" smtClean="0"/>
              <a:t>DLL</a:t>
            </a:r>
            <a:endParaRPr lang="en-US" sz="3200" dirty="0"/>
          </a:p>
        </p:txBody>
      </p:sp>
      <p:sp>
        <p:nvSpPr>
          <p:cNvPr id="3" name="Content Placeholder 2"/>
          <p:cNvSpPr>
            <a:spLocks noGrp="1"/>
          </p:cNvSpPr>
          <p:nvPr>
            <p:ph idx="1"/>
          </p:nvPr>
        </p:nvSpPr>
        <p:spPr>
          <a:xfrm>
            <a:off x="914400" y="1447800"/>
            <a:ext cx="10134600" cy="4678364"/>
          </a:xfrm>
        </p:spPr>
        <p:txBody>
          <a:bodyPr>
            <a:normAutofit/>
          </a:bodyPr>
          <a:lstStyle/>
          <a:p>
            <a:pPr marL="0" indent="0">
              <a:buNone/>
            </a:pPr>
            <a:r>
              <a:rPr lang="en-US" dirty="0" smtClean="0"/>
              <a:t>1</a:t>
            </a:r>
            <a:r>
              <a:rPr lang="en-US" dirty="0"/>
              <a:t>. if head==NULL then</a:t>
            </a:r>
          </a:p>
          <a:p>
            <a:pPr marL="0" indent="0">
              <a:buNone/>
            </a:pPr>
            <a:r>
              <a:rPr lang="en-US" dirty="0" smtClean="0"/>
              <a:t>	print </a:t>
            </a:r>
            <a:r>
              <a:rPr lang="en-US" dirty="0"/>
              <a:t>“empty list” and exit </a:t>
            </a:r>
            <a:endParaRPr lang="en-US" dirty="0" smtClean="0"/>
          </a:p>
          <a:p>
            <a:pPr marL="0" indent="0">
              <a:buNone/>
            </a:pPr>
            <a:r>
              <a:rPr lang="en-US" dirty="0" smtClean="0"/>
              <a:t>2</a:t>
            </a:r>
            <a:r>
              <a:rPr lang="en-US" dirty="0"/>
              <a:t>. else</a:t>
            </a:r>
          </a:p>
          <a:p>
            <a:pPr marL="0" indent="0">
              <a:buNone/>
            </a:pPr>
            <a:r>
              <a:rPr lang="en-US" dirty="0" smtClean="0"/>
              <a:t>	set temp=head</a:t>
            </a:r>
            <a:endParaRPr lang="en-US" dirty="0"/>
          </a:p>
          <a:p>
            <a:pPr marL="0" indent="0">
              <a:buNone/>
            </a:pPr>
            <a:r>
              <a:rPr lang="en-US" dirty="0" smtClean="0"/>
              <a:t>	set </a:t>
            </a:r>
            <a:r>
              <a:rPr lang="en-US" dirty="0"/>
              <a:t>head=head-&gt;next </a:t>
            </a:r>
            <a:endParaRPr lang="en-US" dirty="0" smtClean="0"/>
          </a:p>
          <a:p>
            <a:pPr marL="0" indent="0">
              <a:buNone/>
            </a:pPr>
            <a:r>
              <a:rPr lang="en-US" dirty="0"/>
              <a:t>	</a:t>
            </a:r>
            <a:r>
              <a:rPr lang="en-US" dirty="0" smtClean="0"/>
              <a:t>set </a:t>
            </a:r>
            <a:r>
              <a:rPr lang="en-US" dirty="0"/>
              <a:t>head-&gt;</a:t>
            </a:r>
            <a:r>
              <a:rPr lang="en-US" dirty="0" err="1"/>
              <a:t>prev</a:t>
            </a:r>
            <a:r>
              <a:rPr lang="en-US" dirty="0"/>
              <a:t>=NULL; </a:t>
            </a:r>
            <a:endParaRPr lang="en-US" dirty="0" smtClean="0"/>
          </a:p>
          <a:p>
            <a:pPr marL="0" indent="0">
              <a:buNone/>
            </a:pPr>
            <a:r>
              <a:rPr lang="en-US" dirty="0"/>
              <a:t>	</a:t>
            </a:r>
            <a:r>
              <a:rPr lang="en-US" dirty="0" smtClean="0"/>
              <a:t>free(temp)</a:t>
            </a:r>
            <a:endParaRPr lang="en-US" dirty="0"/>
          </a:p>
          <a:p>
            <a:pPr marL="0" indent="0">
              <a:buNone/>
            </a:pPr>
            <a:r>
              <a:rPr lang="en-US" dirty="0"/>
              <a:t>3. </a:t>
            </a:r>
            <a:r>
              <a:rPr lang="en-US" dirty="0" smtClean="0"/>
              <a:t>End</a:t>
            </a:r>
            <a:endParaRPr lang="en-US" dirty="0"/>
          </a:p>
        </p:txBody>
      </p:sp>
    </p:spTree>
    <p:extLst>
      <p:ext uri="{BB962C8B-B14F-4D97-AF65-F5344CB8AC3E}">
        <p14:creationId xmlns:p14="http://schemas.microsoft.com/office/powerpoint/2010/main" val="3257523827"/>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52400"/>
            <a:ext cx="10591800" cy="868362"/>
          </a:xfrm>
        </p:spPr>
        <p:style>
          <a:lnRef idx="3">
            <a:schemeClr val="lt1"/>
          </a:lnRef>
          <a:fillRef idx="1">
            <a:schemeClr val="accent4"/>
          </a:fillRef>
          <a:effectRef idx="1">
            <a:schemeClr val="accent4"/>
          </a:effectRef>
          <a:fontRef idx="minor">
            <a:schemeClr val="lt1"/>
          </a:fontRef>
        </p:style>
        <p:txBody>
          <a:bodyPr>
            <a:noAutofit/>
          </a:bodyPr>
          <a:lstStyle/>
          <a:p>
            <a:r>
              <a:rPr lang="en-US" sz="3200" b="1" i="1" dirty="0"/>
              <a:t>Algorithm to delete a node from end of a doubly linked list</a:t>
            </a:r>
            <a:endParaRPr lang="en-US" sz="3200" dirty="0"/>
          </a:p>
        </p:txBody>
      </p:sp>
      <p:sp>
        <p:nvSpPr>
          <p:cNvPr id="3" name="Content Placeholder 2"/>
          <p:cNvSpPr>
            <a:spLocks noGrp="1"/>
          </p:cNvSpPr>
          <p:nvPr>
            <p:ph idx="1"/>
          </p:nvPr>
        </p:nvSpPr>
        <p:spPr>
          <a:xfrm>
            <a:off x="609600" y="1020762"/>
            <a:ext cx="10591800" cy="5608638"/>
          </a:xfrm>
        </p:spPr>
        <p:txBody>
          <a:bodyPr>
            <a:normAutofit fontScale="62500" lnSpcReduction="20000"/>
          </a:bodyPr>
          <a:lstStyle/>
          <a:p>
            <a:pPr marL="0" indent="0">
              <a:buNone/>
            </a:pPr>
            <a:endParaRPr lang="en-US" dirty="0" smtClean="0"/>
          </a:p>
          <a:p>
            <a:pPr marL="0" indent="0">
              <a:buNone/>
            </a:pPr>
            <a:r>
              <a:rPr lang="en-US" dirty="0" smtClean="0"/>
              <a:t>1</a:t>
            </a:r>
            <a:r>
              <a:rPr lang="en-US" dirty="0"/>
              <a:t>. if head==NULL then</a:t>
            </a:r>
          </a:p>
          <a:p>
            <a:pPr marL="0" indent="0">
              <a:buNone/>
            </a:pPr>
            <a:r>
              <a:rPr lang="en-US" dirty="0" smtClean="0"/>
              <a:t>	print </a:t>
            </a:r>
            <a:r>
              <a:rPr lang="en-US" dirty="0"/>
              <a:t>“empty list” and exit</a:t>
            </a:r>
          </a:p>
          <a:p>
            <a:pPr marL="0" indent="0">
              <a:buNone/>
            </a:pPr>
            <a:r>
              <a:rPr lang="en-US" dirty="0"/>
              <a:t>2. else if(head-&gt;next==NULL) </a:t>
            </a:r>
            <a:endParaRPr lang="en-US" dirty="0" smtClean="0"/>
          </a:p>
          <a:p>
            <a:pPr marL="0" indent="0">
              <a:buNone/>
            </a:pPr>
            <a:r>
              <a:rPr lang="en-US" dirty="0" smtClean="0"/>
              <a:t>then </a:t>
            </a:r>
          </a:p>
          <a:p>
            <a:pPr marL="0" indent="0">
              <a:buNone/>
            </a:pPr>
            <a:r>
              <a:rPr lang="en-US" dirty="0"/>
              <a:t>	</a:t>
            </a:r>
            <a:r>
              <a:rPr lang="en-US" dirty="0" smtClean="0"/>
              <a:t>set temp=head</a:t>
            </a:r>
            <a:endParaRPr lang="en-US" dirty="0"/>
          </a:p>
          <a:p>
            <a:pPr marL="0" indent="0">
              <a:buNone/>
            </a:pPr>
            <a:r>
              <a:rPr lang="en-US" dirty="0" smtClean="0"/>
              <a:t>	set </a:t>
            </a:r>
            <a:r>
              <a:rPr lang="en-US" dirty="0"/>
              <a:t>head=NULL </a:t>
            </a:r>
            <a:endParaRPr lang="en-US" dirty="0" smtClean="0"/>
          </a:p>
          <a:p>
            <a:pPr marL="0" indent="0">
              <a:buNone/>
            </a:pPr>
            <a:r>
              <a:rPr lang="en-US" dirty="0"/>
              <a:t>	</a:t>
            </a:r>
            <a:r>
              <a:rPr lang="en-US" dirty="0" smtClean="0"/>
              <a:t>free(temp)</a:t>
            </a:r>
            <a:endParaRPr lang="en-US" dirty="0"/>
          </a:p>
          <a:p>
            <a:pPr marL="0" indent="0">
              <a:buNone/>
            </a:pPr>
            <a:r>
              <a:rPr lang="en-US" dirty="0"/>
              <a:t>3. else</a:t>
            </a:r>
          </a:p>
          <a:p>
            <a:pPr marL="0" indent="0">
              <a:buNone/>
            </a:pPr>
            <a:r>
              <a:rPr lang="en-US" dirty="0" smtClean="0"/>
              <a:t>	set </a:t>
            </a:r>
            <a:r>
              <a:rPr lang="en-US" dirty="0"/>
              <a:t>temp=head;</a:t>
            </a:r>
          </a:p>
          <a:p>
            <a:pPr marL="0" indent="0">
              <a:buNone/>
            </a:pPr>
            <a:r>
              <a:rPr lang="en-US" dirty="0" smtClean="0"/>
              <a:t>	while(temp-</a:t>
            </a:r>
            <a:r>
              <a:rPr lang="en-US" dirty="0"/>
              <a:t>&gt;next-&gt;next !=NULL) </a:t>
            </a:r>
            <a:endParaRPr lang="en-US" dirty="0" smtClean="0"/>
          </a:p>
          <a:p>
            <a:pPr marL="0" indent="0">
              <a:buNone/>
            </a:pPr>
            <a:r>
              <a:rPr lang="en-US" dirty="0"/>
              <a:t>	</a:t>
            </a:r>
            <a:r>
              <a:rPr lang="en-US" dirty="0" smtClean="0"/>
              <a:t>   temp=temp-</a:t>
            </a:r>
            <a:r>
              <a:rPr lang="en-US" dirty="0"/>
              <a:t>&gt;next</a:t>
            </a:r>
          </a:p>
          <a:p>
            <a:pPr marL="0" indent="0">
              <a:buNone/>
            </a:pPr>
            <a:r>
              <a:rPr lang="en-US" dirty="0" smtClean="0"/>
              <a:t>	end </a:t>
            </a:r>
            <a:r>
              <a:rPr lang="en-US" dirty="0"/>
              <a:t>while</a:t>
            </a:r>
          </a:p>
          <a:p>
            <a:pPr marL="0" indent="0">
              <a:buNone/>
            </a:pPr>
            <a:r>
              <a:rPr lang="en-US" dirty="0" smtClean="0"/>
              <a:t>	set </a:t>
            </a:r>
            <a:r>
              <a:rPr lang="en-US" dirty="0"/>
              <a:t>hold=temp-&gt;next </a:t>
            </a:r>
            <a:endParaRPr lang="en-US" dirty="0" smtClean="0"/>
          </a:p>
          <a:p>
            <a:pPr marL="0" indent="0">
              <a:buNone/>
            </a:pPr>
            <a:r>
              <a:rPr lang="en-US" dirty="0"/>
              <a:t>	</a:t>
            </a:r>
            <a:r>
              <a:rPr lang="en-US" dirty="0" smtClean="0"/>
              <a:t>set </a:t>
            </a:r>
            <a:r>
              <a:rPr lang="en-US" dirty="0"/>
              <a:t>temp-&gt;next=NULL </a:t>
            </a:r>
            <a:endParaRPr lang="en-US" dirty="0" smtClean="0"/>
          </a:p>
          <a:p>
            <a:pPr marL="0" indent="0">
              <a:buNone/>
            </a:pPr>
            <a:r>
              <a:rPr lang="en-US" dirty="0"/>
              <a:t>	</a:t>
            </a:r>
            <a:r>
              <a:rPr lang="en-US" dirty="0" smtClean="0"/>
              <a:t>free(hold</a:t>
            </a:r>
            <a:r>
              <a:rPr lang="en-US" dirty="0"/>
              <a:t>)</a:t>
            </a:r>
          </a:p>
          <a:p>
            <a:pPr marL="0" indent="0">
              <a:buNone/>
            </a:pPr>
            <a:r>
              <a:rPr lang="en-US" dirty="0"/>
              <a:t>4. </a:t>
            </a:r>
            <a:r>
              <a:rPr lang="en-US" dirty="0" smtClean="0"/>
              <a:t>End</a:t>
            </a:r>
            <a:endParaRPr lang="en-US" dirty="0"/>
          </a:p>
          <a:p>
            <a:pPr marL="0" indent="0">
              <a:buNone/>
            </a:pPr>
            <a:endParaRPr lang="en-US" dirty="0"/>
          </a:p>
        </p:txBody>
      </p:sp>
    </p:spTree>
    <p:extLst>
      <p:ext uri="{BB962C8B-B14F-4D97-AF65-F5344CB8AC3E}">
        <p14:creationId xmlns:p14="http://schemas.microsoft.com/office/powerpoint/2010/main" val="1350070837"/>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792162"/>
          </a:xfrm>
        </p:spPr>
        <p:style>
          <a:lnRef idx="3">
            <a:schemeClr val="lt1"/>
          </a:lnRef>
          <a:fillRef idx="1">
            <a:schemeClr val="accent4"/>
          </a:fillRef>
          <a:effectRef idx="1">
            <a:schemeClr val="accent4"/>
          </a:effectRef>
          <a:fontRef idx="minor">
            <a:schemeClr val="lt1"/>
          </a:fontRef>
        </p:style>
        <p:txBody>
          <a:bodyPr/>
          <a:lstStyle/>
          <a:p>
            <a:pPr algn="l"/>
            <a:r>
              <a:rPr lang="en-US" dirty="0" smtClean="0"/>
              <a:t>Nth position insertion and deletion???</a:t>
            </a:r>
            <a:endParaRPr lang="en-US" dirty="0"/>
          </a:p>
        </p:txBody>
      </p:sp>
      <p:sp>
        <p:nvSpPr>
          <p:cNvPr id="3" name="Content Placeholder 2"/>
          <p:cNvSpPr>
            <a:spLocks noGrp="1"/>
          </p:cNvSpPr>
          <p:nvPr>
            <p:ph idx="1"/>
          </p:nvPr>
        </p:nvSpPr>
        <p:spPr>
          <a:xfrm>
            <a:off x="609600" y="1143000"/>
            <a:ext cx="10972800" cy="5410199"/>
          </a:xfrm>
        </p:spPr>
        <p:txBody>
          <a:bodyPr numCol="1">
            <a:normAutofit fontScale="70000" lnSpcReduction="20000"/>
          </a:bodyPr>
          <a:lstStyle/>
          <a:p>
            <a:pPr marL="0" indent="0">
              <a:buNone/>
            </a:pPr>
            <a:r>
              <a:rPr lang="en-US" dirty="0" smtClean="0"/>
              <a:t>void </a:t>
            </a:r>
            <a:r>
              <a:rPr lang="en-US" dirty="0" err="1" smtClean="0"/>
              <a:t>insertion_specified</a:t>
            </a:r>
            <a:r>
              <a:rPr lang="en-US" dirty="0" smtClean="0"/>
              <a:t>() {  </a:t>
            </a:r>
          </a:p>
          <a:p>
            <a:pPr marL="0" indent="0">
              <a:buNone/>
            </a:pPr>
            <a:r>
              <a:rPr lang="en-US" dirty="0" smtClean="0"/>
              <a:t>   </a:t>
            </a:r>
            <a:r>
              <a:rPr lang="en-US" dirty="0" err="1"/>
              <a:t>struct</a:t>
            </a:r>
            <a:r>
              <a:rPr lang="en-US" dirty="0"/>
              <a:t> node *</a:t>
            </a:r>
            <a:r>
              <a:rPr lang="en-US" dirty="0" err="1"/>
              <a:t>ptr</a:t>
            </a:r>
            <a:r>
              <a:rPr lang="en-US" dirty="0"/>
              <a:t>,*temp;  </a:t>
            </a:r>
          </a:p>
          <a:p>
            <a:pPr marL="0" indent="0">
              <a:buNone/>
            </a:pPr>
            <a:r>
              <a:rPr lang="en-US" dirty="0"/>
              <a:t>   </a:t>
            </a:r>
            <a:r>
              <a:rPr lang="en-US" dirty="0" err="1"/>
              <a:t>int</a:t>
            </a:r>
            <a:r>
              <a:rPr lang="en-US" dirty="0"/>
              <a:t> </a:t>
            </a:r>
            <a:r>
              <a:rPr lang="en-US" dirty="0" err="1"/>
              <a:t>item,loc,i</a:t>
            </a:r>
            <a:r>
              <a:rPr lang="en-US" dirty="0"/>
              <a:t>;  </a:t>
            </a:r>
          </a:p>
          <a:p>
            <a:pPr marL="0" indent="0">
              <a:buNone/>
            </a:pPr>
            <a:r>
              <a:rPr lang="en-US" dirty="0"/>
              <a:t>   </a:t>
            </a:r>
            <a:r>
              <a:rPr lang="en-US" dirty="0" err="1" smtClean="0"/>
              <a:t>newNode</a:t>
            </a:r>
            <a:r>
              <a:rPr lang="en-US" dirty="0" smtClean="0"/>
              <a:t> </a:t>
            </a:r>
            <a:r>
              <a:rPr lang="en-US" dirty="0"/>
              <a:t>= (</a:t>
            </a:r>
            <a:r>
              <a:rPr lang="en-US" dirty="0" err="1"/>
              <a:t>struct</a:t>
            </a:r>
            <a:r>
              <a:rPr lang="en-US" dirty="0"/>
              <a:t> node *)</a:t>
            </a:r>
            <a:r>
              <a:rPr lang="en-US" dirty="0" err="1"/>
              <a:t>malloc</a:t>
            </a:r>
            <a:r>
              <a:rPr lang="en-US" dirty="0"/>
              <a:t>(</a:t>
            </a:r>
            <a:r>
              <a:rPr lang="en-US" dirty="0" err="1"/>
              <a:t>sizeof</a:t>
            </a:r>
            <a:r>
              <a:rPr lang="en-US" dirty="0"/>
              <a:t>(</a:t>
            </a:r>
            <a:r>
              <a:rPr lang="en-US" dirty="0" err="1"/>
              <a:t>struct</a:t>
            </a:r>
            <a:r>
              <a:rPr lang="en-US" dirty="0"/>
              <a:t> node));  </a:t>
            </a:r>
          </a:p>
          <a:p>
            <a:pPr marL="0" indent="0">
              <a:buNone/>
            </a:pPr>
            <a:r>
              <a:rPr lang="en-US" dirty="0" smtClean="0"/>
              <a:t>      temp=head</a:t>
            </a:r>
            <a:r>
              <a:rPr lang="en-US" dirty="0"/>
              <a:t>;  </a:t>
            </a:r>
          </a:p>
          <a:p>
            <a:pPr marL="0" indent="0">
              <a:buNone/>
            </a:pPr>
            <a:r>
              <a:rPr lang="en-US" dirty="0"/>
              <a:t>       </a:t>
            </a:r>
            <a:r>
              <a:rPr lang="en-US" dirty="0" err="1"/>
              <a:t>printf</a:t>
            </a:r>
            <a:r>
              <a:rPr lang="en-US" dirty="0"/>
              <a:t>("Enter the location");  </a:t>
            </a:r>
          </a:p>
          <a:p>
            <a:pPr marL="0" indent="0">
              <a:buNone/>
            </a:pPr>
            <a:r>
              <a:rPr lang="en-US" dirty="0"/>
              <a:t>       </a:t>
            </a:r>
            <a:r>
              <a:rPr lang="en-US" dirty="0" err="1"/>
              <a:t>scanf</a:t>
            </a:r>
            <a:r>
              <a:rPr lang="en-US" dirty="0"/>
              <a:t>("%d",&amp;</a:t>
            </a:r>
            <a:r>
              <a:rPr lang="en-US" dirty="0" err="1"/>
              <a:t>loc</a:t>
            </a:r>
            <a:r>
              <a:rPr lang="en-US" dirty="0"/>
              <a:t>);  </a:t>
            </a:r>
          </a:p>
          <a:p>
            <a:pPr marL="0" indent="0">
              <a:buNone/>
            </a:pPr>
            <a:r>
              <a:rPr lang="en-US" dirty="0"/>
              <a:t>       for(</a:t>
            </a:r>
            <a:r>
              <a:rPr lang="en-US" dirty="0" err="1"/>
              <a:t>i</a:t>
            </a:r>
            <a:r>
              <a:rPr lang="en-US" dirty="0"/>
              <a:t>=0;i&lt;</a:t>
            </a:r>
            <a:r>
              <a:rPr lang="en-US" dirty="0" err="1"/>
              <a:t>loc;i</a:t>
            </a:r>
            <a:r>
              <a:rPr lang="en-US" dirty="0"/>
              <a:t>++)  </a:t>
            </a:r>
          </a:p>
          <a:p>
            <a:pPr marL="0" indent="0">
              <a:buNone/>
            </a:pPr>
            <a:r>
              <a:rPr lang="en-US" dirty="0"/>
              <a:t>       {  </a:t>
            </a:r>
          </a:p>
          <a:p>
            <a:pPr marL="0" indent="0">
              <a:buNone/>
            </a:pPr>
            <a:r>
              <a:rPr lang="en-US" dirty="0"/>
              <a:t>           temp = temp-&gt;next;  </a:t>
            </a:r>
          </a:p>
          <a:p>
            <a:pPr marL="0" indent="0">
              <a:buNone/>
            </a:pPr>
            <a:r>
              <a:rPr lang="en-US" dirty="0"/>
              <a:t>           if(temp == NULL)  </a:t>
            </a:r>
          </a:p>
          <a:p>
            <a:pPr marL="0" indent="0">
              <a:buNone/>
            </a:pPr>
            <a:r>
              <a:rPr lang="en-US" dirty="0"/>
              <a:t>           {  </a:t>
            </a:r>
          </a:p>
          <a:p>
            <a:pPr marL="0" indent="0">
              <a:buNone/>
            </a:pPr>
            <a:r>
              <a:rPr lang="en-US" dirty="0"/>
              <a:t>               </a:t>
            </a:r>
            <a:r>
              <a:rPr lang="en-US" dirty="0" err="1"/>
              <a:t>printf</a:t>
            </a:r>
            <a:r>
              <a:rPr lang="en-US" dirty="0"/>
              <a:t>("\n </a:t>
            </a:r>
            <a:r>
              <a:rPr lang="en-US" dirty="0" smtClean="0"/>
              <a:t>can’t insert”);</a:t>
            </a:r>
            <a:endParaRPr lang="en-US" dirty="0"/>
          </a:p>
          <a:p>
            <a:pPr marL="0" indent="0">
              <a:buNone/>
            </a:pPr>
            <a:r>
              <a:rPr lang="en-US" dirty="0"/>
              <a:t>           }  </a:t>
            </a:r>
          </a:p>
          <a:p>
            <a:pPr marL="0" indent="0">
              <a:buNone/>
            </a:pPr>
            <a:r>
              <a:rPr lang="en-US" dirty="0"/>
              <a:t>       </a:t>
            </a:r>
            <a:r>
              <a:rPr lang="en-US" dirty="0" smtClean="0"/>
              <a:t>}</a:t>
            </a:r>
          </a:p>
          <a:p>
            <a:pPr marL="0" indent="0">
              <a:buNone/>
            </a:pPr>
            <a:r>
              <a:rPr lang="en-US" dirty="0" smtClean="0"/>
              <a:t>      </a:t>
            </a:r>
            <a:endParaRPr lang="en-US" dirty="0"/>
          </a:p>
        </p:txBody>
      </p:sp>
    </p:spTree>
    <p:extLst>
      <p:ext uri="{BB962C8B-B14F-4D97-AF65-F5344CB8AC3E}">
        <p14:creationId xmlns:p14="http://schemas.microsoft.com/office/powerpoint/2010/main" val="3869801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down)">
                                      <p:cBhvr>
                                        <p:cTn id="16" dur="500"/>
                                        <p:tgtEl>
                                          <p:spTgt spid="3">
                                            <p:txEl>
                                              <p:pRg st="3" end="3"/>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wipe(down)">
                                      <p:cBhvr>
                                        <p:cTn id="19" dur="500"/>
                                        <p:tgtEl>
                                          <p:spTgt spid="3">
                                            <p:txEl>
                                              <p:pRg st="4" end="4"/>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wipe(down)">
                                      <p:cBhvr>
                                        <p:cTn id="22" dur="500"/>
                                        <p:tgtEl>
                                          <p:spTgt spid="3">
                                            <p:txEl>
                                              <p:pRg st="5" end="5"/>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wipe(down)">
                                      <p:cBhvr>
                                        <p:cTn id="25" dur="500"/>
                                        <p:tgtEl>
                                          <p:spTgt spid="3">
                                            <p:txEl>
                                              <p:pRg st="6" end="6"/>
                                            </p:txEl>
                                          </p:spTgt>
                                        </p:tgtEl>
                                      </p:cBhvr>
                                    </p:animEffect>
                                  </p:childTnLst>
                                </p:cTn>
                              </p:par>
                              <p:par>
                                <p:cTn id="26" presetID="22" presetClass="entr" presetSubtype="4" fill="hold"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wipe(down)">
                                      <p:cBhvr>
                                        <p:cTn id="28" dur="500"/>
                                        <p:tgtEl>
                                          <p:spTgt spid="3">
                                            <p:txEl>
                                              <p:pRg st="7" end="7"/>
                                            </p:txEl>
                                          </p:spTgt>
                                        </p:tgtEl>
                                      </p:cBhvr>
                                    </p:animEffect>
                                  </p:childTnLst>
                                </p:cTn>
                              </p:par>
                              <p:par>
                                <p:cTn id="29" presetID="22" presetClass="entr" presetSubtype="4"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wipe(down)">
                                      <p:cBhvr>
                                        <p:cTn id="31" dur="500"/>
                                        <p:tgtEl>
                                          <p:spTgt spid="3">
                                            <p:txEl>
                                              <p:pRg st="8" end="8"/>
                                            </p:txEl>
                                          </p:spTgt>
                                        </p:tgtEl>
                                      </p:cBhvr>
                                    </p:animEffect>
                                  </p:childTnLst>
                                </p:cTn>
                              </p:par>
                              <p:par>
                                <p:cTn id="32" presetID="22" presetClass="entr" presetSubtype="4" fill="hold" nodeType="withEffect">
                                  <p:stCondLst>
                                    <p:cond delay="0"/>
                                  </p:stCondLst>
                                  <p:childTnLst>
                                    <p:set>
                                      <p:cBhvr>
                                        <p:cTn id="33" dur="1" fill="hold">
                                          <p:stCondLst>
                                            <p:cond delay="0"/>
                                          </p:stCondLst>
                                        </p:cTn>
                                        <p:tgtEl>
                                          <p:spTgt spid="3">
                                            <p:txEl>
                                              <p:pRg st="9" end="9"/>
                                            </p:txEl>
                                          </p:spTgt>
                                        </p:tgtEl>
                                        <p:attrNameLst>
                                          <p:attrName>style.visibility</p:attrName>
                                        </p:attrNameLst>
                                      </p:cBhvr>
                                      <p:to>
                                        <p:strVal val="visible"/>
                                      </p:to>
                                    </p:set>
                                    <p:animEffect transition="in" filter="wipe(down)">
                                      <p:cBhvr>
                                        <p:cTn id="34" dur="500"/>
                                        <p:tgtEl>
                                          <p:spTgt spid="3">
                                            <p:txEl>
                                              <p:pRg st="9" end="9"/>
                                            </p:txEl>
                                          </p:spTgt>
                                        </p:tgtEl>
                                      </p:cBhvr>
                                    </p:animEffect>
                                  </p:childTnLst>
                                </p:cTn>
                              </p:par>
                              <p:par>
                                <p:cTn id="35" presetID="22" presetClass="entr" presetSubtype="4" fill="hold" nodeType="with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animEffect transition="in" filter="wipe(down)">
                                      <p:cBhvr>
                                        <p:cTn id="37" dur="500"/>
                                        <p:tgtEl>
                                          <p:spTgt spid="3">
                                            <p:txEl>
                                              <p:pRg st="10" end="10"/>
                                            </p:txEl>
                                          </p:spTgt>
                                        </p:tgtEl>
                                      </p:cBhvr>
                                    </p:animEffect>
                                  </p:childTnLst>
                                </p:cTn>
                              </p:par>
                              <p:par>
                                <p:cTn id="38" presetID="22" presetClass="entr" presetSubtype="4" fill="hold" nodeType="withEffect">
                                  <p:stCondLst>
                                    <p:cond delay="0"/>
                                  </p:stCondLst>
                                  <p:childTnLst>
                                    <p:set>
                                      <p:cBhvr>
                                        <p:cTn id="39" dur="1" fill="hold">
                                          <p:stCondLst>
                                            <p:cond delay="0"/>
                                          </p:stCondLst>
                                        </p:cTn>
                                        <p:tgtEl>
                                          <p:spTgt spid="3">
                                            <p:txEl>
                                              <p:pRg st="11" end="11"/>
                                            </p:txEl>
                                          </p:spTgt>
                                        </p:tgtEl>
                                        <p:attrNameLst>
                                          <p:attrName>style.visibility</p:attrName>
                                        </p:attrNameLst>
                                      </p:cBhvr>
                                      <p:to>
                                        <p:strVal val="visible"/>
                                      </p:to>
                                    </p:set>
                                    <p:animEffect transition="in" filter="wipe(down)">
                                      <p:cBhvr>
                                        <p:cTn id="40" dur="500"/>
                                        <p:tgtEl>
                                          <p:spTgt spid="3">
                                            <p:txEl>
                                              <p:pRg st="11" end="11"/>
                                            </p:txEl>
                                          </p:spTgt>
                                        </p:tgtEl>
                                      </p:cBhvr>
                                    </p:animEffect>
                                  </p:childTnLst>
                                </p:cTn>
                              </p:par>
                              <p:par>
                                <p:cTn id="41" presetID="22" presetClass="entr" presetSubtype="4" fill="hold" nodeType="with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animEffect transition="in" filter="wipe(down)">
                                      <p:cBhvr>
                                        <p:cTn id="43" dur="500"/>
                                        <p:tgtEl>
                                          <p:spTgt spid="3">
                                            <p:txEl>
                                              <p:pRg st="12" end="12"/>
                                            </p:txEl>
                                          </p:spTgt>
                                        </p:tgtEl>
                                      </p:cBhvr>
                                    </p:animEffect>
                                  </p:childTnLst>
                                </p:cTn>
                              </p:par>
                              <p:par>
                                <p:cTn id="44" presetID="22" presetClass="entr" presetSubtype="4" fill="hold" nodeType="withEffect">
                                  <p:stCondLst>
                                    <p:cond delay="0"/>
                                  </p:stCondLst>
                                  <p:childTnLst>
                                    <p:set>
                                      <p:cBhvr>
                                        <p:cTn id="45" dur="1" fill="hold">
                                          <p:stCondLst>
                                            <p:cond delay="0"/>
                                          </p:stCondLst>
                                        </p:cTn>
                                        <p:tgtEl>
                                          <p:spTgt spid="3">
                                            <p:txEl>
                                              <p:pRg st="13" end="13"/>
                                            </p:txEl>
                                          </p:spTgt>
                                        </p:tgtEl>
                                        <p:attrNameLst>
                                          <p:attrName>style.visibility</p:attrName>
                                        </p:attrNameLst>
                                      </p:cBhvr>
                                      <p:to>
                                        <p:strVal val="visible"/>
                                      </p:to>
                                    </p:set>
                                    <p:animEffect transition="in" filter="wipe(down)">
                                      <p:cBhvr>
                                        <p:cTn id="46" dur="500"/>
                                        <p:tgtEl>
                                          <p:spTgt spid="3">
                                            <p:txEl>
                                              <p:pRg st="13" end="13"/>
                                            </p:txEl>
                                          </p:spTgt>
                                        </p:tgtEl>
                                      </p:cBhvr>
                                    </p:animEffect>
                                  </p:childTnLst>
                                </p:cTn>
                              </p:par>
                              <p:par>
                                <p:cTn id="47" presetID="22" presetClass="entr" presetSubtype="4" fill="hold" nodeType="withEffect">
                                  <p:stCondLst>
                                    <p:cond delay="0"/>
                                  </p:stCondLst>
                                  <p:childTnLst>
                                    <p:set>
                                      <p:cBhvr>
                                        <p:cTn id="48" dur="1" fill="hold">
                                          <p:stCondLst>
                                            <p:cond delay="0"/>
                                          </p:stCondLst>
                                        </p:cTn>
                                        <p:tgtEl>
                                          <p:spTgt spid="3">
                                            <p:txEl>
                                              <p:pRg st="14" end="14"/>
                                            </p:txEl>
                                          </p:spTgt>
                                        </p:tgtEl>
                                        <p:attrNameLst>
                                          <p:attrName>style.visibility</p:attrName>
                                        </p:attrNameLst>
                                      </p:cBhvr>
                                      <p:to>
                                        <p:strVal val="visible"/>
                                      </p:to>
                                    </p:set>
                                    <p:animEffect transition="in" filter="wipe(down)">
                                      <p:cBhvr>
                                        <p:cTn id="49" dur="500"/>
                                        <p:tgtEl>
                                          <p:spTgt spid="3">
                                            <p:txEl>
                                              <p:pRg st="14" end="14"/>
                                            </p:txEl>
                                          </p:spTgt>
                                        </p:tgtEl>
                                      </p:cBhvr>
                                    </p:animEffect>
                                  </p:childTnLst>
                                </p:cTn>
                              </p:par>
                              <p:par>
                                <p:cTn id="50" presetID="22" presetClass="entr" presetSubtype="4" fill="hold" nodeType="withEffect">
                                  <p:stCondLst>
                                    <p:cond delay="0"/>
                                  </p:stCondLst>
                                  <p:childTnLst>
                                    <p:set>
                                      <p:cBhvr>
                                        <p:cTn id="51" dur="1" fill="hold">
                                          <p:stCondLst>
                                            <p:cond delay="0"/>
                                          </p:stCondLst>
                                        </p:cTn>
                                        <p:tgtEl>
                                          <p:spTgt spid="3">
                                            <p:txEl>
                                              <p:pRg st="15" end="15"/>
                                            </p:txEl>
                                          </p:spTgt>
                                        </p:tgtEl>
                                        <p:attrNameLst>
                                          <p:attrName>style.visibility</p:attrName>
                                        </p:attrNameLst>
                                      </p:cBhvr>
                                      <p:to>
                                        <p:strVal val="visible"/>
                                      </p:to>
                                    </p:set>
                                    <p:animEffect transition="in" filter="wipe(down)">
                                      <p:cBhvr>
                                        <p:cTn id="52" dur="500"/>
                                        <p:tgtEl>
                                          <p:spTgt spid="3">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marL="0" indent="0">
              <a:buNone/>
            </a:pPr>
            <a:r>
              <a:rPr lang="en-US" dirty="0"/>
              <a:t> else </a:t>
            </a:r>
            <a:r>
              <a:rPr lang="en-US" dirty="0" smtClean="0"/>
              <a:t>{</a:t>
            </a:r>
            <a:endParaRPr lang="en-US" dirty="0"/>
          </a:p>
          <a:p>
            <a:pPr marL="0" indent="0">
              <a:buNone/>
            </a:pPr>
            <a:r>
              <a:rPr lang="en-US" dirty="0"/>
              <a:t>       </a:t>
            </a:r>
            <a:r>
              <a:rPr lang="en-US" dirty="0" err="1"/>
              <a:t>printf</a:t>
            </a:r>
            <a:r>
              <a:rPr lang="en-US" dirty="0"/>
              <a:t>("Enter value");  </a:t>
            </a:r>
          </a:p>
          <a:p>
            <a:pPr marL="0" indent="0">
              <a:buNone/>
            </a:pPr>
            <a:r>
              <a:rPr lang="en-US" dirty="0"/>
              <a:t>       </a:t>
            </a:r>
            <a:r>
              <a:rPr lang="en-US" dirty="0" err="1"/>
              <a:t>scanf</a:t>
            </a:r>
            <a:r>
              <a:rPr lang="en-US" dirty="0"/>
              <a:t>("%</a:t>
            </a:r>
            <a:r>
              <a:rPr lang="en-US" dirty="0" err="1"/>
              <a:t>d",&amp;item</a:t>
            </a:r>
            <a:r>
              <a:rPr lang="en-US" dirty="0"/>
              <a:t>);  </a:t>
            </a:r>
          </a:p>
          <a:p>
            <a:pPr marL="0" indent="0">
              <a:buNone/>
            </a:pPr>
            <a:r>
              <a:rPr lang="en-US" dirty="0"/>
              <a:t>       </a:t>
            </a:r>
            <a:r>
              <a:rPr lang="en-US" dirty="0" err="1"/>
              <a:t>newNode</a:t>
            </a:r>
            <a:r>
              <a:rPr lang="en-US" dirty="0"/>
              <a:t>-&gt;info = item;  </a:t>
            </a:r>
          </a:p>
          <a:p>
            <a:pPr marL="0" indent="0">
              <a:buNone/>
            </a:pPr>
            <a:r>
              <a:rPr lang="en-US" dirty="0"/>
              <a:t>       </a:t>
            </a:r>
            <a:r>
              <a:rPr lang="en-US" dirty="0" err="1"/>
              <a:t>newNode</a:t>
            </a:r>
            <a:r>
              <a:rPr lang="en-US" dirty="0"/>
              <a:t>-&gt;next = temp-&gt;next;  </a:t>
            </a:r>
          </a:p>
          <a:p>
            <a:pPr marL="0" indent="0">
              <a:buNone/>
            </a:pPr>
            <a:r>
              <a:rPr lang="en-US" dirty="0"/>
              <a:t>       </a:t>
            </a:r>
            <a:r>
              <a:rPr lang="en-US" dirty="0" err="1"/>
              <a:t>newNode</a:t>
            </a:r>
            <a:r>
              <a:rPr lang="en-US" dirty="0"/>
              <a:t> -&gt; </a:t>
            </a:r>
            <a:r>
              <a:rPr lang="en-US" dirty="0" err="1"/>
              <a:t>prev</a:t>
            </a:r>
            <a:r>
              <a:rPr lang="en-US" dirty="0"/>
              <a:t> = temp;  </a:t>
            </a:r>
          </a:p>
          <a:p>
            <a:pPr marL="0" indent="0">
              <a:buNone/>
            </a:pPr>
            <a:r>
              <a:rPr lang="en-US" dirty="0"/>
              <a:t>       temp-&gt;next = </a:t>
            </a:r>
            <a:r>
              <a:rPr lang="en-US" dirty="0" err="1"/>
              <a:t>newNode</a:t>
            </a:r>
            <a:r>
              <a:rPr lang="en-US" dirty="0"/>
              <a:t>;  </a:t>
            </a:r>
          </a:p>
          <a:p>
            <a:pPr marL="0" indent="0">
              <a:buNone/>
            </a:pPr>
            <a:r>
              <a:rPr lang="en-US" dirty="0"/>
              <a:t>       temp-&gt;next-&gt;</a:t>
            </a:r>
            <a:r>
              <a:rPr lang="en-US" dirty="0" err="1"/>
              <a:t>prev</a:t>
            </a:r>
            <a:r>
              <a:rPr lang="en-US" dirty="0"/>
              <a:t>=</a:t>
            </a:r>
            <a:r>
              <a:rPr lang="en-US" dirty="0" err="1"/>
              <a:t>newNode</a:t>
            </a:r>
            <a:r>
              <a:rPr lang="en-US" dirty="0"/>
              <a:t>;  </a:t>
            </a:r>
          </a:p>
          <a:p>
            <a:pPr marL="0" indent="0">
              <a:buNone/>
            </a:pPr>
            <a:r>
              <a:rPr lang="en-US" dirty="0"/>
              <a:t>   }  </a:t>
            </a:r>
            <a:r>
              <a:rPr lang="en-US" dirty="0" smtClean="0"/>
              <a:t>} </a:t>
            </a:r>
            <a:endParaRPr lang="en-US" dirty="0"/>
          </a:p>
        </p:txBody>
      </p:sp>
    </p:spTree>
    <p:extLst>
      <p:ext uri="{BB962C8B-B14F-4D97-AF65-F5344CB8AC3E}">
        <p14:creationId xmlns:p14="http://schemas.microsoft.com/office/powerpoint/2010/main" val="1000279154"/>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639762"/>
          </a:xfrm>
        </p:spPr>
        <p:txBody>
          <a:bodyPr>
            <a:normAutofit fontScale="90000"/>
          </a:bodyPr>
          <a:lstStyle/>
          <a:p>
            <a:pPr algn="l"/>
            <a:r>
              <a:rPr lang="en-US" dirty="0" smtClean="0"/>
              <a:t>Delete</a:t>
            </a:r>
            <a:endParaRPr lang="en-US" dirty="0"/>
          </a:p>
        </p:txBody>
      </p:sp>
      <p:sp>
        <p:nvSpPr>
          <p:cNvPr id="3" name="Content Placeholder 2"/>
          <p:cNvSpPr>
            <a:spLocks noGrp="1"/>
          </p:cNvSpPr>
          <p:nvPr>
            <p:ph idx="1"/>
          </p:nvPr>
        </p:nvSpPr>
        <p:spPr>
          <a:xfrm>
            <a:off x="609600" y="914400"/>
            <a:ext cx="10972800" cy="5638800"/>
          </a:xfrm>
        </p:spPr>
        <p:txBody>
          <a:bodyPr>
            <a:normAutofit fontScale="70000" lnSpcReduction="20000"/>
          </a:bodyPr>
          <a:lstStyle/>
          <a:p>
            <a:pPr marL="0" indent="0">
              <a:buNone/>
            </a:pPr>
            <a:r>
              <a:rPr lang="en-US" dirty="0"/>
              <a:t>void </a:t>
            </a:r>
            <a:r>
              <a:rPr lang="en-US" dirty="0" err="1"/>
              <a:t>deletion_specified</a:t>
            </a:r>
            <a:r>
              <a:rPr lang="en-US" dirty="0"/>
              <a:t>()  </a:t>
            </a:r>
          </a:p>
          <a:p>
            <a:pPr marL="0" indent="0">
              <a:buNone/>
            </a:pPr>
            <a:r>
              <a:rPr lang="en-US" dirty="0"/>
              <a:t>{  </a:t>
            </a:r>
          </a:p>
          <a:p>
            <a:pPr marL="0" indent="0">
              <a:buNone/>
            </a:pPr>
            <a:r>
              <a:rPr lang="en-US" dirty="0"/>
              <a:t>    </a:t>
            </a:r>
            <a:r>
              <a:rPr lang="en-US" dirty="0" err="1"/>
              <a:t>struct</a:t>
            </a:r>
            <a:r>
              <a:rPr lang="en-US" dirty="0"/>
              <a:t> node *</a:t>
            </a:r>
            <a:r>
              <a:rPr lang="en-US" dirty="0" err="1"/>
              <a:t>ptr</a:t>
            </a:r>
            <a:r>
              <a:rPr lang="en-US" dirty="0"/>
              <a:t>, *temp;  </a:t>
            </a:r>
          </a:p>
          <a:p>
            <a:pPr marL="0" indent="0">
              <a:buNone/>
            </a:pPr>
            <a:r>
              <a:rPr lang="en-US" dirty="0"/>
              <a:t>    </a:t>
            </a:r>
            <a:r>
              <a:rPr lang="en-US" dirty="0" err="1"/>
              <a:t>int</a:t>
            </a:r>
            <a:r>
              <a:rPr lang="en-US" dirty="0"/>
              <a:t> </a:t>
            </a:r>
            <a:r>
              <a:rPr lang="en-US" dirty="0" err="1"/>
              <a:t>val</a:t>
            </a:r>
            <a:r>
              <a:rPr lang="en-US" dirty="0"/>
              <a:t>;  </a:t>
            </a:r>
          </a:p>
          <a:p>
            <a:pPr marL="0" indent="0">
              <a:buNone/>
            </a:pPr>
            <a:r>
              <a:rPr lang="en-US" dirty="0"/>
              <a:t>    </a:t>
            </a:r>
            <a:r>
              <a:rPr lang="en-US" dirty="0" err="1"/>
              <a:t>printf</a:t>
            </a:r>
            <a:r>
              <a:rPr lang="en-US" dirty="0"/>
              <a:t>("\n Enter the data after which the node is to be deleted : ");  </a:t>
            </a:r>
          </a:p>
          <a:p>
            <a:pPr marL="0" indent="0">
              <a:buNone/>
            </a:pPr>
            <a:r>
              <a:rPr lang="en-US" dirty="0"/>
              <a:t>    </a:t>
            </a:r>
            <a:r>
              <a:rPr lang="en-US" dirty="0" err="1"/>
              <a:t>scanf</a:t>
            </a:r>
            <a:r>
              <a:rPr lang="en-US" dirty="0"/>
              <a:t>("%d", &amp;</a:t>
            </a:r>
            <a:r>
              <a:rPr lang="en-US" dirty="0" err="1"/>
              <a:t>val</a:t>
            </a:r>
            <a:r>
              <a:rPr lang="en-US" dirty="0"/>
              <a:t>);  </a:t>
            </a:r>
          </a:p>
          <a:p>
            <a:pPr marL="0" indent="0">
              <a:buNone/>
            </a:pPr>
            <a:r>
              <a:rPr lang="en-US" dirty="0"/>
              <a:t>    </a:t>
            </a:r>
            <a:r>
              <a:rPr lang="en-US" dirty="0" smtClean="0"/>
              <a:t>temp </a:t>
            </a:r>
            <a:r>
              <a:rPr lang="en-US" dirty="0"/>
              <a:t>= head;  </a:t>
            </a:r>
          </a:p>
          <a:p>
            <a:pPr marL="0" indent="0">
              <a:buNone/>
            </a:pPr>
            <a:r>
              <a:rPr lang="en-US" dirty="0"/>
              <a:t>    </a:t>
            </a:r>
            <a:r>
              <a:rPr lang="en-US" dirty="0" smtClean="0"/>
              <a:t>while(temp </a:t>
            </a:r>
            <a:r>
              <a:rPr lang="en-US" dirty="0"/>
              <a:t>-&gt; </a:t>
            </a:r>
            <a:r>
              <a:rPr lang="en-US" dirty="0" smtClean="0"/>
              <a:t>info!= </a:t>
            </a:r>
            <a:r>
              <a:rPr lang="en-US" dirty="0" err="1"/>
              <a:t>val</a:t>
            </a:r>
            <a:r>
              <a:rPr lang="en-US" dirty="0"/>
              <a:t>)  </a:t>
            </a:r>
          </a:p>
          <a:p>
            <a:pPr marL="0" indent="0">
              <a:buNone/>
            </a:pPr>
            <a:r>
              <a:rPr lang="en-US" dirty="0"/>
              <a:t>    </a:t>
            </a:r>
            <a:r>
              <a:rPr lang="en-US" dirty="0" smtClean="0"/>
              <a:t>      temp </a:t>
            </a:r>
            <a:r>
              <a:rPr lang="en-US" dirty="0"/>
              <a:t>= </a:t>
            </a:r>
            <a:r>
              <a:rPr lang="en-US" dirty="0" smtClean="0"/>
              <a:t>temp </a:t>
            </a:r>
            <a:r>
              <a:rPr lang="en-US" dirty="0"/>
              <a:t>-&gt; next;  </a:t>
            </a:r>
          </a:p>
          <a:p>
            <a:pPr marL="0" indent="0">
              <a:buNone/>
            </a:pPr>
            <a:r>
              <a:rPr lang="en-US" dirty="0"/>
              <a:t>    </a:t>
            </a:r>
            <a:r>
              <a:rPr lang="en-US" dirty="0" smtClean="0"/>
              <a:t>if(temp </a:t>
            </a:r>
            <a:r>
              <a:rPr lang="en-US" dirty="0"/>
              <a:t>-&gt; next == NULL) </a:t>
            </a:r>
            <a:r>
              <a:rPr lang="en-US" dirty="0" smtClean="0"/>
              <a:t>{  </a:t>
            </a:r>
            <a:endParaRPr lang="en-US" dirty="0"/>
          </a:p>
          <a:p>
            <a:pPr marL="0" indent="0">
              <a:buNone/>
            </a:pPr>
            <a:r>
              <a:rPr lang="en-US" dirty="0"/>
              <a:t>        </a:t>
            </a:r>
            <a:r>
              <a:rPr lang="en-US" dirty="0" smtClean="0"/>
              <a:t> </a:t>
            </a:r>
            <a:r>
              <a:rPr lang="en-US" dirty="0" err="1" smtClean="0"/>
              <a:t>printf</a:t>
            </a:r>
            <a:r>
              <a:rPr lang="en-US" dirty="0"/>
              <a:t>("\</a:t>
            </a:r>
            <a:r>
              <a:rPr lang="en-US" dirty="0" smtClean="0"/>
              <a:t>n Can't delete");  </a:t>
            </a:r>
            <a:endParaRPr lang="en-US" dirty="0"/>
          </a:p>
          <a:p>
            <a:pPr marL="0" indent="0">
              <a:buNone/>
            </a:pPr>
            <a:r>
              <a:rPr lang="en-US" dirty="0"/>
              <a:t>    }  </a:t>
            </a:r>
          </a:p>
          <a:p>
            <a:pPr marL="0" indent="0">
              <a:buNone/>
            </a:pPr>
            <a:r>
              <a:rPr lang="en-US" dirty="0"/>
              <a:t>    else </a:t>
            </a:r>
            <a:r>
              <a:rPr lang="en-US" dirty="0" smtClean="0"/>
              <a:t>if(temp </a:t>
            </a:r>
            <a:r>
              <a:rPr lang="en-US" dirty="0"/>
              <a:t>-&gt; next -&gt; next == NULL) </a:t>
            </a:r>
            <a:r>
              <a:rPr lang="en-US" dirty="0" smtClean="0"/>
              <a:t>{  </a:t>
            </a:r>
            <a:endParaRPr lang="en-US" dirty="0"/>
          </a:p>
          <a:p>
            <a:pPr marL="0" indent="0">
              <a:buNone/>
            </a:pPr>
            <a:r>
              <a:rPr lang="en-US" dirty="0"/>
              <a:t>        </a:t>
            </a:r>
            <a:r>
              <a:rPr lang="en-US" dirty="0" err="1"/>
              <a:t>ptr</a:t>
            </a:r>
            <a:r>
              <a:rPr lang="en-US" dirty="0"/>
              <a:t> -&gt;next = NULL;  </a:t>
            </a:r>
          </a:p>
          <a:p>
            <a:pPr marL="0" indent="0">
              <a:buNone/>
            </a:pPr>
            <a:r>
              <a:rPr lang="en-US" dirty="0"/>
              <a:t>    }  </a:t>
            </a:r>
          </a:p>
        </p:txBody>
      </p:sp>
    </p:spTree>
    <p:extLst>
      <p:ext uri="{BB962C8B-B14F-4D97-AF65-F5344CB8AC3E}">
        <p14:creationId xmlns:p14="http://schemas.microsoft.com/office/powerpoint/2010/main" val="2902265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down)">
                                      <p:cBhvr>
                                        <p:cTn id="16" dur="500"/>
                                        <p:tgtEl>
                                          <p:spTgt spid="3">
                                            <p:txEl>
                                              <p:pRg st="3" end="3"/>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wipe(down)">
                                      <p:cBhvr>
                                        <p:cTn id="19" dur="500"/>
                                        <p:tgtEl>
                                          <p:spTgt spid="3">
                                            <p:txEl>
                                              <p:pRg st="4" end="4"/>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wipe(down)">
                                      <p:cBhvr>
                                        <p:cTn id="22" dur="500"/>
                                        <p:tgtEl>
                                          <p:spTgt spid="3">
                                            <p:txEl>
                                              <p:pRg st="5" end="5"/>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wipe(down)">
                                      <p:cBhvr>
                                        <p:cTn id="25" dur="500"/>
                                        <p:tgtEl>
                                          <p:spTgt spid="3">
                                            <p:txEl>
                                              <p:pRg st="6" end="6"/>
                                            </p:txEl>
                                          </p:spTgt>
                                        </p:tgtEl>
                                      </p:cBhvr>
                                    </p:animEffect>
                                  </p:childTnLst>
                                </p:cTn>
                              </p:par>
                              <p:par>
                                <p:cTn id="26" presetID="22" presetClass="entr" presetSubtype="4" fill="hold"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wipe(down)">
                                      <p:cBhvr>
                                        <p:cTn id="28" dur="500"/>
                                        <p:tgtEl>
                                          <p:spTgt spid="3">
                                            <p:txEl>
                                              <p:pRg st="7" end="7"/>
                                            </p:txEl>
                                          </p:spTgt>
                                        </p:tgtEl>
                                      </p:cBhvr>
                                    </p:animEffect>
                                  </p:childTnLst>
                                </p:cTn>
                              </p:par>
                              <p:par>
                                <p:cTn id="29" presetID="22" presetClass="entr" presetSubtype="4"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Effect transition="in" filter="wipe(down)">
                                      <p:cBhvr>
                                        <p:cTn id="31" dur="500"/>
                                        <p:tgtEl>
                                          <p:spTgt spid="3">
                                            <p:txEl>
                                              <p:pRg st="8" end="8"/>
                                            </p:txEl>
                                          </p:spTgt>
                                        </p:tgtEl>
                                      </p:cBhvr>
                                    </p:animEffect>
                                  </p:childTnLst>
                                </p:cTn>
                              </p:par>
                              <p:par>
                                <p:cTn id="32" presetID="22" presetClass="entr" presetSubtype="4" fill="hold" nodeType="withEffect">
                                  <p:stCondLst>
                                    <p:cond delay="0"/>
                                  </p:stCondLst>
                                  <p:childTnLst>
                                    <p:set>
                                      <p:cBhvr>
                                        <p:cTn id="33" dur="1" fill="hold">
                                          <p:stCondLst>
                                            <p:cond delay="0"/>
                                          </p:stCondLst>
                                        </p:cTn>
                                        <p:tgtEl>
                                          <p:spTgt spid="3">
                                            <p:txEl>
                                              <p:pRg st="9" end="9"/>
                                            </p:txEl>
                                          </p:spTgt>
                                        </p:tgtEl>
                                        <p:attrNameLst>
                                          <p:attrName>style.visibility</p:attrName>
                                        </p:attrNameLst>
                                      </p:cBhvr>
                                      <p:to>
                                        <p:strVal val="visible"/>
                                      </p:to>
                                    </p:set>
                                    <p:animEffect transition="in" filter="wipe(down)">
                                      <p:cBhvr>
                                        <p:cTn id="34" dur="500"/>
                                        <p:tgtEl>
                                          <p:spTgt spid="3">
                                            <p:txEl>
                                              <p:pRg st="9" end="9"/>
                                            </p:txEl>
                                          </p:spTgt>
                                        </p:tgtEl>
                                      </p:cBhvr>
                                    </p:animEffect>
                                  </p:childTnLst>
                                </p:cTn>
                              </p:par>
                              <p:par>
                                <p:cTn id="35" presetID="22" presetClass="entr" presetSubtype="4" fill="hold" nodeType="with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animEffect transition="in" filter="wipe(down)">
                                      <p:cBhvr>
                                        <p:cTn id="37" dur="500"/>
                                        <p:tgtEl>
                                          <p:spTgt spid="3">
                                            <p:txEl>
                                              <p:pRg st="10" end="10"/>
                                            </p:txEl>
                                          </p:spTgt>
                                        </p:tgtEl>
                                      </p:cBhvr>
                                    </p:animEffect>
                                  </p:childTnLst>
                                </p:cTn>
                              </p:par>
                              <p:par>
                                <p:cTn id="38" presetID="22" presetClass="entr" presetSubtype="4" fill="hold" nodeType="withEffect">
                                  <p:stCondLst>
                                    <p:cond delay="0"/>
                                  </p:stCondLst>
                                  <p:childTnLst>
                                    <p:set>
                                      <p:cBhvr>
                                        <p:cTn id="39" dur="1" fill="hold">
                                          <p:stCondLst>
                                            <p:cond delay="0"/>
                                          </p:stCondLst>
                                        </p:cTn>
                                        <p:tgtEl>
                                          <p:spTgt spid="3">
                                            <p:txEl>
                                              <p:pRg st="11" end="11"/>
                                            </p:txEl>
                                          </p:spTgt>
                                        </p:tgtEl>
                                        <p:attrNameLst>
                                          <p:attrName>style.visibility</p:attrName>
                                        </p:attrNameLst>
                                      </p:cBhvr>
                                      <p:to>
                                        <p:strVal val="visible"/>
                                      </p:to>
                                    </p:set>
                                    <p:animEffect transition="in" filter="wipe(down)">
                                      <p:cBhvr>
                                        <p:cTn id="40" dur="500"/>
                                        <p:tgtEl>
                                          <p:spTgt spid="3">
                                            <p:txEl>
                                              <p:pRg st="11" end="11"/>
                                            </p:txEl>
                                          </p:spTgt>
                                        </p:tgtEl>
                                      </p:cBhvr>
                                    </p:animEffect>
                                  </p:childTnLst>
                                </p:cTn>
                              </p:par>
                              <p:par>
                                <p:cTn id="41" presetID="22" presetClass="entr" presetSubtype="4" fill="hold" nodeType="with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animEffect transition="in" filter="wipe(down)">
                                      <p:cBhvr>
                                        <p:cTn id="43" dur="500"/>
                                        <p:tgtEl>
                                          <p:spTgt spid="3">
                                            <p:txEl>
                                              <p:pRg st="12" end="12"/>
                                            </p:txEl>
                                          </p:spTgt>
                                        </p:tgtEl>
                                      </p:cBhvr>
                                    </p:animEffect>
                                  </p:childTnLst>
                                </p:cTn>
                              </p:par>
                              <p:par>
                                <p:cTn id="44" presetID="22" presetClass="entr" presetSubtype="4" fill="hold" nodeType="withEffect">
                                  <p:stCondLst>
                                    <p:cond delay="0"/>
                                  </p:stCondLst>
                                  <p:childTnLst>
                                    <p:set>
                                      <p:cBhvr>
                                        <p:cTn id="45" dur="1" fill="hold">
                                          <p:stCondLst>
                                            <p:cond delay="0"/>
                                          </p:stCondLst>
                                        </p:cTn>
                                        <p:tgtEl>
                                          <p:spTgt spid="3">
                                            <p:txEl>
                                              <p:pRg st="13" end="13"/>
                                            </p:txEl>
                                          </p:spTgt>
                                        </p:tgtEl>
                                        <p:attrNameLst>
                                          <p:attrName>style.visibility</p:attrName>
                                        </p:attrNameLst>
                                      </p:cBhvr>
                                      <p:to>
                                        <p:strVal val="visible"/>
                                      </p:to>
                                    </p:set>
                                    <p:animEffect transition="in" filter="wipe(down)">
                                      <p:cBhvr>
                                        <p:cTn id="46" dur="500"/>
                                        <p:tgtEl>
                                          <p:spTgt spid="3">
                                            <p:txEl>
                                              <p:pRg st="13" end="13"/>
                                            </p:txEl>
                                          </p:spTgt>
                                        </p:tgtEl>
                                      </p:cBhvr>
                                    </p:animEffect>
                                  </p:childTnLst>
                                </p:cTn>
                              </p:par>
                              <p:par>
                                <p:cTn id="47" presetID="22" presetClass="entr" presetSubtype="4" fill="hold" nodeType="withEffect">
                                  <p:stCondLst>
                                    <p:cond delay="0"/>
                                  </p:stCondLst>
                                  <p:childTnLst>
                                    <p:set>
                                      <p:cBhvr>
                                        <p:cTn id="48" dur="1" fill="hold">
                                          <p:stCondLst>
                                            <p:cond delay="0"/>
                                          </p:stCondLst>
                                        </p:cTn>
                                        <p:tgtEl>
                                          <p:spTgt spid="3">
                                            <p:txEl>
                                              <p:pRg st="14" end="14"/>
                                            </p:txEl>
                                          </p:spTgt>
                                        </p:tgtEl>
                                        <p:attrNameLst>
                                          <p:attrName>style.visibility</p:attrName>
                                        </p:attrNameLst>
                                      </p:cBhvr>
                                      <p:to>
                                        <p:strVal val="visible"/>
                                      </p:to>
                                    </p:set>
                                    <p:animEffect transition="in" filter="wipe(down)">
                                      <p:cBhvr>
                                        <p:cTn id="49" dur="5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715962"/>
          </a:xfrm>
        </p:spPr>
        <p:txBody>
          <a:bodyPr>
            <a:normAutofit fontScale="90000"/>
          </a:bodyPr>
          <a:lstStyle/>
          <a:p>
            <a:endParaRPr lang="en-US" dirty="0"/>
          </a:p>
        </p:txBody>
      </p:sp>
      <p:sp>
        <p:nvSpPr>
          <p:cNvPr id="3" name="Content Placeholder 2"/>
          <p:cNvSpPr>
            <a:spLocks noGrp="1"/>
          </p:cNvSpPr>
          <p:nvPr>
            <p:ph idx="1"/>
          </p:nvPr>
        </p:nvSpPr>
        <p:spPr>
          <a:xfrm>
            <a:off x="1066800" y="1219201"/>
            <a:ext cx="10515600" cy="4906964"/>
          </a:xfrm>
        </p:spPr>
        <p:txBody>
          <a:bodyPr>
            <a:normAutofit/>
          </a:bodyPr>
          <a:lstStyle/>
          <a:p>
            <a:pPr marL="0" indent="0">
              <a:buNone/>
            </a:pPr>
            <a:r>
              <a:rPr lang="en-US" dirty="0"/>
              <a:t> else  </a:t>
            </a:r>
            <a:r>
              <a:rPr lang="en-US" dirty="0" smtClean="0"/>
              <a:t>{   </a:t>
            </a:r>
            <a:endParaRPr lang="en-US" dirty="0"/>
          </a:p>
          <a:p>
            <a:pPr marL="0" indent="0">
              <a:buNone/>
            </a:pPr>
            <a:r>
              <a:rPr lang="en-US" dirty="0"/>
              <a:t>        </a:t>
            </a:r>
            <a:r>
              <a:rPr lang="en-US" dirty="0" err="1" smtClean="0"/>
              <a:t>ptr</a:t>
            </a:r>
            <a:r>
              <a:rPr lang="en-US" dirty="0" smtClean="0"/>
              <a:t> </a:t>
            </a:r>
            <a:r>
              <a:rPr lang="en-US" dirty="0"/>
              <a:t>= </a:t>
            </a:r>
            <a:r>
              <a:rPr lang="en-US" dirty="0" smtClean="0"/>
              <a:t>temp </a:t>
            </a:r>
            <a:r>
              <a:rPr lang="en-US" dirty="0"/>
              <a:t>-&gt; next;  </a:t>
            </a:r>
          </a:p>
          <a:p>
            <a:pPr marL="0" indent="0">
              <a:buNone/>
            </a:pPr>
            <a:r>
              <a:rPr lang="en-US" dirty="0"/>
              <a:t>        </a:t>
            </a:r>
            <a:r>
              <a:rPr lang="en-US" dirty="0" smtClean="0"/>
              <a:t>temp </a:t>
            </a:r>
            <a:r>
              <a:rPr lang="en-US" dirty="0"/>
              <a:t>-&gt; next = </a:t>
            </a:r>
            <a:r>
              <a:rPr lang="en-US" dirty="0" err="1" smtClean="0"/>
              <a:t>ptr</a:t>
            </a:r>
            <a:r>
              <a:rPr lang="en-US" dirty="0" smtClean="0"/>
              <a:t> </a:t>
            </a:r>
            <a:r>
              <a:rPr lang="en-US" dirty="0"/>
              <a:t>-&gt; next;  </a:t>
            </a:r>
          </a:p>
          <a:p>
            <a:pPr marL="0" indent="0">
              <a:buNone/>
            </a:pPr>
            <a:r>
              <a:rPr lang="en-US" dirty="0"/>
              <a:t>        </a:t>
            </a:r>
            <a:r>
              <a:rPr lang="en-US" dirty="0" err="1" smtClean="0"/>
              <a:t>ptr</a:t>
            </a:r>
            <a:r>
              <a:rPr lang="en-US" dirty="0" smtClean="0"/>
              <a:t> </a:t>
            </a:r>
            <a:r>
              <a:rPr lang="en-US" dirty="0"/>
              <a:t>-&gt; next -&gt; </a:t>
            </a:r>
            <a:r>
              <a:rPr lang="en-US" dirty="0" err="1"/>
              <a:t>prev</a:t>
            </a:r>
            <a:r>
              <a:rPr lang="en-US" dirty="0"/>
              <a:t> = </a:t>
            </a:r>
            <a:r>
              <a:rPr lang="en-US" dirty="0" smtClean="0"/>
              <a:t>temp;  </a:t>
            </a:r>
            <a:endParaRPr lang="en-US" dirty="0"/>
          </a:p>
          <a:p>
            <a:pPr marL="0" indent="0">
              <a:buNone/>
            </a:pPr>
            <a:r>
              <a:rPr lang="en-US" dirty="0"/>
              <a:t>        </a:t>
            </a:r>
            <a:r>
              <a:rPr lang="en-US" dirty="0" smtClean="0"/>
              <a:t>free(</a:t>
            </a:r>
            <a:r>
              <a:rPr lang="en-US" dirty="0" err="1" smtClean="0"/>
              <a:t>ptr</a:t>
            </a:r>
            <a:r>
              <a:rPr lang="en-US" dirty="0" smtClean="0"/>
              <a:t>);  </a:t>
            </a:r>
            <a:endParaRPr lang="en-US" dirty="0"/>
          </a:p>
          <a:p>
            <a:pPr marL="0" indent="0">
              <a:buNone/>
            </a:pPr>
            <a:r>
              <a:rPr lang="en-US" dirty="0"/>
              <a:t>        </a:t>
            </a:r>
            <a:r>
              <a:rPr lang="en-US" dirty="0" err="1"/>
              <a:t>printf</a:t>
            </a:r>
            <a:r>
              <a:rPr lang="en-US" dirty="0"/>
              <a:t>("\</a:t>
            </a:r>
            <a:r>
              <a:rPr lang="en-US" dirty="0" smtClean="0"/>
              <a:t>n node deleted");  </a:t>
            </a:r>
            <a:endParaRPr lang="en-US" dirty="0"/>
          </a:p>
          <a:p>
            <a:pPr marL="0" indent="0">
              <a:buNone/>
            </a:pPr>
            <a:r>
              <a:rPr lang="en-US" dirty="0"/>
              <a:t>    } </a:t>
            </a:r>
            <a:r>
              <a:rPr lang="en-US" dirty="0" smtClean="0"/>
              <a:t>} </a:t>
            </a:r>
            <a:endParaRPr lang="en-US" dirty="0"/>
          </a:p>
        </p:txBody>
      </p:sp>
    </p:spTree>
    <p:extLst>
      <p:ext uri="{BB962C8B-B14F-4D97-AF65-F5344CB8AC3E}">
        <p14:creationId xmlns:p14="http://schemas.microsoft.com/office/powerpoint/2010/main" val="2276220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circle(in)">
                                      <p:cBhvr>
                                        <p:cTn id="10" dur="2000"/>
                                        <p:tgtEl>
                                          <p:spTgt spid="3">
                                            <p:txEl>
                                              <p:pRg st="1" end="1"/>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circle(in)">
                                      <p:cBhvr>
                                        <p:cTn id="13" dur="2000"/>
                                        <p:tgtEl>
                                          <p:spTgt spid="3">
                                            <p:txEl>
                                              <p:pRg st="2" end="2"/>
                                            </p:txEl>
                                          </p:spTgt>
                                        </p:tgtEl>
                                      </p:cBhvr>
                                    </p:animEffect>
                                  </p:childTnLst>
                                </p:cTn>
                              </p:par>
                              <p:par>
                                <p:cTn id="14" presetID="6" presetClass="entr" presetSubtype="16"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circle(in)">
                                      <p:cBhvr>
                                        <p:cTn id="16" dur="2000"/>
                                        <p:tgtEl>
                                          <p:spTgt spid="3">
                                            <p:txEl>
                                              <p:pRg st="3" end="3"/>
                                            </p:txEl>
                                          </p:spTgt>
                                        </p:tgtEl>
                                      </p:cBhvr>
                                    </p:animEffect>
                                  </p:childTnLst>
                                </p:cTn>
                              </p:par>
                              <p:par>
                                <p:cTn id="17" presetID="6" presetClass="entr" presetSubtype="16"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circle(in)">
                                      <p:cBhvr>
                                        <p:cTn id="19" dur="2000"/>
                                        <p:tgtEl>
                                          <p:spTgt spid="3">
                                            <p:txEl>
                                              <p:pRg st="4" end="4"/>
                                            </p:txEl>
                                          </p:spTgt>
                                        </p:tgtEl>
                                      </p:cBhvr>
                                    </p:animEffect>
                                  </p:childTnLst>
                                </p:cTn>
                              </p:par>
                              <p:par>
                                <p:cTn id="20" presetID="6" presetClass="entr" presetSubtype="16"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circle(in)">
                                      <p:cBhvr>
                                        <p:cTn id="22" dur="2000"/>
                                        <p:tgtEl>
                                          <p:spTgt spid="3">
                                            <p:txEl>
                                              <p:pRg st="5" end="5"/>
                                            </p:txEl>
                                          </p:spTgt>
                                        </p:tgtEl>
                                      </p:cBhvr>
                                    </p:animEffect>
                                  </p:childTnLst>
                                </p:cTn>
                              </p:par>
                              <p:par>
                                <p:cTn id="23" presetID="6" presetClass="entr" presetSubtype="16"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circle(in)">
                                      <p:cBhvr>
                                        <p:cTn id="25"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marL="0" indent="0">
              <a:buNone/>
            </a:pPr>
            <a:r>
              <a:rPr lang="en-US" dirty="0"/>
              <a:t>void display</a:t>
            </a:r>
            <a:r>
              <a:rPr lang="en-US" dirty="0" smtClean="0"/>
              <a:t>(){  </a:t>
            </a:r>
            <a:endParaRPr lang="en-US" dirty="0"/>
          </a:p>
          <a:p>
            <a:pPr marL="0" indent="0">
              <a:buNone/>
            </a:pPr>
            <a:r>
              <a:rPr lang="en-US" dirty="0"/>
              <a:t>    </a:t>
            </a:r>
            <a:r>
              <a:rPr lang="en-US" dirty="0" err="1"/>
              <a:t>struct</a:t>
            </a:r>
            <a:r>
              <a:rPr lang="en-US" dirty="0"/>
              <a:t> node </a:t>
            </a:r>
            <a:r>
              <a:rPr lang="en-US" dirty="0" smtClean="0"/>
              <a:t>*temp;  </a:t>
            </a:r>
            <a:endParaRPr lang="en-US" dirty="0"/>
          </a:p>
          <a:p>
            <a:pPr marL="0" indent="0">
              <a:buNone/>
            </a:pPr>
            <a:r>
              <a:rPr lang="en-US" dirty="0"/>
              <a:t>    </a:t>
            </a:r>
            <a:r>
              <a:rPr lang="en-US" dirty="0" err="1"/>
              <a:t>printf</a:t>
            </a:r>
            <a:r>
              <a:rPr lang="en-US" dirty="0"/>
              <a:t>("\</a:t>
            </a:r>
            <a:r>
              <a:rPr lang="en-US" dirty="0" smtClean="0"/>
              <a:t>n values::");  </a:t>
            </a:r>
            <a:endParaRPr lang="en-US" dirty="0"/>
          </a:p>
          <a:p>
            <a:pPr marL="0" indent="0">
              <a:buNone/>
            </a:pPr>
            <a:r>
              <a:rPr lang="en-US" dirty="0"/>
              <a:t>    </a:t>
            </a:r>
            <a:r>
              <a:rPr lang="en-US" dirty="0" smtClean="0"/>
              <a:t>temp </a:t>
            </a:r>
            <a:r>
              <a:rPr lang="en-US" dirty="0"/>
              <a:t>= head;  </a:t>
            </a:r>
          </a:p>
          <a:p>
            <a:pPr marL="0" indent="0">
              <a:buNone/>
            </a:pPr>
            <a:r>
              <a:rPr lang="en-US" dirty="0"/>
              <a:t>    </a:t>
            </a:r>
            <a:r>
              <a:rPr lang="en-US" dirty="0" smtClean="0"/>
              <a:t>while(temp!= </a:t>
            </a:r>
            <a:r>
              <a:rPr lang="en-US" dirty="0"/>
              <a:t>NULL)  </a:t>
            </a:r>
          </a:p>
          <a:p>
            <a:pPr marL="0" indent="0">
              <a:buNone/>
            </a:pPr>
            <a:r>
              <a:rPr lang="en-US" dirty="0"/>
              <a:t>    {  </a:t>
            </a:r>
          </a:p>
          <a:p>
            <a:pPr marL="0" indent="0">
              <a:buNone/>
            </a:pPr>
            <a:r>
              <a:rPr lang="en-US" dirty="0"/>
              <a:t>        </a:t>
            </a:r>
            <a:r>
              <a:rPr lang="en-US" dirty="0" err="1"/>
              <a:t>printf</a:t>
            </a:r>
            <a:r>
              <a:rPr lang="en-US" dirty="0"/>
              <a:t>("%d\n</a:t>
            </a:r>
            <a:r>
              <a:rPr lang="en-US" dirty="0" smtClean="0"/>
              <a:t>", temp-&gt;info);  </a:t>
            </a:r>
            <a:endParaRPr lang="en-US" dirty="0"/>
          </a:p>
          <a:p>
            <a:pPr marL="0" indent="0">
              <a:buNone/>
            </a:pPr>
            <a:r>
              <a:rPr lang="en-US" dirty="0"/>
              <a:t>        </a:t>
            </a:r>
            <a:r>
              <a:rPr lang="en-US" dirty="0" smtClean="0"/>
              <a:t>temp=temp-&gt;</a:t>
            </a:r>
            <a:r>
              <a:rPr lang="en-US" dirty="0"/>
              <a:t>next;  </a:t>
            </a:r>
          </a:p>
          <a:p>
            <a:pPr marL="0" indent="0">
              <a:buNone/>
            </a:pPr>
            <a:r>
              <a:rPr lang="en-US" dirty="0"/>
              <a:t>    }  </a:t>
            </a:r>
            <a:r>
              <a:rPr lang="en-US" dirty="0" smtClean="0"/>
              <a:t>} </a:t>
            </a:r>
            <a:endParaRPr lang="en-US" dirty="0"/>
          </a:p>
        </p:txBody>
      </p:sp>
    </p:spTree>
    <p:extLst>
      <p:ext uri="{BB962C8B-B14F-4D97-AF65-F5344CB8AC3E}">
        <p14:creationId xmlns:p14="http://schemas.microsoft.com/office/powerpoint/2010/main" val="371622186"/>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4638"/>
            <a:ext cx="10363200" cy="944562"/>
          </a:xfrm>
        </p:spPr>
        <p:style>
          <a:lnRef idx="3">
            <a:schemeClr val="lt1"/>
          </a:lnRef>
          <a:fillRef idx="1">
            <a:schemeClr val="accent4"/>
          </a:fillRef>
          <a:effectRef idx="1">
            <a:schemeClr val="accent4"/>
          </a:effectRef>
          <a:fontRef idx="minor">
            <a:schemeClr val="lt1"/>
          </a:fontRef>
        </p:style>
        <p:txBody>
          <a:bodyPr>
            <a:normAutofit/>
          </a:bodyPr>
          <a:lstStyle/>
          <a:p>
            <a:pPr algn="l"/>
            <a:r>
              <a:rPr lang="en-US" sz="4000" b="1" dirty="0">
                <a:solidFill>
                  <a:schemeClr val="bg1"/>
                </a:solidFill>
              </a:rPr>
              <a:t>Circular Doubly Linked List</a:t>
            </a:r>
            <a:endParaRPr lang="en-US" sz="4000" dirty="0">
              <a:solidFill>
                <a:schemeClr val="bg1"/>
              </a:solidFill>
            </a:endParaRPr>
          </a:p>
        </p:txBody>
      </p:sp>
      <p:sp>
        <p:nvSpPr>
          <p:cNvPr id="3" name="Content Placeholder 2"/>
          <p:cNvSpPr>
            <a:spLocks noGrp="1"/>
          </p:cNvSpPr>
          <p:nvPr>
            <p:ph idx="1"/>
          </p:nvPr>
        </p:nvSpPr>
        <p:spPr>
          <a:xfrm>
            <a:off x="1066800" y="1371601"/>
            <a:ext cx="10134600" cy="5105399"/>
          </a:xfrm>
        </p:spPr>
        <p:txBody>
          <a:bodyPr>
            <a:normAutofit/>
          </a:bodyPr>
          <a:lstStyle/>
          <a:p>
            <a:r>
              <a:rPr lang="en-US" dirty="0"/>
              <a:t>A circular doubly linked list is one which has the successor and </a:t>
            </a:r>
            <a:r>
              <a:rPr lang="en-US" dirty="0" smtClean="0"/>
              <a:t>predecessor</a:t>
            </a:r>
            <a:r>
              <a:rPr lang="en-US" dirty="0"/>
              <a:t> </a:t>
            </a:r>
            <a:r>
              <a:rPr lang="en-US" dirty="0" smtClean="0"/>
              <a:t>pointer </a:t>
            </a:r>
            <a:r>
              <a:rPr lang="en-US" dirty="0"/>
              <a:t>in circular manner</a:t>
            </a:r>
            <a:r>
              <a:rPr lang="en-US" dirty="0" smtClean="0"/>
              <a:t>.</a:t>
            </a:r>
            <a:r>
              <a:rPr lang="en-US" dirty="0"/>
              <a:t> </a:t>
            </a:r>
          </a:p>
          <a:p>
            <a:r>
              <a:rPr lang="en-US" dirty="0"/>
              <a:t>It is a doubly linked list where the next link of last node points to the first node </a:t>
            </a:r>
            <a:r>
              <a:rPr lang="en-US" dirty="0" smtClean="0"/>
              <a:t>and</a:t>
            </a:r>
            <a:r>
              <a:rPr lang="en-US" dirty="0"/>
              <a:t> </a:t>
            </a:r>
            <a:r>
              <a:rPr lang="en-US" dirty="0" smtClean="0"/>
              <a:t>previous </a:t>
            </a:r>
            <a:r>
              <a:rPr lang="en-US" dirty="0"/>
              <a:t>link of first node points to last node of the list</a:t>
            </a:r>
            <a:r>
              <a:rPr lang="en-US" dirty="0" smtClean="0"/>
              <a:t>.</a:t>
            </a:r>
            <a:endParaRPr lang="en-US" dirty="0"/>
          </a:p>
          <a:p>
            <a:r>
              <a:rPr lang="en-US" dirty="0"/>
              <a:t>The main objective of considering circular doubly linked list is to simplify </a:t>
            </a:r>
            <a:r>
              <a:rPr lang="en-US" dirty="0" smtClean="0"/>
              <a:t>the</a:t>
            </a:r>
            <a:r>
              <a:rPr lang="en-US" dirty="0"/>
              <a:t> </a:t>
            </a:r>
            <a:r>
              <a:rPr lang="en-US" dirty="0" smtClean="0"/>
              <a:t>insertion </a:t>
            </a:r>
            <a:r>
              <a:rPr lang="en-US" dirty="0"/>
              <a:t>and deletion operations performed on doubly linked list.</a:t>
            </a:r>
          </a:p>
          <a:p>
            <a:pPr marL="0" indent="0">
              <a:buNone/>
            </a:pPr>
            <a:endParaRPr lang="en-US" dirty="0"/>
          </a:p>
        </p:txBody>
      </p:sp>
    </p:spTree>
    <p:extLst>
      <p:ext uri="{BB962C8B-B14F-4D97-AF65-F5344CB8AC3E}">
        <p14:creationId xmlns:p14="http://schemas.microsoft.com/office/powerpoint/2010/main" val="1584819175"/>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09600" y="1295400"/>
            <a:ext cx="11024419" cy="4267200"/>
          </a:xfrm>
          <a:prstGeom prst="rect">
            <a:avLst/>
          </a:prstGeom>
        </p:spPr>
      </p:pic>
    </p:spTree>
    <p:extLst>
      <p:ext uri="{BB962C8B-B14F-4D97-AF65-F5344CB8AC3E}">
        <p14:creationId xmlns:p14="http://schemas.microsoft.com/office/powerpoint/2010/main" val="3231446494"/>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33600" y="685801"/>
            <a:ext cx="8077200" cy="5440363"/>
          </a:xfrm>
        </p:spPr>
        <p:txBody>
          <a:bodyPr>
            <a:normAutofit/>
          </a:bodyPr>
          <a:lstStyle/>
          <a:p>
            <a:pPr marL="0" indent="0">
              <a:buNone/>
            </a:pPr>
            <a:r>
              <a:rPr lang="en-US" b="1" i="1" dirty="0"/>
              <a:t>C </a:t>
            </a:r>
            <a:r>
              <a:rPr lang="en-US" b="1" i="1" dirty="0" smtClean="0"/>
              <a:t>representation </a:t>
            </a:r>
            <a:r>
              <a:rPr lang="en-US" b="1" i="1" dirty="0"/>
              <a:t>of doubly circular</a:t>
            </a:r>
            <a:r>
              <a:rPr lang="en-US" dirty="0"/>
              <a:t> </a:t>
            </a:r>
            <a:r>
              <a:rPr lang="en-US" b="1" i="1" dirty="0"/>
              <a:t>linked </a:t>
            </a:r>
            <a:r>
              <a:rPr lang="en-US" b="1" i="1" dirty="0" smtClean="0"/>
              <a:t>list</a:t>
            </a:r>
          </a:p>
          <a:p>
            <a:pPr marL="0" indent="0">
              <a:buNone/>
            </a:pPr>
            <a:r>
              <a:rPr lang="en-US" b="1" dirty="0" err="1"/>
              <a:t>struct</a:t>
            </a:r>
            <a:r>
              <a:rPr lang="en-US" dirty="0"/>
              <a:t> node</a:t>
            </a:r>
          </a:p>
          <a:p>
            <a:pPr marL="0" indent="0">
              <a:buNone/>
            </a:pPr>
            <a:r>
              <a:rPr lang="en-US" dirty="0"/>
              <a:t>{</a:t>
            </a:r>
          </a:p>
          <a:p>
            <a:pPr marL="0" indent="0">
              <a:buNone/>
            </a:pPr>
            <a:r>
              <a:rPr lang="en-US" dirty="0" smtClean="0"/>
              <a:t>	</a:t>
            </a:r>
            <a:r>
              <a:rPr lang="en-US" dirty="0" err="1" smtClean="0"/>
              <a:t>int</a:t>
            </a:r>
            <a:r>
              <a:rPr lang="en-US" dirty="0" smtClean="0"/>
              <a:t> </a:t>
            </a:r>
            <a:r>
              <a:rPr lang="en-US" dirty="0"/>
              <a:t>info;</a:t>
            </a:r>
          </a:p>
          <a:p>
            <a:pPr marL="0" indent="0">
              <a:buNone/>
            </a:pPr>
            <a:r>
              <a:rPr lang="en-US" dirty="0" smtClean="0"/>
              <a:t>	</a:t>
            </a:r>
            <a:r>
              <a:rPr lang="en-US" dirty="0" err="1" smtClean="0"/>
              <a:t>struct</a:t>
            </a:r>
            <a:r>
              <a:rPr lang="en-US" dirty="0" smtClean="0"/>
              <a:t> </a:t>
            </a:r>
            <a:r>
              <a:rPr lang="en-US" dirty="0"/>
              <a:t>node *</a:t>
            </a:r>
            <a:r>
              <a:rPr lang="en-US" dirty="0" err="1"/>
              <a:t>prev</a:t>
            </a:r>
            <a:r>
              <a:rPr lang="en-US" dirty="0"/>
              <a:t>; </a:t>
            </a:r>
            <a:r>
              <a:rPr lang="en-US" dirty="0" err="1"/>
              <a:t>struct</a:t>
            </a:r>
            <a:r>
              <a:rPr lang="en-US" dirty="0"/>
              <a:t> node *next;</a:t>
            </a:r>
          </a:p>
          <a:p>
            <a:pPr marL="0" indent="0">
              <a:buNone/>
            </a:pPr>
            <a:r>
              <a:rPr lang="en-US" dirty="0"/>
              <a:t>};</a:t>
            </a:r>
          </a:p>
          <a:p>
            <a:pPr marL="0" indent="0">
              <a:buNone/>
            </a:pPr>
            <a:r>
              <a:rPr lang="en-US" dirty="0" err="1"/>
              <a:t>typedef</a:t>
            </a:r>
            <a:r>
              <a:rPr lang="en-US" dirty="0"/>
              <a:t> </a:t>
            </a:r>
            <a:r>
              <a:rPr lang="en-US" dirty="0" err="1"/>
              <a:t>struct</a:t>
            </a:r>
            <a:r>
              <a:rPr lang="en-US" dirty="0"/>
              <a:t> node </a:t>
            </a:r>
            <a:r>
              <a:rPr lang="en-US" dirty="0" err="1"/>
              <a:t>NodeType</a:t>
            </a:r>
            <a:r>
              <a:rPr lang="en-US" dirty="0"/>
              <a:t>; </a:t>
            </a:r>
            <a:endParaRPr lang="en-US" dirty="0" smtClean="0"/>
          </a:p>
          <a:p>
            <a:pPr marL="0" indent="0">
              <a:buNone/>
            </a:pPr>
            <a:r>
              <a:rPr lang="en-US" dirty="0" err="1" smtClean="0"/>
              <a:t>NodeType</a:t>
            </a:r>
            <a:r>
              <a:rPr lang="en-US" dirty="0" smtClean="0"/>
              <a:t> </a:t>
            </a:r>
            <a:r>
              <a:rPr lang="en-US" dirty="0"/>
              <a:t>*head=NULL:</a:t>
            </a:r>
          </a:p>
          <a:p>
            <a:pPr marL="0" indent="0">
              <a:buNone/>
            </a:pPr>
            <a:endParaRPr lang="en-US" dirty="0"/>
          </a:p>
        </p:txBody>
      </p:sp>
    </p:spTree>
    <p:extLst>
      <p:ext uri="{BB962C8B-B14F-4D97-AF65-F5344CB8AC3E}">
        <p14:creationId xmlns:p14="http://schemas.microsoft.com/office/powerpoint/2010/main" val="2525582629"/>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792162"/>
          </a:xfrm>
        </p:spPr>
        <p:txBody>
          <a:bodyPr>
            <a:noAutofit/>
          </a:bodyPr>
          <a:lstStyle/>
          <a:p>
            <a:r>
              <a:rPr lang="en-US" sz="2800" b="1" i="1" dirty="0"/>
              <a:t>Algorithm to insert a node at the beginning of a circular doubly linked list</a:t>
            </a:r>
            <a:endParaRPr lang="en-US" sz="2800" dirty="0"/>
          </a:p>
        </p:txBody>
      </p:sp>
      <p:sp>
        <p:nvSpPr>
          <p:cNvPr id="3" name="Content Placeholder 2"/>
          <p:cNvSpPr>
            <a:spLocks noGrp="1"/>
          </p:cNvSpPr>
          <p:nvPr>
            <p:ph idx="1"/>
          </p:nvPr>
        </p:nvSpPr>
        <p:spPr>
          <a:xfrm>
            <a:off x="1066800" y="1219200"/>
            <a:ext cx="9525000" cy="5181600"/>
          </a:xfrm>
        </p:spPr>
        <p:txBody>
          <a:bodyPr>
            <a:normAutofit fontScale="92500" lnSpcReduction="10000"/>
          </a:bodyPr>
          <a:lstStyle/>
          <a:p>
            <a:pPr marL="0" indent="0">
              <a:buNone/>
            </a:pPr>
            <a:r>
              <a:rPr lang="en-US" dirty="0" smtClean="0"/>
              <a:t>1</a:t>
            </a:r>
            <a:r>
              <a:rPr lang="en-US" dirty="0"/>
              <a:t>. Allocate memory for the new node as,</a:t>
            </a:r>
          </a:p>
          <a:p>
            <a:pPr marL="0" indent="0">
              <a:buNone/>
            </a:pPr>
            <a:r>
              <a:rPr lang="en-US" dirty="0" err="1" smtClean="0"/>
              <a:t>newnode</a:t>
            </a:r>
            <a:r>
              <a:rPr lang="en-US" dirty="0"/>
              <a:t>=(</a:t>
            </a:r>
            <a:r>
              <a:rPr lang="en-US" dirty="0" err="1"/>
              <a:t>NodeType</a:t>
            </a:r>
            <a:r>
              <a:rPr lang="en-US" dirty="0"/>
              <a:t>*)</a:t>
            </a:r>
            <a:r>
              <a:rPr lang="en-US" dirty="0" err="1"/>
              <a:t>malloc</a:t>
            </a:r>
            <a:r>
              <a:rPr lang="en-US" dirty="0"/>
              <a:t>(</a:t>
            </a:r>
            <a:r>
              <a:rPr lang="en-US" dirty="0" err="1"/>
              <a:t>sizeof</a:t>
            </a:r>
            <a:r>
              <a:rPr lang="en-US" dirty="0"/>
              <a:t>(</a:t>
            </a:r>
            <a:r>
              <a:rPr lang="en-US" dirty="0" err="1"/>
              <a:t>NodeType</a:t>
            </a:r>
            <a:r>
              <a:rPr lang="en-US" dirty="0"/>
              <a:t>)) </a:t>
            </a:r>
            <a:endParaRPr lang="en-US" dirty="0" smtClean="0"/>
          </a:p>
          <a:p>
            <a:pPr marL="0" indent="0">
              <a:buNone/>
            </a:pPr>
            <a:r>
              <a:rPr lang="en-US" dirty="0" smtClean="0"/>
              <a:t>2</a:t>
            </a:r>
            <a:r>
              <a:rPr lang="en-US" dirty="0"/>
              <a:t>. Assign value to info field of a new node</a:t>
            </a:r>
          </a:p>
          <a:p>
            <a:pPr marL="0" indent="0">
              <a:buNone/>
            </a:pPr>
            <a:r>
              <a:rPr lang="en-US" dirty="0" smtClean="0"/>
              <a:t>	set </a:t>
            </a:r>
            <a:r>
              <a:rPr lang="en-US" dirty="0" err="1"/>
              <a:t>newnode</a:t>
            </a:r>
            <a:r>
              <a:rPr lang="en-US" dirty="0"/>
              <a:t>-&gt;info=item </a:t>
            </a:r>
            <a:endParaRPr lang="en-US" dirty="0" smtClean="0"/>
          </a:p>
          <a:p>
            <a:pPr marL="0" indent="0">
              <a:buNone/>
            </a:pPr>
            <a:r>
              <a:rPr lang="en-US" dirty="0" smtClean="0"/>
              <a:t>3</a:t>
            </a:r>
            <a:r>
              <a:rPr lang="en-US" dirty="0"/>
              <a:t>. set temp=head-&gt;next</a:t>
            </a:r>
          </a:p>
          <a:p>
            <a:pPr marL="0" indent="0">
              <a:buNone/>
            </a:pPr>
            <a:r>
              <a:rPr lang="en-US" dirty="0"/>
              <a:t>4. set head-&gt;next=</a:t>
            </a:r>
            <a:r>
              <a:rPr lang="en-US" dirty="0" err="1"/>
              <a:t>newnode</a:t>
            </a:r>
            <a:r>
              <a:rPr lang="en-US" dirty="0"/>
              <a:t> </a:t>
            </a:r>
            <a:endParaRPr lang="en-US" dirty="0" smtClean="0"/>
          </a:p>
          <a:p>
            <a:pPr marL="0" indent="0">
              <a:buNone/>
            </a:pPr>
            <a:r>
              <a:rPr lang="en-US" dirty="0" smtClean="0"/>
              <a:t>5</a:t>
            </a:r>
            <a:r>
              <a:rPr lang="en-US" dirty="0"/>
              <a:t>. set </a:t>
            </a:r>
            <a:r>
              <a:rPr lang="en-US" dirty="0" err="1"/>
              <a:t>newnode</a:t>
            </a:r>
            <a:r>
              <a:rPr lang="en-US" dirty="0"/>
              <a:t>-&gt;</a:t>
            </a:r>
            <a:r>
              <a:rPr lang="en-US" dirty="0" err="1"/>
              <a:t>prev</a:t>
            </a:r>
            <a:r>
              <a:rPr lang="en-US" dirty="0"/>
              <a:t>=head </a:t>
            </a:r>
            <a:endParaRPr lang="en-US" dirty="0" smtClean="0"/>
          </a:p>
          <a:p>
            <a:pPr marL="0" indent="0">
              <a:buNone/>
            </a:pPr>
            <a:r>
              <a:rPr lang="en-US" dirty="0" smtClean="0"/>
              <a:t>6</a:t>
            </a:r>
            <a:r>
              <a:rPr lang="en-US" dirty="0"/>
              <a:t>. set </a:t>
            </a:r>
            <a:r>
              <a:rPr lang="en-US" dirty="0" err="1"/>
              <a:t>newnode</a:t>
            </a:r>
            <a:r>
              <a:rPr lang="en-US" dirty="0"/>
              <a:t>-&gt;next=temp </a:t>
            </a:r>
            <a:endParaRPr lang="en-US" dirty="0" smtClean="0"/>
          </a:p>
          <a:p>
            <a:pPr marL="0" indent="0">
              <a:buNone/>
            </a:pPr>
            <a:r>
              <a:rPr lang="en-US" dirty="0" smtClean="0"/>
              <a:t>7</a:t>
            </a:r>
            <a:r>
              <a:rPr lang="en-US" dirty="0"/>
              <a:t>. set temp-&gt;</a:t>
            </a:r>
            <a:r>
              <a:rPr lang="en-US" dirty="0" err="1"/>
              <a:t>prev</a:t>
            </a:r>
            <a:r>
              <a:rPr lang="en-US" dirty="0"/>
              <a:t>=</a:t>
            </a:r>
            <a:r>
              <a:rPr lang="en-US" dirty="0" err="1"/>
              <a:t>newnode</a:t>
            </a:r>
            <a:r>
              <a:rPr lang="en-US" dirty="0"/>
              <a:t> </a:t>
            </a:r>
            <a:endParaRPr lang="en-US" dirty="0" smtClean="0"/>
          </a:p>
          <a:p>
            <a:pPr marL="0" indent="0">
              <a:buNone/>
            </a:pPr>
            <a:r>
              <a:rPr lang="en-US" dirty="0" smtClean="0"/>
              <a:t>8</a:t>
            </a:r>
            <a:r>
              <a:rPr lang="en-US" dirty="0"/>
              <a:t>. End</a:t>
            </a:r>
          </a:p>
          <a:p>
            <a:pPr marL="0" indent="0">
              <a:buNone/>
            </a:pPr>
            <a:endParaRPr lang="en-US" dirty="0"/>
          </a:p>
        </p:txBody>
      </p:sp>
    </p:spTree>
    <p:extLst>
      <p:ext uri="{BB962C8B-B14F-4D97-AF65-F5344CB8AC3E}">
        <p14:creationId xmlns:p14="http://schemas.microsoft.com/office/powerpoint/2010/main" val="3917634259"/>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i="1" dirty="0"/>
              <a:t>Algorithm to insert a node at the beginning of a circular doubly linked list</a:t>
            </a:r>
            <a:endParaRPr lang="en-US" sz="3600" dirty="0"/>
          </a:p>
        </p:txBody>
      </p:sp>
      <p:sp>
        <p:nvSpPr>
          <p:cNvPr id="3" name="Content Placeholder 2"/>
          <p:cNvSpPr>
            <a:spLocks noGrp="1"/>
          </p:cNvSpPr>
          <p:nvPr>
            <p:ph idx="1"/>
          </p:nvPr>
        </p:nvSpPr>
        <p:spPr>
          <a:xfrm>
            <a:off x="2209800" y="1493838"/>
            <a:ext cx="8001000" cy="4525963"/>
          </a:xfrm>
        </p:spPr>
        <p:txBody>
          <a:bodyPr>
            <a:normAutofit fontScale="92500" lnSpcReduction="20000"/>
          </a:bodyPr>
          <a:lstStyle/>
          <a:p>
            <a:pPr marL="0" indent="0">
              <a:buNone/>
            </a:pPr>
            <a:r>
              <a:rPr lang="en-US" dirty="0" smtClean="0"/>
              <a:t>1</a:t>
            </a:r>
            <a:r>
              <a:rPr lang="en-US" dirty="0"/>
              <a:t>. Allocate memory for the new node as,</a:t>
            </a:r>
          </a:p>
          <a:p>
            <a:pPr marL="0" indent="0">
              <a:buNone/>
            </a:pPr>
            <a:r>
              <a:rPr lang="en-US" dirty="0" err="1" smtClean="0"/>
              <a:t>newnode</a:t>
            </a:r>
            <a:r>
              <a:rPr lang="en-US" dirty="0"/>
              <a:t>=(</a:t>
            </a:r>
            <a:r>
              <a:rPr lang="en-US" dirty="0" err="1"/>
              <a:t>NodeType</a:t>
            </a:r>
            <a:r>
              <a:rPr lang="en-US" dirty="0"/>
              <a:t>*)</a:t>
            </a:r>
            <a:r>
              <a:rPr lang="en-US" dirty="0" err="1"/>
              <a:t>malloc</a:t>
            </a:r>
            <a:r>
              <a:rPr lang="en-US" dirty="0"/>
              <a:t>(</a:t>
            </a:r>
            <a:r>
              <a:rPr lang="en-US" dirty="0" err="1"/>
              <a:t>sizeof</a:t>
            </a:r>
            <a:r>
              <a:rPr lang="en-US" dirty="0"/>
              <a:t>(</a:t>
            </a:r>
            <a:r>
              <a:rPr lang="en-US" dirty="0" err="1"/>
              <a:t>NodeType</a:t>
            </a:r>
            <a:r>
              <a:rPr lang="en-US" dirty="0"/>
              <a:t>)) </a:t>
            </a:r>
            <a:endParaRPr lang="en-US" dirty="0" smtClean="0"/>
          </a:p>
          <a:p>
            <a:pPr marL="0" indent="0">
              <a:buNone/>
            </a:pPr>
            <a:r>
              <a:rPr lang="en-US" dirty="0" smtClean="0"/>
              <a:t>2</a:t>
            </a:r>
            <a:r>
              <a:rPr lang="en-US" dirty="0"/>
              <a:t>. Assign value to info field of a new node</a:t>
            </a:r>
          </a:p>
          <a:p>
            <a:pPr marL="0" indent="0">
              <a:buNone/>
            </a:pPr>
            <a:r>
              <a:rPr lang="en-US" dirty="0" smtClean="0"/>
              <a:t>	set </a:t>
            </a:r>
            <a:r>
              <a:rPr lang="en-US" dirty="0" err="1"/>
              <a:t>newnode</a:t>
            </a:r>
            <a:r>
              <a:rPr lang="en-US" dirty="0"/>
              <a:t>-&gt;info=item </a:t>
            </a:r>
            <a:endParaRPr lang="en-US" dirty="0" smtClean="0"/>
          </a:p>
          <a:p>
            <a:pPr marL="0" indent="0">
              <a:buNone/>
            </a:pPr>
            <a:r>
              <a:rPr lang="en-US" dirty="0" smtClean="0"/>
              <a:t>3</a:t>
            </a:r>
            <a:r>
              <a:rPr lang="en-US" dirty="0"/>
              <a:t>. set temp=head-&gt;next</a:t>
            </a:r>
          </a:p>
          <a:p>
            <a:pPr marL="0" indent="0">
              <a:buNone/>
            </a:pPr>
            <a:r>
              <a:rPr lang="en-US" dirty="0"/>
              <a:t>4. set head-&gt;next=</a:t>
            </a:r>
            <a:r>
              <a:rPr lang="en-US" dirty="0" err="1"/>
              <a:t>newnode</a:t>
            </a:r>
            <a:r>
              <a:rPr lang="en-US" dirty="0"/>
              <a:t> </a:t>
            </a:r>
            <a:r>
              <a:rPr lang="en-US" dirty="0" smtClean="0"/>
              <a:t/>
            </a:r>
            <a:br>
              <a:rPr lang="en-US" dirty="0" smtClean="0"/>
            </a:br>
            <a:r>
              <a:rPr lang="en-US" dirty="0" smtClean="0"/>
              <a:t>5</a:t>
            </a:r>
            <a:r>
              <a:rPr lang="en-US" dirty="0"/>
              <a:t>. set </a:t>
            </a:r>
            <a:r>
              <a:rPr lang="en-US" dirty="0" err="1"/>
              <a:t>newnode</a:t>
            </a:r>
            <a:r>
              <a:rPr lang="en-US" dirty="0"/>
              <a:t>-&gt;</a:t>
            </a:r>
            <a:r>
              <a:rPr lang="en-US" dirty="0" err="1"/>
              <a:t>prev</a:t>
            </a:r>
            <a:r>
              <a:rPr lang="en-US" dirty="0"/>
              <a:t>=head </a:t>
            </a:r>
            <a:endParaRPr lang="en-US" dirty="0" smtClean="0"/>
          </a:p>
          <a:p>
            <a:pPr marL="0" indent="0">
              <a:buNone/>
            </a:pPr>
            <a:r>
              <a:rPr lang="en-US" dirty="0" smtClean="0"/>
              <a:t>6</a:t>
            </a:r>
            <a:r>
              <a:rPr lang="en-US" dirty="0"/>
              <a:t>. set </a:t>
            </a:r>
            <a:r>
              <a:rPr lang="en-US" dirty="0" err="1"/>
              <a:t>newnode</a:t>
            </a:r>
            <a:r>
              <a:rPr lang="en-US" dirty="0"/>
              <a:t>-&gt;next=temp </a:t>
            </a:r>
            <a:endParaRPr lang="en-US" dirty="0" smtClean="0"/>
          </a:p>
          <a:p>
            <a:pPr marL="0" indent="0">
              <a:buNone/>
            </a:pPr>
            <a:r>
              <a:rPr lang="en-US" dirty="0" smtClean="0"/>
              <a:t>7</a:t>
            </a:r>
            <a:r>
              <a:rPr lang="en-US" dirty="0"/>
              <a:t>. set temp-&gt;</a:t>
            </a:r>
            <a:r>
              <a:rPr lang="en-US" dirty="0" err="1"/>
              <a:t>prev</a:t>
            </a:r>
            <a:r>
              <a:rPr lang="en-US" dirty="0"/>
              <a:t>=</a:t>
            </a:r>
            <a:r>
              <a:rPr lang="en-US" dirty="0" err="1"/>
              <a:t>newnode</a:t>
            </a:r>
            <a:r>
              <a:rPr lang="en-US" dirty="0"/>
              <a:t> </a:t>
            </a:r>
            <a:endParaRPr lang="en-US" dirty="0" smtClean="0"/>
          </a:p>
          <a:p>
            <a:pPr marL="0" indent="0">
              <a:buNone/>
            </a:pPr>
            <a:r>
              <a:rPr lang="en-US" dirty="0" smtClean="0"/>
              <a:t>8</a:t>
            </a:r>
            <a:r>
              <a:rPr lang="en-US" dirty="0"/>
              <a:t>. End</a:t>
            </a:r>
          </a:p>
          <a:p>
            <a:endParaRPr lang="en-US" dirty="0"/>
          </a:p>
        </p:txBody>
      </p:sp>
    </p:spTree>
    <p:extLst>
      <p:ext uri="{BB962C8B-B14F-4D97-AF65-F5344CB8AC3E}">
        <p14:creationId xmlns:p14="http://schemas.microsoft.com/office/powerpoint/2010/main" val="1926349016"/>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38200" y="2971800"/>
            <a:ext cx="10970172" cy="3505200"/>
          </a:xfrm>
          <a:prstGeom prst="rect">
            <a:avLst/>
          </a:prstGeom>
        </p:spPr>
      </p:pic>
      <p:pic>
        <p:nvPicPr>
          <p:cNvPr id="5" name="Picture 4"/>
          <p:cNvPicPr>
            <a:picLocks noChangeAspect="1"/>
          </p:cNvPicPr>
          <p:nvPr/>
        </p:nvPicPr>
        <p:blipFill>
          <a:blip r:embed="rId3"/>
          <a:stretch>
            <a:fillRect/>
          </a:stretch>
        </p:blipFill>
        <p:spPr>
          <a:xfrm>
            <a:off x="609600" y="381000"/>
            <a:ext cx="11010900" cy="2362200"/>
          </a:xfrm>
          <a:prstGeom prst="rect">
            <a:avLst/>
          </a:prstGeom>
        </p:spPr>
      </p:pic>
    </p:spTree>
    <p:extLst>
      <p:ext uri="{BB962C8B-B14F-4D97-AF65-F5344CB8AC3E}">
        <p14:creationId xmlns:p14="http://schemas.microsoft.com/office/powerpoint/2010/main" val="4198326120"/>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74638"/>
            <a:ext cx="9448800" cy="868362"/>
          </a:xfrm>
        </p:spPr>
        <p:txBody>
          <a:bodyPr>
            <a:noAutofit/>
          </a:bodyPr>
          <a:lstStyle/>
          <a:p>
            <a:r>
              <a:rPr lang="en-US" sz="3200" b="1" i="1" dirty="0">
                <a:solidFill>
                  <a:srgbClr val="FF0000"/>
                </a:solidFill>
              </a:rPr>
              <a:t>Algorithm to insert a node at the end of a circular doubly linked list</a:t>
            </a:r>
            <a:endParaRPr lang="en-US" sz="3200" dirty="0">
              <a:solidFill>
                <a:srgbClr val="FF0000"/>
              </a:solidFill>
            </a:endParaRPr>
          </a:p>
        </p:txBody>
      </p:sp>
      <p:sp>
        <p:nvSpPr>
          <p:cNvPr id="3" name="Content Placeholder 2"/>
          <p:cNvSpPr>
            <a:spLocks noGrp="1"/>
          </p:cNvSpPr>
          <p:nvPr>
            <p:ph idx="1"/>
          </p:nvPr>
        </p:nvSpPr>
        <p:spPr>
          <a:xfrm>
            <a:off x="762000" y="1143001"/>
            <a:ext cx="10515600" cy="4983163"/>
          </a:xfrm>
        </p:spPr>
        <p:txBody>
          <a:bodyPr>
            <a:normAutofit fontScale="92500" lnSpcReduction="20000"/>
          </a:bodyPr>
          <a:lstStyle/>
          <a:p>
            <a:pPr marL="0" indent="0">
              <a:buNone/>
            </a:pPr>
            <a:r>
              <a:rPr lang="en-US" dirty="0"/>
              <a:t>1. Allocate memory for the new node as,</a:t>
            </a:r>
          </a:p>
          <a:p>
            <a:pPr marL="0" indent="0">
              <a:buNone/>
            </a:pPr>
            <a:r>
              <a:rPr lang="en-US" dirty="0" err="1"/>
              <a:t>newnode</a:t>
            </a:r>
            <a:r>
              <a:rPr lang="en-US" dirty="0"/>
              <a:t>=(</a:t>
            </a:r>
            <a:r>
              <a:rPr lang="en-US" dirty="0" err="1"/>
              <a:t>NodeType</a:t>
            </a:r>
            <a:r>
              <a:rPr lang="en-US" dirty="0"/>
              <a:t>*)</a:t>
            </a:r>
            <a:r>
              <a:rPr lang="en-US" dirty="0" err="1"/>
              <a:t>malloc</a:t>
            </a:r>
            <a:r>
              <a:rPr lang="en-US" dirty="0"/>
              <a:t>(</a:t>
            </a:r>
            <a:r>
              <a:rPr lang="en-US" dirty="0" err="1"/>
              <a:t>sizeof</a:t>
            </a:r>
            <a:r>
              <a:rPr lang="en-US" dirty="0"/>
              <a:t>(</a:t>
            </a:r>
            <a:r>
              <a:rPr lang="en-US" dirty="0" err="1"/>
              <a:t>NodeType</a:t>
            </a:r>
            <a:r>
              <a:rPr lang="en-US" dirty="0"/>
              <a:t>)) </a:t>
            </a:r>
            <a:endParaRPr lang="en-US" dirty="0" smtClean="0"/>
          </a:p>
          <a:p>
            <a:pPr marL="0" indent="0">
              <a:buNone/>
            </a:pPr>
            <a:r>
              <a:rPr lang="en-US" dirty="0" smtClean="0"/>
              <a:t>2</a:t>
            </a:r>
            <a:r>
              <a:rPr lang="en-US" dirty="0"/>
              <a:t>. Assign value to info field of a new node</a:t>
            </a:r>
          </a:p>
          <a:p>
            <a:pPr marL="0" indent="0">
              <a:buNone/>
            </a:pPr>
            <a:r>
              <a:rPr lang="en-US" dirty="0" smtClean="0"/>
              <a:t>	set </a:t>
            </a:r>
            <a:r>
              <a:rPr lang="en-US" dirty="0" err="1"/>
              <a:t>newnode</a:t>
            </a:r>
            <a:r>
              <a:rPr lang="en-US" dirty="0"/>
              <a:t>-&gt;info=item </a:t>
            </a:r>
            <a:endParaRPr lang="en-US" dirty="0" smtClean="0"/>
          </a:p>
          <a:p>
            <a:pPr marL="0" indent="0">
              <a:buNone/>
            </a:pPr>
            <a:r>
              <a:rPr lang="en-US" dirty="0" smtClean="0"/>
              <a:t>3</a:t>
            </a:r>
            <a:r>
              <a:rPr lang="en-US" dirty="0"/>
              <a:t>. set temp=head-&gt;</a:t>
            </a:r>
            <a:r>
              <a:rPr lang="en-US" dirty="0" err="1"/>
              <a:t>prev</a:t>
            </a:r>
            <a:endParaRPr lang="en-US" dirty="0"/>
          </a:p>
          <a:p>
            <a:pPr marL="0" indent="0">
              <a:buNone/>
            </a:pPr>
            <a:r>
              <a:rPr lang="en-US" dirty="0"/>
              <a:t>4. set temp-&gt;next=</a:t>
            </a:r>
            <a:r>
              <a:rPr lang="en-US" dirty="0" err="1"/>
              <a:t>newnode</a:t>
            </a:r>
            <a:r>
              <a:rPr lang="en-US" dirty="0"/>
              <a:t> </a:t>
            </a:r>
            <a:endParaRPr lang="en-US" dirty="0" smtClean="0"/>
          </a:p>
          <a:p>
            <a:pPr marL="0" indent="0">
              <a:buNone/>
            </a:pPr>
            <a:r>
              <a:rPr lang="en-US" dirty="0" smtClean="0"/>
              <a:t>5</a:t>
            </a:r>
            <a:r>
              <a:rPr lang="en-US" dirty="0"/>
              <a:t>. set </a:t>
            </a:r>
            <a:r>
              <a:rPr lang="en-US" dirty="0" err="1"/>
              <a:t>newnode</a:t>
            </a:r>
            <a:r>
              <a:rPr lang="en-US" dirty="0"/>
              <a:t>-&gt;</a:t>
            </a:r>
            <a:r>
              <a:rPr lang="en-US" dirty="0" err="1"/>
              <a:t>prev</a:t>
            </a:r>
            <a:r>
              <a:rPr lang="en-US" dirty="0"/>
              <a:t>=temp </a:t>
            </a:r>
            <a:endParaRPr lang="en-US" dirty="0" smtClean="0"/>
          </a:p>
          <a:p>
            <a:pPr marL="0" indent="0">
              <a:buNone/>
            </a:pPr>
            <a:r>
              <a:rPr lang="en-US" dirty="0" smtClean="0"/>
              <a:t>6</a:t>
            </a:r>
            <a:r>
              <a:rPr lang="en-US" dirty="0"/>
              <a:t>. set </a:t>
            </a:r>
            <a:r>
              <a:rPr lang="en-US" dirty="0" err="1"/>
              <a:t>newnode</a:t>
            </a:r>
            <a:r>
              <a:rPr lang="en-US" dirty="0"/>
              <a:t>-&gt;next=head</a:t>
            </a:r>
          </a:p>
          <a:p>
            <a:pPr marL="0" indent="0">
              <a:buNone/>
            </a:pPr>
            <a:r>
              <a:rPr lang="en-US" dirty="0"/>
              <a:t>7. set head-&gt;</a:t>
            </a:r>
            <a:r>
              <a:rPr lang="en-US" dirty="0" err="1"/>
              <a:t>prev</a:t>
            </a:r>
            <a:r>
              <a:rPr lang="en-US" dirty="0"/>
              <a:t>=</a:t>
            </a:r>
            <a:r>
              <a:rPr lang="en-US" dirty="0" err="1"/>
              <a:t>newnode</a:t>
            </a:r>
            <a:r>
              <a:rPr lang="en-US" dirty="0"/>
              <a:t> </a:t>
            </a:r>
            <a:endParaRPr lang="en-US" dirty="0" smtClean="0"/>
          </a:p>
          <a:p>
            <a:pPr marL="0" indent="0">
              <a:buNone/>
            </a:pPr>
            <a:r>
              <a:rPr lang="en-US" dirty="0" smtClean="0"/>
              <a:t>8</a:t>
            </a:r>
            <a:r>
              <a:rPr lang="en-US" dirty="0"/>
              <a:t>. End</a:t>
            </a:r>
          </a:p>
          <a:p>
            <a:pPr marL="0" indent="0">
              <a:buNone/>
            </a:pPr>
            <a:endParaRPr lang="en-US" dirty="0"/>
          </a:p>
        </p:txBody>
      </p:sp>
    </p:spTree>
    <p:extLst>
      <p:ext uri="{BB962C8B-B14F-4D97-AF65-F5344CB8AC3E}">
        <p14:creationId xmlns:p14="http://schemas.microsoft.com/office/powerpoint/2010/main" val="2452071242"/>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4638"/>
            <a:ext cx="10668000" cy="868362"/>
          </a:xfrm>
        </p:spPr>
        <p:txBody>
          <a:bodyPr>
            <a:noAutofit/>
          </a:bodyPr>
          <a:lstStyle/>
          <a:p>
            <a:r>
              <a:rPr lang="en-US" sz="3200" b="1" i="1" dirty="0">
                <a:solidFill>
                  <a:srgbClr val="FF0000"/>
                </a:solidFill>
              </a:rPr>
              <a:t>Algorithm to insert a node at the end of a circular doubly linked list</a:t>
            </a:r>
            <a:endParaRPr lang="en-US" sz="3200" dirty="0">
              <a:solidFill>
                <a:srgbClr val="FF0000"/>
              </a:solidFill>
            </a:endParaRPr>
          </a:p>
        </p:txBody>
      </p:sp>
      <p:sp>
        <p:nvSpPr>
          <p:cNvPr id="3" name="Content Placeholder 2"/>
          <p:cNvSpPr>
            <a:spLocks noGrp="1"/>
          </p:cNvSpPr>
          <p:nvPr>
            <p:ph idx="1"/>
          </p:nvPr>
        </p:nvSpPr>
        <p:spPr>
          <a:xfrm>
            <a:off x="1066800" y="1219200"/>
            <a:ext cx="9982200" cy="5105400"/>
          </a:xfrm>
        </p:spPr>
        <p:txBody>
          <a:bodyPr>
            <a:normAutofit fontScale="92500" lnSpcReduction="10000"/>
          </a:bodyPr>
          <a:lstStyle/>
          <a:p>
            <a:pPr marL="0" indent="0">
              <a:buNone/>
            </a:pPr>
            <a:r>
              <a:rPr lang="en-US" dirty="0"/>
              <a:t>1. Allocate memory for the new node as,</a:t>
            </a:r>
          </a:p>
          <a:p>
            <a:pPr marL="0" indent="0">
              <a:buNone/>
            </a:pPr>
            <a:r>
              <a:rPr lang="en-US" dirty="0" err="1" smtClean="0"/>
              <a:t>newnode</a:t>
            </a:r>
            <a:r>
              <a:rPr lang="en-US" dirty="0"/>
              <a:t>=(</a:t>
            </a:r>
            <a:r>
              <a:rPr lang="en-US" dirty="0" err="1"/>
              <a:t>NodeType</a:t>
            </a:r>
            <a:r>
              <a:rPr lang="en-US" dirty="0"/>
              <a:t>*)</a:t>
            </a:r>
            <a:r>
              <a:rPr lang="en-US" dirty="0" err="1"/>
              <a:t>malloc</a:t>
            </a:r>
            <a:r>
              <a:rPr lang="en-US" dirty="0"/>
              <a:t>(</a:t>
            </a:r>
            <a:r>
              <a:rPr lang="en-US" dirty="0" err="1"/>
              <a:t>sizeof</a:t>
            </a:r>
            <a:r>
              <a:rPr lang="en-US" dirty="0"/>
              <a:t>(</a:t>
            </a:r>
            <a:r>
              <a:rPr lang="en-US" dirty="0" err="1"/>
              <a:t>NodeType</a:t>
            </a:r>
            <a:r>
              <a:rPr lang="en-US" dirty="0"/>
              <a:t>)) </a:t>
            </a:r>
            <a:endParaRPr lang="en-US" dirty="0" smtClean="0"/>
          </a:p>
          <a:p>
            <a:pPr marL="0" indent="0">
              <a:buNone/>
            </a:pPr>
            <a:r>
              <a:rPr lang="en-US" dirty="0" smtClean="0"/>
              <a:t>2</a:t>
            </a:r>
            <a:r>
              <a:rPr lang="en-US" dirty="0"/>
              <a:t>. Assign value to info field of a new node</a:t>
            </a:r>
          </a:p>
          <a:p>
            <a:pPr marL="0" indent="0">
              <a:buNone/>
            </a:pPr>
            <a:r>
              <a:rPr lang="en-US" dirty="0" smtClean="0"/>
              <a:t>	set </a:t>
            </a:r>
            <a:r>
              <a:rPr lang="en-US" dirty="0" err="1"/>
              <a:t>newnode</a:t>
            </a:r>
            <a:r>
              <a:rPr lang="en-US" dirty="0"/>
              <a:t>-&gt;info=item </a:t>
            </a:r>
            <a:endParaRPr lang="en-US" dirty="0" smtClean="0"/>
          </a:p>
          <a:p>
            <a:pPr marL="0" indent="0">
              <a:buNone/>
            </a:pPr>
            <a:r>
              <a:rPr lang="en-US" dirty="0" smtClean="0"/>
              <a:t>3</a:t>
            </a:r>
            <a:r>
              <a:rPr lang="en-US" dirty="0"/>
              <a:t>. set temp=head-&gt;</a:t>
            </a:r>
            <a:r>
              <a:rPr lang="en-US" dirty="0" err="1"/>
              <a:t>prev</a:t>
            </a:r>
            <a:endParaRPr lang="en-US" dirty="0"/>
          </a:p>
          <a:p>
            <a:pPr marL="0" indent="0">
              <a:buNone/>
            </a:pPr>
            <a:r>
              <a:rPr lang="en-US" dirty="0"/>
              <a:t>4. set temp-&gt;next=</a:t>
            </a:r>
            <a:r>
              <a:rPr lang="en-US" dirty="0" err="1"/>
              <a:t>newnode</a:t>
            </a:r>
            <a:r>
              <a:rPr lang="en-US" dirty="0"/>
              <a:t> </a:t>
            </a:r>
            <a:endParaRPr lang="en-US" dirty="0" smtClean="0"/>
          </a:p>
          <a:p>
            <a:pPr marL="0" indent="0">
              <a:buNone/>
            </a:pPr>
            <a:r>
              <a:rPr lang="en-US" dirty="0" smtClean="0"/>
              <a:t>5</a:t>
            </a:r>
            <a:r>
              <a:rPr lang="en-US" dirty="0"/>
              <a:t>. set </a:t>
            </a:r>
            <a:r>
              <a:rPr lang="en-US" dirty="0" err="1"/>
              <a:t>newnode</a:t>
            </a:r>
            <a:r>
              <a:rPr lang="en-US" dirty="0"/>
              <a:t>-&gt;</a:t>
            </a:r>
            <a:r>
              <a:rPr lang="en-US" dirty="0" err="1"/>
              <a:t>prev</a:t>
            </a:r>
            <a:r>
              <a:rPr lang="en-US" dirty="0"/>
              <a:t>=temp </a:t>
            </a:r>
            <a:endParaRPr lang="en-US" dirty="0" smtClean="0"/>
          </a:p>
          <a:p>
            <a:pPr marL="0" indent="0">
              <a:buNone/>
            </a:pPr>
            <a:r>
              <a:rPr lang="en-US" dirty="0" smtClean="0"/>
              <a:t>6</a:t>
            </a:r>
            <a:r>
              <a:rPr lang="en-US" dirty="0"/>
              <a:t>. set </a:t>
            </a:r>
            <a:r>
              <a:rPr lang="en-US" dirty="0" err="1"/>
              <a:t>newnode</a:t>
            </a:r>
            <a:r>
              <a:rPr lang="en-US" dirty="0"/>
              <a:t>-&gt;next=head</a:t>
            </a:r>
          </a:p>
          <a:p>
            <a:pPr marL="0" indent="0">
              <a:buNone/>
            </a:pPr>
            <a:r>
              <a:rPr lang="en-US" dirty="0"/>
              <a:t>7. set head-&gt;</a:t>
            </a:r>
            <a:r>
              <a:rPr lang="en-US" dirty="0" err="1"/>
              <a:t>prev</a:t>
            </a:r>
            <a:r>
              <a:rPr lang="en-US" dirty="0"/>
              <a:t>=</a:t>
            </a:r>
            <a:r>
              <a:rPr lang="en-US" dirty="0" err="1"/>
              <a:t>newnode</a:t>
            </a:r>
            <a:r>
              <a:rPr lang="en-US" dirty="0"/>
              <a:t> </a:t>
            </a:r>
            <a:endParaRPr lang="en-US" dirty="0" smtClean="0"/>
          </a:p>
          <a:p>
            <a:pPr marL="0" indent="0">
              <a:buNone/>
            </a:pPr>
            <a:r>
              <a:rPr lang="en-US" dirty="0" smtClean="0"/>
              <a:t>8</a:t>
            </a:r>
            <a:r>
              <a:rPr lang="en-US" dirty="0"/>
              <a:t>. End</a:t>
            </a:r>
          </a:p>
          <a:p>
            <a:endParaRPr lang="en-US" dirty="0"/>
          </a:p>
        </p:txBody>
      </p:sp>
    </p:spTree>
    <p:extLst>
      <p:ext uri="{BB962C8B-B14F-4D97-AF65-F5344CB8AC3E}">
        <p14:creationId xmlns:p14="http://schemas.microsoft.com/office/powerpoint/2010/main" val="3635890156"/>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i="1" dirty="0"/>
              <a:t>Algorithm to delete a node from the beginning of a circular doubly linked list</a:t>
            </a:r>
            <a:endParaRPr lang="en-US" sz="3600" dirty="0"/>
          </a:p>
        </p:txBody>
      </p:sp>
      <p:sp>
        <p:nvSpPr>
          <p:cNvPr id="3" name="Content Placeholder 2"/>
          <p:cNvSpPr>
            <a:spLocks noGrp="1"/>
          </p:cNvSpPr>
          <p:nvPr>
            <p:ph idx="1"/>
          </p:nvPr>
        </p:nvSpPr>
        <p:spPr/>
        <p:txBody>
          <a:bodyPr>
            <a:normAutofit lnSpcReduction="10000"/>
          </a:bodyPr>
          <a:lstStyle/>
          <a:p>
            <a:pPr marL="514350" indent="-514350">
              <a:buAutoNum type="arabicPeriod"/>
            </a:pPr>
            <a:r>
              <a:rPr lang="en-US" dirty="0" smtClean="0"/>
              <a:t>if </a:t>
            </a:r>
            <a:r>
              <a:rPr lang="en-US" dirty="0"/>
              <a:t>head-&gt;next==NULL </a:t>
            </a:r>
            <a:r>
              <a:rPr lang="en-US" dirty="0" smtClean="0"/>
              <a:t>then</a:t>
            </a:r>
            <a:endParaRPr lang="en-US" dirty="0"/>
          </a:p>
          <a:p>
            <a:pPr marL="0" indent="0">
              <a:buNone/>
            </a:pPr>
            <a:r>
              <a:rPr lang="en-US" dirty="0" smtClean="0"/>
              <a:t>	print </a:t>
            </a:r>
            <a:r>
              <a:rPr lang="en-US" dirty="0"/>
              <a:t>“empty list” and exit </a:t>
            </a:r>
            <a:endParaRPr lang="en-US" dirty="0" smtClean="0"/>
          </a:p>
          <a:p>
            <a:pPr marL="0" indent="0">
              <a:buNone/>
            </a:pPr>
            <a:r>
              <a:rPr lang="en-US" dirty="0" smtClean="0"/>
              <a:t>2</a:t>
            </a:r>
            <a:r>
              <a:rPr lang="en-US" dirty="0"/>
              <a:t>. </a:t>
            </a:r>
            <a:r>
              <a:rPr lang="en-US" dirty="0" smtClean="0"/>
              <a:t> else</a:t>
            </a:r>
            <a:endParaRPr lang="en-US" dirty="0"/>
          </a:p>
          <a:p>
            <a:pPr marL="0" indent="0">
              <a:buNone/>
            </a:pPr>
            <a:r>
              <a:rPr lang="en-US" dirty="0" smtClean="0"/>
              <a:t>	set </a:t>
            </a:r>
            <a:r>
              <a:rPr lang="en-US" dirty="0"/>
              <a:t>temp=head-&gt;next;</a:t>
            </a:r>
          </a:p>
          <a:p>
            <a:pPr marL="0" indent="0">
              <a:buNone/>
            </a:pPr>
            <a:r>
              <a:rPr lang="en-US" dirty="0" smtClean="0"/>
              <a:t>	set </a:t>
            </a:r>
            <a:r>
              <a:rPr lang="en-US" dirty="0"/>
              <a:t>head-&gt;next=temp-&gt;next </a:t>
            </a:r>
            <a:endParaRPr lang="en-US" dirty="0" smtClean="0"/>
          </a:p>
          <a:p>
            <a:pPr marL="0" indent="0">
              <a:buNone/>
            </a:pPr>
            <a:r>
              <a:rPr lang="en-US" dirty="0"/>
              <a:t>	</a:t>
            </a:r>
            <a:r>
              <a:rPr lang="en-US" dirty="0" smtClean="0"/>
              <a:t>set </a:t>
            </a:r>
            <a:r>
              <a:rPr lang="en-US" dirty="0"/>
              <a:t>temp-&gt;next=head </a:t>
            </a:r>
            <a:endParaRPr lang="en-US" dirty="0" smtClean="0"/>
          </a:p>
          <a:p>
            <a:pPr marL="0" indent="0">
              <a:buNone/>
            </a:pPr>
            <a:r>
              <a:rPr lang="en-US" dirty="0"/>
              <a:t>	</a:t>
            </a:r>
            <a:r>
              <a:rPr lang="en-US" dirty="0" smtClean="0"/>
              <a:t>free(temp</a:t>
            </a:r>
            <a:r>
              <a:rPr lang="en-US" dirty="0"/>
              <a:t>)</a:t>
            </a:r>
          </a:p>
          <a:p>
            <a:pPr marL="0" indent="0">
              <a:buNone/>
            </a:pPr>
            <a:r>
              <a:rPr lang="en-US" dirty="0"/>
              <a:t>3. End</a:t>
            </a:r>
          </a:p>
          <a:p>
            <a:pPr marL="0" indent="0">
              <a:buNone/>
            </a:pPr>
            <a:endParaRPr lang="en-US" dirty="0"/>
          </a:p>
        </p:txBody>
      </p:sp>
    </p:spTree>
    <p:extLst>
      <p:ext uri="{BB962C8B-B14F-4D97-AF65-F5344CB8AC3E}">
        <p14:creationId xmlns:p14="http://schemas.microsoft.com/office/powerpoint/2010/main" val="2682794289"/>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i="1" dirty="0">
                <a:solidFill>
                  <a:srgbClr val="FF0000"/>
                </a:solidFill>
              </a:rPr>
              <a:t>Algorithm to delete a node from the end of a circular doubly linked list</a:t>
            </a:r>
            <a:endParaRPr lang="en-US" sz="3200" dirty="0">
              <a:solidFill>
                <a:srgbClr val="FF0000"/>
              </a:solidFill>
            </a:endParaRPr>
          </a:p>
        </p:txBody>
      </p:sp>
      <p:sp>
        <p:nvSpPr>
          <p:cNvPr id="3" name="Content Placeholder 2"/>
          <p:cNvSpPr>
            <a:spLocks noGrp="1"/>
          </p:cNvSpPr>
          <p:nvPr>
            <p:ph idx="1"/>
          </p:nvPr>
        </p:nvSpPr>
        <p:spPr/>
        <p:txBody>
          <a:bodyPr/>
          <a:lstStyle/>
          <a:p>
            <a:pPr marL="514350" indent="-514350">
              <a:buAutoNum type="arabicPeriod"/>
            </a:pPr>
            <a:r>
              <a:rPr lang="en-US" dirty="0" smtClean="0"/>
              <a:t>if </a:t>
            </a:r>
            <a:r>
              <a:rPr lang="en-US" dirty="0"/>
              <a:t>head-&gt;next==NULL </a:t>
            </a:r>
            <a:r>
              <a:rPr lang="en-US" dirty="0" smtClean="0"/>
              <a:t>then</a:t>
            </a:r>
            <a:endParaRPr lang="en-US" dirty="0"/>
          </a:p>
          <a:p>
            <a:pPr marL="0" indent="0">
              <a:buNone/>
            </a:pPr>
            <a:r>
              <a:rPr lang="en-US" dirty="0" smtClean="0"/>
              <a:t>	print </a:t>
            </a:r>
            <a:r>
              <a:rPr lang="en-US" dirty="0"/>
              <a:t>“empty list” and exit </a:t>
            </a:r>
            <a:endParaRPr lang="en-US" dirty="0" smtClean="0"/>
          </a:p>
          <a:p>
            <a:pPr marL="0" indent="0">
              <a:buNone/>
            </a:pPr>
            <a:r>
              <a:rPr lang="en-US" dirty="0" smtClean="0"/>
              <a:t>2</a:t>
            </a:r>
            <a:r>
              <a:rPr lang="en-US" dirty="0"/>
              <a:t>. else</a:t>
            </a:r>
          </a:p>
          <a:p>
            <a:pPr marL="0" indent="0">
              <a:buNone/>
            </a:pPr>
            <a:r>
              <a:rPr lang="en-US" dirty="0" smtClean="0"/>
              <a:t>	set </a:t>
            </a:r>
            <a:r>
              <a:rPr lang="en-US" dirty="0"/>
              <a:t>temp=head-&gt;</a:t>
            </a:r>
            <a:r>
              <a:rPr lang="en-US" dirty="0" err="1"/>
              <a:t>prev</a:t>
            </a:r>
            <a:r>
              <a:rPr lang="en-US" dirty="0"/>
              <a:t>;</a:t>
            </a:r>
          </a:p>
          <a:p>
            <a:pPr marL="0" indent="0">
              <a:buNone/>
            </a:pPr>
            <a:r>
              <a:rPr lang="en-US" dirty="0" smtClean="0"/>
              <a:t>	set </a:t>
            </a:r>
            <a:r>
              <a:rPr lang="en-US" dirty="0"/>
              <a:t>head-&gt;left=temp-&gt;left </a:t>
            </a:r>
            <a:endParaRPr lang="en-US" dirty="0" smtClean="0"/>
          </a:p>
          <a:p>
            <a:pPr marL="0" indent="0">
              <a:buNone/>
            </a:pPr>
            <a:r>
              <a:rPr lang="en-US" dirty="0"/>
              <a:t>	</a:t>
            </a:r>
            <a:r>
              <a:rPr lang="en-US" dirty="0" smtClean="0"/>
              <a:t>free(temp</a:t>
            </a:r>
            <a:r>
              <a:rPr lang="en-US" dirty="0"/>
              <a:t>)</a:t>
            </a:r>
          </a:p>
          <a:p>
            <a:pPr marL="0" indent="0">
              <a:buNone/>
            </a:pPr>
            <a:r>
              <a:rPr lang="en-US" dirty="0"/>
              <a:t>3. End</a:t>
            </a:r>
          </a:p>
          <a:p>
            <a:pPr marL="0" indent="0">
              <a:buNone/>
            </a:pPr>
            <a:endParaRPr lang="en-US" dirty="0"/>
          </a:p>
        </p:txBody>
      </p:sp>
    </p:spTree>
    <p:extLst>
      <p:ext uri="{BB962C8B-B14F-4D97-AF65-F5344CB8AC3E}">
        <p14:creationId xmlns:p14="http://schemas.microsoft.com/office/powerpoint/2010/main" val="22742042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20655</TotalTime>
  <Words>5568</Words>
  <Application>Microsoft Office PowerPoint</Application>
  <PresentationFormat>Widescreen</PresentationFormat>
  <Paragraphs>1322</Paragraphs>
  <Slides>131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131</vt:i4>
      </vt:variant>
    </vt:vector>
  </HeadingPairs>
  <TitlesOfParts>
    <vt:vector size="135" baseType="lpstr">
      <vt:lpstr>Arial</vt:lpstr>
      <vt:lpstr>Calibri</vt:lpstr>
      <vt:lpstr>Wingdings</vt:lpstr>
      <vt:lpstr>Office Theme</vt:lpstr>
      <vt:lpstr>Linked List</vt:lpstr>
      <vt:lpstr>Linked List</vt:lpstr>
      <vt:lpstr>Advantages of Array</vt:lpstr>
      <vt:lpstr>Why use linked list over array?</vt:lpstr>
      <vt:lpstr>Using linked list is useful because</vt:lpstr>
      <vt:lpstr>PowerPoint Presentation</vt:lpstr>
      <vt:lpstr>PowerPoint Presentation</vt:lpstr>
      <vt:lpstr>PowerPoint Presentation</vt:lpstr>
      <vt:lpstr>Linked List</vt:lpstr>
      <vt:lpstr>Linked List</vt:lpstr>
      <vt:lpstr>Linked List</vt:lpstr>
      <vt:lpstr>Operations on linked list</vt:lpstr>
      <vt:lpstr>Operations on linked list</vt:lpstr>
      <vt:lpstr>PowerPoint Presentation</vt:lpstr>
      <vt:lpstr>PowerPoint Presentation</vt:lpstr>
      <vt:lpstr>Types of Linked List</vt:lpstr>
      <vt:lpstr>Singly linked list</vt:lpstr>
      <vt:lpstr>PowerPoint Presentation</vt:lpstr>
      <vt:lpstr>Representation of singly linked list</vt:lpstr>
      <vt:lpstr>Creating a Node</vt:lpstr>
      <vt:lpstr>PowerPoint Presentation</vt:lpstr>
      <vt:lpstr>Eg.2</vt:lpstr>
      <vt:lpstr>We can use function to create a node</vt:lpstr>
      <vt:lpstr>PowerPoint Presentation</vt:lpstr>
      <vt:lpstr>Create Empty List</vt:lpstr>
      <vt:lpstr>PowerPoint Presentation</vt:lpstr>
      <vt:lpstr>Algorithm to insert a node at the  beginning of the singly linked list</vt:lpstr>
      <vt:lpstr>PowerPoint Presentation</vt:lpstr>
      <vt:lpstr>C function to insert a node at the beginning of SLL</vt:lpstr>
      <vt:lpstr>Insert a node at the end of the linked list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Delete form the beginning</vt:lpstr>
      <vt:lpstr>PowerPoint Presentation</vt:lpstr>
      <vt:lpstr>PowerPoint Presentation</vt:lpstr>
      <vt:lpstr>PowerPoint Presentation</vt:lpstr>
      <vt:lpstr>PowerPoint Presentation</vt:lpstr>
      <vt:lpstr>PowerPoint Presentation</vt:lpstr>
      <vt:lpstr>An algorithm to delete a node at the specified position in a singly linked list</vt:lpstr>
      <vt:lpstr>PowerPoint Presentation</vt:lpstr>
      <vt:lpstr>PowerPoint Presentation</vt:lpstr>
      <vt:lpstr>An algorithm to delete a node after the given node in singly linked list</vt:lpstr>
      <vt:lpstr>The C function to delete a node after the given node in singly linked list</vt:lpstr>
      <vt:lpstr>PowerPoint Presentation</vt:lpstr>
      <vt:lpstr>Traversing a list and displaying information stored</vt:lpstr>
      <vt:lpstr>PowerPoint Presentation</vt:lpstr>
      <vt:lpstr>//Singly Linked list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Linked list implementation of Stack</vt:lpstr>
      <vt:lpstr>PowerPoint Presentation</vt:lpstr>
      <vt:lpstr>Pop function</vt:lpstr>
      <vt:lpstr>H/W</vt:lpstr>
      <vt:lpstr>Implementing Queue using Linked List</vt:lpstr>
      <vt:lpstr>PowerPoint Presentation</vt:lpstr>
      <vt:lpstr>Linked list implementation of queue</vt:lpstr>
      <vt:lpstr>PowerPoint Presentation</vt:lpstr>
      <vt:lpstr>Insert function</vt:lpstr>
      <vt:lpstr>PowerPoint Presentation</vt:lpstr>
      <vt:lpstr>Delete function</vt:lpstr>
      <vt:lpstr>PowerPoint Presentation</vt:lpstr>
      <vt:lpstr>H/w</vt:lpstr>
      <vt:lpstr>Advantages of Linked List over Contiguous List</vt:lpstr>
      <vt:lpstr>Array Vs List</vt:lpstr>
      <vt:lpstr>Limitations of Linked Lists</vt:lpstr>
      <vt:lpstr> Circular Linked list</vt:lpstr>
      <vt:lpstr>Circular Singly Linked List</vt:lpstr>
      <vt:lpstr>Insert item at beginning of CLL</vt:lpstr>
      <vt:lpstr>PowerPoint Presentation</vt:lpstr>
      <vt:lpstr>Insertion at the end </vt:lpstr>
      <vt:lpstr>PowerPoint Presentation</vt:lpstr>
      <vt:lpstr>Delete from the begining</vt:lpstr>
      <vt:lpstr>PowerPoint Presentation</vt:lpstr>
      <vt:lpstr>PowerPoint Presentation</vt:lpstr>
      <vt:lpstr>PowerPoint Presentation</vt:lpstr>
      <vt:lpstr>PowerPoint Presentation</vt:lpstr>
      <vt:lpstr>PowerPoint Presentation</vt:lpstr>
      <vt:lpstr>PowerPoint Presentation</vt:lpstr>
      <vt:lpstr>Algorithms to delete a node from a circular linked list</vt:lpstr>
      <vt:lpstr>Algorithm to delete a node from the end of a circular linked list</vt:lpstr>
      <vt:lpstr>C function to delete a node from the beginning of a circular linked list</vt:lpstr>
      <vt:lpstr>C function to delete a node from the end of a circular linked list</vt:lpstr>
      <vt:lpstr>PowerPoint Presentation</vt:lpstr>
      <vt:lpstr>PowerPoint Presentation</vt:lpstr>
      <vt:lpstr>PUSH function</vt:lpstr>
      <vt:lpstr>PowerPoint Presentation</vt:lpstr>
      <vt:lpstr>POP function</vt:lpstr>
      <vt:lpstr>Queue as a circular List</vt:lpstr>
      <vt:lpstr>PowerPoint Presentation</vt:lpstr>
      <vt:lpstr>Deletion function</vt:lpstr>
      <vt:lpstr>Doubly Linked List</vt:lpstr>
      <vt:lpstr>PowerPoint Presentation</vt:lpstr>
      <vt:lpstr>C representation of doubly linked list:</vt:lpstr>
      <vt:lpstr>Algorithms to insert a node in a doubly linked list</vt:lpstr>
      <vt:lpstr>C function to insert a node at the beginning of a DLL</vt:lpstr>
      <vt:lpstr>Algorithm to insert a node at the end of a doubly linked list</vt:lpstr>
      <vt:lpstr>Algorithm to delete a node from beginning of a DLL</vt:lpstr>
      <vt:lpstr>Algorithm to delete a node from end of a doubly linked list</vt:lpstr>
      <vt:lpstr>Nth position insertion and deletion???</vt:lpstr>
      <vt:lpstr>PowerPoint Presentation</vt:lpstr>
      <vt:lpstr>Delete</vt:lpstr>
      <vt:lpstr>PowerPoint Presentation</vt:lpstr>
      <vt:lpstr>PowerPoint Presentation</vt:lpstr>
      <vt:lpstr>Circular Doubly Linked List</vt:lpstr>
      <vt:lpstr>PowerPoint Presentation</vt:lpstr>
      <vt:lpstr>PowerPoint Presentation</vt:lpstr>
      <vt:lpstr>Algorithm to insert a node at the beginning of a circular doubly linked list</vt:lpstr>
      <vt:lpstr>Algorithm to insert a node at the beginning of a circular doubly linked list</vt:lpstr>
      <vt:lpstr>PowerPoint Presentation</vt:lpstr>
      <vt:lpstr>Algorithm to insert a node at the end of a circular doubly linked list</vt:lpstr>
      <vt:lpstr>Algorithm to insert a node at the end of a circular doubly linked list</vt:lpstr>
      <vt:lpstr>Algorithm to delete a node from the beginning of a circular doubly linked list</vt:lpstr>
      <vt:lpstr>Algorithm to delete a node from the end of a circular doubly linked list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Linked List</dc:title>
  <dc:creator>User</dc:creator>
  <cp:lastModifiedBy>smile mag</cp:lastModifiedBy>
  <cp:revision>385</cp:revision>
  <dcterms:created xsi:type="dcterms:W3CDTF">2015-07-23T01:59:16Z</dcterms:created>
  <dcterms:modified xsi:type="dcterms:W3CDTF">2020-02-09T12:51:39Z</dcterms:modified>
</cp:coreProperties>
</file>