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82" r:id="rId4"/>
    <p:sldId id="267" r:id="rId5"/>
    <p:sldId id="268" r:id="rId6"/>
    <p:sldId id="292" r:id="rId7"/>
    <p:sldId id="297" r:id="rId8"/>
    <p:sldId id="270" r:id="rId9"/>
    <p:sldId id="293" r:id="rId10"/>
    <p:sldId id="269" r:id="rId11"/>
    <p:sldId id="283" r:id="rId12"/>
    <p:sldId id="284" r:id="rId13"/>
    <p:sldId id="285" r:id="rId14"/>
    <p:sldId id="286" r:id="rId15"/>
    <p:sldId id="287" r:id="rId16"/>
    <p:sldId id="288" r:id="rId17"/>
    <p:sldId id="289" r:id="rId18"/>
    <p:sldId id="279" r:id="rId19"/>
    <p:sldId id="295" r:id="rId20"/>
    <p:sldId id="296" r:id="rId21"/>
    <p:sldId id="290" r:id="rId22"/>
    <p:sldId id="291" r:id="rId23"/>
    <p:sldId id="29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4"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46A0694-EF4B-4FF5-B748-AE3A130668A4}" type="datetimeFigureOut">
              <a:rPr lang="en-US" smtClean="0"/>
              <a:t>5/21/2021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A6C076-D75E-45D7-84FC-6E503862F51E}" type="slidenum">
              <a:rPr lang="en-US" smtClean="0"/>
              <a:t>‹#›</a:t>
            </a:fld>
            <a:endParaRPr lang="en-US"/>
          </a:p>
        </p:txBody>
      </p:sp>
    </p:spTree>
    <p:extLst>
      <p:ext uri="{BB962C8B-B14F-4D97-AF65-F5344CB8AC3E}">
        <p14:creationId xmlns:p14="http://schemas.microsoft.com/office/powerpoint/2010/main" val="42283582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46A0694-EF4B-4FF5-B748-AE3A130668A4}" type="datetimeFigureOut">
              <a:rPr lang="en-US" smtClean="0"/>
              <a:t>5/21/2021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A6C076-D75E-45D7-84FC-6E503862F51E}" type="slidenum">
              <a:rPr lang="en-US" smtClean="0"/>
              <a:t>‹#›</a:t>
            </a:fld>
            <a:endParaRPr lang="en-US"/>
          </a:p>
        </p:txBody>
      </p:sp>
    </p:spTree>
    <p:extLst>
      <p:ext uri="{BB962C8B-B14F-4D97-AF65-F5344CB8AC3E}">
        <p14:creationId xmlns:p14="http://schemas.microsoft.com/office/powerpoint/2010/main" val="9579509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46A0694-EF4B-4FF5-B748-AE3A130668A4}" type="datetimeFigureOut">
              <a:rPr lang="en-US" smtClean="0"/>
              <a:t>5/21/2021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A6C076-D75E-45D7-84FC-6E503862F51E}" type="slidenum">
              <a:rPr lang="en-US" smtClean="0"/>
              <a:t>‹#›</a:t>
            </a:fld>
            <a:endParaRPr lang="en-US"/>
          </a:p>
        </p:txBody>
      </p:sp>
    </p:spTree>
    <p:extLst>
      <p:ext uri="{BB962C8B-B14F-4D97-AF65-F5344CB8AC3E}">
        <p14:creationId xmlns:p14="http://schemas.microsoft.com/office/powerpoint/2010/main" val="27562632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46A0694-EF4B-4FF5-B748-AE3A130668A4}" type="datetimeFigureOut">
              <a:rPr lang="en-US" smtClean="0"/>
              <a:t>5/21/2021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A6C076-D75E-45D7-84FC-6E503862F51E}" type="slidenum">
              <a:rPr lang="en-US" smtClean="0"/>
              <a:t>‹#›</a:t>
            </a:fld>
            <a:endParaRPr lang="en-US"/>
          </a:p>
        </p:txBody>
      </p:sp>
    </p:spTree>
    <p:extLst>
      <p:ext uri="{BB962C8B-B14F-4D97-AF65-F5344CB8AC3E}">
        <p14:creationId xmlns:p14="http://schemas.microsoft.com/office/powerpoint/2010/main" val="12852969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46A0694-EF4B-4FF5-B748-AE3A130668A4}" type="datetimeFigureOut">
              <a:rPr lang="en-US" smtClean="0"/>
              <a:t>5/21/2021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2A6C076-D75E-45D7-84FC-6E503862F51E}" type="slidenum">
              <a:rPr lang="en-US" smtClean="0"/>
              <a:t>‹#›</a:t>
            </a:fld>
            <a:endParaRPr lang="en-US"/>
          </a:p>
        </p:txBody>
      </p:sp>
    </p:spTree>
    <p:extLst>
      <p:ext uri="{BB962C8B-B14F-4D97-AF65-F5344CB8AC3E}">
        <p14:creationId xmlns:p14="http://schemas.microsoft.com/office/powerpoint/2010/main" val="22977829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46A0694-EF4B-4FF5-B748-AE3A130668A4}" type="datetimeFigureOut">
              <a:rPr lang="en-US" smtClean="0"/>
              <a:t>5/21/2021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2A6C076-D75E-45D7-84FC-6E503862F51E}" type="slidenum">
              <a:rPr lang="en-US" smtClean="0"/>
              <a:t>‹#›</a:t>
            </a:fld>
            <a:endParaRPr lang="en-US"/>
          </a:p>
        </p:txBody>
      </p:sp>
    </p:spTree>
    <p:extLst>
      <p:ext uri="{BB962C8B-B14F-4D97-AF65-F5344CB8AC3E}">
        <p14:creationId xmlns:p14="http://schemas.microsoft.com/office/powerpoint/2010/main" val="3970207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6A0694-EF4B-4FF5-B748-AE3A130668A4}" type="datetimeFigureOut">
              <a:rPr lang="en-US" smtClean="0"/>
              <a:t>5/21/2021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2A6C076-D75E-45D7-84FC-6E503862F51E}" type="slidenum">
              <a:rPr lang="en-US" smtClean="0"/>
              <a:t>‹#›</a:t>
            </a:fld>
            <a:endParaRPr lang="en-US"/>
          </a:p>
        </p:txBody>
      </p:sp>
    </p:spTree>
    <p:extLst>
      <p:ext uri="{BB962C8B-B14F-4D97-AF65-F5344CB8AC3E}">
        <p14:creationId xmlns:p14="http://schemas.microsoft.com/office/powerpoint/2010/main" val="6927827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46A0694-EF4B-4FF5-B748-AE3A130668A4}" type="datetimeFigureOut">
              <a:rPr lang="en-US" smtClean="0"/>
              <a:t>5/21/2021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A6C076-D75E-45D7-84FC-6E503862F51E}" type="slidenum">
              <a:rPr lang="en-US" smtClean="0"/>
              <a:t>‹#›</a:t>
            </a:fld>
            <a:endParaRPr lang="en-US"/>
          </a:p>
        </p:txBody>
      </p:sp>
    </p:spTree>
    <p:extLst>
      <p:ext uri="{BB962C8B-B14F-4D97-AF65-F5344CB8AC3E}">
        <p14:creationId xmlns:p14="http://schemas.microsoft.com/office/powerpoint/2010/main" val="4665260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46A0694-EF4B-4FF5-B748-AE3A130668A4}" type="datetimeFigureOut">
              <a:rPr lang="en-US" smtClean="0"/>
              <a:t>5/21/2021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A6C076-D75E-45D7-84FC-6E503862F51E}" type="slidenum">
              <a:rPr lang="en-US" smtClean="0"/>
              <a:t>‹#›</a:t>
            </a:fld>
            <a:endParaRPr lang="en-US"/>
          </a:p>
        </p:txBody>
      </p:sp>
    </p:spTree>
    <p:extLst>
      <p:ext uri="{BB962C8B-B14F-4D97-AF65-F5344CB8AC3E}">
        <p14:creationId xmlns:p14="http://schemas.microsoft.com/office/powerpoint/2010/main" val="12386715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46A0694-EF4B-4FF5-B748-AE3A130668A4}" type="datetimeFigureOut">
              <a:rPr lang="en-US" smtClean="0"/>
              <a:t>5/21/2021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A6C076-D75E-45D7-84FC-6E503862F51E}" type="slidenum">
              <a:rPr lang="en-US" smtClean="0"/>
              <a:t>‹#›</a:t>
            </a:fld>
            <a:endParaRPr lang="en-US"/>
          </a:p>
        </p:txBody>
      </p:sp>
    </p:spTree>
    <p:extLst>
      <p:ext uri="{BB962C8B-B14F-4D97-AF65-F5344CB8AC3E}">
        <p14:creationId xmlns:p14="http://schemas.microsoft.com/office/powerpoint/2010/main" val="38820515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46A0694-EF4B-4FF5-B748-AE3A130668A4}" type="datetimeFigureOut">
              <a:rPr lang="en-US" smtClean="0"/>
              <a:t>5/21/2021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A6C076-D75E-45D7-84FC-6E503862F51E}" type="slidenum">
              <a:rPr lang="en-US" smtClean="0"/>
              <a:t>‹#›</a:t>
            </a:fld>
            <a:endParaRPr lang="en-US"/>
          </a:p>
        </p:txBody>
      </p:sp>
    </p:spTree>
    <p:extLst>
      <p:ext uri="{BB962C8B-B14F-4D97-AF65-F5344CB8AC3E}">
        <p14:creationId xmlns:p14="http://schemas.microsoft.com/office/powerpoint/2010/main" val="13752093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46A0694-EF4B-4FF5-B748-AE3A130668A4}" type="datetimeFigureOut">
              <a:rPr lang="en-US" smtClean="0"/>
              <a:t>5/21/2021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A6C076-D75E-45D7-84FC-6E503862F51E}" type="slidenum">
              <a:rPr lang="en-US" smtClean="0"/>
              <a:t>‹#›</a:t>
            </a:fld>
            <a:endParaRPr lang="en-US"/>
          </a:p>
        </p:txBody>
      </p:sp>
    </p:spTree>
    <p:extLst>
      <p:ext uri="{BB962C8B-B14F-4D97-AF65-F5344CB8AC3E}">
        <p14:creationId xmlns:p14="http://schemas.microsoft.com/office/powerpoint/2010/main" val="35821077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5400" dirty="0"/>
              <a:t>Introduction to Data Structures &amp; Algorithms </a:t>
            </a:r>
          </a:p>
        </p:txBody>
      </p:sp>
      <p:sp>
        <p:nvSpPr>
          <p:cNvPr id="3" name="Subtitle 2"/>
          <p:cNvSpPr>
            <a:spLocks noGrp="1"/>
          </p:cNvSpPr>
          <p:nvPr>
            <p:ph type="subTitle" idx="1"/>
          </p:nvPr>
        </p:nvSpPr>
        <p:spPr/>
        <p:txBody>
          <a:bodyPr/>
          <a:lstStyle/>
          <a:p>
            <a:r>
              <a:rPr lang="en-US" sz="3200" dirty="0" smtClean="0"/>
              <a:t>Unit I</a:t>
            </a:r>
          </a:p>
          <a:p>
            <a:endParaRPr lang="en-US" dirty="0"/>
          </a:p>
        </p:txBody>
      </p:sp>
    </p:spTree>
    <p:extLst>
      <p:ext uri="{BB962C8B-B14F-4D97-AF65-F5344CB8AC3E}">
        <p14:creationId xmlns:p14="http://schemas.microsoft.com/office/powerpoint/2010/main" val="62130425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What is Data Structure?</a:t>
            </a:r>
            <a:endParaRPr lang="en-US" dirty="0"/>
          </a:p>
        </p:txBody>
      </p:sp>
      <p:sp>
        <p:nvSpPr>
          <p:cNvPr id="3" name="Content Placeholder 2"/>
          <p:cNvSpPr>
            <a:spLocks noGrp="1"/>
          </p:cNvSpPr>
          <p:nvPr>
            <p:ph idx="1"/>
          </p:nvPr>
        </p:nvSpPr>
        <p:spPr>
          <a:xfrm>
            <a:off x="838200" y="1558344"/>
            <a:ext cx="10515600" cy="4618619"/>
          </a:xfrm>
        </p:spPr>
        <p:txBody>
          <a:bodyPr>
            <a:normAutofit fontScale="92500" lnSpcReduction="10000"/>
          </a:bodyPr>
          <a:lstStyle/>
          <a:p>
            <a:r>
              <a:rPr lang="en-US" dirty="0" smtClean="0"/>
              <a:t>The data structure name indicates itself that organizing the data in memory. </a:t>
            </a:r>
          </a:p>
          <a:p>
            <a:r>
              <a:rPr lang="en-US" dirty="0" smtClean="0"/>
              <a:t>There are many ways of organizing the data in the memory as we have already seen one of the data structures, </a:t>
            </a:r>
          </a:p>
          <a:p>
            <a:pPr marL="0" indent="0">
              <a:buNone/>
            </a:pPr>
            <a:r>
              <a:rPr lang="en-US" dirty="0" smtClean="0"/>
              <a:t>i.e., array in C language. </a:t>
            </a:r>
          </a:p>
          <a:p>
            <a:r>
              <a:rPr lang="en-US" dirty="0" smtClean="0"/>
              <a:t>Array is a collection of memory elements in which data is stored sequentially, i.e., one after another. </a:t>
            </a:r>
          </a:p>
          <a:p>
            <a:r>
              <a:rPr lang="en-US" dirty="0" smtClean="0"/>
              <a:t>In other words, we can say that array stores the elements in a continuous manner. </a:t>
            </a:r>
          </a:p>
          <a:p>
            <a:r>
              <a:rPr lang="en-US" dirty="0" smtClean="0"/>
              <a:t>This organization of data is done with the help of an array of data structures. </a:t>
            </a:r>
            <a:endParaRPr lang="en-US" dirty="0"/>
          </a:p>
        </p:txBody>
      </p:sp>
    </p:spTree>
    <p:extLst>
      <p:ext uri="{BB962C8B-B14F-4D97-AF65-F5344CB8AC3E}">
        <p14:creationId xmlns:p14="http://schemas.microsoft.com/office/powerpoint/2010/main" val="143575211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690688"/>
            <a:ext cx="10515600" cy="4486275"/>
          </a:xfrm>
        </p:spPr>
        <p:txBody>
          <a:bodyPr/>
          <a:lstStyle/>
          <a:p>
            <a:pPr marL="0" indent="0">
              <a:buNone/>
            </a:pPr>
            <a:r>
              <a:rPr lang="en-US" dirty="0" smtClean="0"/>
              <a:t>There </a:t>
            </a:r>
            <a:r>
              <a:rPr lang="en-US" dirty="0"/>
              <a:t>are also other ways to organize the data in memory. Let's see the different types of data structures.</a:t>
            </a:r>
          </a:p>
          <a:p>
            <a:r>
              <a:rPr lang="en-US" dirty="0"/>
              <a:t>The data structure is not any programming language like C, C++, java, etc. It is a set of algorithms that we can use in any programming language to </a:t>
            </a:r>
            <a:r>
              <a:rPr lang="en-US" b="1" dirty="0"/>
              <a:t>structure the data in the memory</a:t>
            </a:r>
            <a:r>
              <a:rPr lang="en-US" dirty="0"/>
              <a:t>.</a:t>
            </a:r>
          </a:p>
          <a:p>
            <a:r>
              <a:rPr lang="en-US" dirty="0"/>
              <a:t>To structure the data in memory, 'n' number of algorithms were proposed, and all these algorithms are known as Abstract data types. </a:t>
            </a:r>
          </a:p>
        </p:txBody>
      </p:sp>
    </p:spTree>
    <p:extLst>
      <p:ext uri="{BB962C8B-B14F-4D97-AF65-F5344CB8AC3E}">
        <p14:creationId xmlns:p14="http://schemas.microsoft.com/office/powerpoint/2010/main" val="42505287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Structure</a:t>
            </a:r>
            <a:endParaRPr lang="en-US" dirty="0"/>
          </a:p>
        </p:txBody>
      </p:sp>
      <p:sp>
        <p:nvSpPr>
          <p:cNvPr id="3" name="Content Placeholder 2"/>
          <p:cNvSpPr>
            <a:spLocks noGrp="1"/>
          </p:cNvSpPr>
          <p:nvPr>
            <p:ph idx="1"/>
          </p:nvPr>
        </p:nvSpPr>
        <p:spPr>
          <a:xfrm>
            <a:off x="838200" y="1481070"/>
            <a:ext cx="10515600" cy="4695893"/>
          </a:xfrm>
        </p:spPr>
        <p:txBody>
          <a:bodyPr>
            <a:normAutofit fontScale="92500" lnSpcReduction="20000"/>
          </a:bodyPr>
          <a:lstStyle/>
          <a:p>
            <a:pPr marL="0" indent="0">
              <a:buNone/>
            </a:pPr>
            <a:r>
              <a:rPr lang="en-US" b="1" dirty="0" smtClean="0"/>
              <a:t>introduction</a:t>
            </a:r>
          </a:p>
          <a:p>
            <a:r>
              <a:rPr lang="en-US" dirty="0" smtClean="0"/>
              <a:t>Data Structure can be defined as the group of data elements which provides an efficient way of storing and </a:t>
            </a:r>
            <a:r>
              <a:rPr lang="en-US" dirty="0" err="1" smtClean="0"/>
              <a:t>organising</a:t>
            </a:r>
            <a:r>
              <a:rPr lang="en-US" dirty="0" smtClean="0"/>
              <a:t> data in the computer so that it can be used efficiently. </a:t>
            </a:r>
          </a:p>
          <a:p>
            <a:r>
              <a:rPr lang="en-US" dirty="0" smtClean="0"/>
              <a:t>Some examples of Data Structures are arrays, Linked List, Stack, Queue, etc. Data Structures are widely used in almost every aspect of Computer Science </a:t>
            </a:r>
          </a:p>
          <a:p>
            <a:pPr marL="0" indent="0">
              <a:buNone/>
            </a:pPr>
            <a:r>
              <a:rPr lang="en-US" i="1" dirty="0" smtClean="0"/>
              <a:t>i.e. Operating System, Compiler Design, </a:t>
            </a:r>
            <a:r>
              <a:rPr lang="en-US" i="1" dirty="0" smtClean="0"/>
              <a:t>Artificial </a:t>
            </a:r>
            <a:r>
              <a:rPr lang="en-US" i="1" dirty="0" smtClean="0"/>
              <a:t>intelligence, Graphics and many more.</a:t>
            </a:r>
          </a:p>
          <a:p>
            <a:r>
              <a:rPr lang="en-US" dirty="0" smtClean="0"/>
              <a:t>Data Structures are the main part of many computer science algorithms as they enable the programmers to handle the data in an efficient way. </a:t>
            </a:r>
            <a:endParaRPr lang="en-US" dirty="0" smtClean="0"/>
          </a:p>
          <a:p>
            <a:r>
              <a:rPr lang="en-US" dirty="0" smtClean="0"/>
              <a:t>It </a:t>
            </a:r>
            <a:r>
              <a:rPr lang="en-US" dirty="0" smtClean="0"/>
              <a:t>plays a vital role in enhancing the performance of a software or a program as the main function of the software is to store and retrieve the user's data as fast as possible </a:t>
            </a:r>
          </a:p>
          <a:p>
            <a:endParaRPr lang="en-US" dirty="0"/>
          </a:p>
        </p:txBody>
      </p:sp>
    </p:spTree>
    <p:extLst>
      <p:ext uri="{BB962C8B-B14F-4D97-AF65-F5344CB8AC3E}">
        <p14:creationId xmlns:p14="http://schemas.microsoft.com/office/powerpoint/2010/main" val="271839787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Basic </a:t>
            </a:r>
            <a:r>
              <a:rPr lang="en-US" b="1" dirty="0" smtClean="0"/>
              <a:t>Terminology</a:t>
            </a:r>
            <a:endParaRPr lang="en-US" dirty="0"/>
          </a:p>
        </p:txBody>
      </p:sp>
      <p:sp>
        <p:nvSpPr>
          <p:cNvPr id="3" name="Content Placeholder 2"/>
          <p:cNvSpPr>
            <a:spLocks noGrp="1"/>
          </p:cNvSpPr>
          <p:nvPr>
            <p:ph idx="1"/>
          </p:nvPr>
        </p:nvSpPr>
        <p:spPr>
          <a:xfrm>
            <a:off x="838200" y="1690688"/>
            <a:ext cx="10515600" cy="4486275"/>
          </a:xfrm>
        </p:spPr>
        <p:txBody>
          <a:bodyPr>
            <a:normAutofit fontScale="92500" lnSpcReduction="10000"/>
          </a:bodyPr>
          <a:lstStyle/>
          <a:p>
            <a:pPr marL="0" indent="0">
              <a:buNone/>
            </a:pPr>
            <a:r>
              <a:rPr lang="en-US" dirty="0" smtClean="0"/>
              <a:t>Data structures are the building blocks of any program or the software. Choosing the appropriate data structure for a program is the most difficult task for a programmer. Following terminology is used as far as data structures are concerned</a:t>
            </a:r>
          </a:p>
          <a:p>
            <a:pPr marL="0" indent="0">
              <a:buNone/>
            </a:pPr>
            <a:r>
              <a:rPr lang="en-US" b="1" dirty="0" smtClean="0"/>
              <a:t>Data:</a:t>
            </a:r>
            <a:r>
              <a:rPr lang="en-US" dirty="0" smtClean="0"/>
              <a:t> Data can be defined as an elementary value or the collection of values, for example, student's name and its id are the data about the student.</a:t>
            </a:r>
          </a:p>
          <a:p>
            <a:pPr marL="0" indent="0">
              <a:buNone/>
            </a:pPr>
            <a:r>
              <a:rPr lang="en-US" b="1" dirty="0" smtClean="0"/>
              <a:t>Group Items:</a:t>
            </a:r>
            <a:r>
              <a:rPr lang="en-US" dirty="0" smtClean="0"/>
              <a:t> Data items which have subordinate data items are called Group item, for example, name of a student can have first name and the last name.</a:t>
            </a:r>
          </a:p>
          <a:p>
            <a:pPr marL="0" indent="0">
              <a:buNone/>
            </a:pPr>
            <a:r>
              <a:rPr lang="en-US" b="1" dirty="0" smtClean="0"/>
              <a:t>Record:</a:t>
            </a:r>
            <a:r>
              <a:rPr lang="en-US" dirty="0" smtClean="0"/>
              <a:t> Record can be defined as the collection of various data items, for example, if we talk about the student entity, then its name, address, course and marks can be grouped together to form the record for the student.</a:t>
            </a:r>
          </a:p>
        </p:txBody>
      </p:sp>
    </p:spTree>
    <p:extLst>
      <p:ext uri="{BB962C8B-B14F-4D97-AF65-F5344CB8AC3E}">
        <p14:creationId xmlns:p14="http://schemas.microsoft.com/office/powerpoint/2010/main" val="15621844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b="1" dirty="0"/>
              <a:t>File:</a:t>
            </a:r>
            <a:r>
              <a:rPr lang="en-US" dirty="0"/>
              <a:t> A File is a collection of various records of one type of entity, </a:t>
            </a:r>
            <a:endParaRPr lang="en-US" dirty="0" smtClean="0"/>
          </a:p>
          <a:p>
            <a:pPr marL="0" indent="0">
              <a:buNone/>
            </a:pPr>
            <a:r>
              <a:rPr lang="en-US" dirty="0" smtClean="0"/>
              <a:t>for </a:t>
            </a:r>
            <a:r>
              <a:rPr lang="en-US" dirty="0"/>
              <a:t>example, if there are 60 employees in the class, then there will be 20 records in the related file where each record contains the data about each employee.</a:t>
            </a:r>
          </a:p>
          <a:p>
            <a:pPr marL="0" indent="0">
              <a:buNone/>
            </a:pPr>
            <a:r>
              <a:rPr lang="en-US" b="1" dirty="0"/>
              <a:t>Attribute and Entity:</a:t>
            </a:r>
            <a:r>
              <a:rPr lang="en-US" dirty="0"/>
              <a:t> An entity represents the class of certain objects. it contains various attributes. Each attribute represents the particular property of that entity.</a:t>
            </a:r>
          </a:p>
          <a:p>
            <a:pPr marL="0" indent="0">
              <a:buNone/>
            </a:pPr>
            <a:r>
              <a:rPr lang="en-US" b="1" dirty="0" smtClean="0"/>
              <a:t>Field</a:t>
            </a:r>
            <a:r>
              <a:rPr lang="en-US" b="1" dirty="0"/>
              <a:t>:</a:t>
            </a:r>
            <a:r>
              <a:rPr lang="en-US" dirty="0"/>
              <a:t> Field is a single elementary unit of information representing the attribute of an entity</a:t>
            </a:r>
            <a:r>
              <a:rPr lang="en-US" dirty="0" smtClean="0"/>
              <a:t>.</a:t>
            </a:r>
            <a:endParaRPr lang="en-US" dirty="0"/>
          </a:p>
          <a:p>
            <a:endParaRPr lang="en-US" dirty="0"/>
          </a:p>
        </p:txBody>
      </p:sp>
    </p:spTree>
    <p:extLst>
      <p:ext uri="{BB962C8B-B14F-4D97-AF65-F5344CB8AC3E}">
        <p14:creationId xmlns:p14="http://schemas.microsoft.com/office/powerpoint/2010/main" val="96082834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marL="0" indent="0">
              <a:buNone/>
            </a:pPr>
            <a:r>
              <a:rPr lang="en-US" dirty="0" smtClean="0"/>
              <a:t>Entity :Student </a:t>
            </a:r>
          </a:p>
          <a:p>
            <a:pPr marL="0" indent="0">
              <a:buNone/>
            </a:pPr>
            <a:r>
              <a:rPr lang="en-US" dirty="0" smtClean="0"/>
              <a:t>Attributes: </a:t>
            </a:r>
          </a:p>
          <a:p>
            <a:pPr marL="0" indent="0">
              <a:buNone/>
            </a:pPr>
            <a:r>
              <a:rPr lang="en-US" dirty="0"/>
              <a:t>	</a:t>
            </a:r>
            <a:r>
              <a:rPr lang="en-US" dirty="0" smtClean="0"/>
              <a:t>name, roll, address, </a:t>
            </a:r>
            <a:r>
              <a:rPr lang="en-US" dirty="0" err="1" smtClean="0"/>
              <a:t>phone_no</a:t>
            </a:r>
            <a:r>
              <a:rPr lang="en-US" dirty="0" smtClean="0"/>
              <a:t> : attributes</a:t>
            </a:r>
          </a:p>
          <a:p>
            <a:pPr marL="0" indent="0">
              <a:buNone/>
            </a:pPr>
            <a:r>
              <a:rPr lang="en-US" dirty="0" smtClean="0"/>
              <a:t>Entity</a:t>
            </a:r>
          </a:p>
          <a:p>
            <a:pPr marL="0" indent="0">
              <a:buNone/>
            </a:pPr>
            <a:r>
              <a:rPr lang="en-US" dirty="0"/>
              <a:t>  </a:t>
            </a:r>
            <a:r>
              <a:rPr lang="en-US" dirty="0" smtClean="0"/>
              <a:t>  car</a:t>
            </a:r>
          </a:p>
          <a:p>
            <a:pPr marL="0" indent="0">
              <a:buNone/>
            </a:pPr>
            <a:r>
              <a:rPr lang="en-US" dirty="0" smtClean="0"/>
              <a:t>Attributes:</a:t>
            </a:r>
          </a:p>
          <a:p>
            <a:pPr marL="0" indent="0">
              <a:buNone/>
            </a:pPr>
            <a:r>
              <a:rPr lang="en-US" dirty="0" smtClean="0"/>
              <a:t>Color</a:t>
            </a:r>
          </a:p>
          <a:p>
            <a:pPr marL="0" indent="0">
              <a:buNone/>
            </a:pPr>
            <a:r>
              <a:rPr lang="en-US" dirty="0" smtClean="0"/>
              <a:t>Size</a:t>
            </a:r>
          </a:p>
          <a:p>
            <a:pPr marL="0" indent="0">
              <a:buNone/>
            </a:pPr>
            <a:r>
              <a:rPr lang="en-US" dirty="0" smtClean="0"/>
              <a:t>weight</a:t>
            </a:r>
            <a:endParaRPr lang="en-US" dirty="0"/>
          </a:p>
        </p:txBody>
      </p:sp>
    </p:spTree>
    <p:extLst>
      <p:ext uri="{BB962C8B-B14F-4D97-AF65-F5344CB8AC3E}">
        <p14:creationId xmlns:p14="http://schemas.microsoft.com/office/powerpoint/2010/main" val="19303076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5489"/>
          </a:xfrm>
        </p:spPr>
        <p:txBody>
          <a:bodyPr/>
          <a:lstStyle/>
          <a:p>
            <a:r>
              <a:rPr lang="en-US" b="1" dirty="0"/>
              <a:t>Operations on data </a:t>
            </a:r>
            <a:r>
              <a:rPr lang="en-US" b="1" dirty="0" smtClean="0"/>
              <a:t>structure</a:t>
            </a:r>
            <a:endParaRPr lang="en-US" dirty="0"/>
          </a:p>
        </p:txBody>
      </p:sp>
      <p:sp>
        <p:nvSpPr>
          <p:cNvPr id="3" name="Content Placeholder 2"/>
          <p:cNvSpPr>
            <a:spLocks noGrp="1"/>
          </p:cNvSpPr>
          <p:nvPr>
            <p:ph idx="1"/>
          </p:nvPr>
        </p:nvSpPr>
        <p:spPr>
          <a:xfrm>
            <a:off x="709411" y="1300766"/>
            <a:ext cx="10515600" cy="4773166"/>
          </a:xfrm>
        </p:spPr>
        <p:txBody>
          <a:bodyPr>
            <a:normAutofit fontScale="92500" lnSpcReduction="20000"/>
          </a:bodyPr>
          <a:lstStyle/>
          <a:p>
            <a:pPr marL="0" indent="0" algn="just">
              <a:buNone/>
            </a:pPr>
            <a:r>
              <a:rPr lang="en-US" b="1" dirty="0" smtClean="0"/>
              <a:t>1. Traversing:</a:t>
            </a:r>
            <a:r>
              <a:rPr lang="en-US" dirty="0" smtClean="0"/>
              <a:t> Every data structure contains the set of data elements. Traversing the data structure means visiting each element of the data structure in order to perform some specific operation like searching or sorting. </a:t>
            </a:r>
          </a:p>
          <a:p>
            <a:pPr marL="0" indent="0" algn="just">
              <a:buNone/>
            </a:pPr>
            <a:r>
              <a:rPr lang="en-US" b="1" i="1" dirty="0" smtClean="0"/>
              <a:t>Example:</a:t>
            </a:r>
            <a:r>
              <a:rPr lang="en-US" i="1" dirty="0" smtClean="0"/>
              <a:t> If we need to calculate the average of the marks obtained by a student in 6 different subject, we need to traverse the complete array of marks and calculate the total sum, then we will divide that sum by the number of subjects i.e. 6, in order to find the average.</a:t>
            </a:r>
          </a:p>
          <a:p>
            <a:pPr marL="0" indent="0" algn="just">
              <a:buNone/>
            </a:pPr>
            <a:r>
              <a:rPr lang="en-US" b="1" dirty="0" smtClean="0"/>
              <a:t>2. Insertion:</a:t>
            </a:r>
            <a:r>
              <a:rPr lang="en-US" dirty="0" smtClean="0"/>
              <a:t> Insertion can be defined as the process of adding the elements to the data structure at any location.</a:t>
            </a:r>
          </a:p>
          <a:p>
            <a:pPr algn="just"/>
            <a:r>
              <a:rPr lang="en-US" dirty="0" smtClean="0"/>
              <a:t>If the size of data structure is </a:t>
            </a:r>
            <a:r>
              <a:rPr lang="en-US" b="1" dirty="0" smtClean="0"/>
              <a:t>n</a:t>
            </a:r>
            <a:r>
              <a:rPr lang="en-US" dirty="0" smtClean="0"/>
              <a:t> then we can only insert </a:t>
            </a:r>
            <a:r>
              <a:rPr lang="en-US" b="1" dirty="0" smtClean="0"/>
              <a:t>n-1</a:t>
            </a:r>
            <a:r>
              <a:rPr lang="en-US" dirty="0" smtClean="0"/>
              <a:t> data elements into it. </a:t>
            </a:r>
          </a:p>
          <a:p>
            <a:pPr marL="0" indent="0" algn="just">
              <a:buNone/>
            </a:pPr>
            <a:r>
              <a:rPr lang="en-US" b="1" dirty="0" smtClean="0"/>
              <a:t>3. Deletion: </a:t>
            </a:r>
            <a:r>
              <a:rPr lang="en-US" dirty="0" smtClean="0"/>
              <a:t>The process of removing an element from the data structure is called Deletion. We can delete an element from the data structure at any random location. </a:t>
            </a:r>
          </a:p>
        </p:txBody>
      </p:sp>
    </p:spTree>
    <p:extLst>
      <p:ext uri="{BB962C8B-B14F-4D97-AF65-F5344CB8AC3E}">
        <p14:creationId xmlns:p14="http://schemas.microsoft.com/office/powerpoint/2010/main" val="321804508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26548"/>
          </a:xfrm>
        </p:spPr>
        <p:txBody>
          <a:bodyPr>
            <a:normAutofit fontScale="90000"/>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159099"/>
            <a:ext cx="10515600" cy="4837560"/>
          </a:xfrm>
        </p:spPr>
        <p:txBody>
          <a:bodyPr>
            <a:normAutofit lnSpcReduction="10000"/>
          </a:bodyPr>
          <a:lstStyle/>
          <a:p>
            <a:pPr marL="0" indent="0">
              <a:buNone/>
            </a:pPr>
            <a:r>
              <a:rPr lang="en-US" b="1" dirty="0" smtClean="0"/>
              <a:t>4. Searching</a:t>
            </a:r>
            <a:r>
              <a:rPr lang="en-US" b="1" dirty="0"/>
              <a:t>:</a:t>
            </a:r>
            <a:r>
              <a:rPr lang="en-US" dirty="0"/>
              <a:t> The process of finding the location of an element within the data structure is called Searching. </a:t>
            </a:r>
            <a:endParaRPr lang="en-US" dirty="0" smtClean="0"/>
          </a:p>
          <a:p>
            <a:pPr marL="0" indent="0">
              <a:buNone/>
            </a:pPr>
            <a:r>
              <a:rPr lang="en-US" dirty="0" smtClean="0"/>
              <a:t>There </a:t>
            </a:r>
            <a:r>
              <a:rPr lang="en-US" dirty="0"/>
              <a:t>are two algorithms to perform searching, Linear Search and Binary Search</a:t>
            </a:r>
            <a:r>
              <a:rPr lang="en-US" dirty="0" smtClean="0"/>
              <a:t>.</a:t>
            </a:r>
            <a:endParaRPr lang="en-US" dirty="0"/>
          </a:p>
          <a:p>
            <a:pPr marL="0" indent="0">
              <a:buNone/>
            </a:pPr>
            <a:r>
              <a:rPr lang="en-US" b="1" dirty="0" smtClean="0"/>
              <a:t>5.</a:t>
            </a:r>
            <a:r>
              <a:rPr lang="en-US" dirty="0" smtClean="0"/>
              <a:t> </a:t>
            </a:r>
            <a:r>
              <a:rPr lang="en-US" b="1" dirty="0" smtClean="0"/>
              <a:t>Sorting</a:t>
            </a:r>
            <a:r>
              <a:rPr lang="en-US" b="1" dirty="0"/>
              <a:t>:</a:t>
            </a:r>
            <a:r>
              <a:rPr lang="en-US" dirty="0"/>
              <a:t> The process of arranging the data structure in a specific order is known as Sorting. </a:t>
            </a:r>
            <a:endParaRPr lang="en-US" dirty="0" smtClean="0"/>
          </a:p>
          <a:p>
            <a:pPr marL="0" indent="0">
              <a:buNone/>
            </a:pPr>
            <a:r>
              <a:rPr lang="en-US" dirty="0" smtClean="0"/>
              <a:t>There </a:t>
            </a:r>
            <a:r>
              <a:rPr lang="en-US" dirty="0"/>
              <a:t>are many algorithms that can be used to perform sorting, for example, insertion sort, selection sort, bubble sort, etc.</a:t>
            </a:r>
          </a:p>
          <a:p>
            <a:pPr marL="0" indent="0">
              <a:buNone/>
            </a:pPr>
            <a:r>
              <a:rPr lang="en-US" b="1" dirty="0" smtClean="0"/>
              <a:t>5.</a:t>
            </a:r>
            <a:r>
              <a:rPr lang="en-US" dirty="0" smtClean="0"/>
              <a:t> </a:t>
            </a:r>
            <a:r>
              <a:rPr lang="en-US" b="1" dirty="0" smtClean="0"/>
              <a:t>Merging</a:t>
            </a:r>
            <a:r>
              <a:rPr lang="en-US" b="1" dirty="0"/>
              <a:t>:</a:t>
            </a:r>
            <a:r>
              <a:rPr lang="en-US" dirty="0"/>
              <a:t> When two lists List A and List B of size M and N respectively, of similar type of elements, clubbed or joined to produce the third list, List C of size (M+N), then this process is called </a:t>
            </a:r>
            <a:r>
              <a:rPr lang="en-US" dirty="0" smtClean="0"/>
              <a:t>merging</a:t>
            </a:r>
          </a:p>
          <a:p>
            <a:pPr marL="0" indent="0">
              <a:buNone/>
            </a:pPr>
            <a:r>
              <a:rPr lang="en-US" dirty="0" smtClean="0"/>
              <a:t>6. updating: </a:t>
            </a:r>
            <a:endParaRPr lang="en-US" dirty="0"/>
          </a:p>
          <a:p>
            <a:endParaRPr lang="en-US" dirty="0"/>
          </a:p>
          <a:p>
            <a:endParaRPr lang="en-US" dirty="0"/>
          </a:p>
        </p:txBody>
      </p:sp>
    </p:spTree>
    <p:extLst>
      <p:ext uri="{BB962C8B-B14F-4D97-AF65-F5344CB8AC3E}">
        <p14:creationId xmlns:p14="http://schemas.microsoft.com/office/powerpoint/2010/main" val="159072904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41703"/>
          </a:xfrm>
        </p:spPr>
        <p:txBody>
          <a:bodyPr/>
          <a:lstStyle/>
          <a:p>
            <a:r>
              <a:rPr lang="en-US" b="1" dirty="0"/>
              <a:t>Need of Data </a:t>
            </a:r>
            <a:r>
              <a:rPr lang="en-US" b="1" dirty="0" smtClean="0"/>
              <a:t>Structures</a:t>
            </a:r>
            <a:endParaRPr lang="en-US" dirty="0"/>
          </a:p>
        </p:txBody>
      </p:sp>
      <p:sp>
        <p:nvSpPr>
          <p:cNvPr id="3" name="Content Placeholder 2"/>
          <p:cNvSpPr>
            <a:spLocks noGrp="1"/>
          </p:cNvSpPr>
          <p:nvPr>
            <p:ph idx="1"/>
          </p:nvPr>
        </p:nvSpPr>
        <p:spPr>
          <a:xfrm>
            <a:off x="838200" y="1674254"/>
            <a:ext cx="10515600" cy="4502709"/>
          </a:xfrm>
        </p:spPr>
        <p:txBody>
          <a:bodyPr>
            <a:normAutofit fontScale="85000" lnSpcReduction="20000"/>
          </a:bodyPr>
          <a:lstStyle/>
          <a:p>
            <a:pPr marL="0" indent="0">
              <a:buNone/>
            </a:pPr>
            <a:r>
              <a:rPr lang="en-US" dirty="0" smtClean="0"/>
              <a:t>As applications are getting complex and amount of data is increasing day by day, there may arise the following problems:</a:t>
            </a:r>
          </a:p>
          <a:p>
            <a:r>
              <a:rPr lang="en-US" b="1" dirty="0" smtClean="0"/>
              <a:t>Processor speed:</a:t>
            </a:r>
            <a:r>
              <a:rPr lang="en-US" dirty="0" smtClean="0"/>
              <a:t> To handle very large amount of data, high speed processing is required, but as the data is growing day by day to the billions of files per entity, processor may fail to deal with that much amount of data.</a:t>
            </a:r>
          </a:p>
          <a:p>
            <a:r>
              <a:rPr lang="en-US" b="1" dirty="0" smtClean="0"/>
              <a:t>Data Search:</a:t>
            </a:r>
            <a:r>
              <a:rPr lang="en-US" dirty="0" smtClean="0"/>
              <a:t> Consider an inventory size of 106 items in a store, If our application needs to search for a particular item, it needs to traverse 106 items every time, results in slowing down the search process. </a:t>
            </a:r>
          </a:p>
          <a:p>
            <a:r>
              <a:rPr lang="en-US" b="1" dirty="0" smtClean="0"/>
              <a:t>Multiple requests:</a:t>
            </a:r>
            <a:r>
              <a:rPr lang="en-US" dirty="0" smtClean="0"/>
              <a:t> If thousands of users are searching the data simultaneously on a web server, then there are the chances that a very large server can be failed during that process </a:t>
            </a:r>
          </a:p>
          <a:p>
            <a:r>
              <a:rPr lang="en-US" dirty="0" smtClean="0"/>
              <a:t>in order to solve the above problems, data structures are used. </a:t>
            </a:r>
            <a:r>
              <a:rPr lang="en-US" i="1" dirty="0" smtClean="0">
                <a:solidFill>
                  <a:srgbClr val="FF0000"/>
                </a:solidFill>
              </a:rPr>
              <a:t>Data is organized to form a data structure in such a way that all items are not required to be searched and required data can be searched instantly</a:t>
            </a:r>
            <a:r>
              <a:rPr lang="en-US" i="1" dirty="0" smtClean="0">
                <a:solidFill>
                  <a:srgbClr val="FF0000"/>
                </a:solidFill>
              </a:rPr>
              <a:t>.</a:t>
            </a:r>
            <a:endParaRPr lang="en-US" i="1" dirty="0" smtClean="0">
              <a:solidFill>
                <a:srgbClr val="FF0000"/>
              </a:solidFill>
            </a:endParaRPr>
          </a:p>
          <a:p>
            <a:endParaRPr lang="en-US" dirty="0"/>
          </a:p>
        </p:txBody>
      </p:sp>
    </p:spTree>
    <p:extLst>
      <p:ext uri="{BB962C8B-B14F-4D97-AF65-F5344CB8AC3E}">
        <p14:creationId xmlns:p14="http://schemas.microsoft.com/office/powerpoint/2010/main" val="340554866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Types of Data Structures</a:t>
            </a:r>
            <a:endParaRPr lang="en-US" dirty="0"/>
          </a:p>
        </p:txBody>
      </p:sp>
      <p:sp>
        <p:nvSpPr>
          <p:cNvPr id="3" name="Content Placeholder 2"/>
          <p:cNvSpPr>
            <a:spLocks noGrp="1"/>
          </p:cNvSpPr>
          <p:nvPr>
            <p:ph idx="1"/>
          </p:nvPr>
        </p:nvSpPr>
        <p:spPr>
          <a:xfrm>
            <a:off x="838200" y="1596980"/>
            <a:ext cx="10515600" cy="4579983"/>
          </a:xfrm>
        </p:spPr>
        <p:txBody>
          <a:bodyPr/>
          <a:lstStyle/>
          <a:p>
            <a:pPr marL="0" indent="0">
              <a:buNone/>
            </a:pPr>
            <a:r>
              <a:rPr lang="en-US" dirty="0" smtClean="0"/>
              <a:t>There are two types of data structures:</a:t>
            </a:r>
          </a:p>
          <a:p>
            <a:r>
              <a:rPr lang="en-US" dirty="0" smtClean="0"/>
              <a:t>Primitive data structure /primitive data type</a:t>
            </a:r>
          </a:p>
          <a:p>
            <a:r>
              <a:rPr lang="en-US" dirty="0" smtClean="0"/>
              <a:t>Non-primitive data structure / non-primitive data </a:t>
            </a:r>
            <a:r>
              <a:rPr lang="en-US" dirty="0" smtClean="0"/>
              <a:t>type</a:t>
            </a:r>
          </a:p>
        </p:txBody>
      </p:sp>
    </p:spTree>
    <p:extLst>
      <p:ext uri="{BB962C8B-B14F-4D97-AF65-F5344CB8AC3E}">
        <p14:creationId xmlns:p14="http://schemas.microsoft.com/office/powerpoint/2010/main" val="39898937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Primitive Data structure</a:t>
            </a:r>
            <a:endParaRPr lang="en-US" dirty="0"/>
          </a:p>
        </p:txBody>
      </p:sp>
      <p:sp>
        <p:nvSpPr>
          <p:cNvPr id="3" name="Content Placeholder 2"/>
          <p:cNvSpPr>
            <a:spLocks noGrp="1"/>
          </p:cNvSpPr>
          <p:nvPr>
            <p:ph idx="1"/>
          </p:nvPr>
        </p:nvSpPr>
        <p:spPr/>
        <p:txBody>
          <a:bodyPr>
            <a:normAutofit/>
          </a:bodyPr>
          <a:lstStyle/>
          <a:p>
            <a:r>
              <a:rPr lang="en-US" dirty="0" smtClean="0"/>
              <a:t>The primitive data structures are primitive data types. </a:t>
            </a:r>
          </a:p>
          <a:p>
            <a:r>
              <a:rPr lang="en-US" b="1" dirty="0" smtClean="0"/>
              <a:t> </a:t>
            </a:r>
            <a:r>
              <a:rPr lang="en-US" b="1" dirty="0" err="1" smtClean="0"/>
              <a:t>int</a:t>
            </a:r>
            <a:r>
              <a:rPr lang="en-US" b="1" dirty="0" smtClean="0"/>
              <a:t>, char, float, double, and pointer</a:t>
            </a:r>
            <a:r>
              <a:rPr lang="en-US" dirty="0" smtClean="0"/>
              <a:t> are the primitive data structures that can hold a single value.</a:t>
            </a:r>
          </a:p>
          <a:p>
            <a:pPr marL="0" indent="0">
              <a:buNone/>
            </a:pPr>
            <a:r>
              <a:rPr lang="en-US" sz="3800" b="1" dirty="0" smtClean="0"/>
              <a:t>Non-Primitive Data structure</a:t>
            </a:r>
            <a:endParaRPr lang="en-US" sz="3800" dirty="0" smtClean="0"/>
          </a:p>
          <a:p>
            <a:r>
              <a:rPr lang="en-US" dirty="0" smtClean="0"/>
              <a:t>The non-primitive data structure is divided into two types:</a:t>
            </a:r>
          </a:p>
          <a:p>
            <a:pPr lvl="1"/>
            <a:r>
              <a:rPr lang="en-US" dirty="0" smtClean="0"/>
              <a:t>Linear data structure</a:t>
            </a:r>
          </a:p>
          <a:p>
            <a:pPr lvl="1"/>
            <a:r>
              <a:rPr lang="en-US" dirty="0" smtClean="0"/>
              <a:t>Non-linear data structure</a:t>
            </a:r>
          </a:p>
          <a:p>
            <a:pPr marL="0" indent="0">
              <a:buNone/>
            </a:pPr>
            <a:endParaRPr lang="en-US" dirty="0"/>
          </a:p>
        </p:txBody>
      </p:sp>
    </p:spTree>
    <p:extLst>
      <p:ext uri="{BB962C8B-B14F-4D97-AF65-F5344CB8AC3E}">
        <p14:creationId xmlns:p14="http://schemas.microsoft.com/office/powerpoint/2010/main" val="27125518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Linear Data Structure</a:t>
            </a:r>
            <a:endParaRPr lang="en-US" dirty="0"/>
          </a:p>
        </p:txBody>
      </p:sp>
      <p:sp>
        <p:nvSpPr>
          <p:cNvPr id="3" name="Content Placeholder 2"/>
          <p:cNvSpPr>
            <a:spLocks noGrp="1"/>
          </p:cNvSpPr>
          <p:nvPr>
            <p:ph idx="1"/>
          </p:nvPr>
        </p:nvSpPr>
        <p:spPr/>
        <p:txBody>
          <a:bodyPr>
            <a:normAutofit/>
          </a:bodyPr>
          <a:lstStyle/>
          <a:p>
            <a:r>
              <a:rPr lang="en-US" dirty="0" smtClean="0"/>
              <a:t>The arrangement of data in a sequential manner is known as a linear data structure. </a:t>
            </a:r>
          </a:p>
          <a:p>
            <a:r>
              <a:rPr lang="en-US" dirty="0" smtClean="0"/>
              <a:t>The data structures used for this purpose are </a:t>
            </a:r>
            <a:r>
              <a:rPr lang="en-US" b="1" dirty="0" smtClean="0"/>
              <a:t>Arrays, Linked list, Stacks, and Queues.</a:t>
            </a:r>
          </a:p>
          <a:p>
            <a:r>
              <a:rPr lang="en-US" dirty="0" smtClean="0"/>
              <a:t> In these data structures, one element is connected to only one another element in a linear form.</a:t>
            </a:r>
          </a:p>
          <a:p>
            <a:pPr marL="0" indent="0">
              <a:buNone/>
            </a:pPr>
            <a:endParaRPr lang="en-US" dirty="0"/>
          </a:p>
        </p:txBody>
      </p:sp>
    </p:spTree>
    <p:extLst>
      <p:ext uri="{BB962C8B-B14F-4D97-AF65-F5344CB8AC3E}">
        <p14:creationId xmlns:p14="http://schemas.microsoft.com/office/powerpoint/2010/main" val="80572457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a:t>
            </a:r>
            <a:r>
              <a:rPr lang="en-US" b="1" dirty="0" smtClean="0"/>
              <a:t>on-linear data structure</a:t>
            </a:r>
            <a:endParaRPr lang="en-US" dirty="0"/>
          </a:p>
        </p:txBody>
      </p:sp>
      <p:sp>
        <p:nvSpPr>
          <p:cNvPr id="3" name="Content Placeholder 2"/>
          <p:cNvSpPr>
            <a:spLocks noGrp="1"/>
          </p:cNvSpPr>
          <p:nvPr>
            <p:ph idx="1"/>
          </p:nvPr>
        </p:nvSpPr>
        <p:spPr/>
        <p:txBody>
          <a:bodyPr/>
          <a:lstStyle/>
          <a:p>
            <a:r>
              <a:rPr lang="en-US" dirty="0" smtClean="0"/>
              <a:t>When one element is connected to the 'n' number of elements known as a non-linear data structure. </a:t>
            </a:r>
          </a:p>
          <a:p>
            <a:r>
              <a:rPr lang="en-US" dirty="0" smtClean="0"/>
              <a:t>The best example is trees and graphs. In this case, the elements are arranged in a random manner.</a:t>
            </a:r>
          </a:p>
        </p:txBody>
      </p:sp>
    </p:spTree>
    <p:extLst>
      <p:ext uri="{BB962C8B-B14F-4D97-AF65-F5344CB8AC3E}">
        <p14:creationId xmlns:p14="http://schemas.microsoft.com/office/powerpoint/2010/main" val="381463350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a:srcRect t="10722"/>
          <a:stretch/>
        </p:blipFill>
        <p:spPr>
          <a:xfrm>
            <a:off x="603304" y="669702"/>
            <a:ext cx="10805604" cy="5422006"/>
          </a:xfrm>
          <a:prstGeom prst="rect">
            <a:avLst/>
          </a:prstGeom>
        </p:spPr>
      </p:pic>
    </p:spTree>
    <p:extLst>
      <p:ext uri="{BB962C8B-B14F-4D97-AF65-F5344CB8AC3E}">
        <p14:creationId xmlns:p14="http://schemas.microsoft.com/office/powerpoint/2010/main" val="2990483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Data structures can also be classified as</a:t>
            </a:r>
            <a:r>
              <a:rPr lang="en-US" b="1" dirty="0" smtClean="0"/>
              <a:t>:</a:t>
            </a:r>
            <a:endParaRPr lang="en-US" dirty="0"/>
          </a:p>
        </p:txBody>
      </p:sp>
      <p:sp>
        <p:nvSpPr>
          <p:cNvPr id="3" name="Content Placeholder 2"/>
          <p:cNvSpPr>
            <a:spLocks noGrp="1"/>
          </p:cNvSpPr>
          <p:nvPr>
            <p:ph idx="1"/>
          </p:nvPr>
        </p:nvSpPr>
        <p:spPr/>
        <p:txBody>
          <a:bodyPr/>
          <a:lstStyle/>
          <a:p>
            <a:r>
              <a:rPr lang="en-US" b="1" dirty="0" smtClean="0"/>
              <a:t>Static data structure:</a:t>
            </a:r>
            <a:r>
              <a:rPr lang="en-US" dirty="0" smtClean="0"/>
              <a:t> It is a type of data structure where the size is allocated at the compile time. Therefore, the maximum size is fixed.</a:t>
            </a:r>
          </a:p>
          <a:p>
            <a:r>
              <a:rPr lang="en-US" b="1" dirty="0" smtClean="0"/>
              <a:t>Dynamic data structure:</a:t>
            </a:r>
            <a:r>
              <a:rPr lang="en-US" dirty="0" smtClean="0"/>
              <a:t> It is a type of data structure where the size is allocated at the run time. Therefore, the maximum size is flexible.</a:t>
            </a:r>
          </a:p>
          <a:p>
            <a:endParaRPr lang="en-US" dirty="0"/>
          </a:p>
        </p:txBody>
      </p:sp>
    </p:spTree>
    <p:extLst>
      <p:ext uri="{BB962C8B-B14F-4D97-AF65-F5344CB8AC3E}">
        <p14:creationId xmlns:p14="http://schemas.microsoft.com/office/powerpoint/2010/main" val="175055082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Major </a:t>
            </a:r>
            <a:r>
              <a:rPr lang="en-US" b="1" dirty="0" smtClean="0"/>
              <a:t>Operations</a:t>
            </a:r>
            <a:endParaRPr lang="en-US" dirty="0"/>
          </a:p>
        </p:txBody>
      </p:sp>
      <p:sp>
        <p:nvSpPr>
          <p:cNvPr id="3" name="Content Placeholder 2"/>
          <p:cNvSpPr>
            <a:spLocks noGrp="1"/>
          </p:cNvSpPr>
          <p:nvPr>
            <p:ph idx="1"/>
          </p:nvPr>
        </p:nvSpPr>
        <p:spPr>
          <a:xfrm>
            <a:off x="838200" y="1596980"/>
            <a:ext cx="10515600" cy="4579983"/>
          </a:xfrm>
        </p:spPr>
        <p:txBody>
          <a:bodyPr>
            <a:normAutofit/>
          </a:bodyPr>
          <a:lstStyle/>
          <a:p>
            <a:r>
              <a:rPr lang="en-US" dirty="0" smtClean="0"/>
              <a:t>The major or the common operations that can be performed on the data structures are:</a:t>
            </a:r>
          </a:p>
          <a:p>
            <a:r>
              <a:rPr lang="en-US" b="1" dirty="0" smtClean="0"/>
              <a:t>Searching:</a:t>
            </a:r>
            <a:r>
              <a:rPr lang="en-US" dirty="0" smtClean="0"/>
              <a:t> We can search for any element in a data structure.</a:t>
            </a:r>
          </a:p>
          <a:p>
            <a:r>
              <a:rPr lang="en-US" b="1" dirty="0" smtClean="0"/>
              <a:t>Sorting:</a:t>
            </a:r>
            <a:r>
              <a:rPr lang="en-US" dirty="0" smtClean="0"/>
              <a:t> We can sort the elements of a data structure either in an ascending or descending order.</a:t>
            </a:r>
          </a:p>
          <a:p>
            <a:r>
              <a:rPr lang="en-US" b="1" dirty="0" smtClean="0"/>
              <a:t>Insertion:</a:t>
            </a:r>
            <a:r>
              <a:rPr lang="en-US" dirty="0" smtClean="0"/>
              <a:t> We can also insert the new element in a data structure.</a:t>
            </a:r>
          </a:p>
          <a:p>
            <a:r>
              <a:rPr lang="en-US" b="1" dirty="0" smtClean="0"/>
              <a:t>Updating:</a:t>
            </a:r>
            <a:r>
              <a:rPr lang="en-US" dirty="0" smtClean="0"/>
              <a:t> We can also update the element, i.e., we can replace the element with another element.</a:t>
            </a:r>
          </a:p>
          <a:p>
            <a:r>
              <a:rPr lang="en-US" b="1" dirty="0" smtClean="0"/>
              <a:t>Deletion:</a:t>
            </a:r>
            <a:r>
              <a:rPr lang="en-US" dirty="0" smtClean="0"/>
              <a:t> We can also perform the delete operation to remove the element from the data structure.</a:t>
            </a:r>
          </a:p>
          <a:p>
            <a:endParaRPr lang="en-US" dirty="0"/>
          </a:p>
        </p:txBody>
      </p:sp>
    </p:spTree>
    <p:extLst>
      <p:ext uri="{BB962C8B-B14F-4D97-AF65-F5344CB8AC3E}">
        <p14:creationId xmlns:p14="http://schemas.microsoft.com/office/powerpoint/2010/main" val="422488584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Abstract Data Type in Data Structures</a:t>
            </a:r>
            <a:endParaRPr lang="en-US" dirty="0"/>
          </a:p>
        </p:txBody>
      </p:sp>
      <p:sp>
        <p:nvSpPr>
          <p:cNvPr id="3" name="Content Placeholder 2"/>
          <p:cNvSpPr>
            <a:spLocks noGrp="1"/>
          </p:cNvSpPr>
          <p:nvPr>
            <p:ph idx="1"/>
          </p:nvPr>
        </p:nvSpPr>
        <p:spPr/>
        <p:txBody>
          <a:bodyPr>
            <a:normAutofit lnSpcReduction="10000"/>
          </a:bodyPr>
          <a:lstStyle/>
          <a:p>
            <a:r>
              <a:rPr lang="en-US" dirty="0" smtClean="0"/>
              <a:t>The Data Type is basically a type of data that can be used in different computer program. It signifies the type like integer, float </a:t>
            </a:r>
            <a:r>
              <a:rPr lang="en-US" dirty="0" err="1" smtClean="0"/>
              <a:t>etc</a:t>
            </a:r>
            <a:r>
              <a:rPr lang="en-US" dirty="0" smtClean="0"/>
              <a:t>, the space like integer will take 4-bytes, character will take 1-byte of space etc.</a:t>
            </a:r>
          </a:p>
          <a:p>
            <a:r>
              <a:rPr lang="en-US" dirty="0" smtClean="0"/>
              <a:t>The abstract </a:t>
            </a:r>
            <a:r>
              <a:rPr lang="en-US" dirty="0" err="1" smtClean="0"/>
              <a:t>datatype</a:t>
            </a:r>
            <a:r>
              <a:rPr lang="en-US" dirty="0" smtClean="0"/>
              <a:t> is special kind of </a:t>
            </a:r>
            <a:r>
              <a:rPr lang="en-US" dirty="0" err="1" smtClean="0"/>
              <a:t>datatype</a:t>
            </a:r>
            <a:r>
              <a:rPr lang="en-US" dirty="0" smtClean="0"/>
              <a:t>, whose behavior is defined by a set of values and set of operations. </a:t>
            </a:r>
          </a:p>
          <a:p>
            <a:r>
              <a:rPr lang="en-US" dirty="0" smtClean="0"/>
              <a:t>The keyword “Abstract” is used as we can use these </a:t>
            </a:r>
            <a:r>
              <a:rPr lang="en-US" dirty="0" err="1" smtClean="0"/>
              <a:t>datatypes</a:t>
            </a:r>
            <a:r>
              <a:rPr lang="en-US" dirty="0" smtClean="0"/>
              <a:t>, we can perform different operations. </a:t>
            </a:r>
            <a:r>
              <a:rPr lang="en-US" i="1" dirty="0" smtClean="0">
                <a:solidFill>
                  <a:srgbClr val="FF0000"/>
                </a:solidFill>
              </a:rPr>
              <a:t>But how those operations are working that is totally hidden from the user.</a:t>
            </a:r>
            <a:r>
              <a:rPr lang="en-US" dirty="0" smtClean="0"/>
              <a:t> </a:t>
            </a:r>
          </a:p>
          <a:p>
            <a:r>
              <a:rPr lang="en-US" dirty="0" smtClean="0">
                <a:solidFill>
                  <a:srgbClr val="FF0000"/>
                </a:solidFill>
              </a:rPr>
              <a:t>The ADT </a:t>
            </a:r>
            <a:r>
              <a:rPr lang="en-US" dirty="0" smtClean="0"/>
              <a:t>is made of with primitive </a:t>
            </a:r>
            <a:r>
              <a:rPr lang="en-US" dirty="0" err="1" smtClean="0"/>
              <a:t>datatypes</a:t>
            </a:r>
            <a:r>
              <a:rPr lang="en-US" dirty="0" smtClean="0"/>
              <a:t>, but operation logics are hidden.</a:t>
            </a:r>
          </a:p>
          <a:p>
            <a:endParaRPr lang="en-US" dirty="0"/>
          </a:p>
        </p:txBody>
      </p:sp>
    </p:spTree>
    <p:extLst>
      <p:ext uri="{BB962C8B-B14F-4D97-AF65-F5344CB8AC3E}">
        <p14:creationId xmlns:p14="http://schemas.microsoft.com/office/powerpoint/2010/main" val="355808447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p:txBody>
          <a:bodyPr>
            <a:normAutofit lnSpcReduction="10000"/>
          </a:bodyPr>
          <a:lstStyle/>
          <a:p>
            <a:r>
              <a:rPr lang="en-US" b="1" dirty="0">
                <a:solidFill>
                  <a:srgbClr val="FF0000"/>
                </a:solidFill>
              </a:rPr>
              <a:t>An abstract data type (ADT) </a:t>
            </a:r>
            <a:r>
              <a:rPr lang="en-US" dirty="0"/>
              <a:t>is the specification of a data type within some language, independent of an implementation. </a:t>
            </a:r>
            <a:endParaRPr lang="en-US" dirty="0" smtClean="0"/>
          </a:p>
          <a:p>
            <a:r>
              <a:rPr lang="en-US" dirty="0" smtClean="0"/>
              <a:t>The </a:t>
            </a:r>
            <a:r>
              <a:rPr lang="en-US" dirty="0"/>
              <a:t>interface for the ADT is defined in terms of a type and a set of operations on that type. </a:t>
            </a:r>
            <a:endParaRPr lang="en-US" dirty="0" smtClean="0"/>
          </a:p>
          <a:p>
            <a:r>
              <a:rPr lang="en-US" dirty="0" smtClean="0"/>
              <a:t>The </a:t>
            </a:r>
            <a:r>
              <a:rPr lang="en-US" dirty="0"/>
              <a:t>behavior of each operation is determined by its inputs and outputs. </a:t>
            </a:r>
            <a:endParaRPr lang="en-US" dirty="0" smtClean="0"/>
          </a:p>
          <a:p>
            <a:r>
              <a:rPr lang="en-US" dirty="0" smtClean="0"/>
              <a:t>An </a:t>
            </a:r>
            <a:r>
              <a:rPr lang="en-US" dirty="0"/>
              <a:t>ADT does not specify </a:t>
            </a:r>
            <a:r>
              <a:rPr lang="en-US" i="1" dirty="0"/>
              <a:t>how</a:t>
            </a:r>
            <a:r>
              <a:rPr lang="en-US" dirty="0"/>
              <a:t> the data type is implemented. </a:t>
            </a:r>
            <a:endParaRPr lang="en-US" dirty="0" smtClean="0"/>
          </a:p>
          <a:p>
            <a:r>
              <a:rPr lang="en-US" dirty="0" smtClean="0"/>
              <a:t>These </a:t>
            </a:r>
            <a:r>
              <a:rPr lang="en-US" dirty="0"/>
              <a:t>implementation details are hidden from the user of the ADT and protected from outside access, a concept referred to as encapsulation.</a:t>
            </a:r>
          </a:p>
        </p:txBody>
      </p:sp>
    </p:spTree>
    <p:extLst>
      <p:ext uri="{BB962C8B-B14F-4D97-AF65-F5344CB8AC3E}">
        <p14:creationId xmlns:p14="http://schemas.microsoft.com/office/powerpoint/2010/main" val="394285211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a:xfrm>
            <a:off x="838200" y="1532586"/>
            <a:ext cx="10515600" cy="4644377"/>
          </a:xfrm>
        </p:spPr>
        <p:txBody>
          <a:bodyPr/>
          <a:lstStyle/>
          <a:p>
            <a:r>
              <a:rPr lang="en-US" dirty="0">
                <a:solidFill>
                  <a:srgbClr val="FF0000"/>
                </a:solidFill>
              </a:rPr>
              <a:t>An ADT</a:t>
            </a:r>
            <a:r>
              <a:rPr lang="en-US" dirty="0"/>
              <a:t> is a mathematical model of a data structure that specifies the type of </a:t>
            </a:r>
            <a:r>
              <a:rPr lang="en-US" b="1" dirty="0"/>
              <a:t>data</a:t>
            </a:r>
            <a:r>
              <a:rPr lang="en-US" dirty="0"/>
              <a:t> stored, the </a:t>
            </a:r>
            <a:r>
              <a:rPr lang="en-US" b="1" dirty="0"/>
              <a:t>operations</a:t>
            </a:r>
            <a:r>
              <a:rPr lang="en-US" dirty="0"/>
              <a:t> supported on them, and the types of </a:t>
            </a:r>
            <a:r>
              <a:rPr lang="en-US" b="1" dirty="0"/>
              <a:t>parameters of the operations</a:t>
            </a:r>
            <a:r>
              <a:rPr lang="en-US" dirty="0"/>
              <a:t>.  </a:t>
            </a:r>
            <a:endParaRPr lang="en-US" dirty="0" smtClean="0"/>
          </a:p>
          <a:p>
            <a:r>
              <a:rPr lang="en-US" dirty="0" smtClean="0"/>
              <a:t>An </a:t>
            </a:r>
            <a:r>
              <a:rPr lang="en-US" dirty="0"/>
              <a:t>ADT specifies what each operation does, but not how it does it.  </a:t>
            </a:r>
            <a:endParaRPr lang="en-US" dirty="0" smtClean="0"/>
          </a:p>
          <a:p>
            <a:r>
              <a:rPr lang="en-US" dirty="0" smtClean="0"/>
              <a:t>Typically</a:t>
            </a:r>
            <a:r>
              <a:rPr lang="en-US" dirty="0"/>
              <a:t>, an ADT can be implemented using one of many different data structures.  A useful first step in deciding what data structure to use in a program is to specify an ADT for the program.</a:t>
            </a:r>
          </a:p>
        </p:txBody>
      </p:sp>
    </p:spTree>
    <p:extLst>
      <p:ext uri="{BB962C8B-B14F-4D97-AF65-F5344CB8AC3E}">
        <p14:creationId xmlns:p14="http://schemas.microsoft.com/office/powerpoint/2010/main" val="133002477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0774" y="1065771"/>
            <a:ext cx="10515600" cy="4351338"/>
          </a:xfrm>
        </p:spPr>
        <p:txBody>
          <a:bodyPr>
            <a:normAutofit/>
          </a:bodyPr>
          <a:lstStyle/>
          <a:p>
            <a:r>
              <a:rPr lang="en-US" b="1" dirty="0" smtClean="0">
                <a:solidFill>
                  <a:srgbClr val="FF0000"/>
                </a:solidFill>
              </a:rPr>
              <a:t>An ADT </a:t>
            </a:r>
            <a:r>
              <a:rPr lang="en-US" dirty="0" smtClean="0"/>
              <a:t>tells </a:t>
            </a:r>
            <a:r>
              <a:rPr lang="en-US" b="1" dirty="0" smtClean="0"/>
              <a:t>what</a:t>
            </a:r>
            <a:r>
              <a:rPr lang="en-US" dirty="0" smtClean="0"/>
              <a:t> is to be done and data structure tells </a:t>
            </a:r>
            <a:r>
              <a:rPr lang="en-US" b="1" dirty="0" smtClean="0"/>
              <a:t>how</a:t>
            </a:r>
            <a:r>
              <a:rPr lang="en-US" dirty="0" smtClean="0"/>
              <a:t> it is to be done. </a:t>
            </a:r>
          </a:p>
          <a:p>
            <a:r>
              <a:rPr lang="en-US" dirty="0" smtClean="0"/>
              <a:t>In other words, we can say that ADT gives us the blueprint while data structure provides the implementation part. </a:t>
            </a:r>
          </a:p>
          <a:p>
            <a:endParaRPr lang="en-US" dirty="0"/>
          </a:p>
        </p:txBody>
      </p:sp>
    </p:spTree>
    <p:extLst>
      <p:ext uri="{BB962C8B-B14F-4D97-AF65-F5344CB8AC3E}">
        <p14:creationId xmlns:p14="http://schemas.microsoft.com/office/powerpoint/2010/main" val="77271596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Advantages of Data </a:t>
            </a:r>
            <a:r>
              <a:rPr lang="en-US" b="1" dirty="0" smtClean="0"/>
              <a:t>structures/ADT</a:t>
            </a:r>
            <a:endParaRPr lang="en-US" dirty="0"/>
          </a:p>
        </p:txBody>
      </p:sp>
      <p:sp>
        <p:nvSpPr>
          <p:cNvPr id="3" name="Content Placeholder 2"/>
          <p:cNvSpPr>
            <a:spLocks noGrp="1"/>
          </p:cNvSpPr>
          <p:nvPr>
            <p:ph idx="1"/>
          </p:nvPr>
        </p:nvSpPr>
        <p:spPr>
          <a:xfrm>
            <a:off x="838200" y="1571223"/>
            <a:ext cx="10515600" cy="4605740"/>
          </a:xfrm>
        </p:spPr>
        <p:txBody>
          <a:bodyPr>
            <a:normAutofit/>
          </a:bodyPr>
          <a:lstStyle/>
          <a:p>
            <a:r>
              <a:rPr lang="en-US" b="1" dirty="0" smtClean="0"/>
              <a:t>Efficiency:</a:t>
            </a:r>
            <a:r>
              <a:rPr lang="en-US" dirty="0" smtClean="0"/>
              <a:t> If the choice of a data structure for implementing a particular ADT is proper, it makes the program very efficient in terms of time and space.</a:t>
            </a:r>
          </a:p>
          <a:p>
            <a:r>
              <a:rPr lang="en-US" b="1" dirty="0" smtClean="0"/>
              <a:t>Reusability:</a:t>
            </a:r>
            <a:r>
              <a:rPr lang="en-US" dirty="0" smtClean="0"/>
              <a:t> </a:t>
            </a:r>
            <a:r>
              <a:rPr lang="en-US" dirty="0" smtClean="0"/>
              <a:t>the </a:t>
            </a:r>
            <a:r>
              <a:rPr lang="en-US" dirty="0" smtClean="0"/>
              <a:t>data structures provide reusability means that multiple client programs can use the data structure.</a:t>
            </a:r>
          </a:p>
          <a:p>
            <a:r>
              <a:rPr lang="en-US" b="1" dirty="0" smtClean="0"/>
              <a:t>Abstraction:</a:t>
            </a:r>
            <a:r>
              <a:rPr lang="en-US" dirty="0" smtClean="0"/>
              <a:t> The data structure specified by an ADT also provides the level of abstraction. </a:t>
            </a:r>
            <a:endParaRPr lang="en-US" dirty="0" smtClean="0"/>
          </a:p>
          <a:p>
            <a:r>
              <a:rPr lang="en-US" dirty="0" smtClean="0"/>
              <a:t>The </a:t>
            </a:r>
            <a:r>
              <a:rPr lang="en-US" dirty="0" smtClean="0"/>
              <a:t>client cannot see the internal working of the data structure, so it does not have to worry about the implementation part. The client can only see the interface.</a:t>
            </a:r>
          </a:p>
          <a:p>
            <a:endParaRPr lang="en-US" dirty="0"/>
          </a:p>
        </p:txBody>
      </p:sp>
    </p:spTree>
    <p:extLst>
      <p:ext uri="{BB962C8B-B14F-4D97-AF65-F5344CB8AC3E}">
        <p14:creationId xmlns:p14="http://schemas.microsoft.com/office/powerpoint/2010/main" val="158754265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marL="0" indent="0">
              <a:buNone/>
            </a:pPr>
            <a:endParaRPr lang="en-US" dirty="0"/>
          </a:p>
        </p:txBody>
      </p:sp>
    </p:spTree>
    <p:extLst>
      <p:ext uri="{BB962C8B-B14F-4D97-AF65-F5344CB8AC3E}">
        <p14:creationId xmlns:p14="http://schemas.microsoft.com/office/powerpoint/2010/main" val="349005978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202</TotalTime>
  <Words>1821</Words>
  <Application>Microsoft Office PowerPoint</Application>
  <PresentationFormat>Widescreen</PresentationFormat>
  <Paragraphs>107</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Calibri Light</vt:lpstr>
      <vt:lpstr>Office Theme</vt:lpstr>
      <vt:lpstr>Introduction to Data Structures &amp; Algorithms </vt:lpstr>
      <vt:lpstr>What is Data Structure?</vt:lpstr>
      <vt:lpstr>Cont…</vt:lpstr>
      <vt:lpstr>Data Structure</vt:lpstr>
      <vt:lpstr>Basic Terminology</vt:lpstr>
      <vt:lpstr>PowerPoint Presentation</vt:lpstr>
      <vt:lpstr>PowerPoint Presentation</vt:lpstr>
      <vt:lpstr>Operations on data structure</vt:lpstr>
      <vt:lpstr>Cont…</vt:lpstr>
      <vt:lpstr>Need of Data Structures</vt:lpstr>
      <vt:lpstr>Types of Data Structures</vt:lpstr>
      <vt:lpstr>Primitive Data structure</vt:lpstr>
      <vt:lpstr>Linear Data Structure</vt:lpstr>
      <vt:lpstr>Non-linear data structure</vt:lpstr>
      <vt:lpstr>PowerPoint Presentation</vt:lpstr>
      <vt:lpstr>Data structures can also be classified as:</vt:lpstr>
      <vt:lpstr>Major Operations</vt:lpstr>
      <vt:lpstr>Abstract Data Type in Data Structures</vt:lpstr>
      <vt:lpstr>Cont…</vt:lpstr>
      <vt:lpstr>Cont..</vt:lpstr>
      <vt:lpstr>PowerPoint Presentation</vt:lpstr>
      <vt:lpstr>Advantages of Data structures/ADT</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DSA</dc:title>
  <dc:creator>smile mag</dc:creator>
  <cp:lastModifiedBy>smile mag</cp:lastModifiedBy>
  <cp:revision>28</cp:revision>
  <dcterms:created xsi:type="dcterms:W3CDTF">2021-05-20T03:38:40Z</dcterms:created>
  <dcterms:modified xsi:type="dcterms:W3CDTF">2021-05-21T03:11:31Z</dcterms:modified>
</cp:coreProperties>
</file>