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308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9" r:id="rId53"/>
    <p:sldId id="310" r:id="rId54"/>
    <p:sldId id="311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1890"/>
    </p:cViewPr>
  </p:sorterViewPr>
  <p:notesViewPr>
    <p:cSldViewPr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79E02-87E3-4A57-BEF9-92D379B8CD0A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D86F4-7EA3-4888-A43B-C6E8E9D2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8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D86F4-7EA3-4888-A43B-C6E8E9D23C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29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9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0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7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9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4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83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0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8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5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28513-A2B5-4796-B685-0F133DC7EC53}" type="datetimeFigureOut">
              <a:rPr lang="en-US" smtClean="0"/>
              <a:t>11/17/2021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D1C7E-90AF-4696-BEFD-923CC6A4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1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Tree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B.Sc. CSIT 3rd Semester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49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/>
          </a:bodyPr>
          <a:lstStyle/>
          <a:p>
            <a:pPr algn="l"/>
            <a:r>
              <a:rPr lang="en-US" sz="4000" b="1" i="1" dirty="0">
                <a:solidFill>
                  <a:srgbClr val="FF0000"/>
                </a:solidFill>
              </a:rPr>
              <a:t>Tree data structure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5410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a) Concept </a:t>
            </a:r>
            <a:r>
              <a:rPr lang="en-US" dirty="0"/>
              <a:t>and definition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</a:t>
            </a:r>
            <a:r>
              <a:rPr lang="en-US" dirty="0"/>
              <a:t>) Binary tree</a:t>
            </a:r>
          </a:p>
          <a:p>
            <a:pPr marL="0" indent="0">
              <a:buNone/>
            </a:pPr>
            <a:r>
              <a:rPr lang="en-US" dirty="0"/>
              <a:t>c) Introduction and application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</a:t>
            </a:r>
            <a:r>
              <a:rPr lang="en-US" dirty="0"/>
              <a:t>) operations</a:t>
            </a:r>
          </a:p>
          <a:p>
            <a:pPr marL="0" indent="0">
              <a:buNone/>
            </a:pPr>
            <a:r>
              <a:rPr lang="en-US" dirty="0"/>
              <a:t>e) Types of binary </a:t>
            </a:r>
            <a:r>
              <a:rPr lang="en-US" dirty="0" smtClean="0"/>
              <a:t>tree</a:t>
            </a:r>
            <a:r>
              <a:rPr lang="en-US" dirty="0"/>
              <a:t> </a:t>
            </a:r>
          </a:p>
          <a:p>
            <a:pPr marL="457200" lvl="1" indent="0">
              <a:buNone/>
            </a:pPr>
            <a:r>
              <a:rPr lang="en-US" dirty="0"/>
              <a:t>✔ Complete binary tree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✔ </a:t>
            </a:r>
            <a:r>
              <a:rPr lang="en-US" dirty="0"/>
              <a:t>Strictly binary </a:t>
            </a:r>
            <a:r>
              <a:rPr lang="en-US" dirty="0" smtClean="0"/>
              <a:t>tree</a:t>
            </a:r>
          </a:p>
          <a:p>
            <a:pPr marL="457200" lvl="1" indent="0">
              <a:buNone/>
            </a:pPr>
            <a:r>
              <a:rPr lang="en-US" dirty="0" smtClean="0"/>
              <a:t>✔ </a:t>
            </a:r>
            <a:r>
              <a:rPr lang="en-US" dirty="0"/>
              <a:t>Almost complete binary tree </a:t>
            </a:r>
          </a:p>
          <a:p>
            <a:pPr marL="0" indent="0">
              <a:buNone/>
            </a:pPr>
            <a:r>
              <a:rPr lang="en-US" dirty="0" smtClean="0"/>
              <a:t>g</a:t>
            </a:r>
            <a:r>
              <a:rPr lang="en-US" dirty="0"/>
              <a:t>) Binary search tree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✔ </a:t>
            </a:r>
            <a:r>
              <a:rPr lang="en-US" dirty="0"/>
              <a:t>insertion</a:t>
            </a:r>
          </a:p>
          <a:p>
            <a:pPr marL="0" indent="0">
              <a:buNone/>
            </a:pPr>
            <a:r>
              <a:rPr lang="en-US" dirty="0" smtClean="0"/>
              <a:t>	✔ </a:t>
            </a:r>
            <a:r>
              <a:rPr lang="en-US" dirty="0"/>
              <a:t>deletion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✔ </a:t>
            </a:r>
            <a:r>
              <a:rPr lang="en-US" dirty="0"/>
              <a:t>searching</a:t>
            </a:r>
          </a:p>
          <a:p>
            <a:pPr marL="0" indent="0">
              <a:buNone/>
            </a:pPr>
            <a:r>
              <a:rPr lang="en-US" dirty="0"/>
              <a:t>h) Tree </a:t>
            </a:r>
            <a:r>
              <a:rPr lang="en-US" dirty="0" smtClean="0"/>
              <a:t>traversal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smtClean="0"/>
              <a:t>	✔ </a:t>
            </a:r>
            <a:r>
              <a:rPr lang="en-US" dirty="0"/>
              <a:t>Pre-order traversal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✔ </a:t>
            </a:r>
            <a:r>
              <a:rPr lang="en-US" dirty="0"/>
              <a:t>In-order traversal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✔ </a:t>
            </a:r>
            <a:r>
              <a:rPr lang="en-US" dirty="0"/>
              <a:t>post-order traversal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3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Tree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1"/>
            <a:ext cx="8229600" cy="50593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computer science, a tree is an abstract model of a hierarchical structure.</a:t>
            </a:r>
          </a:p>
          <a:p>
            <a:pPr lvl="0"/>
            <a:r>
              <a:rPr lang="en-US" dirty="0"/>
              <a:t>It is used to represent a hierarchical relationship existing among several data items.</a:t>
            </a:r>
          </a:p>
          <a:p>
            <a:pPr lvl="0"/>
            <a:r>
              <a:rPr lang="en-US" dirty="0"/>
              <a:t>A tree consists of nodes with a </a:t>
            </a:r>
            <a:r>
              <a:rPr lang="en-US" dirty="0">
                <a:solidFill>
                  <a:srgbClr val="FF0000"/>
                </a:solidFill>
              </a:rPr>
              <a:t>parent-child relationship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It is a </a:t>
            </a:r>
            <a:r>
              <a:rPr lang="en-US" dirty="0">
                <a:solidFill>
                  <a:srgbClr val="FF0000"/>
                </a:solidFill>
              </a:rPr>
              <a:t>non-linear</a:t>
            </a:r>
            <a:r>
              <a:rPr lang="en-US" dirty="0"/>
              <a:t> data structure.</a:t>
            </a:r>
          </a:p>
          <a:p>
            <a:pPr lvl="0"/>
            <a:r>
              <a:rPr lang="en-US" dirty="0"/>
              <a:t>Searching as fast as </a:t>
            </a:r>
            <a:r>
              <a:rPr lang="en-US" dirty="0">
                <a:solidFill>
                  <a:srgbClr val="FF0000"/>
                </a:solidFill>
              </a:rPr>
              <a:t>in ordered array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Insertion and deletion </a:t>
            </a:r>
            <a:r>
              <a:rPr lang="en-US" dirty="0">
                <a:solidFill>
                  <a:srgbClr val="FF0000"/>
                </a:solidFill>
              </a:rPr>
              <a:t>as fast as in linked list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18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is a sequence of </a:t>
            </a:r>
            <a:r>
              <a:rPr lang="en-US" dirty="0" smtClean="0"/>
              <a:t>nodes.</a:t>
            </a:r>
          </a:p>
          <a:p>
            <a:r>
              <a:rPr lang="en-US" dirty="0" smtClean="0"/>
              <a:t>There </a:t>
            </a:r>
            <a:r>
              <a:rPr lang="en-US" dirty="0"/>
              <a:t>is a starting node known as root node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r>
              <a:rPr lang="en-US" dirty="0" smtClean="0"/>
              <a:t>Every </a:t>
            </a:r>
            <a:r>
              <a:rPr lang="en-US" dirty="0"/>
              <a:t>node other than the </a:t>
            </a:r>
            <a:r>
              <a:rPr lang="en-US" dirty="0">
                <a:solidFill>
                  <a:srgbClr val="FF0000"/>
                </a:solidFill>
              </a:rPr>
              <a:t>root</a:t>
            </a:r>
            <a:r>
              <a:rPr lang="en-US" dirty="0"/>
              <a:t> has a parent node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r>
              <a:rPr lang="en-US" dirty="0" smtClean="0"/>
              <a:t>Nodes </a:t>
            </a:r>
            <a:r>
              <a:rPr lang="en-US" dirty="0"/>
              <a:t>may have any number of children.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9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58602"/>
            <a:ext cx="4321870" cy="2684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00201"/>
            <a:ext cx="3810000" cy="34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88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Graph theoretic definition of a Tree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4983163"/>
          </a:xfrm>
        </p:spPr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is a finite set of one or more data items (nodes) such that</a:t>
            </a:r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There is a special data item called the root of the tree</a:t>
            </a:r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Its remaining data items are partitioned into number of </a:t>
            </a:r>
            <a:r>
              <a:rPr lang="en-US" dirty="0">
                <a:solidFill>
                  <a:srgbClr val="FF0000"/>
                </a:solidFill>
              </a:rPr>
              <a:t>disjoint subsets</a:t>
            </a:r>
            <a:r>
              <a:rPr lang="en-US" dirty="0"/>
              <a:t>, each of which is itself a tree again, called </a:t>
            </a:r>
            <a:r>
              <a:rPr lang="en-US" dirty="0" err="1">
                <a:solidFill>
                  <a:srgbClr val="FF0000"/>
                </a:solidFill>
              </a:rPr>
              <a:t>subtrees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65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Recursive definition of tree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tree t of order n is either empty or consists of a distinguished node r, called the root of T, together with at most n trees, T1, T2, …........,</a:t>
            </a:r>
            <a:r>
              <a:rPr lang="en-US" dirty="0" err="1"/>
              <a:t>Tn</a:t>
            </a:r>
            <a:r>
              <a:rPr lang="en-US" dirty="0"/>
              <a:t> called the sub trees of 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9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Characteristics of trees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371601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✔ Non-linear </a:t>
            </a:r>
            <a:r>
              <a:rPr lang="en-US" dirty="0"/>
              <a:t>data </a:t>
            </a:r>
            <a:r>
              <a:rPr lang="en-US" dirty="0" smtClean="0"/>
              <a:t>structure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✔ combines </a:t>
            </a:r>
            <a:r>
              <a:rPr lang="en-US" dirty="0"/>
              <a:t>advantages of an ordered array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searching </a:t>
            </a:r>
            <a:r>
              <a:rPr lang="en-US" dirty="0"/>
              <a:t>as fast as in ordered array</a:t>
            </a:r>
          </a:p>
          <a:p>
            <a:pPr marL="0" indent="0">
              <a:buNone/>
            </a:pPr>
            <a:r>
              <a:rPr lang="en-US" dirty="0" smtClean="0"/>
              <a:t>✔ insertion </a:t>
            </a:r>
            <a:r>
              <a:rPr lang="en-US" dirty="0"/>
              <a:t>and deletion as fast as in linked </a:t>
            </a:r>
            <a:r>
              <a:rPr lang="en-US" dirty="0" smtClean="0"/>
              <a:t>list</a:t>
            </a:r>
            <a:r>
              <a:rPr lang="en-US" dirty="0"/>
              <a:t> 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u="sng" dirty="0" smtClean="0">
                <a:solidFill>
                  <a:srgbClr val="FF0000"/>
                </a:solidFill>
              </a:rPr>
              <a:t>Application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✔ Directory </a:t>
            </a:r>
            <a:r>
              <a:rPr lang="en-US" dirty="0"/>
              <a:t>structure of a file store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Structure </a:t>
            </a:r>
            <a:r>
              <a:rPr lang="en-US" dirty="0"/>
              <a:t>of arithmetic expressions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Hierarchy </a:t>
            </a:r>
            <a:r>
              <a:rPr lang="en-US" dirty="0"/>
              <a:t>of an organization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68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Some key terms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06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i="1" u="sng" dirty="0" smtClean="0">
                <a:solidFill>
                  <a:srgbClr val="FF0000"/>
                </a:solidFill>
              </a:rPr>
              <a:t>Degree </a:t>
            </a:r>
            <a:r>
              <a:rPr lang="en-US" b="1" i="1" u="sng" dirty="0">
                <a:solidFill>
                  <a:srgbClr val="FF0000"/>
                </a:solidFill>
              </a:rPr>
              <a:t>of a node: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The degree of a node is the number of children of that node. In above tree the degree of node A is 3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i="1" u="sng" dirty="0">
                <a:solidFill>
                  <a:srgbClr val="FF0000"/>
                </a:solidFill>
              </a:rPr>
              <a:t>Degree of a Tree: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The degree of a tree is the maximum degree of nodes in a given tree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r>
              <a:rPr lang="en-US" dirty="0"/>
              <a:t>In the above tree the node A has maximum degree, thus the degree of the tree is 3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FF0000"/>
                </a:solidFill>
              </a:rPr>
              <a:t>Path: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It is the sequence of consecutive edges from source node to destination node. There is a single unique path from the root to any node.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9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1"/>
            <a:ext cx="8229600" cy="5516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u="sng" dirty="0"/>
              <a:t>Height of a node:</a:t>
            </a:r>
            <a:endParaRPr lang="en-US" dirty="0"/>
          </a:p>
          <a:p>
            <a:r>
              <a:rPr lang="en-US" dirty="0"/>
              <a:t>The height of a node is the maximum path length from that node to a leaf node. A leaf node has a height of 0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Height of a tree:</a:t>
            </a:r>
            <a:endParaRPr lang="en-US" dirty="0"/>
          </a:p>
          <a:p>
            <a:r>
              <a:rPr lang="en-US" dirty="0"/>
              <a:t>The height of a tree is the height of the root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sng" dirty="0"/>
              <a:t>Depth of a node:</a:t>
            </a:r>
            <a:endParaRPr lang="en-US" dirty="0"/>
          </a:p>
          <a:p>
            <a:r>
              <a:rPr lang="en-US" dirty="0"/>
              <a:t>Depth of a node is the path length from the root to that node. The root node has a depth of 0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sng" dirty="0"/>
              <a:t>Depth of a tree:</a:t>
            </a:r>
            <a:endParaRPr lang="en-US" dirty="0"/>
          </a:p>
          <a:p>
            <a:r>
              <a:rPr lang="en-US" dirty="0"/>
              <a:t>Depth of a tree is the maximum level of any leaf in the tree. This is equal to the longest path from the root to any leaf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sng" dirty="0"/>
              <a:t>Level of a node:</a:t>
            </a:r>
            <a:endParaRPr lang="en-US" dirty="0"/>
          </a:p>
          <a:p>
            <a:r>
              <a:rPr lang="en-US" dirty="0"/>
              <a:t>the level of a node is 0, if it is root; otherwise it is one more then its parent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03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Illustration: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857" y="1242344"/>
            <a:ext cx="7267617" cy="3329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14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is the root </a:t>
            </a:r>
            <a:r>
              <a:rPr lang="en-US" dirty="0" smtClean="0"/>
              <a:t>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✔ B is the parent of E and F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D is the sibling of B and C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E and F are children of B</a:t>
            </a:r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E, F, G, D are external nodes or leaves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A, B, C are internal nodes</a:t>
            </a:r>
          </a:p>
          <a:p>
            <a:pPr marL="0" indent="0">
              <a:buNone/>
            </a:pPr>
            <a:r>
              <a:rPr lang="en-US" dirty="0"/>
              <a:t>✔ Depth of F is </a:t>
            </a:r>
            <a:r>
              <a:rPr lang="en-US" dirty="0" smtClean="0"/>
              <a:t>2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✔ the height of tree is </a:t>
            </a:r>
            <a:r>
              <a:rPr lang="en-US" dirty="0" smtClean="0"/>
              <a:t>2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✔ the degree of node A is 3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The degree of tree is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02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Binary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binary tree is a finite set of data items which is either empty or consists of a single item called the root and the two disjoint binary trees called the </a:t>
            </a:r>
            <a:r>
              <a:rPr lang="en-US" b="1" dirty="0"/>
              <a:t>left </a:t>
            </a:r>
            <a:r>
              <a:rPr lang="en-US" b="1" dirty="0" err="1"/>
              <a:t>subtree</a:t>
            </a:r>
            <a:r>
              <a:rPr lang="en-US" dirty="0"/>
              <a:t> and </a:t>
            </a:r>
            <a:r>
              <a:rPr lang="en-US" b="1" dirty="0"/>
              <a:t>right </a:t>
            </a:r>
            <a:r>
              <a:rPr lang="en-US" b="1" dirty="0" err="1"/>
              <a:t>subtree</a:t>
            </a:r>
            <a:r>
              <a:rPr lang="en-US" b="1" dirty="0"/>
              <a:t>. </a:t>
            </a:r>
            <a:r>
              <a:rPr lang="en-US" dirty="0"/>
              <a:t>In a binary tree the maximum degree of any node is </a:t>
            </a:r>
            <a:r>
              <a:rPr lang="en-US" b="1" dirty="0"/>
              <a:t>at most two.</a:t>
            </a:r>
            <a:r>
              <a:rPr lang="en-US" dirty="0"/>
              <a:t> That means, there may be a zero degree node (usually an empty tree) or one degree node or two degree node.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13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Some properties of a binary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Number </a:t>
            </a:r>
            <a:r>
              <a:rPr lang="en-US" dirty="0"/>
              <a:t>of external nodes ≤ number of internal nodes + 1</a:t>
            </a:r>
          </a:p>
          <a:p>
            <a:pPr lvl="0"/>
            <a:r>
              <a:rPr lang="en-US" dirty="0"/>
              <a:t>Number of nodes at level i  ≤ 2</a:t>
            </a:r>
            <a:r>
              <a:rPr lang="en-US" baseline="30000" dirty="0"/>
              <a:t>i</a:t>
            </a:r>
          </a:p>
          <a:p>
            <a:pPr lvl="0"/>
            <a:r>
              <a:rPr lang="en-US" dirty="0"/>
              <a:t>Number of external nodes ≤ </a:t>
            </a:r>
            <a:r>
              <a:rPr lang="en-US" dirty="0" smtClean="0"/>
              <a:t>2 </a:t>
            </a:r>
            <a:r>
              <a:rPr lang="en-US" baseline="30000" dirty="0" smtClean="0"/>
              <a:t>height</a:t>
            </a:r>
            <a:endParaRPr lang="en-US" dirty="0"/>
          </a:p>
          <a:p>
            <a:pPr marL="0" lvl="0" indent="0">
              <a:buNone/>
            </a:pPr>
            <a:r>
              <a:rPr lang="en-US" i="1" dirty="0" smtClean="0"/>
              <a:t>(Here</a:t>
            </a:r>
            <a:r>
              <a:rPr lang="en-US" i="1" dirty="0"/>
              <a:t>, height means height of the tree)</a:t>
            </a:r>
          </a:p>
          <a:p>
            <a:pPr lvl="0"/>
            <a:r>
              <a:rPr lang="en-US" dirty="0"/>
              <a:t>Number of nodes in a tree ≤ 2</a:t>
            </a:r>
            <a:r>
              <a:rPr lang="en-US" baseline="30000" dirty="0"/>
              <a:t>height+1</a:t>
            </a:r>
            <a:r>
              <a:rPr lang="en-US" dirty="0"/>
              <a:t>-1 </a:t>
            </a:r>
            <a:endParaRPr lang="en-US" dirty="0" smtClean="0"/>
          </a:p>
          <a:p>
            <a:pPr marL="0" lvl="0" indent="0">
              <a:buNone/>
            </a:pPr>
            <a:r>
              <a:rPr lang="en-US" i="1" dirty="0" smtClean="0"/>
              <a:t>Here</a:t>
            </a:r>
            <a:r>
              <a:rPr lang="en-US" i="1" dirty="0"/>
              <a:t>, height means height of the tree</a:t>
            </a:r>
            <a:r>
              <a:rPr lang="en-US" i="1" dirty="0" smtClean="0"/>
              <a:t>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4003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24001"/>
            <a:ext cx="6248400" cy="4175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904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784" y="1600200"/>
            <a:ext cx="7114059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498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042" y="1600200"/>
            <a:ext cx="729435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48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Types of binary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Complete binary tree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Strictly binary tree</a:t>
            </a:r>
          </a:p>
          <a:p>
            <a:pPr marL="0" indent="0">
              <a:buNone/>
            </a:pPr>
            <a:r>
              <a:rPr lang="en-US" dirty="0"/>
              <a:t>✔ Almost complete binary tree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5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09601"/>
            <a:ext cx="8229600" cy="5516563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Strictly binary tree:</a:t>
            </a:r>
            <a:endParaRPr lang="en-US" dirty="0"/>
          </a:p>
          <a:p>
            <a:r>
              <a:rPr lang="en-US" dirty="0"/>
              <a:t>If every non-leaf node in a binary tree has nonempty left and right sub-trees, then such a tree is called a </a:t>
            </a:r>
            <a:r>
              <a:rPr lang="en-US" b="1" i="1" dirty="0"/>
              <a:t>strictly</a:t>
            </a:r>
            <a:r>
              <a:rPr lang="en-US" dirty="0"/>
              <a:t> </a:t>
            </a:r>
            <a:r>
              <a:rPr lang="en-US" b="1" i="1" dirty="0"/>
              <a:t>binary</a:t>
            </a:r>
            <a:r>
              <a:rPr lang="en-US" dirty="0"/>
              <a:t> </a:t>
            </a:r>
            <a:r>
              <a:rPr lang="en-US" b="1" i="1" dirty="0"/>
              <a:t>tree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2667000"/>
            <a:ext cx="5613827" cy="297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077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457200"/>
            <a:ext cx="8229600" cy="59436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Complete binary tree</a:t>
            </a:r>
            <a:r>
              <a:rPr lang="en-US" b="1" u="sng" dirty="0" smtClean="0"/>
              <a:t>:</a:t>
            </a:r>
          </a:p>
          <a:p>
            <a:r>
              <a:rPr lang="en-US" sz="2400" dirty="0"/>
              <a:t>A </a:t>
            </a:r>
            <a:r>
              <a:rPr lang="en-US" sz="2400" b="1" i="1" dirty="0"/>
              <a:t>complete</a:t>
            </a:r>
            <a:r>
              <a:rPr lang="en-US" sz="2400" dirty="0"/>
              <a:t> </a:t>
            </a:r>
            <a:r>
              <a:rPr lang="en-US" sz="2400" b="1" i="1" dirty="0"/>
              <a:t>binary</a:t>
            </a:r>
            <a:r>
              <a:rPr lang="en-US" sz="2400" dirty="0"/>
              <a:t> </a:t>
            </a:r>
            <a:r>
              <a:rPr lang="en-US" sz="2400" b="1" i="1" dirty="0"/>
              <a:t>tree</a:t>
            </a:r>
            <a:r>
              <a:rPr lang="en-US" sz="2400" dirty="0"/>
              <a:t> of depth d is called strictly binary tree if all of whose leaves are at level </a:t>
            </a:r>
            <a:r>
              <a:rPr lang="en-US" sz="2400" b="1" dirty="0"/>
              <a:t>d</a:t>
            </a:r>
            <a:r>
              <a:rPr lang="en-US" sz="2400" dirty="0"/>
              <a:t>. </a:t>
            </a:r>
          </a:p>
          <a:p>
            <a:r>
              <a:rPr lang="en-US" sz="2400" dirty="0"/>
              <a:t>A complete binary tree with depth </a:t>
            </a:r>
            <a:r>
              <a:rPr lang="en-US" sz="2400" b="1" dirty="0"/>
              <a:t>d</a:t>
            </a:r>
            <a:r>
              <a:rPr lang="en-US" sz="2400" dirty="0"/>
              <a:t> has </a:t>
            </a:r>
            <a:r>
              <a:rPr lang="en-US" sz="2400" b="1" dirty="0"/>
              <a:t>2</a:t>
            </a:r>
            <a:r>
              <a:rPr lang="en-US" sz="2400" b="1" baseline="30000" dirty="0"/>
              <a:t>d</a:t>
            </a:r>
            <a:r>
              <a:rPr lang="en-US" sz="2400" dirty="0"/>
              <a:t> leaves and </a:t>
            </a:r>
            <a:r>
              <a:rPr lang="en-US" sz="2400" b="1" dirty="0"/>
              <a:t>2</a:t>
            </a:r>
            <a:r>
              <a:rPr lang="en-US" sz="2400" b="1" baseline="30000" dirty="0"/>
              <a:t>d</a:t>
            </a:r>
            <a:r>
              <a:rPr lang="en-US" sz="2400" dirty="0"/>
              <a:t> </a:t>
            </a:r>
            <a:r>
              <a:rPr lang="en-US" sz="2400" b="1" dirty="0"/>
              <a:t>-1</a:t>
            </a:r>
            <a:r>
              <a:rPr lang="en-US" sz="2400" dirty="0"/>
              <a:t> non-leaf nodes(internal)</a:t>
            </a:r>
          </a:p>
          <a:p>
            <a:r>
              <a:rPr lang="en-US" sz="2400" dirty="0"/>
              <a:t>External nodes(leaf node)=No. of internal nodes+1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214084"/>
            <a:ext cx="5562600" cy="2881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909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Almost complete binary </a:t>
            </a:r>
            <a:r>
              <a:rPr lang="en-US" b="1" dirty="0" smtClean="0">
                <a:solidFill>
                  <a:srgbClr val="FF0000"/>
                </a:solidFill>
              </a:rPr>
              <a:t>tree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binary tree of depth </a:t>
            </a:r>
            <a:r>
              <a:rPr lang="en-US" b="1" dirty="0"/>
              <a:t>d</a:t>
            </a:r>
            <a:r>
              <a:rPr lang="en-US" dirty="0"/>
              <a:t> is an almost complete binary tree if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✔ Any node </a:t>
            </a:r>
            <a:r>
              <a:rPr lang="en-US" b="1" dirty="0" err="1" smtClean="0"/>
              <a:t>nd</a:t>
            </a:r>
            <a:r>
              <a:rPr lang="en-US" dirty="0" smtClean="0"/>
              <a:t> </a:t>
            </a:r>
            <a:r>
              <a:rPr lang="en-US" dirty="0"/>
              <a:t>at level less than </a:t>
            </a:r>
            <a:r>
              <a:rPr lang="en-US" b="1" dirty="0"/>
              <a:t>d-1</a:t>
            </a:r>
            <a:r>
              <a:rPr lang="en-US" dirty="0"/>
              <a:t> has two sons.</a:t>
            </a:r>
          </a:p>
          <a:p>
            <a:pPr marL="0" indent="0">
              <a:buNone/>
            </a:pPr>
            <a:r>
              <a:rPr lang="en-US" dirty="0"/>
              <a:t>✔ For any </a:t>
            </a:r>
            <a:r>
              <a:rPr lang="en-US" dirty="0" smtClean="0"/>
              <a:t>node </a:t>
            </a:r>
            <a:r>
              <a:rPr lang="en-US" b="1" dirty="0" err="1" smtClean="0"/>
              <a:t>nd</a:t>
            </a:r>
            <a:r>
              <a:rPr lang="en-US" dirty="0" smtClean="0"/>
              <a:t> </a:t>
            </a:r>
            <a:r>
              <a:rPr lang="en-US" dirty="0"/>
              <a:t>in the tree with a right descendant at level </a:t>
            </a:r>
            <a:r>
              <a:rPr lang="en-US" b="1" dirty="0"/>
              <a:t>d,</a:t>
            </a:r>
            <a:r>
              <a:rPr lang="en-US" dirty="0"/>
              <a:t> </a:t>
            </a:r>
            <a:r>
              <a:rPr lang="en-US" b="1" dirty="0" err="1"/>
              <a:t>nd</a:t>
            </a:r>
            <a:r>
              <a:rPr lang="en-US" dirty="0"/>
              <a:t> must have a left son and every left descendant of </a:t>
            </a:r>
            <a:r>
              <a:rPr lang="en-US" b="1" dirty="0" err="1"/>
              <a:t>nd</a:t>
            </a:r>
            <a:r>
              <a:rPr lang="en-US" dirty="0"/>
              <a:t> is either a leaf at level </a:t>
            </a:r>
            <a:r>
              <a:rPr lang="en-US" b="1" dirty="0"/>
              <a:t>d</a:t>
            </a:r>
            <a:r>
              <a:rPr lang="en-US" dirty="0"/>
              <a:t> or has two sons.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02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80634"/>
            <a:ext cx="5715000" cy="3201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362200" y="5068670"/>
            <a:ext cx="762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Fig. Almost complete binary tree but not strictly binary tree. Since node E has a left son but not a right son.</a:t>
            </a:r>
          </a:p>
        </p:txBody>
      </p:sp>
    </p:spTree>
    <p:extLst>
      <p:ext uri="{BB962C8B-B14F-4D97-AF65-F5344CB8AC3E}">
        <p14:creationId xmlns:p14="http://schemas.microsoft.com/office/powerpoint/2010/main" val="371320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Operations on Binary </a:t>
            </a:r>
            <a:r>
              <a:rPr lang="en-US" dirty="0" smtClean="0"/>
              <a:t>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0"/>
            <a:ext cx="8229600" cy="5334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father(</a:t>
            </a:r>
            <a:r>
              <a:rPr lang="en-US" b="1" dirty="0" err="1" smtClean="0"/>
              <a:t>n,T</a:t>
            </a:r>
            <a:r>
              <a:rPr lang="en-US" b="1" dirty="0" smtClean="0"/>
              <a:t>):</a:t>
            </a:r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the parent node of the node n in tree T. If n is the root, NULL is returned.</a:t>
            </a:r>
          </a:p>
          <a:p>
            <a:pPr marL="0" indent="0">
              <a:buNone/>
            </a:pPr>
            <a:r>
              <a:rPr lang="en-US" b="1" dirty="0" err="1" smtClean="0"/>
              <a:t>LeftChild</a:t>
            </a:r>
            <a:r>
              <a:rPr lang="en-US" b="1" dirty="0" smtClean="0"/>
              <a:t>(</a:t>
            </a:r>
            <a:r>
              <a:rPr lang="en-US" b="1" dirty="0" err="1" smtClean="0"/>
              <a:t>n,T</a:t>
            </a:r>
            <a:r>
              <a:rPr lang="en-US" b="1" dirty="0" smtClean="0"/>
              <a:t>):</a:t>
            </a:r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the left child of node n in tree T. Return NULL if n does not have a left child.</a:t>
            </a:r>
          </a:p>
          <a:p>
            <a:pPr marL="0" indent="0">
              <a:buNone/>
            </a:pPr>
            <a:r>
              <a:rPr lang="en-US" b="1" dirty="0" err="1" smtClean="0"/>
              <a:t>RightChild</a:t>
            </a:r>
            <a:r>
              <a:rPr lang="en-US" b="1" dirty="0" smtClean="0"/>
              <a:t>(</a:t>
            </a:r>
            <a:r>
              <a:rPr lang="en-US" b="1" dirty="0" err="1" smtClean="0"/>
              <a:t>n,T</a:t>
            </a:r>
            <a:r>
              <a:rPr lang="en-US" b="1" dirty="0" smtClean="0"/>
              <a:t>)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the right child of node n in tree T. Return NULL if n does not have a right child.</a:t>
            </a:r>
          </a:p>
          <a:p>
            <a:pPr marL="0" indent="0">
              <a:buNone/>
            </a:pPr>
            <a:r>
              <a:rPr lang="en-US" b="1" dirty="0" smtClean="0"/>
              <a:t>Info(</a:t>
            </a:r>
            <a:r>
              <a:rPr lang="en-US" b="1" dirty="0" err="1" smtClean="0"/>
              <a:t>n,T</a:t>
            </a:r>
            <a:r>
              <a:rPr lang="en-US" b="1" dirty="0"/>
              <a:t>):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information stored in node n of tree T (</a:t>
            </a:r>
            <a:r>
              <a:rPr lang="en-US" dirty="0" err="1"/>
              <a:t>ie</a:t>
            </a:r>
            <a:r>
              <a:rPr lang="en-US" dirty="0"/>
              <a:t>. Content of a node).</a:t>
            </a:r>
          </a:p>
          <a:p>
            <a:pPr marL="0" indent="0">
              <a:buNone/>
            </a:pPr>
            <a:r>
              <a:rPr lang="en-US" b="1" dirty="0" smtClean="0"/>
              <a:t>Sibling(</a:t>
            </a:r>
            <a:r>
              <a:rPr lang="en-US" b="1" dirty="0" err="1" smtClean="0"/>
              <a:t>n,T</a:t>
            </a:r>
            <a:r>
              <a:rPr lang="en-US" b="1" dirty="0"/>
              <a:t>):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return </a:t>
            </a:r>
            <a:r>
              <a:rPr lang="en-US" dirty="0"/>
              <a:t>the sibling node of node </a:t>
            </a:r>
            <a:r>
              <a:rPr lang="en-US" b="1" dirty="0"/>
              <a:t>n</a:t>
            </a:r>
            <a:r>
              <a:rPr lang="en-US" dirty="0"/>
              <a:t> in tree T. Return NULL if n has no sibling.</a:t>
            </a:r>
          </a:p>
        </p:txBody>
      </p:sp>
    </p:spTree>
    <p:extLst>
      <p:ext uri="{BB962C8B-B14F-4D97-AF65-F5344CB8AC3E}">
        <p14:creationId xmlns:p14="http://schemas.microsoft.com/office/powerpoint/2010/main" val="118788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1"/>
            <a:ext cx="8382000" cy="51355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Root(T):</a:t>
            </a:r>
            <a:r>
              <a:rPr lang="en-US" dirty="0"/>
              <a:t> Return root node of a tree if and only if the tree is nonempty.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Size(T</a:t>
            </a:r>
            <a:r>
              <a:rPr lang="en-US" b="1" dirty="0"/>
              <a:t>):</a:t>
            </a:r>
            <a:r>
              <a:rPr lang="en-US" dirty="0"/>
              <a:t> Return the number of nodes in tree T</a:t>
            </a:r>
          </a:p>
          <a:p>
            <a:pPr marL="0" indent="0">
              <a:buNone/>
            </a:pPr>
            <a:r>
              <a:rPr lang="en-US" b="1" dirty="0" err="1" smtClean="0"/>
              <a:t>MakeEmpty</a:t>
            </a:r>
            <a:r>
              <a:rPr lang="en-US" b="1" dirty="0" smtClean="0"/>
              <a:t>(T</a:t>
            </a:r>
            <a:r>
              <a:rPr lang="en-US" b="1" dirty="0"/>
              <a:t>):</a:t>
            </a:r>
            <a:r>
              <a:rPr lang="en-US" dirty="0"/>
              <a:t> Create an empty tree T</a:t>
            </a:r>
          </a:p>
          <a:p>
            <a:pPr marL="0" indent="0">
              <a:buNone/>
            </a:pPr>
            <a:r>
              <a:rPr lang="en-US" b="1" dirty="0" err="1" smtClean="0"/>
              <a:t>SetLeft</a:t>
            </a:r>
            <a:r>
              <a:rPr lang="en-US" b="1" dirty="0" smtClean="0"/>
              <a:t>(S,T</a:t>
            </a:r>
            <a:r>
              <a:rPr lang="en-US" b="1" dirty="0"/>
              <a:t>):</a:t>
            </a:r>
            <a:r>
              <a:rPr lang="en-US" dirty="0"/>
              <a:t> Attach the tree S as the left sub-tree of tree T</a:t>
            </a:r>
          </a:p>
          <a:p>
            <a:pPr marL="0" indent="0">
              <a:buNone/>
            </a:pPr>
            <a:r>
              <a:rPr lang="en-US" b="1" dirty="0" err="1" smtClean="0"/>
              <a:t>SetRight</a:t>
            </a:r>
            <a:r>
              <a:rPr lang="en-US" b="1" dirty="0" smtClean="0"/>
              <a:t>(S,T</a:t>
            </a:r>
            <a:r>
              <a:rPr lang="en-US" b="1" dirty="0"/>
              <a:t>):</a:t>
            </a:r>
            <a:r>
              <a:rPr lang="en-US" dirty="0"/>
              <a:t> Attach the tree S as the right sub-tree of tree T.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Preorder(T</a:t>
            </a:r>
            <a:r>
              <a:rPr lang="en-US" b="1" dirty="0"/>
              <a:t>):</a:t>
            </a:r>
            <a:r>
              <a:rPr lang="en-US" dirty="0"/>
              <a:t> Traverses all the nodes of tree T in preorder.</a:t>
            </a:r>
          </a:p>
          <a:p>
            <a:pPr marL="0" indent="0">
              <a:buNone/>
            </a:pPr>
            <a:r>
              <a:rPr lang="en-US" b="1" dirty="0" err="1" smtClean="0"/>
              <a:t>postorder</a:t>
            </a:r>
            <a:r>
              <a:rPr lang="en-US" b="1" dirty="0" smtClean="0"/>
              <a:t>(T</a:t>
            </a:r>
            <a:r>
              <a:rPr lang="en-US" b="1" dirty="0"/>
              <a:t>):</a:t>
            </a:r>
            <a:r>
              <a:rPr lang="en-US" dirty="0"/>
              <a:t> Traverses all the nodes of tree T in </a:t>
            </a:r>
            <a:r>
              <a:rPr lang="en-US" dirty="0" err="1" smtClean="0"/>
              <a:t>postorder</a:t>
            </a:r>
            <a:endParaRPr lang="en-US" dirty="0"/>
          </a:p>
          <a:p>
            <a:pPr marL="0" indent="0">
              <a:buNone/>
            </a:pPr>
            <a:r>
              <a:rPr lang="en-US" b="1" dirty="0" err="1" smtClean="0"/>
              <a:t>Inorder</a:t>
            </a:r>
            <a:r>
              <a:rPr lang="en-US" b="1" dirty="0" smtClean="0"/>
              <a:t>(T</a:t>
            </a:r>
            <a:r>
              <a:rPr lang="en-US" b="1" dirty="0"/>
              <a:t>):</a:t>
            </a:r>
            <a:r>
              <a:rPr lang="en-US" dirty="0"/>
              <a:t> Traverses all the nodes of tree T in </a:t>
            </a:r>
            <a:r>
              <a:rPr lang="en-US" dirty="0" err="1"/>
              <a:t>inorder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9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 representation for Binary </a:t>
            </a:r>
            <a:r>
              <a:rPr lang="en-US" b="1" dirty="0" smtClean="0">
                <a:solidFill>
                  <a:srgbClr val="FF0000"/>
                </a:solidFill>
              </a:rPr>
              <a:t>tree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 smtClean="0"/>
              <a:t>struct</a:t>
            </a:r>
            <a:r>
              <a:rPr lang="en-US" dirty="0" smtClean="0"/>
              <a:t> </a:t>
            </a:r>
            <a:r>
              <a:rPr lang="en-US" dirty="0" err="1"/>
              <a:t>bnode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info;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b="1" dirty="0" err="1" smtClean="0"/>
              <a:t>struct</a:t>
            </a:r>
            <a:r>
              <a:rPr lang="en-US" dirty="0" smtClean="0"/>
              <a:t> </a:t>
            </a:r>
            <a:r>
              <a:rPr lang="en-US" dirty="0" err="1"/>
              <a:t>bnode</a:t>
            </a:r>
            <a:r>
              <a:rPr lang="en-US" dirty="0"/>
              <a:t> *left; </a:t>
            </a:r>
            <a:r>
              <a:rPr lang="en-US" b="1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 *right;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b="1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 *root=NULL;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49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2" y="1600200"/>
            <a:ext cx="6400799" cy="3756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429000" y="5574269"/>
            <a:ext cx="48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Fig: Structure of Binary tree</a:t>
            </a:r>
          </a:p>
        </p:txBody>
      </p:sp>
    </p:spTree>
    <p:extLst>
      <p:ext uri="{BB962C8B-B14F-4D97-AF65-F5344CB8AC3E}">
        <p14:creationId xmlns:p14="http://schemas.microsoft.com/office/powerpoint/2010/main" val="325881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tree traversal is a way in which each node in the tree is visited exactly once in a symmetric manner.</a:t>
            </a:r>
          </a:p>
          <a:p>
            <a:r>
              <a:rPr lang="en-US" dirty="0"/>
              <a:t>There are three popular methods of </a:t>
            </a:r>
            <a:r>
              <a:rPr lang="en-US" dirty="0" smtClean="0"/>
              <a:t>traversal</a:t>
            </a:r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Pre-order traversal</a:t>
            </a:r>
          </a:p>
          <a:p>
            <a:pPr marL="0" indent="0">
              <a:buNone/>
            </a:pPr>
            <a:r>
              <a:rPr lang="en-US" dirty="0"/>
              <a:t>✔ In-order </a:t>
            </a:r>
            <a:r>
              <a:rPr lang="en-US" dirty="0" smtClean="0"/>
              <a:t>traversal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✔ Post-order traversal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50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Pre-order traversal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preorder traversal of a nonempty binary tree is defined as follows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✔ Visit the root node</a:t>
            </a:r>
          </a:p>
          <a:p>
            <a:pPr marL="0" indent="0">
              <a:buNone/>
            </a:pPr>
            <a:r>
              <a:rPr lang="en-US" dirty="0"/>
              <a:t>✔ Traverse the left sub-tree in preorder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Traverse the right sub-tree in preorder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08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381" y="1676400"/>
            <a:ext cx="6501794" cy="3348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724400" y="5181601"/>
            <a:ext cx="2362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fig. Binary tree</a:t>
            </a:r>
          </a:p>
        </p:txBody>
      </p:sp>
    </p:spTree>
    <p:extLst>
      <p:ext uri="{BB962C8B-B14F-4D97-AF65-F5344CB8AC3E}">
        <p14:creationId xmlns:p14="http://schemas.microsoft.com/office/powerpoint/2010/main" val="415466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C function for preorder traversing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/>
              <a:t>preorder(</a:t>
            </a:r>
            <a:r>
              <a:rPr lang="en-US" b="1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 *root)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if(root</a:t>
            </a:r>
            <a:r>
              <a:rPr lang="en-US" dirty="0"/>
              <a:t>!=NULL) 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(“%c”, root-&gt;info);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preorder(root-</a:t>
            </a:r>
            <a:r>
              <a:rPr lang="en-US" dirty="0"/>
              <a:t>&gt;left);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preorder(root-</a:t>
            </a:r>
            <a:r>
              <a:rPr lang="en-US" dirty="0"/>
              <a:t>&gt;right);</a:t>
            </a:r>
          </a:p>
          <a:p>
            <a:pPr marL="0" indent="0">
              <a:buNone/>
            </a:pPr>
            <a:r>
              <a:rPr lang="en-US" dirty="0"/>
              <a:t>}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2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In-order traversal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/>
              <a:t>inorder</a:t>
            </a:r>
            <a:r>
              <a:rPr lang="en-US" dirty="0"/>
              <a:t> traversal of a nonempty binary tree is defined as follows: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Traverse the left sub-tree in </a:t>
            </a:r>
            <a:r>
              <a:rPr lang="en-US" dirty="0" err="1"/>
              <a:t>inorder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✔ Visit the root node</a:t>
            </a:r>
          </a:p>
          <a:p>
            <a:pPr marL="0" indent="0">
              <a:buNone/>
            </a:pPr>
            <a:r>
              <a:rPr lang="en-US" dirty="0"/>
              <a:t>✔ Traverse the right sub-tree in </a:t>
            </a:r>
            <a:r>
              <a:rPr lang="en-US" dirty="0" err="1"/>
              <a:t>inorder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inorder</a:t>
            </a:r>
            <a:r>
              <a:rPr lang="en-US" dirty="0"/>
              <a:t> traversal output of the given tree is: H D I B E A F C 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00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C function for </a:t>
            </a:r>
            <a:r>
              <a:rPr lang="en-US" sz="4000" b="1" dirty="0" err="1">
                <a:solidFill>
                  <a:srgbClr val="FF0000"/>
                </a:solidFill>
              </a:rPr>
              <a:t>inorder</a:t>
            </a:r>
            <a:r>
              <a:rPr lang="en-US" sz="4000" b="1" dirty="0">
                <a:solidFill>
                  <a:srgbClr val="FF0000"/>
                </a:solidFill>
              </a:rPr>
              <a:t> traversing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 err="1"/>
              <a:t>inorder</a:t>
            </a:r>
            <a:r>
              <a:rPr lang="en-US" dirty="0"/>
              <a:t>(</a:t>
            </a:r>
            <a:r>
              <a:rPr lang="en-US" b="1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 *root)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if(root</a:t>
            </a:r>
            <a:r>
              <a:rPr lang="en-US" dirty="0"/>
              <a:t>!=NULL) 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inorder</a:t>
            </a:r>
            <a:r>
              <a:rPr lang="en-US" dirty="0" smtClean="0"/>
              <a:t>(root-</a:t>
            </a:r>
            <a:r>
              <a:rPr lang="en-US" dirty="0"/>
              <a:t>&gt;left);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printf</a:t>
            </a:r>
            <a:r>
              <a:rPr lang="en-US" dirty="0"/>
              <a:t>(“%c”, root-&gt;info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 err="1"/>
              <a:t>inorder</a:t>
            </a:r>
            <a:r>
              <a:rPr lang="en-US" dirty="0"/>
              <a:t>(root-&gt;right);</a:t>
            </a:r>
          </a:p>
          <a:p>
            <a:pPr marL="0" indent="0">
              <a:buNone/>
            </a:pPr>
            <a:r>
              <a:rPr lang="en-US" dirty="0"/>
              <a:t>}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4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Post-order traversal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1"/>
            <a:ext cx="8229600" cy="5059363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post-order traversal of a nonempty binary tree is defined as follows: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Traverse the left sub-tree in post-order</a:t>
            </a:r>
          </a:p>
          <a:p>
            <a:pPr marL="0" indent="0">
              <a:buNone/>
            </a:pPr>
            <a:r>
              <a:rPr lang="en-US" dirty="0"/>
              <a:t>✔ Traverse the right sub-tree in post-order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✔ </a:t>
            </a:r>
            <a:r>
              <a:rPr lang="en-US" dirty="0"/>
              <a:t>Visit the root node</a:t>
            </a:r>
          </a:p>
          <a:p>
            <a:pPr marL="0" indent="0">
              <a:buNone/>
            </a:pPr>
            <a:r>
              <a:rPr lang="en-US" dirty="0"/>
              <a:t>The post-order traversal output of the given tree is: H I D E B F G C A</a:t>
            </a:r>
          </a:p>
        </p:txBody>
      </p:sp>
    </p:spTree>
    <p:extLst>
      <p:ext uri="{BB962C8B-B14F-4D97-AF65-F5344CB8AC3E}">
        <p14:creationId xmlns:p14="http://schemas.microsoft.com/office/powerpoint/2010/main" val="3513340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 function for post-order traversing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/>
              <a:t>post-order(</a:t>
            </a:r>
            <a:r>
              <a:rPr lang="en-US" b="1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 *root)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if(root!=NULL)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post-order(root-</a:t>
            </a:r>
            <a:r>
              <a:rPr lang="en-US" dirty="0"/>
              <a:t>&gt;left);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post-order(root-</a:t>
            </a:r>
            <a:r>
              <a:rPr lang="en-US" dirty="0"/>
              <a:t>&gt;right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 		</a:t>
            </a:r>
            <a:r>
              <a:rPr lang="en-US" dirty="0" err="1" smtClean="0"/>
              <a:t>printf</a:t>
            </a:r>
            <a:r>
              <a:rPr lang="en-US" dirty="0"/>
              <a:t>(“%c”, root-&gt;info);</a:t>
            </a:r>
          </a:p>
          <a:p>
            <a:pPr marL="0" indent="0">
              <a:buNone/>
            </a:pPr>
            <a:r>
              <a:rPr lang="en-US" dirty="0"/>
              <a:t>}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24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10134600" cy="63976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4000" b="1" dirty="0">
                <a:solidFill>
                  <a:srgbClr val="FF0000"/>
                </a:solidFill>
              </a:rPr>
              <a:t>Binary search tree(BST)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1"/>
            <a:ext cx="10134600" cy="50593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binary search tree (BST) is a binary tree that is either empty or in which every </a:t>
            </a:r>
            <a:r>
              <a:rPr lang="en-US" dirty="0" smtClean="0"/>
              <a:t>node</a:t>
            </a:r>
            <a:r>
              <a:rPr lang="en-US" dirty="0"/>
              <a:t> </a:t>
            </a:r>
            <a:r>
              <a:rPr lang="en-US" dirty="0" smtClean="0"/>
              <a:t>contains </a:t>
            </a:r>
            <a:r>
              <a:rPr lang="en-US" dirty="0"/>
              <a:t>a key (value) </a:t>
            </a:r>
            <a:r>
              <a:rPr lang="en-US" dirty="0" smtClean="0"/>
              <a:t>and </a:t>
            </a:r>
            <a:r>
              <a:rPr lang="en-US" dirty="0"/>
              <a:t>satisfies the following conditions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All data value </a:t>
            </a:r>
            <a:r>
              <a:rPr lang="en-US" dirty="0"/>
              <a:t>in the left sub-tree </a:t>
            </a:r>
            <a:r>
              <a:rPr lang="en-US" dirty="0" smtClean="0"/>
              <a:t>of </a:t>
            </a:r>
            <a:r>
              <a:rPr lang="en-US" dirty="0"/>
              <a:t>the root are smaller than the </a:t>
            </a:r>
            <a:r>
              <a:rPr lang="en-US" dirty="0" smtClean="0"/>
              <a:t>data value </a:t>
            </a:r>
            <a:r>
              <a:rPr lang="en-US" dirty="0"/>
              <a:t>in the root </a:t>
            </a:r>
            <a:r>
              <a:rPr lang="en-US" dirty="0" smtClean="0"/>
              <a:t>node.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All data value </a:t>
            </a:r>
            <a:r>
              <a:rPr lang="en-US" dirty="0"/>
              <a:t>in the right sub-tree of the root are greater than the </a:t>
            </a:r>
            <a:r>
              <a:rPr lang="en-US" dirty="0" smtClean="0"/>
              <a:t>data value </a:t>
            </a:r>
            <a:r>
              <a:rPr lang="en-US" dirty="0"/>
              <a:t>in the root </a:t>
            </a:r>
            <a:r>
              <a:rPr lang="en-US" dirty="0" smtClean="0"/>
              <a:t>node</a:t>
            </a:r>
            <a:endParaRPr lang="en-US" dirty="0"/>
          </a:p>
          <a:p>
            <a:pPr marL="0" indent="0">
              <a:buNone/>
            </a:pPr>
            <a:r>
              <a:rPr lang="en-US" i="1" dirty="0" smtClean="0"/>
              <a:t>The </a:t>
            </a:r>
            <a:r>
              <a:rPr lang="en-US" i="1" dirty="0"/>
              <a:t>left and right sub-trees of the root are again binary search </a:t>
            </a:r>
            <a:r>
              <a:rPr lang="en-US" i="1" dirty="0" smtClean="0"/>
              <a:t>trees</a:t>
            </a:r>
            <a:endParaRPr lang="en-US" i="1" dirty="0"/>
          </a:p>
          <a:p>
            <a:r>
              <a:rPr lang="en-US" dirty="0"/>
              <a:t>Given the following sequence of </a:t>
            </a:r>
            <a:r>
              <a:rPr lang="en-US" dirty="0" smtClean="0"/>
              <a:t>numbers,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14</a:t>
            </a:r>
            <a:r>
              <a:rPr lang="en-US" dirty="0"/>
              <a:t>, 15, 4, 9, 7, 18, 3, 5, 16, 4, 20, 17, 9, 14, </a:t>
            </a:r>
            <a:r>
              <a:rPr lang="en-US" dirty="0" smtClean="0"/>
              <a:t>5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17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3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9220200" cy="8683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Operations on Binary search tree(BST):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3837"/>
            <a:ext cx="10058400" cy="4983163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Search(k,</a:t>
            </a:r>
            <a:r>
              <a:rPr lang="en-US" dirty="0"/>
              <a:t> </a:t>
            </a:r>
            <a:r>
              <a:rPr lang="en-US" b="1" dirty="0"/>
              <a:t>T):</a:t>
            </a:r>
            <a:r>
              <a:rPr lang="en-US" dirty="0"/>
              <a:t> Search for key k in the tree T. If k is found in some node of tree then return true otherwise return false.</a:t>
            </a:r>
          </a:p>
          <a:p>
            <a:r>
              <a:rPr lang="en-US" dirty="0"/>
              <a:t>✔ </a:t>
            </a:r>
            <a:r>
              <a:rPr lang="en-US" b="1" dirty="0"/>
              <a:t>Insert(k,</a:t>
            </a:r>
            <a:r>
              <a:rPr lang="en-US" dirty="0"/>
              <a:t> </a:t>
            </a:r>
            <a:r>
              <a:rPr lang="en-US" b="1" dirty="0"/>
              <a:t>T):</a:t>
            </a:r>
            <a:r>
              <a:rPr lang="en-US" dirty="0"/>
              <a:t> Insert a new node with value k in the info field in the tree T such that the property of BST is maintained.</a:t>
            </a:r>
          </a:p>
          <a:p>
            <a:r>
              <a:rPr lang="en-US" dirty="0"/>
              <a:t>✔ </a:t>
            </a:r>
            <a:r>
              <a:rPr lang="en-US" b="1" dirty="0"/>
              <a:t>Delete(k,</a:t>
            </a:r>
            <a:r>
              <a:rPr lang="en-US" dirty="0"/>
              <a:t> </a:t>
            </a:r>
            <a:r>
              <a:rPr lang="en-US" b="1" dirty="0"/>
              <a:t>T):</a:t>
            </a:r>
            <a:r>
              <a:rPr lang="en-US" dirty="0"/>
              <a:t>Delete a node with value k in the info field from the tree T such that the property of BST is maintained.</a:t>
            </a:r>
          </a:p>
          <a:p>
            <a:r>
              <a:rPr lang="en-US" dirty="0"/>
              <a:t>✔ </a:t>
            </a:r>
            <a:r>
              <a:rPr lang="en-US" b="1" dirty="0" err="1"/>
              <a:t>FindMin</a:t>
            </a:r>
            <a:r>
              <a:rPr lang="en-US" b="1" dirty="0"/>
              <a:t>(T),</a:t>
            </a:r>
            <a:r>
              <a:rPr lang="en-US" dirty="0"/>
              <a:t> </a:t>
            </a:r>
            <a:r>
              <a:rPr lang="en-US" b="1" dirty="0" err="1"/>
              <a:t>FindMax</a:t>
            </a:r>
            <a:r>
              <a:rPr lang="en-US" b="1" dirty="0"/>
              <a:t>(T):</a:t>
            </a:r>
            <a:r>
              <a:rPr lang="en-US" dirty="0"/>
              <a:t> Find minimum and maximum element from the given nonempty BST.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27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9296400" cy="8683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Searching through the BST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1"/>
            <a:ext cx="10134600" cy="4983163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Problem</a:t>
            </a:r>
            <a:r>
              <a:rPr lang="en-US" b="1" i="1" dirty="0"/>
              <a:t>:</a:t>
            </a:r>
            <a:r>
              <a:rPr lang="en-US" dirty="0"/>
              <a:t> </a:t>
            </a:r>
            <a:r>
              <a:rPr lang="en-US" b="1" i="1" dirty="0"/>
              <a:t>Search</a:t>
            </a:r>
            <a:r>
              <a:rPr lang="en-US" dirty="0"/>
              <a:t> </a:t>
            </a:r>
            <a:r>
              <a:rPr lang="en-US" b="1" i="1" dirty="0"/>
              <a:t>for</a:t>
            </a:r>
            <a:r>
              <a:rPr lang="en-US" dirty="0"/>
              <a:t> </a:t>
            </a:r>
            <a:r>
              <a:rPr lang="en-US" b="1" i="1" dirty="0"/>
              <a:t>a</a:t>
            </a:r>
            <a:r>
              <a:rPr lang="en-US" dirty="0"/>
              <a:t> </a:t>
            </a:r>
            <a:r>
              <a:rPr lang="en-US" b="1" i="1" dirty="0"/>
              <a:t>given</a:t>
            </a:r>
            <a:r>
              <a:rPr lang="en-US" dirty="0"/>
              <a:t> </a:t>
            </a:r>
            <a:r>
              <a:rPr lang="en-US" b="1" i="1" dirty="0"/>
              <a:t>target</a:t>
            </a:r>
            <a:r>
              <a:rPr lang="en-US" dirty="0"/>
              <a:t> </a:t>
            </a:r>
            <a:r>
              <a:rPr lang="en-US" b="1" i="1" dirty="0"/>
              <a:t>value</a:t>
            </a:r>
            <a:r>
              <a:rPr lang="en-US" dirty="0"/>
              <a:t> </a:t>
            </a:r>
            <a:r>
              <a:rPr lang="en-US" b="1" i="1" dirty="0"/>
              <a:t>in</a:t>
            </a:r>
            <a:r>
              <a:rPr lang="en-US" dirty="0"/>
              <a:t> </a:t>
            </a:r>
            <a:r>
              <a:rPr lang="en-US" b="1" i="1" dirty="0"/>
              <a:t>a</a:t>
            </a:r>
            <a:r>
              <a:rPr lang="en-US" dirty="0"/>
              <a:t> </a:t>
            </a:r>
            <a:r>
              <a:rPr lang="en-US" b="1" i="1" dirty="0"/>
              <a:t>BST.</a:t>
            </a:r>
            <a:endParaRPr lang="en-US" dirty="0"/>
          </a:p>
          <a:p>
            <a:r>
              <a:rPr lang="en-US" b="1" i="1" dirty="0" smtClean="0"/>
              <a:t>Idea</a:t>
            </a:r>
            <a:r>
              <a:rPr lang="en-US" b="1" i="1" dirty="0"/>
              <a:t>:</a:t>
            </a:r>
            <a:r>
              <a:rPr lang="en-US" dirty="0"/>
              <a:t> </a:t>
            </a:r>
            <a:r>
              <a:rPr lang="en-US" b="1" i="1" dirty="0"/>
              <a:t>Compare</a:t>
            </a:r>
            <a:r>
              <a:rPr lang="en-US" dirty="0"/>
              <a:t> </a:t>
            </a:r>
            <a:r>
              <a:rPr lang="en-US" b="1" i="1" dirty="0"/>
              <a:t>the</a:t>
            </a:r>
            <a:r>
              <a:rPr lang="en-US" dirty="0"/>
              <a:t> </a:t>
            </a:r>
            <a:r>
              <a:rPr lang="en-US" b="1" i="1" dirty="0"/>
              <a:t>target</a:t>
            </a:r>
            <a:r>
              <a:rPr lang="en-US" dirty="0"/>
              <a:t> </a:t>
            </a:r>
            <a:r>
              <a:rPr lang="en-US" b="1" i="1" dirty="0"/>
              <a:t>value</a:t>
            </a:r>
            <a:r>
              <a:rPr lang="en-US" dirty="0"/>
              <a:t> </a:t>
            </a:r>
            <a:r>
              <a:rPr lang="en-US" b="1" i="1" dirty="0"/>
              <a:t>with</a:t>
            </a:r>
            <a:r>
              <a:rPr lang="en-US" dirty="0"/>
              <a:t> </a:t>
            </a:r>
            <a:r>
              <a:rPr lang="en-US" b="1" i="1" dirty="0"/>
              <a:t>the</a:t>
            </a:r>
            <a:r>
              <a:rPr lang="en-US" dirty="0"/>
              <a:t> </a:t>
            </a:r>
            <a:r>
              <a:rPr lang="en-US" b="1" i="1" dirty="0"/>
              <a:t>element</a:t>
            </a:r>
            <a:r>
              <a:rPr lang="en-US" dirty="0"/>
              <a:t> </a:t>
            </a:r>
            <a:r>
              <a:rPr lang="en-US" b="1" i="1" dirty="0"/>
              <a:t>in</a:t>
            </a:r>
            <a:r>
              <a:rPr lang="en-US" dirty="0"/>
              <a:t> </a:t>
            </a:r>
            <a:r>
              <a:rPr lang="en-US" b="1" i="1" dirty="0"/>
              <a:t>the</a:t>
            </a:r>
            <a:r>
              <a:rPr lang="en-US" dirty="0"/>
              <a:t> </a:t>
            </a:r>
            <a:r>
              <a:rPr lang="en-US" b="1" i="1" dirty="0"/>
              <a:t>root</a:t>
            </a:r>
            <a:r>
              <a:rPr lang="en-US" dirty="0"/>
              <a:t> </a:t>
            </a:r>
            <a:r>
              <a:rPr lang="en-US" b="1" i="1" dirty="0"/>
              <a:t>node.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 target value is </a:t>
            </a:r>
            <a:r>
              <a:rPr lang="en-US" b="1" dirty="0"/>
              <a:t>equal</a:t>
            </a:r>
            <a:r>
              <a:rPr lang="en-US" dirty="0"/>
              <a:t>, the search is successful.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target value is </a:t>
            </a:r>
            <a:r>
              <a:rPr lang="en-US" b="1" dirty="0"/>
              <a:t>less</a:t>
            </a:r>
            <a:r>
              <a:rPr lang="en-US" dirty="0"/>
              <a:t>, search the left </a:t>
            </a:r>
            <a:r>
              <a:rPr lang="en-US" dirty="0" err="1"/>
              <a:t>subtree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target value is </a:t>
            </a:r>
            <a:r>
              <a:rPr lang="en-US" b="1" dirty="0"/>
              <a:t>greater</a:t>
            </a:r>
            <a:r>
              <a:rPr lang="en-US" dirty="0"/>
              <a:t>, search the right </a:t>
            </a:r>
            <a:r>
              <a:rPr lang="en-US" dirty="0" err="1"/>
              <a:t>subtree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If </a:t>
            </a:r>
            <a:r>
              <a:rPr lang="en-US" dirty="0"/>
              <a:t>the </a:t>
            </a:r>
            <a:r>
              <a:rPr lang="en-US" dirty="0" err="1"/>
              <a:t>subtree</a:t>
            </a:r>
            <a:r>
              <a:rPr lang="en-US" dirty="0"/>
              <a:t> is </a:t>
            </a:r>
            <a:r>
              <a:rPr lang="en-US" b="1" dirty="0"/>
              <a:t>empty</a:t>
            </a:r>
            <a:r>
              <a:rPr lang="en-US" dirty="0"/>
              <a:t>, the search is unsuccessful.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55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1"/>
            <a:ext cx="10287000" cy="55165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sng" dirty="0"/>
              <a:t>BST search algorithm</a:t>
            </a:r>
            <a:r>
              <a:rPr lang="en-US" u="sng"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To find which if any node of a BST contains an element equal </a:t>
            </a:r>
            <a:r>
              <a:rPr lang="en-US" dirty="0" smtClean="0"/>
              <a:t>to </a:t>
            </a:r>
            <a:r>
              <a:rPr lang="en-US" i="1" dirty="0" smtClean="0"/>
              <a:t>target</a:t>
            </a:r>
            <a:r>
              <a:rPr lang="en-US" dirty="0"/>
              <a:t>: 1. Set </a:t>
            </a:r>
            <a:r>
              <a:rPr lang="en-US" i="1" dirty="0" err="1"/>
              <a:t>curr</a:t>
            </a:r>
            <a:r>
              <a:rPr lang="en-US" dirty="0"/>
              <a:t> to the BST’s root.</a:t>
            </a:r>
          </a:p>
          <a:p>
            <a:pPr marL="0" indent="0">
              <a:buNone/>
            </a:pPr>
            <a:r>
              <a:rPr lang="en-US" dirty="0"/>
              <a:t>2. Repeat:</a:t>
            </a:r>
          </a:p>
          <a:p>
            <a:pPr marL="457200" lvl="1" indent="0">
              <a:buNone/>
            </a:pPr>
            <a:r>
              <a:rPr lang="en-US" dirty="0"/>
              <a:t>2.1. If </a:t>
            </a:r>
            <a:r>
              <a:rPr lang="en-US" i="1" dirty="0" err="1"/>
              <a:t>curr</a:t>
            </a:r>
            <a:r>
              <a:rPr lang="en-US" dirty="0"/>
              <a:t> is null:</a:t>
            </a:r>
          </a:p>
          <a:p>
            <a:pPr marL="914400" lvl="2" indent="0">
              <a:buNone/>
            </a:pPr>
            <a:r>
              <a:rPr lang="en-US" sz="2800" dirty="0"/>
              <a:t>2.1.1. Terminate with answer </a:t>
            </a:r>
            <a:r>
              <a:rPr lang="en-US" sz="2800" i="1" dirty="0"/>
              <a:t>none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dirty="0"/>
              <a:t>2.2. Otherwise, if </a:t>
            </a:r>
            <a:r>
              <a:rPr lang="en-US" i="1" dirty="0"/>
              <a:t>target</a:t>
            </a:r>
            <a:r>
              <a:rPr lang="en-US" dirty="0"/>
              <a:t> is equal to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element: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2.2.1</a:t>
            </a:r>
            <a:r>
              <a:rPr lang="en-US" dirty="0"/>
              <a:t>. Terminate with answer </a:t>
            </a:r>
            <a:r>
              <a:rPr lang="en-US" i="1" dirty="0" err="1"/>
              <a:t>curr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2.3. Otherwise, if </a:t>
            </a:r>
            <a:r>
              <a:rPr lang="en-US" i="1" dirty="0"/>
              <a:t>target</a:t>
            </a:r>
            <a:r>
              <a:rPr lang="en-US" dirty="0"/>
              <a:t> is less than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element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/>
              <a:t>2.3.1. Set </a:t>
            </a:r>
            <a:r>
              <a:rPr lang="en-US" i="1" dirty="0" err="1"/>
              <a:t>curr</a:t>
            </a:r>
            <a:r>
              <a:rPr lang="en-US" dirty="0"/>
              <a:t> to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left child.</a:t>
            </a:r>
          </a:p>
          <a:p>
            <a:pPr marL="0" indent="0">
              <a:buNone/>
            </a:pPr>
            <a:r>
              <a:rPr lang="en-US" dirty="0"/>
              <a:t>2.4. Otherwise, if </a:t>
            </a:r>
            <a:r>
              <a:rPr lang="en-US" i="1" dirty="0"/>
              <a:t>target</a:t>
            </a:r>
            <a:r>
              <a:rPr lang="en-US" dirty="0"/>
              <a:t> is greater than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element: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2.4.1</a:t>
            </a:r>
            <a:r>
              <a:rPr lang="en-US" dirty="0"/>
              <a:t>. Set </a:t>
            </a:r>
            <a:r>
              <a:rPr lang="en-US" i="1" dirty="0" err="1"/>
              <a:t>curr</a:t>
            </a:r>
            <a:r>
              <a:rPr lang="en-US" dirty="0"/>
              <a:t> to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right child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end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3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/>
              <a:t>C function for BST searching</a:t>
            </a:r>
            <a:r>
              <a:rPr lang="en-US" b="1" u="sng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9220200" cy="5334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b="1" dirty="0" err="1"/>
              <a:t>BinSearch</a:t>
            </a:r>
            <a:r>
              <a:rPr lang="en-US" b="1" dirty="0"/>
              <a:t>(</a:t>
            </a:r>
            <a:r>
              <a:rPr lang="en-US" b="1" dirty="0" err="1"/>
              <a:t>struct</a:t>
            </a:r>
            <a:r>
              <a:rPr lang="en-US" dirty="0"/>
              <a:t> </a:t>
            </a:r>
            <a:r>
              <a:rPr lang="en-US" b="1" dirty="0" err="1"/>
              <a:t>bnode</a:t>
            </a:r>
            <a:r>
              <a:rPr lang="en-US" dirty="0"/>
              <a:t> </a:t>
            </a:r>
            <a:r>
              <a:rPr lang="en-US" b="1" dirty="0"/>
              <a:t>*root</a:t>
            </a:r>
            <a:r>
              <a:rPr lang="en-US" dirty="0"/>
              <a:t> 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b="1" dirty="0" err="1"/>
              <a:t>int</a:t>
            </a:r>
            <a:r>
              <a:rPr lang="en-US" dirty="0"/>
              <a:t> </a:t>
            </a:r>
            <a:r>
              <a:rPr lang="en-US" b="1" dirty="0"/>
              <a:t>key)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if(root </a:t>
            </a:r>
            <a:r>
              <a:rPr lang="en-US" dirty="0"/>
              <a:t>== NULL)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printf</a:t>
            </a:r>
            <a:r>
              <a:rPr lang="en-US" dirty="0"/>
              <a:t>(“The number does not exist”);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exit(1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	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else </a:t>
            </a:r>
            <a:r>
              <a:rPr lang="en-US" dirty="0"/>
              <a:t>if (key == root-&gt;info)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printf</a:t>
            </a:r>
            <a:r>
              <a:rPr lang="en-US" dirty="0"/>
              <a:t>(“The searched item is found”):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else </a:t>
            </a:r>
            <a:r>
              <a:rPr lang="en-US" dirty="0"/>
              <a:t>if(key &lt; root-&gt;info)</a:t>
            </a:r>
          </a:p>
          <a:p>
            <a:pPr marL="0" indent="0">
              <a:buNone/>
            </a:pPr>
            <a:r>
              <a:rPr lang="en-US" dirty="0" smtClean="0"/>
              <a:t>		return </a:t>
            </a:r>
            <a:r>
              <a:rPr lang="en-US" dirty="0" err="1"/>
              <a:t>BinSearch</a:t>
            </a:r>
            <a:r>
              <a:rPr lang="en-US" dirty="0"/>
              <a:t>(root-&gt;left, key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 	else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 err="1"/>
              <a:t>BinSearch</a:t>
            </a:r>
            <a:r>
              <a:rPr lang="en-US" dirty="0"/>
              <a:t>(root-&gt;right, key);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14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10820400" cy="1143000"/>
          </a:xfrm>
        </p:spPr>
        <p:txBody>
          <a:bodyPr>
            <a:normAutofit/>
          </a:bodyPr>
          <a:lstStyle/>
          <a:p>
            <a:pPr algn="l"/>
            <a:r>
              <a:rPr lang="en-US" i="1" dirty="0"/>
              <a:t>insertion of a node in </a:t>
            </a:r>
            <a:r>
              <a:rPr lang="en-US" i="1" dirty="0" smtClean="0"/>
              <a:t>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17638"/>
            <a:ext cx="10820400" cy="4906961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smtClean="0"/>
              <a:t>To </a:t>
            </a:r>
            <a:r>
              <a:rPr lang="en-US" i="1" dirty="0"/>
              <a:t>insert a new item in a tree, we must first verify that its key is different from those of existing elements. </a:t>
            </a:r>
            <a:endParaRPr lang="en-US" i="1" dirty="0" smtClean="0"/>
          </a:p>
          <a:p>
            <a:r>
              <a:rPr lang="en-US" dirty="0" smtClean="0"/>
              <a:t>To </a:t>
            </a:r>
            <a:r>
              <a:rPr lang="en-US" dirty="0"/>
              <a:t>do this a search is carried out.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search is unsuccessful, then item is inserted.</a:t>
            </a:r>
          </a:p>
          <a:p>
            <a:pPr marL="0" indent="0">
              <a:buNone/>
            </a:pPr>
            <a:r>
              <a:rPr lang="en-US" b="1" i="1" dirty="0" smtClean="0"/>
              <a:t>Idea</a:t>
            </a:r>
            <a:r>
              <a:rPr lang="en-US" dirty="0"/>
              <a:t>: To insert a new element into a BST, proceed as if searching for that element.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element is not already present, the search will lead to a null link. </a:t>
            </a:r>
            <a:endParaRPr lang="en-US" dirty="0" smtClean="0"/>
          </a:p>
          <a:p>
            <a:r>
              <a:rPr lang="en-US" dirty="0" smtClean="0"/>
              <a:t>Replace </a:t>
            </a:r>
            <a:r>
              <a:rPr lang="en-US" dirty="0"/>
              <a:t>that null link by a link to a leaf node containing the new element.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77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6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685801"/>
            <a:ext cx="10210800" cy="5440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u="sng" dirty="0"/>
              <a:t>BST insertion algorithm</a:t>
            </a:r>
            <a:r>
              <a:rPr lang="en-US" u="sng"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To insert the element </a:t>
            </a:r>
            <a:r>
              <a:rPr lang="en-US" i="1" dirty="0" err="1"/>
              <a:t>elem</a:t>
            </a:r>
            <a:r>
              <a:rPr lang="en-US" dirty="0"/>
              <a:t> into a BST:</a:t>
            </a:r>
          </a:p>
          <a:p>
            <a:pPr marL="514350" indent="-514350">
              <a:buAutoNum type="arabicPeriod"/>
            </a:pPr>
            <a:r>
              <a:rPr lang="en-US" dirty="0" smtClean="0"/>
              <a:t>Set </a:t>
            </a:r>
            <a:r>
              <a:rPr lang="en-US" i="1" dirty="0"/>
              <a:t>parent</a:t>
            </a:r>
            <a:r>
              <a:rPr lang="en-US" dirty="0"/>
              <a:t> to null, and set </a:t>
            </a:r>
            <a:r>
              <a:rPr lang="en-US" i="1" dirty="0" err="1"/>
              <a:t>curr</a:t>
            </a:r>
            <a:r>
              <a:rPr lang="en-US" dirty="0"/>
              <a:t> to the BST’s root.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Repeat:</a:t>
            </a:r>
          </a:p>
          <a:p>
            <a:pPr marL="0" indent="0">
              <a:buNone/>
            </a:pPr>
            <a:r>
              <a:rPr lang="en-US" dirty="0" smtClean="0"/>
              <a:t>	2.1</a:t>
            </a:r>
            <a:r>
              <a:rPr lang="en-US" dirty="0"/>
              <a:t>. If </a:t>
            </a:r>
            <a:r>
              <a:rPr lang="en-US" i="1" dirty="0" err="1"/>
              <a:t>curr</a:t>
            </a:r>
            <a:r>
              <a:rPr lang="en-US" dirty="0"/>
              <a:t> is null:</a:t>
            </a:r>
          </a:p>
          <a:p>
            <a:pPr marL="0" indent="0">
              <a:buNone/>
            </a:pPr>
            <a:r>
              <a:rPr lang="en-US" dirty="0" smtClean="0"/>
              <a:t>	2.1.1</a:t>
            </a:r>
            <a:r>
              <a:rPr lang="en-US" dirty="0"/>
              <a:t>. Replace the null link from which </a:t>
            </a:r>
            <a:r>
              <a:rPr lang="en-US" i="1" dirty="0" err="1"/>
              <a:t>curr</a:t>
            </a:r>
            <a:r>
              <a:rPr lang="en-US" dirty="0"/>
              <a:t> was taken</a:t>
            </a:r>
          </a:p>
          <a:p>
            <a:pPr marL="0" indent="0">
              <a:buNone/>
            </a:pPr>
            <a:r>
              <a:rPr lang="en-US" dirty="0" smtClean="0"/>
              <a:t>	(</a:t>
            </a:r>
            <a:r>
              <a:rPr lang="en-US" dirty="0"/>
              <a:t>either the BST’s root or </a:t>
            </a:r>
            <a:r>
              <a:rPr lang="en-US" i="1" dirty="0"/>
              <a:t>parent</a:t>
            </a:r>
            <a:r>
              <a:rPr lang="en-US" dirty="0"/>
              <a:t>’s left child or </a:t>
            </a:r>
            <a:r>
              <a:rPr lang="en-US" i="1" dirty="0"/>
              <a:t>parent</a:t>
            </a:r>
            <a:r>
              <a:rPr lang="en-US" dirty="0"/>
              <a:t>’s right </a:t>
            </a:r>
            <a:r>
              <a:rPr lang="en-US" dirty="0" smtClean="0"/>
              <a:t>child</a:t>
            </a:r>
            <a:r>
              <a:rPr lang="en-US" dirty="0"/>
              <a:t>) by a link to a newly-created leaf node with element </a:t>
            </a:r>
            <a:r>
              <a:rPr lang="en-US" i="1" dirty="0" smtClean="0"/>
              <a:t>elem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2.1.2. Terminate.</a:t>
            </a:r>
          </a:p>
          <a:p>
            <a:pPr marL="0" indent="0">
              <a:buNone/>
            </a:pPr>
            <a:r>
              <a:rPr lang="en-US" dirty="0"/>
              <a:t>2.2. Otherwise, if </a:t>
            </a:r>
            <a:r>
              <a:rPr lang="en-US" i="1" dirty="0" err="1"/>
              <a:t>elem</a:t>
            </a:r>
            <a:r>
              <a:rPr lang="en-US" dirty="0"/>
              <a:t> is equal to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element: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2.2.1</a:t>
            </a:r>
            <a:r>
              <a:rPr lang="en-US" dirty="0"/>
              <a:t>. Terminate.</a:t>
            </a:r>
          </a:p>
          <a:p>
            <a:pPr marL="0" indent="0">
              <a:buNone/>
            </a:pPr>
            <a:r>
              <a:rPr lang="en-US" dirty="0"/>
              <a:t>2.3. Otherwise, if </a:t>
            </a:r>
            <a:r>
              <a:rPr lang="en-US" i="1" dirty="0" err="1"/>
              <a:t>elem</a:t>
            </a:r>
            <a:r>
              <a:rPr lang="en-US" dirty="0"/>
              <a:t> is less than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element:</a:t>
            </a:r>
          </a:p>
          <a:p>
            <a:pPr marL="0" indent="0">
              <a:buNone/>
            </a:pPr>
            <a:r>
              <a:rPr lang="en-US" dirty="0" smtClean="0"/>
              <a:t>	2.3.1</a:t>
            </a:r>
            <a:r>
              <a:rPr lang="en-US" dirty="0"/>
              <a:t>. Set </a:t>
            </a:r>
            <a:r>
              <a:rPr lang="en-US" i="1" dirty="0"/>
              <a:t>parent</a:t>
            </a:r>
            <a:r>
              <a:rPr lang="en-US" dirty="0"/>
              <a:t> to </a:t>
            </a:r>
            <a:r>
              <a:rPr lang="en-US" i="1" dirty="0" err="1"/>
              <a:t>curr</a:t>
            </a:r>
            <a:r>
              <a:rPr lang="en-US" dirty="0"/>
              <a:t>, and set </a:t>
            </a:r>
            <a:r>
              <a:rPr lang="en-US" i="1" dirty="0" err="1"/>
              <a:t>curr</a:t>
            </a:r>
            <a:r>
              <a:rPr lang="en-US" dirty="0"/>
              <a:t> to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left child.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2.4</a:t>
            </a:r>
            <a:r>
              <a:rPr lang="en-US" dirty="0"/>
              <a:t>. Otherwise, if </a:t>
            </a:r>
            <a:r>
              <a:rPr lang="en-US" i="1" dirty="0" err="1"/>
              <a:t>elem</a:t>
            </a:r>
            <a:r>
              <a:rPr lang="en-US" dirty="0"/>
              <a:t> is greater than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element:</a:t>
            </a:r>
          </a:p>
          <a:p>
            <a:pPr marL="0" indent="0">
              <a:buNone/>
            </a:pPr>
            <a:r>
              <a:rPr lang="en-US" dirty="0"/>
              <a:t>2.4.1. Set </a:t>
            </a:r>
            <a:r>
              <a:rPr lang="en-US" i="1" dirty="0"/>
              <a:t>parent</a:t>
            </a:r>
            <a:r>
              <a:rPr lang="en-US" dirty="0"/>
              <a:t> to </a:t>
            </a:r>
            <a:r>
              <a:rPr lang="en-US" i="1" dirty="0" err="1"/>
              <a:t>curr</a:t>
            </a:r>
            <a:r>
              <a:rPr lang="en-US" dirty="0"/>
              <a:t>, and set </a:t>
            </a:r>
            <a:r>
              <a:rPr lang="en-US" i="1" dirty="0" err="1"/>
              <a:t>curr</a:t>
            </a:r>
            <a:r>
              <a:rPr lang="en-US" dirty="0"/>
              <a:t> to </a:t>
            </a:r>
            <a:r>
              <a:rPr lang="en-US" i="1" dirty="0" err="1"/>
              <a:t>curr</a:t>
            </a:r>
            <a:r>
              <a:rPr lang="en-US" dirty="0" err="1"/>
              <a:t>’s</a:t>
            </a:r>
            <a:r>
              <a:rPr lang="en-US" dirty="0"/>
              <a:t> right child.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17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u="sng" dirty="0"/>
              <a:t>C function for BST </a:t>
            </a:r>
            <a:r>
              <a:rPr lang="en-US" b="1" u="sng" dirty="0" smtClean="0"/>
              <a:t>insertion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/>
              <a:t>insert(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 *root, </a:t>
            </a:r>
            <a:r>
              <a:rPr lang="en-US" dirty="0" err="1"/>
              <a:t>int</a:t>
            </a:r>
            <a:r>
              <a:rPr lang="en-US" dirty="0"/>
              <a:t> item) {</a:t>
            </a:r>
          </a:p>
          <a:p>
            <a:pPr marL="0" indent="0">
              <a:buNone/>
            </a:pPr>
            <a:r>
              <a:rPr lang="en-US" dirty="0"/>
              <a:t>if(root=NULL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root</a:t>
            </a:r>
            <a:r>
              <a:rPr lang="en-US" dirty="0"/>
              <a:t>=(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*)</a:t>
            </a:r>
            <a:r>
              <a:rPr lang="en-US" dirty="0" err="1"/>
              <a:t>malloc</a:t>
            </a:r>
            <a:r>
              <a:rPr lang="en-US" dirty="0"/>
              <a:t> (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bnode</a:t>
            </a:r>
            <a:r>
              <a:rPr lang="en-US" dirty="0"/>
              <a:t>)); </a:t>
            </a: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root-</a:t>
            </a:r>
            <a:r>
              <a:rPr lang="en-US" dirty="0"/>
              <a:t>&gt;left=root-&gt;right=NULL;</a:t>
            </a:r>
          </a:p>
          <a:p>
            <a:pPr marL="0" indent="0">
              <a:buNone/>
            </a:pPr>
            <a:r>
              <a:rPr lang="en-US" dirty="0" smtClean="0"/>
              <a:t>	root-</a:t>
            </a:r>
            <a:r>
              <a:rPr lang="en-US" dirty="0"/>
              <a:t>&gt;info=item;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else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if(item&lt;root-</a:t>
            </a:r>
            <a:r>
              <a:rPr lang="en-US" dirty="0"/>
              <a:t>&gt;info)</a:t>
            </a:r>
          </a:p>
          <a:p>
            <a:pPr marL="0" indent="0">
              <a:buNone/>
            </a:pPr>
            <a:r>
              <a:rPr lang="en-US" dirty="0" smtClean="0"/>
              <a:t>		root-</a:t>
            </a:r>
            <a:r>
              <a:rPr lang="en-US" dirty="0"/>
              <a:t>&gt;left=insert(root-&gt;left, item);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else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root-</a:t>
            </a:r>
            <a:r>
              <a:rPr lang="en-US" dirty="0"/>
              <a:t>&gt;right=insert(root-&gt;right, item);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9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Deleting a node from the </a:t>
            </a:r>
            <a:r>
              <a:rPr lang="en-US" b="1" dirty="0" smtClean="0"/>
              <a:t>BST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219201"/>
            <a:ext cx="9829800" cy="4906963"/>
          </a:xfrm>
        </p:spPr>
        <p:txBody>
          <a:bodyPr/>
          <a:lstStyle/>
          <a:p>
            <a:r>
              <a:rPr lang="en-US" dirty="0" smtClean="0"/>
              <a:t>While </a:t>
            </a:r>
            <a:r>
              <a:rPr lang="en-US" dirty="0"/>
              <a:t>deleting a node from BST, there may be three cases: </a:t>
            </a:r>
            <a:endParaRPr lang="en-US" dirty="0" smtClean="0"/>
          </a:p>
          <a:p>
            <a:pPr marL="0" indent="0">
              <a:buNone/>
            </a:pPr>
            <a:r>
              <a:rPr lang="en-US" b="1" i="1" dirty="0" smtClean="0"/>
              <a:t>1</a:t>
            </a:r>
            <a:r>
              <a:rPr lang="en-US" b="1" i="1" dirty="0"/>
              <a:t>.</a:t>
            </a:r>
            <a:r>
              <a:rPr lang="en-US" dirty="0"/>
              <a:t> </a:t>
            </a:r>
            <a:r>
              <a:rPr lang="en-US" b="1" i="1" dirty="0"/>
              <a:t>The</a:t>
            </a:r>
            <a:r>
              <a:rPr lang="en-US" dirty="0"/>
              <a:t> </a:t>
            </a:r>
            <a:r>
              <a:rPr lang="en-US" b="1" i="1" dirty="0"/>
              <a:t>node</a:t>
            </a:r>
            <a:r>
              <a:rPr lang="en-US" dirty="0"/>
              <a:t> </a:t>
            </a:r>
            <a:r>
              <a:rPr lang="en-US" b="1" i="1" dirty="0"/>
              <a:t>to</a:t>
            </a:r>
            <a:r>
              <a:rPr lang="en-US" dirty="0"/>
              <a:t> </a:t>
            </a:r>
            <a:r>
              <a:rPr lang="en-US" b="1" i="1" dirty="0"/>
              <a:t>be</a:t>
            </a:r>
            <a:r>
              <a:rPr lang="en-US" dirty="0"/>
              <a:t> </a:t>
            </a:r>
            <a:r>
              <a:rPr lang="en-US" b="1" i="1" dirty="0"/>
              <a:t>deleted</a:t>
            </a:r>
            <a:r>
              <a:rPr lang="en-US" dirty="0"/>
              <a:t> </a:t>
            </a:r>
            <a:r>
              <a:rPr lang="en-US" b="1" i="1" dirty="0"/>
              <a:t>may</a:t>
            </a:r>
            <a:r>
              <a:rPr lang="en-US" dirty="0"/>
              <a:t> </a:t>
            </a:r>
            <a:r>
              <a:rPr lang="en-US" b="1" i="1" dirty="0"/>
              <a:t>be</a:t>
            </a:r>
            <a:r>
              <a:rPr lang="en-US" dirty="0"/>
              <a:t> </a:t>
            </a:r>
            <a:r>
              <a:rPr lang="en-US" b="1" i="1" dirty="0"/>
              <a:t>a</a:t>
            </a:r>
            <a:r>
              <a:rPr lang="en-US" dirty="0"/>
              <a:t> </a:t>
            </a:r>
            <a:r>
              <a:rPr lang="en-US" b="1" i="1" dirty="0"/>
              <a:t>leaf</a:t>
            </a:r>
            <a:r>
              <a:rPr lang="en-US" dirty="0"/>
              <a:t> </a:t>
            </a:r>
            <a:r>
              <a:rPr lang="en-US" b="1" i="1" dirty="0"/>
              <a:t>node:</a:t>
            </a:r>
            <a:endParaRPr lang="en-US" dirty="0"/>
          </a:p>
          <a:p>
            <a:pPr lvl="1"/>
            <a:r>
              <a:rPr lang="en-US" dirty="0"/>
              <a:t>In this case simply delete a node and set null pointer to its parents those side at which this deleted node exist.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11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524000"/>
            <a:ext cx="6750743" cy="2586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465362" y="4736068"/>
            <a:ext cx="326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Suppose node to be deleted is -4</a:t>
            </a:r>
          </a:p>
        </p:txBody>
      </p:sp>
    </p:spTree>
    <p:extLst>
      <p:ext uri="{BB962C8B-B14F-4D97-AF65-F5344CB8AC3E}">
        <p14:creationId xmlns:p14="http://schemas.microsoft.com/office/powerpoint/2010/main" val="332135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1"/>
            <a:ext cx="10058400" cy="556259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node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be</a:t>
            </a:r>
            <a:r>
              <a:rPr lang="en-US" dirty="0"/>
              <a:t> </a:t>
            </a:r>
            <a:r>
              <a:rPr lang="en-US" b="1" dirty="0"/>
              <a:t>deleted</a:t>
            </a:r>
            <a:r>
              <a:rPr lang="en-US" dirty="0"/>
              <a:t> </a:t>
            </a:r>
            <a:r>
              <a:rPr lang="en-US" b="1" dirty="0"/>
              <a:t>has</a:t>
            </a:r>
            <a:r>
              <a:rPr lang="en-US" dirty="0"/>
              <a:t> </a:t>
            </a:r>
            <a:r>
              <a:rPr lang="en-US" b="1" dirty="0"/>
              <a:t>one</a:t>
            </a:r>
            <a:r>
              <a:rPr lang="en-US" dirty="0"/>
              <a:t> </a:t>
            </a:r>
            <a:r>
              <a:rPr lang="en-US" b="1" dirty="0"/>
              <a:t>child:</a:t>
            </a:r>
            <a:endParaRPr lang="en-US" dirty="0"/>
          </a:p>
          <a:p>
            <a:pPr lvl="1"/>
            <a:r>
              <a:rPr lang="en-US" dirty="0"/>
              <a:t>In this case the child of the node to be deleted is appended to its parent node. Suppose node to be deleted is 18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078" y="2895600"/>
            <a:ext cx="6327523" cy="3337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3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457200"/>
            <a:ext cx="9296400" cy="5791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</a:t>
            </a:r>
            <a:r>
              <a:rPr lang="en-US" b="1" dirty="0" smtClean="0"/>
              <a:t>he</a:t>
            </a:r>
            <a:r>
              <a:rPr lang="en-US" dirty="0" smtClean="0"/>
              <a:t> </a:t>
            </a:r>
            <a:r>
              <a:rPr lang="en-US" b="1" dirty="0"/>
              <a:t>node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</a:t>
            </a:r>
            <a:r>
              <a:rPr lang="en-US" b="1" dirty="0"/>
              <a:t>be</a:t>
            </a:r>
            <a:r>
              <a:rPr lang="en-US" dirty="0"/>
              <a:t> </a:t>
            </a:r>
            <a:r>
              <a:rPr lang="en-US" b="1" dirty="0"/>
              <a:t>deleted</a:t>
            </a:r>
            <a:r>
              <a:rPr lang="en-US" dirty="0"/>
              <a:t> </a:t>
            </a:r>
            <a:r>
              <a:rPr lang="en-US" b="1" dirty="0"/>
              <a:t>has</a:t>
            </a:r>
            <a:r>
              <a:rPr lang="en-US" dirty="0"/>
              <a:t> </a:t>
            </a:r>
            <a:r>
              <a:rPr lang="en-US" b="1" dirty="0"/>
              <a:t>two</a:t>
            </a:r>
            <a:r>
              <a:rPr lang="en-US" dirty="0"/>
              <a:t> </a:t>
            </a:r>
            <a:r>
              <a:rPr lang="en-US" b="1" dirty="0"/>
              <a:t>children:</a:t>
            </a:r>
            <a:endParaRPr lang="en-US" dirty="0"/>
          </a:p>
          <a:p>
            <a:r>
              <a:rPr lang="en-US" sz="2400" dirty="0"/>
              <a:t>In this case node to be deleted is replaced by its in-order successor node. OR</a:t>
            </a:r>
          </a:p>
          <a:p>
            <a:r>
              <a:rPr lang="en-US" sz="2400" dirty="0"/>
              <a:t>If the node to be deleted is either replaced by its right sub-trees leftmost node or its left sub-trees rightmost node.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2707460"/>
            <a:ext cx="3067050" cy="2931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180" y="2743200"/>
            <a:ext cx="367402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14801" y="5726669"/>
            <a:ext cx="411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Suppose node to deleted is 12</a:t>
            </a:r>
          </a:p>
        </p:txBody>
      </p:sp>
    </p:spTree>
    <p:extLst>
      <p:ext uri="{BB962C8B-B14F-4D97-AF65-F5344CB8AC3E}">
        <p14:creationId xmlns:p14="http://schemas.microsoft.com/office/powerpoint/2010/main" val="367683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609601"/>
            <a:ext cx="10363200" cy="57149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 minimum element in the right sub-tree of the node to be removed. In current example it is 19.</a:t>
            </a:r>
          </a:p>
          <a:p>
            <a:pPr marL="0" indent="0">
              <a:buNone/>
            </a:pPr>
            <a:r>
              <a:rPr lang="en-US" b="1" u="sng" dirty="0"/>
              <a:t>General algorithm to delete a node from a BST: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/>
              <a:t>. start</a:t>
            </a:r>
          </a:p>
          <a:p>
            <a:pPr marL="0" indent="0">
              <a:buNone/>
            </a:pPr>
            <a:r>
              <a:rPr lang="en-US" dirty="0"/>
              <a:t>2. if a node to be deleted is a leaf nod at left side then </a:t>
            </a:r>
            <a:r>
              <a:rPr lang="en-US" dirty="0" smtClean="0"/>
              <a:t>simply delete </a:t>
            </a:r>
            <a:r>
              <a:rPr lang="en-US" dirty="0"/>
              <a:t>and set null pointer to it's parent's left pointer.</a:t>
            </a:r>
          </a:p>
          <a:p>
            <a:pPr marL="0" indent="0">
              <a:buNone/>
            </a:pPr>
            <a:r>
              <a:rPr lang="en-US" dirty="0"/>
              <a:t>3. If a node to be deleted is a leaf node at right side then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simply </a:t>
            </a:r>
            <a:r>
              <a:rPr lang="en-US" dirty="0"/>
              <a:t>delete and set null pointer to it's parent's </a:t>
            </a:r>
            <a:r>
              <a:rPr lang="en-US" dirty="0" smtClean="0"/>
              <a:t>right pointer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4. if a node to be deleted has on child then connect it's </a:t>
            </a:r>
            <a:r>
              <a:rPr lang="en-US" dirty="0" smtClean="0"/>
              <a:t>child pointer </a:t>
            </a:r>
            <a:r>
              <a:rPr lang="en-US" dirty="0"/>
              <a:t>with it's parent pointer and delete it from the tree</a:t>
            </a:r>
          </a:p>
          <a:p>
            <a:pPr marL="0" indent="0">
              <a:buNone/>
            </a:pPr>
            <a:r>
              <a:rPr lang="en-US" dirty="0"/>
              <a:t>5. if a node to be deleted has two children then replace the node </a:t>
            </a:r>
            <a:r>
              <a:rPr lang="en-US" dirty="0" smtClean="0"/>
              <a:t>being deleted </a:t>
            </a:r>
            <a:r>
              <a:rPr lang="en-US" dirty="0"/>
              <a:t>either by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</a:t>
            </a:r>
            <a:r>
              <a:rPr lang="en-US" dirty="0"/>
              <a:t>. right most node of it's left sub-tree or</a:t>
            </a:r>
          </a:p>
          <a:p>
            <a:pPr marL="0" indent="0">
              <a:buNone/>
            </a:pPr>
            <a:r>
              <a:rPr lang="en-US" dirty="0" smtClean="0"/>
              <a:t>	b</a:t>
            </a:r>
            <a:r>
              <a:rPr lang="en-US" dirty="0"/>
              <a:t>. left most node of it's right sub-tree.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6</a:t>
            </a:r>
            <a:r>
              <a:rPr lang="en-US" dirty="0"/>
              <a:t>. End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40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57200"/>
            <a:ext cx="5715000" cy="6019800"/>
          </a:xfrm>
          <a:ln>
            <a:solidFill>
              <a:schemeClr val="bg1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FF0000"/>
                </a:solidFill>
              </a:rPr>
              <a:t>The </a:t>
            </a:r>
            <a:r>
              <a:rPr lang="en-US" sz="2800" b="1" u="sng" dirty="0" err="1">
                <a:solidFill>
                  <a:srgbClr val="FF0000"/>
                </a:solidFill>
              </a:rPr>
              <a:t>deleteBST</a:t>
            </a:r>
            <a:r>
              <a:rPr lang="en-US" sz="2800" b="1" u="sng" dirty="0">
                <a:solidFill>
                  <a:srgbClr val="FF0000"/>
                </a:solidFill>
              </a:rPr>
              <a:t> function</a:t>
            </a:r>
            <a:endParaRPr lang="en-US" sz="1800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 err="1"/>
              <a:t>struct</a:t>
            </a:r>
            <a:r>
              <a:rPr lang="en-US" sz="2000" dirty="0"/>
              <a:t> </a:t>
            </a:r>
            <a:r>
              <a:rPr lang="en-US" sz="2000" dirty="0" err="1"/>
              <a:t>bnode</a:t>
            </a:r>
            <a:r>
              <a:rPr lang="en-US" sz="2000" dirty="0"/>
              <a:t> *delete(</a:t>
            </a:r>
            <a:r>
              <a:rPr lang="en-US" sz="2000" dirty="0" err="1"/>
              <a:t>struct</a:t>
            </a:r>
            <a:r>
              <a:rPr lang="en-US" sz="2000" dirty="0"/>
              <a:t> </a:t>
            </a:r>
            <a:r>
              <a:rPr lang="en-US" sz="2000" dirty="0" err="1"/>
              <a:t>bnode</a:t>
            </a:r>
            <a:r>
              <a:rPr lang="en-US" sz="2000" dirty="0"/>
              <a:t> *root, </a:t>
            </a:r>
            <a:r>
              <a:rPr lang="en-US" sz="2000" dirty="0" err="1"/>
              <a:t>int</a:t>
            </a:r>
            <a:r>
              <a:rPr lang="en-US" sz="2000" dirty="0"/>
              <a:t> item) </a:t>
            </a:r>
            <a:r>
              <a:rPr lang="en-US" sz="2000" dirty="0" smtClean="0"/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struct</a:t>
            </a:r>
            <a:r>
              <a:rPr lang="en-US" sz="2000" dirty="0"/>
              <a:t> </a:t>
            </a:r>
            <a:r>
              <a:rPr lang="en-US" sz="2000" dirty="0" err="1"/>
              <a:t>bnode</a:t>
            </a:r>
            <a:r>
              <a:rPr lang="en-US" sz="2000" dirty="0"/>
              <a:t> *temp;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if(root</a:t>
            </a:r>
            <a:r>
              <a:rPr lang="en-US" sz="2000" dirty="0"/>
              <a:t>==NULL</a:t>
            </a:r>
            <a:r>
              <a:rPr lang="en-US" sz="2000" dirty="0" smtClean="0"/>
              <a:t>){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</a:t>
            </a:r>
            <a:r>
              <a:rPr lang="en-US" sz="2000" dirty="0" err="1" smtClean="0"/>
              <a:t>printf</a:t>
            </a:r>
            <a:r>
              <a:rPr lang="en-US" sz="2000" dirty="0"/>
              <a:t>(“Empty tree”); return;</a:t>
            </a:r>
          </a:p>
          <a:p>
            <a:pPr marL="0" indent="0">
              <a:buNone/>
            </a:pPr>
            <a:r>
              <a:rPr lang="en-US" sz="2000" dirty="0" smtClean="0"/>
              <a:t>	}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else if(item&lt;root-&gt;info)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root-</a:t>
            </a:r>
            <a:r>
              <a:rPr lang="en-US" sz="2000" dirty="0"/>
              <a:t>&gt;left=delete(root-&gt;left, item);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else </a:t>
            </a:r>
            <a:r>
              <a:rPr lang="en-US" sz="2000" dirty="0"/>
              <a:t>if(item&gt;root-&gt;info)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root-</a:t>
            </a:r>
            <a:r>
              <a:rPr lang="en-US" sz="2000" dirty="0"/>
              <a:t>&gt;right=delete(root-&gt;right, item);</a:t>
            </a:r>
          </a:p>
          <a:p>
            <a:pPr marL="0" indent="0">
              <a:buNone/>
            </a:pPr>
            <a:r>
              <a:rPr lang="en-US" sz="2000" dirty="0"/>
              <a:t>else if(root-&gt;left!=NULL &amp;&amp;root-&gt;right!=NULL</a:t>
            </a:r>
            <a:r>
              <a:rPr lang="en-US" sz="2000" dirty="0" smtClean="0"/>
              <a:t>){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	</a:t>
            </a:r>
            <a:r>
              <a:rPr lang="en-US" sz="2000" dirty="0"/>
              <a:t> //node has two child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temp=</a:t>
            </a:r>
            <a:r>
              <a:rPr lang="en-US" sz="2000" dirty="0" err="1" smtClean="0"/>
              <a:t>find_min</a:t>
            </a:r>
            <a:r>
              <a:rPr lang="en-US" sz="2000" dirty="0" smtClean="0"/>
              <a:t>(root-</a:t>
            </a:r>
            <a:r>
              <a:rPr lang="en-US" sz="2000" dirty="0"/>
              <a:t>&gt;right);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root-</a:t>
            </a:r>
            <a:r>
              <a:rPr lang="en-US" sz="2000" dirty="0"/>
              <a:t>&gt;info=temp-&gt;info;</a:t>
            </a:r>
          </a:p>
          <a:p>
            <a:pPr marL="0" indent="0">
              <a:buNone/>
            </a:pPr>
            <a:r>
              <a:rPr lang="en-US" sz="2000" dirty="0" smtClean="0"/>
              <a:t>	root-</a:t>
            </a:r>
            <a:r>
              <a:rPr lang="en-US" sz="2000" dirty="0"/>
              <a:t>&gt;right=delete(root-&gt;right, root-&gt;</a:t>
            </a:r>
            <a:r>
              <a:rPr lang="en-US" sz="2000" dirty="0" smtClean="0"/>
              <a:t>info);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6629400" y="463296"/>
            <a:ext cx="4876800" cy="415498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else </a:t>
            </a:r>
            <a:r>
              <a:rPr lang="en-US" sz="2400" dirty="0" smtClean="0"/>
              <a:t>{</a:t>
            </a:r>
            <a:endParaRPr lang="en-US" sz="2400" dirty="0"/>
          </a:p>
          <a:p>
            <a:r>
              <a:rPr lang="en-US" sz="2400" dirty="0" smtClean="0"/>
              <a:t>   temp=root</a:t>
            </a:r>
            <a:r>
              <a:rPr lang="en-US" sz="2400" dirty="0"/>
              <a:t>;</a:t>
            </a:r>
          </a:p>
          <a:p>
            <a:r>
              <a:rPr lang="en-US" sz="2400" dirty="0" smtClean="0"/>
              <a:t>   if(root-</a:t>
            </a:r>
            <a:r>
              <a:rPr lang="en-US" sz="2400" dirty="0"/>
              <a:t>&gt;left==NULL) 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root=root-</a:t>
            </a:r>
            <a:r>
              <a:rPr lang="en-US" sz="2400" dirty="0"/>
              <a:t>&gt;right;</a:t>
            </a:r>
          </a:p>
          <a:p>
            <a:r>
              <a:rPr lang="en-US" sz="2400" dirty="0" smtClean="0"/>
              <a:t>  else </a:t>
            </a:r>
            <a:r>
              <a:rPr lang="en-US" sz="2400" dirty="0"/>
              <a:t>if(root-&gt;right==NULL) 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root=root-</a:t>
            </a:r>
            <a:r>
              <a:rPr lang="en-US" sz="2400" dirty="0"/>
              <a:t>&gt;</a:t>
            </a:r>
            <a:r>
              <a:rPr lang="en-US" sz="2400" dirty="0" smtClean="0"/>
              <a:t>left;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free(temp</a:t>
            </a:r>
            <a:r>
              <a:rPr lang="en-US" sz="2400" dirty="0"/>
              <a:t>); </a:t>
            </a:r>
          </a:p>
          <a:p>
            <a:r>
              <a:rPr lang="en-US" sz="2400" dirty="0" smtClean="0"/>
              <a:t>     } 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return(temp</a:t>
            </a:r>
            <a:r>
              <a:rPr lang="en-US" sz="2400" dirty="0"/>
              <a:t>);</a:t>
            </a:r>
          </a:p>
          <a:p>
            <a:r>
              <a:rPr lang="en-US" sz="2400" dirty="0"/>
              <a:t>}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630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2"/>
          </a:xfrm>
        </p:spPr>
        <p:txBody>
          <a:bodyPr/>
          <a:lstStyle/>
          <a:p>
            <a:pPr algn="l"/>
            <a:r>
              <a:rPr lang="en-US" dirty="0" smtClean="0"/>
              <a:t>find minimum element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371600"/>
            <a:ext cx="8763000" cy="4525963"/>
          </a:xfrm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 smtClean="0"/>
              <a:t>struct</a:t>
            </a:r>
            <a:r>
              <a:rPr lang="en-US" sz="2800" dirty="0" smtClean="0"/>
              <a:t> </a:t>
            </a:r>
            <a:r>
              <a:rPr lang="en-US" sz="2800" dirty="0" err="1"/>
              <a:t>bnode</a:t>
            </a:r>
            <a:r>
              <a:rPr lang="en-US" sz="2800" dirty="0"/>
              <a:t> </a:t>
            </a:r>
            <a:r>
              <a:rPr lang="en-US" sz="2800" dirty="0" smtClean="0"/>
              <a:t> </a:t>
            </a:r>
            <a:r>
              <a:rPr lang="en-US" sz="2800" dirty="0" err="1" smtClean="0"/>
              <a:t>find_min</a:t>
            </a:r>
            <a:r>
              <a:rPr lang="en-US" sz="2800" dirty="0" smtClean="0"/>
              <a:t>(</a:t>
            </a:r>
            <a:r>
              <a:rPr lang="en-US" sz="2800" dirty="0" err="1" smtClean="0"/>
              <a:t>struct</a:t>
            </a:r>
            <a:r>
              <a:rPr lang="en-US" sz="2800" dirty="0" smtClean="0"/>
              <a:t> </a:t>
            </a:r>
            <a:r>
              <a:rPr lang="en-US" sz="2800" dirty="0" err="1"/>
              <a:t>bnode</a:t>
            </a:r>
            <a:r>
              <a:rPr lang="en-US" sz="2800" dirty="0"/>
              <a:t> *root</a:t>
            </a:r>
            <a:r>
              <a:rPr lang="en-US" sz="2800" dirty="0" smtClean="0"/>
              <a:t>){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	if(root</a:t>
            </a:r>
            <a:r>
              <a:rPr lang="en-US" sz="2800" dirty="0"/>
              <a:t>==NULL)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return 0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 smtClean="0"/>
              <a:t>	else </a:t>
            </a:r>
            <a:r>
              <a:rPr lang="en-US" sz="2800" dirty="0"/>
              <a:t>if(root-&gt;left==NULL)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smtClean="0"/>
              <a:t>	return </a:t>
            </a:r>
            <a:r>
              <a:rPr lang="en-US" sz="2800" dirty="0"/>
              <a:t>root;</a:t>
            </a:r>
          </a:p>
          <a:p>
            <a:pPr marL="0" indent="0">
              <a:buNone/>
            </a:pPr>
            <a:r>
              <a:rPr lang="en-US" sz="2800" dirty="0" smtClean="0"/>
              <a:t>	else</a:t>
            </a: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		return(</a:t>
            </a:r>
            <a:r>
              <a:rPr lang="en-US" sz="2800" dirty="0" err="1" smtClean="0"/>
              <a:t>find_min</a:t>
            </a:r>
            <a:r>
              <a:rPr lang="en-US" sz="2800" dirty="0" smtClean="0"/>
              <a:t>(root-</a:t>
            </a:r>
            <a:r>
              <a:rPr lang="en-US" sz="2800" dirty="0"/>
              <a:t>&gt;left));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584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884238"/>
          </a:xfrm>
        </p:spPr>
        <p:txBody>
          <a:bodyPr>
            <a:noAutofit/>
          </a:bodyPr>
          <a:lstStyle/>
          <a:p>
            <a:pPr lvl="0" algn="l" eaLnBrk="0" fontAlgn="base" hangingPunct="0">
              <a:spcAft>
                <a:spcPct val="0"/>
              </a:spcAft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omplexity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of Binary search </a:t>
            </a:r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3109290"/>
              </p:ext>
            </p:extLst>
          </p:nvPr>
        </p:nvGraphicFramePr>
        <p:xfrm>
          <a:off x="1981200" y="1752600"/>
          <a:ext cx="8610600" cy="3339738"/>
        </p:xfrm>
        <a:graphic>
          <a:graphicData uri="http://schemas.openxmlformats.org/drawingml/2006/table">
            <a:tbl>
              <a:tblPr/>
              <a:tblGrid>
                <a:gridCol w="3657600"/>
                <a:gridCol w="2819400"/>
                <a:gridCol w="2133600"/>
              </a:tblGrid>
              <a:tr h="801189"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Average Case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Worst case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Space Complexity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O(n)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O(n)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Search Complexity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O(log 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O(n)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463"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Insertion Complexity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O(log 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O(n)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1189"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Deletion Complexity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>
                          <a:effectLst/>
                        </a:rPr>
                        <a:t>O(log 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>
                          <a:effectLst/>
                        </a:rPr>
                        <a:t>O(n)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86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4100" dirty="0" smtClean="0"/>
              <a:t>tree </a:t>
            </a:r>
            <a:r>
              <a:rPr lang="en-US" sz="4100" dirty="0"/>
              <a:t>terminology:</a:t>
            </a:r>
          </a:p>
          <a:p>
            <a:r>
              <a:rPr lang="en-US" b="1" dirty="0" smtClean="0"/>
              <a:t>depth</a:t>
            </a:r>
            <a:r>
              <a:rPr lang="en-US" dirty="0" smtClean="0"/>
              <a:t> </a:t>
            </a:r>
            <a:r>
              <a:rPr lang="en-US" dirty="0"/>
              <a:t>of a node is the number of edges from the root to the node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height</a:t>
            </a:r>
            <a:r>
              <a:rPr lang="en-US" dirty="0" smtClean="0"/>
              <a:t> </a:t>
            </a:r>
            <a:r>
              <a:rPr lang="en-US" dirty="0"/>
              <a:t>of a node is the number of edges from the node to the deepest leaf.</a:t>
            </a:r>
          </a:p>
          <a:p>
            <a:r>
              <a:rPr lang="en-US" i="1" dirty="0">
                <a:solidFill>
                  <a:srgbClr val="FF0000"/>
                </a:solidFill>
              </a:rPr>
              <a:t>The height of a tree is a height of the root.</a:t>
            </a:r>
          </a:p>
          <a:p>
            <a:r>
              <a:rPr lang="en-US" b="1" dirty="0" smtClean="0"/>
              <a:t>Degree</a:t>
            </a:r>
            <a:r>
              <a:rPr lang="en-US" dirty="0"/>
              <a:t> :- Degree of a node is equal to number of children, a node have</a:t>
            </a:r>
            <a:r>
              <a:rPr lang="en-US" dirty="0" smtClean="0"/>
              <a:t>.</a:t>
            </a:r>
          </a:p>
          <a:p>
            <a:r>
              <a:rPr lang="en-US" b="1" dirty="0"/>
              <a:t>Ancestor node</a:t>
            </a:r>
            <a:r>
              <a:rPr lang="en-US" dirty="0"/>
              <a:t> :- An ancestor of a node is any predecessor node on a path from root to that node. The root node doesn't have any ancestors</a:t>
            </a:r>
            <a:r>
              <a:rPr lang="en-US" dirty="0" smtClean="0"/>
              <a:t>.</a:t>
            </a:r>
          </a:p>
          <a:p>
            <a:r>
              <a:rPr lang="en-US" b="1" dirty="0"/>
              <a:t>Path</a:t>
            </a:r>
            <a:r>
              <a:rPr lang="en-US" dirty="0"/>
              <a:t> :- The sequence of consecutive edges is called path.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912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re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1024744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11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6296</TotalTime>
  <Words>2187</Words>
  <Application>Microsoft Office PowerPoint</Application>
  <PresentationFormat>Widescreen</PresentationFormat>
  <Paragraphs>341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Arial</vt:lpstr>
      <vt:lpstr>Calibri</vt:lpstr>
      <vt:lpstr>Wingdings</vt:lpstr>
      <vt:lpstr>Office Theme</vt:lpstr>
      <vt:lpstr>Tree</vt:lpstr>
      <vt:lpstr>Tree data structure</vt:lpstr>
      <vt:lpstr>Tree</vt:lpstr>
      <vt:lpstr>PowerPoint Presentation</vt:lpstr>
      <vt:lpstr>Tree</vt:lpstr>
      <vt:lpstr>Graph theoretic definition of a Tree</vt:lpstr>
      <vt:lpstr>Recursive definition of tree</vt:lpstr>
      <vt:lpstr>Characteristics of trees</vt:lpstr>
      <vt:lpstr>Some key terms</vt:lpstr>
      <vt:lpstr>PowerPoint Presentation</vt:lpstr>
      <vt:lpstr>Illustration:</vt:lpstr>
      <vt:lpstr>PowerPoint Presentation</vt:lpstr>
      <vt:lpstr>Binary Tree</vt:lpstr>
      <vt:lpstr>Some properties of a binary tree</vt:lpstr>
      <vt:lpstr>PowerPoint Presentation</vt:lpstr>
      <vt:lpstr>PowerPoint Presentation</vt:lpstr>
      <vt:lpstr>PowerPoint Presentation</vt:lpstr>
      <vt:lpstr>Types of binary tree</vt:lpstr>
      <vt:lpstr>PowerPoint Presentation</vt:lpstr>
      <vt:lpstr>PowerPoint Presentation</vt:lpstr>
      <vt:lpstr>Almost complete binary tree</vt:lpstr>
      <vt:lpstr>PowerPoint Presentation</vt:lpstr>
      <vt:lpstr>Operations on Binary tree</vt:lpstr>
      <vt:lpstr>PowerPoint Presentation</vt:lpstr>
      <vt:lpstr>C representation for Binary tree</vt:lpstr>
      <vt:lpstr>PowerPoint Presentation</vt:lpstr>
      <vt:lpstr>Tree traversal</vt:lpstr>
      <vt:lpstr>Pre-order traversal</vt:lpstr>
      <vt:lpstr>PowerPoint Presentation</vt:lpstr>
      <vt:lpstr>C function for preorder traversing</vt:lpstr>
      <vt:lpstr>In-order traversal</vt:lpstr>
      <vt:lpstr>C function for inorder traversing</vt:lpstr>
      <vt:lpstr>Post-order traversal</vt:lpstr>
      <vt:lpstr>C function for post-order traversing</vt:lpstr>
      <vt:lpstr>Binary search tree(BST)</vt:lpstr>
      <vt:lpstr>Construct tree</vt:lpstr>
      <vt:lpstr>Operations on Binary search tree(BST):</vt:lpstr>
      <vt:lpstr>Searching through the BST</vt:lpstr>
      <vt:lpstr>PowerPoint Presentation</vt:lpstr>
      <vt:lpstr>C function for BST searching:</vt:lpstr>
      <vt:lpstr>insertion of a node in BST</vt:lpstr>
      <vt:lpstr>Construct tree</vt:lpstr>
      <vt:lpstr>PowerPoint Presentation</vt:lpstr>
      <vt:lpstr>C function for BST insertion</vt:lpstr>
      <vt:lpstr>Deleting a node from the BST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 minimum element function</vt:lpstr>
      <vt:lpstr>Complexity of Binary search tree</vt:lpstr>
      <vt:lpstr>Review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</dc:title>
  <dc:creator>User</dc:creator>
  <cp:lastModifiedBy>Microsoft account</cp:lastModifiedBy>
  <cp:revision>218</cp:revision>
  <dcterms:created xsi:type="dcterms:W3CDTF">2015-08-26T15:32:04Z</dcterms:created>
  <dcterms:modified xsi:type="dcterms:W3CDTF">2021-11-17T07:10:06Z</dcterms:modified>
</cp:coreProperties>
</file>