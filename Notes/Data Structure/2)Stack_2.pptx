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64" r:id="rId3"/>
    <p:sldId id="266" r:id="rId4"/>
    <p:sldId id="267" r:id="rId5"/>
    <p:sldId id="268" r:id="rId6"/>
    <p:sldId id="269" r:id="rId7"/>
    <p:sldId id="270" r:id="rId8"/>
    <p:sldId id="272" r:id="rId9"/>
    <p:sldId id="273" r:id="rId10"/>
    <p:sldId id="275" r:id="rId11"/>
    <p:sldId id="276" r:id="rId12"/>
    <p:sldId id="277" r:id="rId13"/>
    <p:sldId id="278" r:id="rId14"/>
    <p:sldId id="279" r:id="rId15"/>
    <p:sldId id="257" r:id="rId16"/>
    <p:sldId id="258" r:id="rId17"/>
    <p:sldId id="259" r:id="rId18"/>
    <p:sldId id="317" r:id="rId19"/>
    <p:sldId id="316" r:id="rId20"/>
    <p:sldId id="260" r:id="rId21"/>
    <p:sldId id="318" r:id="rId22"/>
    <p:sldId id="262" r:id="rId23"/>
    <p:sldId id="263" r:id="rId24"/>
    <p:sldId id="319" r:id="rId25"/>
    <p:sldId id="320" r:id="rId26"/>
    <p:sldId id="271" r:id="rId27"/>
    <p:sldId id="280" r:id="rId28"/>
    <p:sldId id="321" r:id="rId29"/>
    <p:sldId id="281" r:id="rId30"/>
    <p:sldId id="282" r:id="rId31"/>
    <p:sldId id="286" r:id="rId32"/>
    <p:sldId id="287" r:id="rId33"/>
    <p:sldId id="288" r:id="rId34"/>
    <p:sldId id="289" r:id="rId35"/>
    <p:sldId id="283" r:id="rId36"/>
    <p:sldId id="291" r:id="rId37"/>
    <p:sldId id="290" r:id="rId38"/>
    <p:sldId id="292" r:id="rId39"/>
    <p:sldId id="294" r:id="rId40"/>
    <p:sldId id="295" r:id="rId41"/>
    <p:sldId id="296" r:id="rId42"/>
    <p:sldId id="293" r:id="rId43"/>
    <p:sldId id="297" r:id="rId44"/>
    <p:sldId id="298" r:id="rId45"/>
    <p:sldId id="302" r:id="rId46"/>
    <p:sldId id="315" r:id="rId47"/>
    <p:sldId id="303" r:id="rId48"/>
    <p:sldId id="299" r:id="rId49"/>
    <p:sldId id="300" r:id="rId50"/>
    <p:sldId id="301" r:id="rId51"/>
    <p:sldId id="304" r:id="rId52"/>
    <p:sldId id="305" r:id="rId53"/>
    <p:sldId id="306" r:id="rId54"/>
    <p:sldId id="307" r:id="rId55"/>
    <p:sldId id="308" r:id="rId56"/>
    <p:sldId id="311" r:id="rId57"/>
    <p:sldId id="310" r:id="rId58"/>
    <p:sldId id="312" r:id="rId59"/>
    <p:sldId id="313" r:id="rId60"/>
    <p:sldId id="314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179FF-FAF5-41B7-B25B-1E6A0B3A29FE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6CC0E-3A3B-4D1B-AD6C-9BEE0ADF4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5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2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4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5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4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1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6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9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6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9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04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9F47-1229-4ED6-9515-BFF000A4B579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103D5-D4CD-452D-B0AC-8DDC0F22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8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1831975"/>
          </a:xfrm>
        </p:spPr>
        <p:txBody>
          <a:bodyPr>
            <a:normAutofit/>
          </a:bodyPr>
          <a:lstStyle/>
          <a:p>
            <a:r>
              <a:rPr lang="en-US" sz="6000" b="1" dirty="0"/>
              <a:t>Stack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95183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Stack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89925" cy="4876800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A</a:t>
            </a:r>
            <a:r>
              <a:rPr lang="en-US" dirty="0"/>
              <a:t> </a:t>
            </a:r>
            <a:r>
              <a:rPr lang="en-US" b="1" i="1" dirty="0"/>
              <a:t>stack</a:t>
            </a:r>
            <a:r>
              <a:rPr lang="en-US" dirty="0"/>
              <a:t> </a:t>
            </a:r>
            <a:r>
              <a:rPr lang="en-US" b="1" i="1" dirty="0"/>
              <a:t>is</a:t>
            </a:r>
            <a:r>
              <a:rPr lang="en-US" dirty="0"/>
              <a:t> </a:t>
            </a:r>
            <a:r>
              <a:rPr lang="en-US" b="1" i="1" dirty="0"/>
              <a:t>an</a:t>
            </a:r>
            <a:r>
              <a:rPr lang="en-US" dirty="0"/>
              <a:t> </a:t>
            </a:r>
            <a:r>
              <a:rPr lang="en-US" b="1" i="1" dirty="0"/>
              <a:t>ordered</a:t>
            </a:r>
            <a:r>
              <a:rPr lang="en-US" dirty="0"/>
              <a:t> </a:t>
            </a:r>
            <a:r>
              <a:rPr lang="en-US" b="1" i="1" dirty="0"/>
              <a:t>collection</a:t>
            </a:r>
            <a:r>
              <a:rPr lang="en-US" dirty="0"/>
              <a:t> </a:t>
            </a:r>
            <a:r>
              <a:rPr lang="en-US" b="1" i="1" dirty="0"/>
              <a:t>of</a:t>
            </a:r>
            <a:r>
              <a:rPr lang="en-US" dirty="0"/>
              <a:t> </a:t>
            </a:r>
            <a:r>
              <a:rPr lang="en-US" b="1" i="1" dirty="0"/>
              <a:t>items</a:t>
            </a:r>
            <a:r>
              <a:rPr lang="en-US" dirty="0"/>
              <a:t> </a:t>
            </a:r>
            <a:r>
              <a:rPr lang="en-US" b="1" i="1" dirty="0"/>
              <a:t>into</a:t>
            </a:r>
            <a:r>
              <a:rPr lang="en-US" dirty="0"/>
              <a:t> </a:t>
            </a:r>
            <a:r>
              <a:rPr lang="en-US" b="1" i="1" dirty="0"/>
              <a:t>which</a:t>
            </a:r>
            <a:r>
              <a:rPr lang="en-US" dirty="0"/>
              <a:t> </a:t>
            </a:r>
            <a:r>
              <a:rPr lang="en-US" b="1" i="1" dirty="0"/>
              <a:t>new</a:t>
            </a:r>
            <a:r>
              <a:rPr lang="en-US" dirty="0"/>
              <a:t> </a:t>
            </a:r>
            <a:r>
              <a:rPr lang="en-US" b="1" i="1" dirty="0"/>
              <a:t>items</a:t>
            </a:r>
            <a:r>
              <a:rPr lang="en-US" dirty="0"/>
              <a:t> </a:t>
            </a:r>
            <a:r>
              <a:rPr lang="en-US" b="1" i="1" dirty="0"/>
              <a:t>may</a:t>
            </a:r>
            <a:r>
              <a:rPr lang="en-US" dirty="0"/>
              <a:t> </a:t>
            </a:r>
            <a:r>
              <a:rPr lang="en-US" b="1" i="1" dirty="0"/>
              <a:t>be</a:t>
            </a:r>
            <a:r>
              <a:rPr lang="en-US" dirty="0"/>
              <a:t> </a:t>
            </a:r>
            <a:r>
              <a:rPr lang="en-US" b="1" i="1" dirty="0">
                <a:solidFill>
                  <a:srgbClr val="C00000"/>
                </a:solidFill>
              </a:rPr>
              <a:t>inserted</a:t>
            </a:r>
            <a:r>
              <a:rPr lang="en-US" dirty="0"/>
              <a:t> </a:t>
            </a:r>
            <a:r>
              <a:rPr lang="en-US" b="1" i="1" dirty="0" smtClean="0"/>
              <a:t>and</a:t>
            </a:r>
            <a:endParaRPr lang="en-US" dirty="0"/>
          </a:p>
          <a:p>
            <a:r>
              <a:rPr lang="en-US" b="1" i="1" dirty="0"/>
              <a:t>from</a:t>
            </a:r>
            <a:r>
              <a:rPr lang="en-US" dirty="0"/>
              <a:t> </a:t>
            </a:r>
            <a:r>
              <a:rPr lang="en-US" b="1" i="1" dirty="0"/>
              <a:t>which</a:t>
            </a:r>
            <a:r>
              <a:rPr lang="en-US" dirty="0"/>
              <a:t> </a:t>
            </a:r>
            <a:r>
              <a:rPr lang="en-US" b="1" i="1" dirty="0"/>
              <a:t>items</a:t>
            </a:r>
            <a:r>
              <a:rPr lang="en-US" dirty="0"/>
              <a:t> </a:t>
            </a:r>
            <a:r>
              <a:rPr lang="en-US" b="1" i="1" dirty="0"/>
              <a:t>may</a:t>
            </a:r>
            <a:r>
              <a:rPr lang="en-US" dirty="0"/>
              <a:t> </a:t>
            </a:r>
            <a:r>
              <a:rPr lang="en-US" b="1" i="1" dirty="0"/>
              <a:t>be</a:t>
            </a:r>
            <a:r>
              <a:rPr lang="en-US" dirty="0"/>
              <a:t> </a:t>
            </a:r>
            <a:r>
              <a:rPr lang="en-US" b="1" i="1" dirty="0">
                <a:solidFill>
                  <a:srgbClr val="C00000"/>
                </a:solidFill>
              </a:rPr>
              <a:t>deleted</a:t>
            </a:r>
            <a:r>
              <a:rPr lang="en-US" dirty="0"/>
              <a:t> </a:t>
            </a:r>
            <a:r>
              <a:rPr lang="en-US" b="1" i="1" dirty="0"/>
              <a:t>at</a:t>
            </a:r>
            <a:r>
              <a:rPr lang="en-US" dirty="0"/>
              <a:t> </a:t>
            </a:r>
            <a:r>
              <a:rPr lang="en-US" b="1" i="1" dirty="0"/>
              <a:t>one</a:t>
            </a:r>
            <a:r>
              <a:rPr lang="en-US" dirty="0"/>
              <a:t> </a:t>
            </a:r>
            <a:r>
              <a:rPr lang="en-US" b="1" i="1" dirty="0"/>
              <a:t>end,</a:t>
            </a:r>
            <a:r>
              <a:rPr lang="en-US" dirty="0"/>
              <a:t> </a:t>
            </a:r>
            <a:r>
              <a:rPr lang="en-US" b="1" i="1" dirty="0"/>
              <a:t>called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top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of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the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i="1" dirty="0" smtClean="0">
                <a:solidFill>
                  <a:srgbClr val="C00000"/>
                </a:solidFill>
              </a:rPr>
              <a:t>stack</a:t>
            </a:r>
          </a:p>
          <a:p>
            <a:pPr marL="0" indent="0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					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C00000"/>
                </a:solidFill>
              </a:rPr>
              <a:t>		fig. stack containing data items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097751"/>
              </p:ext>
            </p:extLst>
          </p:nvPr>
        </p:nvGraphicFramePr>
        <p:xfrm>
          <a:off x="7086600" y="3505200"/>
          <a:ext cx="1414780" cy="2362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4780"/>
              </a:tblGrid>
              <a:tr h="122615">
                <a:tc>
                  <a:txBody>
                    <a:bodyPr/>
                    <a:lstStyle/>
                    <a:p>
                      <a:pPr marL="0" marR="0">
                        <a:lnSpc>
                          <a:spcPts val="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56637">
                <a:tc>
                  <a:txBody>
                    <a:bodyPr/>
                    <a:lstStyle/>
                    <a:p>
                      <a:pPr marL="0" marR="0">
                        <a:lnSpc>
                          <a:spcPts val="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95737">
                <a:tc>
                  <a:txBody>
                    <a:bodyPr/>
                    <a:lstStyle/>
                    <a:p>
                      <a:pPr marL="554355" marR="0">
                        <a:lnSpc>
                          <a:spcPct val="115000"/>
                        </a:lnSpc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</a:t>
                      </a:r>
                    </a:p>
                    <a:p>
                      <a:pPr marL="554355" marR="0">
                        <a:lnSpc>
                          <a:spcPct val="115000"/>
                        </a:lnSpc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95737">
                <a:tc>
                  <a:txBody>
                    <a:bodyPr/>
                    <a:lstStyle/>
                    <a:p>
                      <a:pPr marL="554355" marR="0">
                        <a:lnSpc>
                          <a:spcPct val="115000"/>
                        </a:lnSpc>
                        <a:spcBef>
                          <a:spcPts val="44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</a:t>
                      </a:r>
                    </a:p>
                    <a:p>
                      <a:pPr marL="554355" marR="0">
                        <a:lnSpc>
                          <a:spcPct val="115000"/>
                        </a:lnSpc>
                        <a:spcBef>
                          <a:spcPts val="44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95737">
                <a:tc>
                  <a:txBody>
                    <a:bodyPr/>
                    <a:lstStyle/>
                    <a:p>
                      <a:pPr marL="554355" marR="0">
                        <a:lnSpc>
                          <a:spcPct val="115000"/>
                        </a:lnSpc>
                        <a:spcBef>
                          <a:spcPts val="44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</a:p>
                    <a:p>
                      <a:pPr marL="554355" marR="0">
                        <a:lnSpc>
                          <a:spcPct val="115000"/>
                        </a:lnSpc>
                        <a:spcBef>
                          <a:spcPts val="4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95737">
                <a:tc>
                  <a:txBody>
                    <a:bodyPr/>
                    <a:lstStyle/>
                    <a:p>
                      <a:pPr marL="554355" marR="0">
                        <a:lnSpc>
                          <a:spcPct val="115000"/>
                        </a:lnSpc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</a:p>
                    <a:p>
                      <a:pPr marL="554355" marR="0">
                        <a:lnSpc>
                          <a:spcPct val="115000"/>
                        </a:lnSpc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699126" y="3271421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lang="en-US" sz="1200"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en-US" sz="80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0" y="3962400"/>
            <a:ext cx="990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24600" y="4069082"/>
            <a:ext cx="762000" cy="1981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7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	</a:t>
            </a:r>
            <a:r>
              <a:rPr lang="en-US" sz="2200" dirty="0"/>
              <a:t>stack size-1		</a:t>
            </a:r>
            <a:r>
              <a:rPr lang="en-US" dirty="0" smtClean="0"/>
              <a:t> </a:t>
            </a:r>
            <a:r>
              <a:rPr lang="en-US" sz="2200" dirty="0"/>
              <a:t>stack size-1		</a:t>
            </a:r>
            <a:r>
              <a:rPr lang="en-US" sz="2200" dirty="0" err="1"/>
              <a:t>tos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		   </a:t>
            </a:r>
            <a:r>
              <a:rPr lang="en-US" dirty="0" err="1" smtClean="0"/>
              <a:t>tos</a:t>
            </a:r>
            <a:r>
              <a:rPr lang="en-US" dirty="0" smtClean="0"/>
              <a:t>=	4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3			3</a:t>
            </a:r>
          </a:p>
          <a:p>
            <a:pPr marL="0" indent="0">
              <a:buNone/>
            </a:pPr>
            <a:r>
              <a:rPr lang="en-US" dirty="0" smtClean="0"/>
              <a:t>2			2			2</a:t>
            </a:r>
            <a:endParaRPr lang="en-US" dirty="0"/>
          </a:p>
          <a:p>
            <a:pPr marL="0" indent="0">
              <a:buNone/>
            </a:pPr>
            <a:r>
              <a:rPr lang="en-US" sz="3000" b="1" dirty="0"/>
              <a:t>1			1			1</a:t>
            </a:r>
          </a:p>
          <a:p>
            <a:pPr marL="0" indent="0">
              <a:buNone/>
            </a:pPr>
            <a:r>
              <a:rPr lang="en-US" sz="3000" b="1" dirty="0"/>
              <a:t>0			0			0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tos</a:t>
            </a:r>
            <a:r>
              <a:rPr lang="en-US" sz="2200" dirty="0"/>
              <a:t> = -1, count = 0		</a:t>
            </a:r>
            <a:r>
              <a:rPr lang="en-US" sz="1900" dirty="0" err="1"/>
              <a:t>tos</a:t>
            </a:r>
            <a:r>
              <a:rPr lang="en-US" sz="1900" dirty="0"/>
              <a:t>= 4 count =5	</a:t>
            </a:r>
            <a:r>
              <a:rPr lang="en-US" sz="2200" dirty="0"/>
              <a:t>	</a:t>
            </a:r>
            <a:r>
              <a:rPr lang="en-US" sz="1900" dirty="0" err="1"/>
              <a:t>tos</a:t>
            </a:r>
            <a:r>
              <a:rPr lang="en-US" sz="1900" dirty="0"/>
              <a:t>=size-1 , </a:t>
            </a:r>
            <a:r>
              <a:rPr lang="en-US" sz="1900" dirty="0" err="1"/>
              <a:t>cout</a:t>
            </a:r>
            <a:r>
              <a:rPr lang="en-US" sz="1900" dirty="0"/>
              <a:t>=stack size</a:t>
            </a:r>
            <a:endParaRPr lang="en-US" sz="3000" dirty="0"/>
          </a:p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Stack is empty		</a:t>
            </a:r>
            <a:r>
              <a:rPr lang="en-US" sz="1900" b="1" dirty="0">
                <a:solidFill>
                  <a:srgbClr val="C00000"/>
                </a:solidFill>
              </a:rPr>
              <a:t>Stack with 5 </a:t>
            </a:r>
            <a:r>
              <a:rPr lang="en-US" sz="1900" b="1" dirty="0" err="1">
                <a:solidFill>
                  <a:srgbClr val="C00000"/>
                </a:solidFill>
              </a:rPr>
              <a:t>elelments</a:t>
            </a:r>
            <a:r>
              <a:rPr lang="en-US" sz="1900" b="1" dirty="0">
                <a:solidFill>
                  <a:srgbClr val="C00000"/>
                </a:solidFill>
              </a:rPr>
              <a:t>	</a:t>
            </a:r>
            <a:r>
              <a:rPr lang="en-US" sz="2100" b="1" dirty="0">
                <a:solidFill>
                  <a:srgbClr val="C00000"/>
                </a:solidFill>
              </a:rPr>
              <a:t>Full of stack</a:t>
            </a:r>
            <a:r>
              <a:rPr lang="en-US" sz="2800" b="1" dirty="0">
                <a:solidFill>
                  <a:srgbClr val="C00000"/>
                </a:solidFill>
              </a:rPr>
              <a:t>       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38400" y="1676400"/>
            <a:ext cx="914400" cy="358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438400" y="48768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38400" y="44196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438400" y="39624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38400" y="35052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438400" y="30480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257800" y="1676400"/>
            <a:ext cx="914400" cy="358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.6</a:t>
            </a:r>
          </a:p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6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5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257800" y="35052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57800" y="39624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257800" y="43434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57800" y="48006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29600" y="1600200"/>
            <a:ext cx="914400" cy="358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.43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.4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438400" y="22860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57800" y="20574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229600" y="47244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229600" y="43434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229600" y="38862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229600" y="21336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257800" y="3048000"/>
            <a:ext cx="914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91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Applications of Stack: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Stack is used directly and indirectly in the following fields</a:t>
            </a:r>
            <a:r>
              <a:rPr lang="en-US" b="1" dirty="0" smtClean="0"/>
              <a:t>: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i="1" dirty="0">
                <a:solidFill>
                  <a:srgbClr val="C00000"/>
                </a:solidFill>
              </a:rPr>
              <a:t>evaluate</a:t>
            </a:r>
            <a:r>
              <a:rPr lang="en-US" dirty="0"/>
              <a:t> </a:t>
            </a:r>
            <a:r>
              <a:rPr lang="en-US" i="1" dirty="0"/>
              <a:t>the</a:t>
            </a:r>
            <a:r>
              <a:rPr lang="en-US" dirty="0"/>
              <a:t> </a:t>
            </a:r>
            <a:r>
              <a:rPr lang="en-US" i="1" dirty="0"/>
              <a:t>expressions</a:t>
            </a:r>
            <a:r>
              <a:rPr lang="en-US" dirty="0"/>
              <a:t> </a:t>
            </a:r>
            <a:r>
              <a:rPr lang="en-US" i="1" dirty="0"/>
              <a:t>(postfix,</a:t>
            </a:r>
            <a:r>
              <a:rPr lang="en-US" dirty="0"/>
              <a:t> </a:t>
            </a:r>
            <a:r>
              <a:rPr lang="en-US" i="1" dirty="0"/>
              <a:t>prefix</a:t>
            </a:r>
            <a:r>
              <a:rPr lang="en-US" dirty="0" smtClean="0"/>
              <a:t>)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dirty="0"/>
              <a:t>keep the </a:t>
            </a:r>
            <a:r>
              <a:rPr lang="en-US" i="1" dirty="0"/>
              <a:t>page-visited</a:t>
            </a:r>
            <a:r>
              <a:rPr lang="en-US" dirty="0"/>
              <a:t> </a:t>
            </a:r>
            <a:r>
              <a:rPr lang="en-US" i="1" dirty="0"/>
              <a:t>history</a:t>
            </a:r>
            <a:r>
              <a:rPr lang="en-US" dirty="0"/>
              <a:t> </a:t>
            </a:r>
            <a:r>
              <a:rPr lang="en-US" i="1" dirty="0"/>
              <a:t>in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Web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 smtClean="0">
                <a:solidFill>
                  <a:srgbClr val="C00000"/>
                </a:solidFill>
              </a:rPr>
              <a:t>browser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dirty="0"/>
              <a:t>perform the u</a:t>
            </a:r>
            <a:r>
              <a:rPr lang="en-US" i="1" dirty="0"/>
              <a:t>ndo</a:t>
            </a:r>
            <a:r>
              <a:rPr lang="en-US" dirty="0"/>
              <a:t> </a:t>
            </a:r>
            <a:r>
              <a:rPr lang="en-US" i="1" dirty="0"/>
              <a:t>sequence</a:t>
            </a:r>
            <a:r>
              <a:rPr lang="en-US" dirty="0"/>
              <a:t> </a:t>
            </a:r>
            <a:r>
              <a:rPr lang="en-US" i="1" dirty="0"/>
              <a:t>in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/>
              <a:t>text</a:t>
            </a:r>
            <a:r>
              <a:rPr lang="en-US" dirty="0"/>
              <a:t> </a:t>
            </a:r>
            <a:r>
              <a:rPr lang="en-US" i="1" dirty="0" smtClean="0"/>
              <a:t>editor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Used </a:t>
            </a:r>
            <a:r>
              <a:rPr lang="en-US" dirty="0"/>
              <a:t>in </a:t>
            </a:r>
            <a:r>
              <a:rPr lang="en-US" i="1" dirty="0" smtClean="0">
                <a:solidFill>
                  <a:srgbClr val="C00000"/>
                </a:solidFill>
              </a:rPr>
              <a:t>recursion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dirty="0">
                <a:solidFill>
                  <a:srgbClr val="C00000"/>
                </a:solidFill>
              </a:rPr>
              <a:t>pass the parameters</a:t>
            </a:r>
            <a:r>
              <a:rPr lang="en-US" dirty="0"/>
              <a:t> between the f</a:t>
            </a:r>
            <a:r>
              <a:rPr lang="en-US" i="1" dirty="0"/>
              <a:t>unctions</a:t>
            </a:r>
            <a:r>
              <a:rPr lang="en-US" dirty="0"/>
              <a:t> </a:t>
            </a:r>
            <a:r>
              <a:rPr lang="en-US" i="1" dirty="0"/>
              <a:t>in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 </a:t>
            </a:r>
            <a:r>
              <a:rPr lang="en-US" i="1" dirty="0" smtClean="0"/>
              <a:t>program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Can </a:t>
            </a:r>
            <a:r>
              <a:rPr lang="en-US" dirty="0"/>
              <a:t>be used as an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i="1" dirty="0">
                <a:solidFill>
                  <a:srgbClr val="C00000"/>
                </a:solidFill>
              </a:rPr>
              <a:t>uxiliary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structure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for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implementing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 smtClean="0">
                <a:solidFill>
                  <a:srgbClr val="C00000"/>
                </a:solidFill>
              </a:rPr>
              <a:t>algorithms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Can </a:t>
            </a:r>
            <a:r>
              <a:rPr lang="en-US" dirty="0"/>
              <a:t>be used as a </a:t>
            </a:r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en-US" i="1" dirty="0">
                <a:solidFill>
                  <a:srgbClr val="C00000"/>
                </a:solidFill>
              </a:rPr>
              <a:t>omponent</a:t>
            </a:r>
            <a:r>
              <a:rPr lang="en-US" dirty="0"/>
              <a:t> </a:t>
            </a:r>
            <a:r>
              <a:rPr lang="en-US" i="1" dirty="0"/>
              <a:t>of</a:t>
            </a:r>
            <a:r>
              <a:rPr lang="en-US" dirty="0"/>
              <a:t> </a:t>
            </a:r>
            <a:r>
              <a:rPr lang="en-US" i="1" dirty="0"/>
              <a:t>other</a:t>
            </a:r>
            <a:r>
              <a:rPr lang="en-US" dirty="0"/>
              <a:t> </a:t>
            </a:r>
            <a:r>
              <a:rPr lang="en-US" i="1" dirty="0"/>
              <a:t>data</a:t>
            </a:r>
            <a:r>
              <a:rPr lang="en-US" dirty="0"/>
              <a:t> </a:t>
            </a:r>
            <a:r>
              <a:rPr lang="en-US" i="1" dirty="0" smtClean="0"/>
              <a:t>structures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22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b="1" u="sng" dirty="0"/>
              <a:t>Stack </a:t>
            </a:r>
            <a:r>
              <a:rPr lang="en-US" b="1" u="sng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90600"/>
            <a:ext cx="10515600" cy="5410200"/>
          </a:xfrm>
        </p:spPr>
        <p:txBody>
          <a:bodyPr>
            <a:normAutofit fontScale="70000" lnSpcReduction="20000"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PUSH</a:t>
            </a:r>
            <a:r>
              <a:rPr lang="en-US" b="1" i="1" dirty="0"/>
              <a:t> </a:t>
            </a:r>
            <a:r>
              <a:rPr lang="en-US" dirty="0" smtClean="0"/>
              <a:t>operation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POP</a:t>
            </a:r>
            <a:r>
              <a:rPr lang="en-US" b="1" i="1" dirty="0"/>
              <a:t> </a:t>
            </a:r>
            <a:r>
              <a:rPr lang="en-US" dirty="0" smtClean="0"/>
              <a:t>operation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PUSH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and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operations are the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basic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or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primitive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b="1" dirty="0"/>
              <a:t>operations on a stack. </a:t>
            </a:r>
            <a:endParaRPr lang="en-US" sz="3600" b="1" dirty="0" smtClean="0"/>
          </a:p>
          <a:p>
            <a:pPr marL="0" indent="0">
              <a:buNone/>
            </a:pPr>
            <a:r>
              <a:rPr lang="en-US" sz="3600" b="1" dirty="0" smtClean="0"/>
              <a:t>Some </a:t>
            </a:r>
            <a:r>
              <a:rPr lang="en-US" sz="3600" b="1" dirty="0"/>
              <a:t>others operations are:</a:t>
            </a:r>
            <a:endParaRPr lang="en-US" sz="3600" b="1" i="1" dirty="0" smtClean="0"/>
          </a:p>
          <a:p>
            <a:pPr>
              <a:buFont typeface="Wingdings" pitchFamily="2" charset="2"/>
              <a:buChar char="ü"/>
            </a:pPr>
            <a:r>
              <a:rPr lang="en-US" b="1" i="1" dirty="0" err="1" smtClean="0">
                <a:solidFill>
                  <a:srgbClr val="FF0000"/>
                </a:solidFill>
              </a:rPr>
              <a:t>CreateEmptyStack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operation: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This </a:t>
            </a:r>
            <a:r>
              <a:rPr lang="en-US" dirty="0"/>
              <a:t>operation is used to create an empty stack</a:t>
            </a:r>
            <a:r>
              <a:rPr lang="en-US" dirty="0" smtClean="0"/>
              <a:t>.</a:t>
            </a:r>
            <a:r>
              <a:rPr lang="en-US" dirty="0"/>
              <a:t> 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b="1" i="1" dirty="0" err="1" smtClean="0">
                <a:solidFill>
                  <a:srgbClr val="FF0000"/>
                </a:solidFill>
              </a:rPr>
              <a:t>IsFull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operation: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dirty="0" err="1"/>
              <a:t>isfull</a:t>
            </a:r>
            <a:r>
              <a:rPr lang="en-US" dirty="0"/>
              <a:t> operation is used to check whether the stack is full or not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( </a:t>
            </a:r>
            <a:r>
              <a:rPr lang="en-US" dirty="0"/>
              <a:t>i.e. stack </a:t>
            </a:r>
            <a:r>
              <a:rPr lang="en-US" dirty="0" smtClean="0"/>
              <a:t>overflow)</a:t>
            </a:r>
          </a:p>
          <a:p>
            <a:pPr>
              <a:buFont typeface="Wingdings" pitchFamily="2" charset="2"/>
              <a:buChar char="ü"/>
            </a:pPr>
            <a:r>
              <a:rPr lang="en-US" b="1" i="1" dirty="0" err="1" smtClean="0">
                <a:solidFill>
                  <a:srgbClr val="FF0000"/>
                </a:solidFill>
              </a:rPr>
              <a:t>IsEmpty</a:t>
            </a:r>
            <a:r>
              <a:rPr lang="en-US" dirty="0" smtClean="0"/>
              <a:t> </a:t>
            </a:r>
            <a:r>
              <a:rPr lang="en-US" dirty="0"/>
              <a:t>operation: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dirty="0" err="1"/>
              <a:t>isempty</a:t>
            </a:r>
            <a:r>
              <a:rPr lang="en-US" dirty="0"/>
              <a:t> operation is used to check whether the stack is empty or not. (i. e. stack underflow)</a:t>
            </a:r>
          </a:p>
          <a:p>
            <a:pPr>
              <a:buFont typeface="Wingdings" pitchFamily="2" charset="2"/>
              <a:buChar char="ü"/>
            </a:pPr>
            <a:r>
              <a:rPr lang="en-US" b="1" i="1" dirty="0" smtClean="0">
                <a:solidFill>
                  <a:srgbClr val="FF0000"/>
                </a:solidFill>
              </a:rPr>
              <a:t>Top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operations</a:t>
            </a:r>
            <a:r>
              <a:rPr lang="en-US" b="1" i="1" dirty="0"/>
              <a:t>: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This </a:t>
            </a:r>
            <a:r>
              <a:rPr lang="en-US" dirty="0"/>
              <a:t>operation returns the current item at the top </a:t>
            </a:r>
            <a:r>
              <a:rPr lang="en-US" dirty="0" smtClean="0"/>
              <a:t>of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/>
              <a:t>the stack,  </a:t>
            </a:r>
            <a:r>
              <a:rPr lang="en-US" dirty="0" smtClean="0"/>
              <a:t>it doesn’t </a:t>
            </a:r>
            <a:r>
              <a:rPr lang="en-US" dirty="0"/>
              <a:t>remove it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5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9220200" cy="639762"/>
          </a:xfrm>
        </p:spPr>
        <p:txBody>
          <a:bodyPr>
            <a:noAutofit/>
          </a:bodyPr>
          <a:lstStyle/>
          <a:p>
            <a:pPr algn="l"/>
            <a:r>
              <a:rPr lang="en-US" sz="3600" b="1" u="sng" dirty="0">
                <a:solidFill>
                  <a:srgbClr val="FF0000"/>
                </a:solidFill>
              </a:rPr>
              <a:t>The Stack ADT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104394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>
                <a:solidFill>
                  <a:srgbClr val="FF0000"/>
                </a:solidFill>
              </a:rPr>
              <a:t>stack</a:t>
            </a:r>
            <a:r>
              <a:rPr lang="en-US" dirty="0"/>
              <a:t> of elements of type </a:t>
            </a:r>
            <a:r>
              <a:rPr lang="en-US" b="1" i="1" dirty="0">
                <a:solidFill>
                  <a:srgbClr val="FF0000"/>
                </a:solidFill>
              </a:rPr>
              <a:t>T</a:t>
            </a:r>
            <a:r>
              <a:rPr lang="en-US" dirty="0"/>
              <a:t> is a finite sequence of elements of </a:t>
            </a:r>
            <a:r>
              <a:rPr lang="en-US" b="1" i="1" dirty="0">
                <a:solidFill>
                  <a:srgbClr val="FF0000"/>
                </a:solidFill>
              </a:rPr>
              <a:t>T</a:t>
            </a:r>
            <a:r>
              <a:rPr lang="en-US" dirty="0"/>
              <a:t> together with the operations</a:t>
            </a:r>
          </a:p>
          <a:p>
            <a:r>
              <a:rPr lang="en-US" b="1" dirty="0" err="1" smtClean="0">
                <a:solidFill>
                  <a:srgbClr val="C00000"/>
                </a:solidFill>
              </a:rPr>
              <a:t>CreateEmptyStack</a:t>
            </a:r>
            <a:r>
              <a:rPr lang="en-US" b="1" dirty="0" smtClean="0">
                <a:solidFill>
                  <a:srgbClr val="C00000"/>
                </a:solidFill>
              </a:rPr>
              <a:t>(S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b="1" dirty="0"/>
              <a:t>: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Create </a:t>
            </a:r>
            <a:r>
              <a:rPr lang="en-US" dirty="0"/>
              <a:t>or make stack </a:t>
            </a:r>
            <a:r>
              <a:rPr lang="en-US" b="1" i="1" dirty="0"/>
              <a:t>S</a:t>
            </a:r>
            <a:r>
              <a:rPr lang="en-US" dirty="0"/>
              <a:t> be an empty stack 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Push(S</a:t>
            </a:r>
            <a:r>
              <a:rPr lang="en-US" b="1" dirty="0">
                <a:solidFill>
                  <a:srgbClr val="C00000"/>
                </a:solidFill>
              </a:rPr>
              <a:t>,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Insert </a:t>
            </a:r>
            <a:r>
              <a:rPr lang="en-US" b="1" i="1" dirty="0"/>
              <a:t>x</a:t>
            </a:r>
            <a:r>
              <a:rPr lang="en-US" dirty="0"/>
              <a:t> at one end of the stack, called its </a:t>
            </a:r>
            <a:r>
              <a:rPr lang="en-US" b="1" dirty="0"/>
              <a:t>top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Top(S)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stack </a:t>
            </a:r>
            <a:r>
              <a:rPr lang="en-US" b="1" i="1" dirty="0"/>
              <a:t>S</a:t>
            </a:r>
            <a:r>
              <a:rPr lang="en-US" dirty="0"/>
              <a:t> is not empty; then retrieve the element at its </a:t>
            </a:r>
            <a:r>
              <a:rPr lang="en-US" b="1" dirty="0" smtClean="0"/>
              <a:t>top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Pop(S)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stack </a:t>
            </a:r>
            <a:r>
              <a:rPr lang="en-US" b="1" i="1" dirty="0"/>
              <a:t>S</a:t>
            </a:r>
            <a:r>
              <a:rPr lang="en-US" dirty="0"/>
              <a:t> is not empty; then delete the element at its </a:t>
            </a:r>
            <a:r>
              <a:rPr lang="en-US" b="1" dirty="0"/>
              <a:t>top</a:t>
            </a:r>
            <a:endParaRPr lang="en-US" dirty="0"/>
          </a:p>
          <a:p>
            <a:r>
              <a:rPr lang="en-US" b="1" dirty="0" err="1" smtClean="0">
                <a:solidFill>
                  <a:srgbClr val="C00000"/>
                </a:solidFill>
              </a:rPr>
              <a:t>IsFull</a:t>
            </a:r>
            <a:r>
              <a:rPr lang="en-US" b="1" dirty="0" smtClean="0">
                <a:solidFill>
                  <a:srgbClr val="C00000"/>
                </a:solidFill>
              </a:rPr>
              <a:t>(S)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Determine </a:t>
            </a:r>
            <a:r>
              <a:rPr lang="en-US" dirty="0"/>
              <a:t>if </a:t>
            </a:r>
            <a:r>
              <a:rPr lang="en-US" b="1" i="1" dirty="0"/>
              <a:t>S</a:t>
            </a:r>
            <a:r>
              <a:rPr lang="en-US" dirty="0"/>
              <a:t> is full or not.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b="1" i="1" dirty="0"/>
              <a:t>S</a:t>
            </a:r>
            <a:r>
              <a:rPr lang="en-US" dirty="0"/>
              <a:t> is full stack; return </a:t>
            </a:r>
            <a:r>
              <a:rPr lang="en-US" b="1" dirty="0"/>
              <a:t>false</a:t>
            </a:r>
            <a:r>
              <a:rPr lang="en-US" dirty="0"/>
              <a:t> otherwise</a:t>
            </a:r>
          </a:p>
          <a:p>
            <a:r>
              <a:rPr lang="en-US" b="1" dirty="0" err="1" smtClean="0">
                <a:solidFill>
                  <a:srgbClr val="C00000"/>
                </a:solidFill>
              </a:rPr>
              <a:t>IsEmpty</a:t>
            </a:r>
            <a:r>
              <a:rPr lang="en-US" b="1" dirty="0" smtClean="0">
                <a:solidFill>
                  <a:srgbClr val="C00000"/>
                </a:solidFill>
              </a:rPr>
              <a:t>(S)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Determine </a:t>
            </a:r>
            <a:r>
              <a:rPr lang="en-US" dirty="0"/>
              <a:t>if </a:t>
            </a:r>
            <a:r>
              <a:rPr lang="en-US" b="1" i="1" dirty="0"/>
              <a:t>S</a:t>
            </a:r>
            <a:r>
              <a:rPr lang="en-US" dirty="0"/>
              <a:t> is empty or not.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b="1" i="1" dirty="0"/>
              <a:t>S</a:t>
            </a:r>
            <a:r>
              <a:rPr lang="en-US" dirty="0"/>
              <a:t> is an empty stack; return </a:t>
            </a:r>
            <a:r>
              <a:rPr lang="en-US" b="1" dirty="0"/>
              <a:t>false</a:t>
            </a:r>
            <a:r>
              <a:rPr lang="en-US" dirty="0"/>
              <a:t> otherwise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05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 smtClean="0">
                <a:solidFill>
                  <a:srgbClr val="C00000"/>
                </a:solidFill>
              </a:rPr>
              <a:t>Implementation of Stack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Stack </a:t>
            </a:r>
            <a:r>
              <a:rPr lang="en-US" dirty="0"/>
              <a:t>can be implemented in two ways:</a:t>
            </a:r>
          </a:p>
          <a:p>
            <a:r>
              <a:rPr lang="en-US" dirty="0"/>
              <a:t>1. Array Implementation of stack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en-US" dirty="0"/>
              <a:t>or static implementation)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Linked list implementation of stack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en-US" dirty="0"/>
              <a:t>or dynamic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Implementation of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this implementation top is an integer value (an index of an array) that indicates the top position of a stack.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time data is added or removed, </a:t>
            </a:r>
            <a:r>
              <a:rPr lang="en-US" dirty="0">
                <a:solidFill>
                  <a:srgbClr val="C00000"/>
                </a:solidFill>
              </a:rPr>
              <a:t>top is incremented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decremented</a:t>
            </a:r>
            <a:r>
              <a:rPr lang="en-US" dirty="0"/>
              <a:t> accordingly, to keep track of current top of the stack.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convention, in C implementation the empty stack is indicated by setting the value of top to -</a:t>
            </a:r>
            <a:r>
              <a:rPr lang="en-US" dirty="0" smtClean="0"/>
              <a:t>1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>
                <a:solidFill>
                  <a:srgbClr val="C00000"/>
                </a:solidFill>
              </a:rPr>
              <a:t>top=-1)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68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9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Eg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90601"/>
            <a:ext cx="98298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#define</a:t>
            </a:r>
            <a:r>
              <a:rPr lang="en-US" dirty="0"/>
              <a:t> </a:t>
            </a:r>
            <a:r>
              <a:rPr lang="en-US" i="1" dirty="0"/>
              <a:t>MAX</a:t>
            </a:r>
            <a:r>
              <a:rPr lang="en-US" dirty="0"/>
              <a:t> </a:t>
            </a:r>
            <a:r>
              <a:rPr lang="en-US" i="1" dirty="0" smtClean="0"/>
              <a:t>10</a:t>
            </a:r>
            <a:r>
              <a:rPr lang="en-US" dirty="0"/>
              <a:t/>
            </a:r>
            <a:br>
              <a:rPr lang="en-US" dirty="0"/>
            </a:br>
            <a:r>
              <a:rPr lang="en-US" sz="2400" i="1" dirty="0" err="1"/>
              <a:t>sruct</a:t>
            </a:r>
            <a:r>
              <a:rPr lang="en-US" sz="2400" dirty="0"/>
              <a:t> </a:t>
            </a:r>
            <a:r>
              <a:rPr lang="en-US" sz="2400" i="1" dirty="0"/>
              <a:t>stack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{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	</a:t>
            </a:r>
            <a:r>
              <a:rPr lang="en-US" sz="2400" i="1" dirty="0" err="1"/>
              <a:t>int</a:t>
            </a:r>
            <a:r>
              <a:rPr lang="en-US" sz="2400" dirty="0"/>
              <a:t> </a:t>
            </a:r>
            <a:r>
              <a:rPr lang="en-US" sz="2400" i="1" dirty="0"/>
              <a:t>items[MAX];</a:t>
            </a:r>
            <a:r>
              <a:rPr lang="en-US" sz="2400" dirty="0"/>
              <a:t> 	</a:t>
            </a:r>
            <a:r>
              <a:rPr lang="en-US" sz="2400" i="1" dirty="0"/>
              <a:t>//Declaring</a:t>
            </a:r>
            <a:r>
              <a:rPr lang="en-US" sz="2400" dirty="0"/>
              <a:t> </a:t>
            </a:r>
            <a:r>
              <a:rPr lang="en-US" sz="2400" i="1" dirty="0"/>
              <a:t>an</a:t>
            </a:r>
            <a:r>
              <a:rPr lang="en-US" sz="2400" dirty="0"/>
              <a:t> </a:t>
            </a:r>
            <a:r>
              <a:rPr lang="en-US" sz="2400" i="1" dirty="0"/>
              <a:t>array</a:t>
            </a:r>
            <a:r>
              <a:rPr lang="en-US" sz="2400" dirty="0"/>
              <a:t> </a:t>
            </a:r>
            <a:r>
              <a:rPr lang="en-US" sz="2400" i="1" dirty="0"/>
              <a:t>to</a:t>
            </a:r>
            <a:r>
              <a:rPr lang="en-US" sz="2400" dirty="0"/>
              <a:t> </a:t>
            </a:r>
            <a:r>
              <a:rPr lang="en-US" sz="2400" i="1" dirty="0"/>
              <a:t>store</a:t>
            </a:r>
            <a:r>
              <a:rPr lang="en-US" sz="2400" dirty="0"/>
              <a:t> </a:t>
            </a:r>
            <a:r>
              <a:rPr lang="en-US" sz="2400" i="1" dirty="0"/>
              <a:t>items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	</a:t>
            </a:r>
            <a:r>
              <a:rPr lang="en-US" sz="2400" i="1" dirty="0" err="1"/>
              <a:t>int</a:t>
            </a:r>
            <a:r>
              <a:rPr lang="en-US" sz="2400" dirty="0"/>
              <a:t> </a:t>
            </a:r>
            <a:r>
              <a:rPr lang="en-US" sz="2400" i="1" dirty="0"/>
              <a:t>top;</a:t>
            </a:r>
            <a:r>
              <a:rPr lang="en-US" sz="2400" dirty="0"/>
              <a:t>			</a:t>
            </a:r>
            <a:r>
              <a:rPr lang="en-US" sz="2400" i="1" dirty="0"/>
              <a:t>//Top</a:t>
            </a:r>
            <a:r>
              <a:rPr lang="en-US" sz="2400" dirty="0"/>
              <a:t> </a:t>
            </a:r>
            <a:r>
              <a:rPr lang="en-US" sz="2400" i="1" dirty="0"/>
              <a:t>of</a:t>
            </a:r>
            <a:r>
              <a:rPr lang="en-US" sz="2400" dirty="0"/>
              <a:t>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i="1" dirty="0"/>
              <a:t>stack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};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sz="2400" i="1" dirty="0" err="1"/>
              <a:t>typedef</a:t>
            </a:r>
            <a:r>
              <a:rPr lang="en-US" sz="2400" dirty="0"/>
              <a:t> </a:t>
            </a:r>
            <a:r>
              <a:rPr lang="en-US" sz="2400" i="1" dirty="0" err="1"/>
              <a:t>struct</a:t>
            </a:r>
            <a:r>
              <a:rPr lang="en-US" sz="2400" dirty="0"/>
              <a:t> </a:t>
            </a:r>
            <a:r>
              <a:rPr lang="en-US" sz="2400" i="1" dirty="0"/>
              <a:t>stack</a:t>
            </a:r>
            <a:r>
              <a:rPr lang="en-US" sz="2400" dirty="0"/>
              <a:t> </a:t>
            </a:r>
            <a:r>
              <a:rPr lang="en-US" sz="2400" i="1" dirty="0" err="1"/>
              <a:t>st</a:t>
            </a:r>
            <a:r>
              <a:rPr lang="en-US" sz="2400" i="1" dirty="0"/>
              <a:t>;</a:t>
            </a:r>
            <a:r>
              <a:rPr lang="en-US" dirty="0" smtClean="0"/>
              <a:t>  // </a:t>
            </a:r>
            <a:r>
              <a:rPr lang="en-US" sz="2800" i="1" dirty="0" err="1"/>
              <a:t>struct</a:t>
            </a:r>
            <a:r>
              <a:rPr lang="en-US" sz="2800" i="1" dirty="0"/>
              <a:t> stack </a:t>
            </a:r>
            <a:r>
              <a:rPr lang="en-US" sz="2800" i="1" dirty="0" err="1"/>
              <a:t>st</a:t>
            </a:r>
            <a:r>
              <a:rPr lang="en-US" sz="2800" i="1" dirty="0"/>
              <a:t>;</a:t>
            </a:r>
          </a:p>
          <a:p>
            <a:pPr marL="0" indent="0">
              <a:buNone/>
            </a:pPr>
            <a:r>
              <a:rPr lang="en-US" sz="2800" b="1" u="sng" dirty="0"/>
              <a:t>Creating Empty stack </a:t>
            </a:r>
            <a:endParaRPr lang="en-US" sz="2800" dirty="0"/>
          </a:p>
          <a:p>
            <a:r>
              <a:rPr lang="en-US" sz="2800" dirty="0"/>
              <a:t>The value of top=-</a:t>
            </a:r>
            <a:r>
              <a:rPr lang="en-US" sz="2800" dirty="0" smtClean="0"/>
              <a:t>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782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1"/>
            <a:ext cx="10439400" cy="5364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Algorithm for PUSH (inserting an item into the stack) operation: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algorithm adds or inserts an item at the top of the stack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i="1" dirty="0" smtClean="0"/>
              <a:t>1</a:t>
            </a:r>
            <a:r>
              <a:rPr lang="en-US" i="1" dirty="0"/>
              <a:t>.</a:t>
            </a:r>
            <a:r>
              <a:rPr lang="en-US" sz="3000" i="1" dirty="0"/>
              <a:t> [Check for stack overflow?] </a:t>
            </a:r>
          </a:p>
          <a:p>
            <a:pPr marL="0" indent="0">
              <a:buNone/>
            </a:pPr>
            <a:r>
              <a:rPr lang="en-US" sz="3000" i="1" dirty="0"/>
              <a:t>	</a:t>
            </a:r>
            <a:r>
              <a:rPr lang="en-US" sz="3000" i="1" dirty="0">
                <a:solidFill>
                  <a:srgbClr val="C00000"/>
                </a:solidFill>
              </a:rPr>
              <a:t>if</a:t>
            </a:r>
            <a:r>
              <a:rPr lang="en-US" sz="3000" i="1" dirty="0"/>
              <a:t> top=MAXSIZE-1 then</a:t>
            </a:r>
          </a:p>
          <a:p>
            <a:pPr marL="0" indent="0">
              <a:buNone/>
            </a:pPr>
            <a:r>
              <a:rPr lang="en-US" sz="3000" i="1" dirty="0"/>
              <a:t>	print “Stack Overflow” and Exit </a:t>
            </a:r>
          </a:p>
          <a:p>
            <a:pPr marL="0" indent="0">
              <a:buNone/>
            </a:pPr>
            <a:r>
              <a:rPr lang="en-US" sz="3000" i="1" dirty="0"/>
              <a:t>	</a:t>
            </a:r>
            <a:r>
              <a:rPr lang="en-US" sz="3000" i="1" dirty="0">
                <a:solidFill>
                  <a:srgbClr val="C00000"/>
                </a:solidFill>
              </a:rPr>
              <a:t>else</a:t>
            </a:r>
          </a:p>
          <a:p>
            <a:pPr marL="0" indent="0">
              <a:buNone/>
            </a:pPr>
            <a:r>
              <a:rPr lang="en-US" sz="3000" i="1" dirty="0"/>
              <a:t>	Set top=top+1 [Increase top by 1]</a:t>
            </a:r>
          </a:p>
          <a:p>
            <a:pPr marL="0" indent="0">
              <a:buNone/>
            </a:pPr>
            <a:r>
              <a:rPr lang="en-US" sz="3000" i="1" dirty="0"/>
              <a:t> 	Set Stack[top]:= item </a:t>
            </a:r>
            <a:r>
              <a:rPr lang="en-US" sz="1900" i="1" dirty="0"/>
              <a:t>[Inserts item in new top position] </a:t>
            </a:r>
            <a:endParaRPr lang="en-US" sz="3000" i="1" dirty="0"/>
          </a:p>
          <a:p>
            <a:pPr marL="0" indent="0">
              <a:buNone/>
            </a:pPr>
            <a:r>
              <a:rPr lang="en-US" sz="3000" i="1" dirty="0"/>
              <a:t>2. </a:t>
            </a:r>
            <a:r>
              <a:rPr lang="en-US" sz="3000" i="1" dirty="0" smtClean="0"/>
              <a:t>Exit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172432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to pop data item form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62400" y="1828800"/>
            <a:ext cx="35052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9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atangChe" pitchFamily="49" charset="-127"/>
                <a:ea typeface="BatangChe" pitchFamily="49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4735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68362"/>
          </a:xfrm>
        </p:spPr>
        <p:txBody>
          <a:bodyPr/>
          <a:lstStyle/>
          <a:p>
            <a:pPr algn="l"/>
            <a:r>
              <a:rPr lang="en-US" sz="3600" dirty="0">
                <a:latin typeface="+mn-lt"/>
              </a:rPr>
              <a:t>The PUSH and POP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143000"/>
            <a:ext cx="10668000" cy="5059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 smtClean="0"/>
              <a:t>Push</a:t>
            </a:r>
          </a:p>
          <a:p>
            <a:pPr marL="0" indent="0">
              <a:buNone/>
            </a:pPr>
            <a:r>
              <a:rPr lang="en-US" sz="2400" dirty="0"/>
              <a:t>void push()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400050" lvl="1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item;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if</a:t>
            </a:r>
            <a:r>
              <a:rPr lang="en-US" sz="2000" dirty="0"/>
              <a:t>(top == MAXSIZE - 1) </a:t>
            </a:r>
            <a:r>
              <a:rPr lang="en-US" sz="2000" dirty="0" smtClean="0"/>
              <a:t>				</a:t>
            </a:r>
            <a:r>
              <a:rPr lang="en-US" sz="2000" i="1" dirty="0" smtClean="0"/>
              <a:t>//</a:t>
            </a:r>
            <a:r>
              <a:rPr lang="en-US" sz="2000" i="1" dirty="0"/>
              <a:t>Checking stack overflow</a:t>
            </a:r>
            <a:r>
              <a:rPr lang="en-US" sz="2000" dirty="0"/>
              <a:t> </a:t>
            </a:r>
            <a:endParaRPr lang="en-US" sz="2000" dirty="0" smtClean="0"/>
          </a:p>
          <a:p>
            <a:pPr marL="400050" lvl="1" indent="0">
              <a:buNone/>
            </a:pPr>
            <a:r>
              <a:rPr lang="en-US" sz="2000" dirty="0"/>
              <a:t>	</a:t>
            </a:r>
            <a:r>
              <a:rPr lang="en-US" sz="2000" dirty="0" err="1" smtClean="0"/>
              <a:t>printf</a:t>
            </a:r>
            <a:r>
              <a:rPr lang="en-US" sz="2000" dirty="0"/>
              <a:t>("\n The Stack Is Full");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else</a:t>
            </a:r>
            <a:r>
              <a:rPr lang="en-US" sz="2000" dirty="0"/>
              <a:t> </a:t>
            </a:r>
            <a:endParaRPr lang="en-US" sz="2000" dirty="0" smtClean="0"/>
          </a:p>
          <a:p>
            <a:pPr marL="400050" lvl="1" indent="0">
              <a:buNone/>
            </a:pPr>
            <a:r>
              <a:rPr lang="en-US" sz="2000" dirty="0" smtClean="0"/>
              <a:t>{</a:t>
            </a:r>
            <a:endParaRPr lang="en-US" sz="2000" dirty="0"/>
          </a:p>
          <a:p>
            <a:pPr marL="800100" lvl="2" indent="0">
              <a:buNone/>
            </a:pPr>
            <a:r>
              <a:rPr lang="en-US" sz="1800" dirty="0" err="1"/>
              <a:t>printf</a:t>
            </a:r>
            <a:r>
              <a:rPr lang="en-US" sz="1800" dirty="0"/>
              <a:t>("Enter the element to be inserted"); </a:t>
            </a:r>
            <a:endParaRPr lang="en-US" sz="1800" dirty="0" smtClean="0"/>
          </a:p>
          <a:p>
            <a:pPr marL="800100" lvl="2" indent="0">
              <a:buNone/>
            </a:pPr>
            <a:r>
              <a:rPr lang="en-US" sz="1800" dirty="0" err="1" smtClean="0"/>
              <a:t>scanf</a:t>
            </a:r>
            <a:r>
              <a:rPr lang="en-US" sz="1800" dirty="0"/>
              <a:t>("%d</a:t>
            </a:r>
            <a:r>
              <a:rPr lang="en-US" sz="1800" dirty="0" smtClean="0"/>
              <a:t>",  &amp;</a:t>
            </a:r>
            <a:r>
              <a:rPr lang="en-US" sz="1800" dirty="0"/>
              <a:t>item); </a:t>
            </a:r>
            <a:r>
              <a:rPr lang="en-US" sz="1800" dirty="0" smtClean="0"/>
              <a:t>	//</a:t>
            </a:r>
            <a:r>
              <a:rPr lang="en-US" sz="1800" dirty="0"/>
              <a:t>reading an item</a:t>
            </a:r>
          </a:p>
          <a:p>
            <a:pPr marL="800100" lvl="2" indent="0">
              <a:buNone/>
            </a:pPr>
            <a:r>
              <a:rPr lang="en-US" sz="1800" dirty="0"/>
              <a:t>top= top+1;	</a:t>
            </a:r>
            <a:r>
              <a:rPr lang="en-US" sz="1800" dirty="0" smtClean="0"/>
              <a:t>	//</a:t>
            </a:r>
            <a:r>
              <a:rPr lang="en-US" sz="1800" dirty="0"/>
              <a:t>increase top by 1</a:t>
            </a:r>
          </a:p>
          <a:p>
            <a:pPr marL="800100" lvl="2" indent="0">
              <a:buNone/>
            </a:pPr>
            <a:r>
              <a:rPr lang="en-US" sz="1800" dirty="0"/>
              <a:t>stack[top] = item; </a:t>
            </a:r>
            <a:r>
              <a:rPr lang="en-US" sz="1800" dirty="0" smtClean="0"/>
              <a:t>		//</a:t>
            </a:r>
            <a:r>
              <a:rPr lang="en-US" sz="1800" dirty="0"/>
              <a:t>storing the item at the top of the </a:t>
            </a:r>
            <a:r>
              <a:rPr lang="en-US" sz="1800" dirty="0" smtClean="0"/>
              <a:t>stack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} }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120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Push  (using pointer)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41438"/>
            <a:ext cx="7391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i="1" dirty="0"/>
              <a:t>void</a:t>
            </a:r>
            <a:r>
              <a:rPr lang="en-US" sz="2400" dirty="0"/>
              <a:t> </a:t>
            </a:r>
            <a:r>
              <a:rPr lang="en-US" sz="2400" i="1" dirty="0"/>
              <a:t>push(</a:t>
            </a:r>
            <a:r>
              <a:rPr lang="en-US" sz="2400" i="1" dirty="0" err="1"/>
              <a:t>st</a:t>
            </a:r>
            <a:r>
              <a:rPr lang="en-US" sz="2400" dirty="0"/>
              <a:t> </a:t>
            </a:r>
            <a:r>
              <a:rPr lang="en-US" sz="2400" i="1" dirty="0"/>
              <a:t>*s,</a:t>
            </a:r>
            <a:r>
              <a:rPr lang="en-US" sz="2400" dirty="0"/>
              <a:t> </a:t>
            </a:r>
            <a:r>
              <a:rPr lang="en-US" sz="2400" i="1" dirty="0" err="1"/>
              <a:t>int</a:t>
            </a:r>
            <a:r>
              <a:rPr lang="en-US" sz="2400" dirty="0"/>
              <a:t> </a:t>
            </a:r>
            <a:r>
              <a:rPr lang="en-US" sz="2400" i="1" dirty="0"/>
              <a:t>element)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{</a:t>
            </a:r>
            <a:endParaRPr lang="en-US" sz="2400" dirty="0"/>
          </a:p>
          <a:p>
            <a:pPr marL="0" indent="0">
              <a:buNone/>
              <a:tabLst>
                <a:tab pos="465138" algn="l"/>
              </a:tabLst>
            </a:pPr>
            <a:r>
              <a:rPr lang="en-US" sz="2400" i="1" dirty="0"/>
              <a:t>	if(</a:t>
            </a:r>
            <a:r>
              <a:rPr lang="en-US" sz="2400" i="1" dirty="0" err="1"/>
              <a:t>isfull</a:t>
            </a:r>
            <a:r>
              <a:rPr lang="en-US" sz="2400" i="1" dirty="0"/>
              <a:t>(s))</a:t>
            </a:r>
            <a:r>
              <a:rPr lang="en-US" sz="2400" dirty="0"/>
              <a:t>	</a:t>
            </a:r>
            <a:r>
              <a:rPr lang="en-US" sz="2000" i="1" dirty="0"/>
              <a:t>/*</a:t>
            </a:r>
            <a:r>
              <a:rPr lang="en-US" sz="2000" dirty="0"/>
              <a:t> </a:t>
            </a:r>
            <a:r>
              <a:rPr lang="en-US" sz="2000" i="1" dirty="0"/>
              <a:t>Checking</a:t>
            </a:r>
            <a:r>
              <a:rPr lang="en-US" sz="2000" dirty="0"/>
              <a:t> </a:t>
            </a:r>
            <a:r>
              <a:rPr lang="en-US" sz="2000" i="1" dirty="0"/>
              <a:t>Overflow</a:t>
            </a:r>
            <a:r>
              <a:rPr lang="en-US" sz="2000" dirty="0"/>
              <a:t> </a:t>
            </a:r>
            <a:r>
              <a:rPr lang="en-US" sz="2000" i="1" dirty="0"/>
              <a:t>condition</a:t>
            </a:r>
            <a:r>
              <a:rPr lang="en-US" sz="2000" dirty="0"/>
              <a:t> </a:t>
            </a:r>
            <a:r>
              <a:rPr lang="en-US" sz="2000" i="1" dirty="0"/>
              <a:t>*/</a:t>
            </a:r>
            <a:endParaRPr lang="en-US" sz="2000" dirty="0"/>
          </a:p>
          <a:p>
            <a:pPr marL="0" indent="0">
              <a:buNone/>
              <a:tabLst>
                <a:tab pos="465138" algn="l"/>
              </a:tabLst>
            </a:pPr>
            <a:r>
              <a:rPr lang="en-US" sz="2400" i="1" dirty="0"/>
              <a:t>	</a:t>
            </a:r>
            <a:r>
              <a:rPr lang="en-US" sz="2400" i="1" dirty="0" err="1"/>
              <a:t>printf</a:t>
            </a:r>
            <a:r>
              <a:rPr lang="en-US" sz="2400" i="1" dirty="0"/>
              <a:t>("\n</a:t>
            </a:r>
            <a:r>
              <a:rPr lang="en-US" sz="2400" dirty="0"/>
              <a:t> </a:t>
            </a:r>
            <a:r>
              <a:rPr lang="en-US" sz="2400" i="1" dirty="0"/>
              <a:t>\n</a:t>
            </a:r>
            <a:r>
              <a:rPr lang="en-US" sz="2400" dirty="0"/>
              <a:t> </a:t>
            </a:r>
            <a:r>
              <a:rPr lang="en-US" sz="2400" i="1" dirty="0"/>
              <a:t>The</a:t>
            </a:r>
            <a:r>
              <a:rPr lang="en-US" sz="2400" dirty="0"/>
              <a:t> </a:t>
            </a:r>
            <a:r>
              <a:rPr lang="en-US" sz="2400" i="1" dirty="0"/>
              <a:t>stack</a:t>
            </a:r>
            <a:r>
              <a:rPr lang="en-US" sz="2400" dirty="0"/>
              <a:t> </a:t>
            </a:r>
            <a:r>
              <a:rPr lang="en-US" sz="2400" i="1" dirty="0"/>
              <a:t>is</a:t>
            </a:r>
            <a:r>
              <a:rPr lang="en-US" sz="2400" dirty="0"/>
              <a:t> </a:t>
            </a:r>
            <a:r>
              <a:rPr lang="en-US" sz="2400" i="1" dirty="0"/>
              <a:t>overflow:</a:t>
            </a:r>
            <a:r>
              <a:rPr lang="en-US" sz="2400" dirty="0"/>
              <a:t> </a:t>
            </a:r>
            <a:r>
              <a:rPr lang="en-US" sz="2400" i="1" dirty="0"/>
              <a:t>Stack</a:t>
            </a:r>
            <a:r>
              <a:rPr lang="en-US" sz="2400" dirty="0"/>
              <a:t> </a:t>
            </a:r>
            <a:r>
              <a:rPr lang="en-US" sz="2400" i="1" dirty="0"/>
              <a:t>Full!!\n");</a:t>
            </a:r>
            <a:r>
              <a:rPr lang="en-US" sz="2400" dirty="0"/>
              <a:t> </a:t>
            </a:r>
          </a:p>
          <a:p>
            <a:pPr marL="0" indent="0">
              <a:buNone/>
              <a:tabLst>
                <a:tab pos="465138" algn="l"/>
              </a:tabLst>
            </a:pPr>
            <a:r>
              <a:rPr lang="en-US" sz="2400" i="1" dirty="0"/>
              <a:t>	else</a:t>
            </a:r>
            <a:endParaRPr lang="en-US" sz="2400" dirty="0"/>
          </a:p>
          <a:p>
            <a:pPr marL="0" indent="0">
              <a:buNone/>
              <a:tabLst>
                <a:tab pos="465138" algn="l"/>
              </a:tabLst>
            </a:pPr>
            <a:r>
              <a:rPr lang="en-US" sz="2000" i="1" dirty="0"/>
              <a:t>	/*</a:t>
            </a:r>
            <a:r>
              <a:rPr lang="en-US" sz="2000" dirty="0"/>
              <a:t> </a:t>
            </a:r>
            <a:r>
              <a:rPr lang="en-US" sz="2000" i="1" dirty="0"/>
              <a:t>First</a:t>
            </a:r>
            <a:r>
              <a:rPr lang="en-US" sz="2000" dirty="0"/>
              <a:t> </a:t>
            </a:r>
            <a:r>
              <a:rPr lang="en-US" sz="2000" i="1" dirty="0"/>
              <a:t>increase</a:t>
            </a:r>
            <a:r>
              <a:rPr lang="en-US" sz="2000" dirty="0"/>
              <a:t> </a:t>
            </a:r>
            <a:r>
              <a:rPr lang="en-US" sz="2000" i="1" dirty="0"/>
              <a:t>top</a:t>
            </a:r>
            <a:r>
              <a:rPr lang="en-US" sz="2000" dirty="0"/>
              <a:t> </a:t>
            </a:r>
            <a:r>
              <a:rPr lang="en-US" sz="2000" i="1" dirty="0"/>
              <a:t>by</a:t>
            </a:r>
            <a:r>
              <a:rPr lang="en-US" sz="2000" dirty="0"/>
              <a:t> </a:t>
            </a:r>
            <a:r>
              <a:rPr lang="en-US" sz="2000" i="1" dirty="0"/>
              <a:t>1</a:t>
            </a:r>
            <a:r>
              <a:rPr lang="en-US" sz="2000" dirty="0"/>
              <a:t> </a:t>
            </a:r>
            <a:r>
              <a:rPr lang="en-US" sz="2000" i="1" dirty="0"/>
              <a:t>and</a:t>
            </a:r>
            <a:r>
              <a:rPr lang="en-US" sz="2000" dirty="0"/>
              <a:t> </a:t>
            </a:r>
            <a:r>
              <a:rPr lang="en-US" sz="2000" i="1" dirty="0"/>
              <a:t>store</a:t>
            </a:r>
            <a:r>
              <a:rPr lang="en-US" sz="2000" dirty="0"/>
              <a:t> </a:t>
            </a:r>
            <a:r>
              <a:rPr lang="en-US" sz="2000" i="1" dirty="0"/>
              <a:t>element</a:t>
            </a:r>
            <a:r>
              <a:rPr lang="en-US" sz="2000" dirty="0"/>
              <a:t> </a:t>
            </a:r>
            <a:r>
              <a:rPr lang="en-US" sz="2000" i="1" dirty="0"/>
              <a:t>at</a:t>
            </a:r>
            <a:r>
              <a:rPr lang="en-US" sz="2000" dirty="0"/>
              <a:t> </a:t>
            </a:r>
            <a:r>
              <a:rPr lang="en-US" sz="2000" i="1" dirty="0"/>
              <a:t>top</a:t>
            </a:r>
            <a:r>
              <a:rPr lang="en-US" sz="2000" dirty="0"/>
              <a:t> </a:t>
            </a:r>
            <a:r>
              <a:rPr lang="en-US" sz="2000" i="1" dirty="0"/>
              <a:t>position*/</a:t>
            </a:r>
            <a:r>
              <a:rPr lang="en-US" sz="2400" i="1" dirty="0"/>
              <a:t> 	</a:t>
            </a:r>
          </a:p>
          <a:p>
            <a:pPr marL="0" indent="0">
              <a:buNone/>
              <a:tabLst>
                <a:tab pos="465138" algn="l"/>
              </a:tabLst>
            </a:pPr>
            <a:r>
              <a:rPr lang="en-US" sz="2400" i="1" dirty="0"/>
              <a:t>	s-&gt;items[++(s-&gt;top)]=element;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}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POP function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0" indent="0" algn="ctr">
              <a:buNone/>
            </a:pPr>
            <a:r>
              <a:rPr lang="en-US" sz="115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atangChe" pitchFamily="49" charset="-127"/>
                <a:ea typeface="BatangChe" pitchFamily="49" charset="-127"/>
              </a:rPr>
              <a:t>?</a:t>
            </a:r>
            <a:endParaRPr lang="en-US" sz="9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atangChe" pitchFamily="49" charset="-127"/>
              <a:ea typeface="BatangChe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343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27038"/>
            <a:ext cx="10134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FF0000"/>
                </a:solidFill>
              </a:rPr>
              <a:t>Stack implementation in array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990600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//implementation of stack using array</a:t>
            </a:r>
          </a:p>
          <a:p>
            <a:pPr marL="1257300" lvl="3" indent="0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process.h</a:t>
            </a:r>
            <a:r>
              <a:rPr lang="en-US" dirty="0" smtClean="0"/>
              <a:t>&gt;</a:t>
            </a:r>
          </a:p>
          <a:p>
            <a:pPr marL="1257300" lvl="3" indent="0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conio.h</a:t>
            </a:r>
            <a:r>
              <a:rPr lang="en-US" dirty="0" smtClean="0"/>
              <a:t>&gt;</a:t>
            </a:r>
          </a:p>
          <a:p>
            <a:pPr marL="1257300" lvl="3" indent="0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marL="1257300" lvl="3" indent="0">
              <a:buNone/>
            </a:pPr>
            <a:r>
              <a:rPr lang="en-US" dirty="0" smtClean="0"/>
              <a:t>#define max 10</a:t>
            </a:r>
          </a:p>
          <a:p>
            <a:pPr marL="1257300" lvl="3" indent="0">
              <a:buNone/>
            </a:pPr>
            <a:r>
              <a:rPr lang="en-US" dirty="0" smtClean="0"/>
              <a:t>void push();</a:t>
            </a:r>
          </a:p>
          <a:p>
            <a:pPr marL="1257300" lvl="3" indent="0">
              <a:buNone/>
            </a:pPr>
            <a:r>
              <a:rPr lang="en-US" dirty="0" smtClean="0"/>
              <a:t>void pop();</a:t>
            </a:r>
          </a:p>
          <a:p>
            <a:pPr marL="1257300" lvl="3" indent="0">
              <a:buNone/>
            </a:pPr>
            <a:r>
              <a:rPr lang="en-US" dirty="0" smtClean="0"/>
              <a:t>void display();</a:t>
            </a:r>
          </a:p>
          <a:p>
            <a:pPr marL="1257300" lvl="3" indent="0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stack</a:t>
            </a:r>
          </a:p>
          <a:p>
            <a:pPr marL="1257300" lvl="3" indent="0">
              <a:buNone/>
            </a:pPr>
            <a:r>
              <a:rPr lang="en-US" dirty="0" smtClean="0"/>
              <a:t>{</a:t>
            </a:r>
          </a:p>
          <a:p>
            <a:pPr marL="1257300" lvl="3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tos</a:t>
            </a:r>
            <a:r>
              <a:rPr lang="en-US" dirty="0" smtClean="0"/>
              <a:t>;</a:t>
            </a:r>
          </a:p>
          <a:p>
            <a:pPr marL="1257300" lvl="3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item[max];</a:t>
            </a:r>
          </a:p>
          <a:p>
            <a:pPr marL="1257300" lvl="3" indent="0">
              <a:buNone/>
            </a:pPr>
            <a:r>
              <a:rPr lang="en-US" dirty="0" smtClean="0"/>
              <a:t>};</a:t>
            </a:r>
          </a:p>
          <a:p>
            <a:pPr marL="1257300" lvl="3" indent="0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stack s;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74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457200"/>
            <a:ext cx="10134600" cy="5943600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void main()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choice;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s.tos</a:t>
            </a:r>
            <a:r>
              <a:rPr lang="en-US" dirty="0" smtClean="0"/>
              <a:t> = -1;      //stack is empty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("\n 1. push");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("\n 2. pop");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("\n 3. display");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("\n 4. exit");</a:t>
            </a:r>
          </a:p>
          <a:p>
            <a:pPr marL="0" indent="0">
              <a:buNone/>
            </a:pPr>
            <a:r>
              <a:rPr lang="en-US" dirty="0" smtClean="0"/>
              <a:t> do</a:t>
            </a:r>
          </a:p>
          <a:p>
            <a:pPr marL="0" indent="0">
              <a:buNone/>
            </a:pP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("\n enter your choice:");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scanf</a:t>
            </a:r>
            <a:r>
              <a:rPr lang="en-US" dirty="0" smtClean="0"/>
              <a:t>("%d", &amp;choice);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switch(choice)</a:t>
            </a:r>
          </a:p>
          <a:p>
            <a:pPr marL="0" indent="0">
              <a:buNone/>
            </a:pPr>
            <a:r>
              <a:rPr lang="en-US" dirty="0" smtClean="0"/>
              <a:t>  {</a:t>
            </a:r>
          </a:p>
          <a:p>
            <a:pPr marL="0" indent="0">
              <a:buNone/>
            </a:pPr>
            <a:r>
              <a:rPr lang="en-US" dirty="0" smtClean="0"/>
              <a:t>    case 1:</a:t>
            </a:r>
          </a:p>
          <a:p>
            <a:pPr marL="0" indent="0">
              <a:buNone/>
            </a:pPr>
            <a:r>
              <a:rPr lang="en-US" dirty="0" smtClean="0"/>
              <a:t>        push();</a:t>
            </a:r>
          </a:p>
          <a:p>
            <a:pPr marL="0" indent="0">
              <a:buNone/>
            </a:pPr>
            <a:r>
              <a:rPr lang="en-US" dirty="0" smtClean="0"/>
              <a:t>     break;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case 2:</a:t>
            </a:r>
          </a:p>
          <a:p>
            <a:pPr marL="0" indent="0">
              <a:buNone/>
            </a:pPr>
            <a:r>
              <a:rPr lang="en-US" dirty="0" smtClean="0"/>
              <a:t>        pop();</a:t>
            </a:r>
          </a:p>
          <a:p>
            <a:pPr marL="0" indent="0">
              <a:buNone/>
            </a:pPr>
            <a:r>
              <a:rPr lang="en-US" dirty="0" smtClean="0"/>
              <a:t>    break;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case 3:</a:t>
            </a:r>
          </a:p>
          <a:p>
            <a:pPr marL="0" indent="0">
              <a:buNone/>
            </a:pPr>
            <a:r>
              <a:rPr lang="en-US" dirty="0" smtClean="0"/>
              <a:t>      display();</a:t>
            </a:r>
          </a:p>
          <a:p>
            <a:pPr marL="0" indent="0">
              <a:buNone/>
            </a:pPr>
            <a:r>
              <a:rPr lang="en-US" dirty="0" smtClean="0"/>
              <a:t>    break;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case 4:</a:t>
            </a:r>
          </a:p>
          <a:p>
            <a:pPr marL="0" indent="0">
              <a:buNone/>
            </a:pPr>
            <a:r>
              <a:rPr lang="en-US" dirty="0" smtClean="0"/>
              <a:t>       exit(1);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r>
              <a:rPr lang="en-US" dirty="0" smtClean="0"/>
              <a:t>  }while(choice!=4);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getch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3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533400"/>
            <a:ext cx="8534400" cy="5867400"/>
          </a:xfrm>
        </p:spPr>
        <p:txBody>
          <a:bodyPr numCol="1">
            <a:normAutofit fontScale="850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//push operation</a:t>
            </a:r>
          </a:p>
          <a:p>
            <a:pPr marL="0" indent="0">
              <a:buNone/>
            </a:pPr>
            <a:r>
              <a:rPr lang="en-US" dirty="0" smtClean="0"/>
              <a:t>void push()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data;</a:t>
            </a:r>
          </a:p>
          <a:p>
            <a:pPr marL="0" indent="0">
              <a:buNone/>
            </a:pPr>
            <a:r>
              <a:rPr lang="en-US" dirty="0" smtClean="0"/>
              <a:t>  if(</a:t>
            </a:r>
            <a:r>
              <a:rPr lang="en-US" dirty="0" err="1" smtClean="0"/>
              <a:t>s.tos</a:t>
            </a:r>
            <a:r>
              <a:rPr lang="en-US" dirty="0" smtClean="0"/>
              <a:t> == max-1)  //check stack is   full or not</a:t>
            </a:r>
          </a:p>
          <a:p>
            <a:pPr marL="0" indent="0">
              <a:buNone/>
            </a:pPr>
            <a:r>
              <a:rPr lang="en-US" dirty="0" smtClean="0"/>
              <a:t>   {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printf</a:t>
            </a:r>
            <a:r>
              <a:rPr lang="en-US" dirty="0" smtClean="0"/>
              <a:t>("\n sorry stack is full");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r>
              <a:rPr lang="en-US" dirty="0" smtClean="0"/>
              <a:t> else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printf</a:t>
            </a:r>
            <a:r>
              <a:rPr lang="en-US" dirty="0" smtClean="0"/>
              <a:t>("\n enter a value:");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scanf</a:t>
            </a:r>
            <a:r>
              <a:rPr lang="en-US" dirty="0" smtClean="0"/>
              <a:t>("%d", &amp;data);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s.tos</a:t>
            </a:r>
            <a:r>
              <a:rPr lang="en-US" dirty="0" smtClean="0"/>
              <a:t>=s.tos+1;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s.item</a:t>
            </a:r>
            <a:r>
              <a:rPr lang="en-US" dirty="0" smtClean="0"/>
              <a:t>[</a:t>
            </a:r>
            <a:r>
              <a:rPr lang="en-US" dirty="0" err="1" smtClean="0"/>
              <a:t>s.tos</a:t>
            </a:r>
            <a:r>
              <a:rPr lang="en-US" dirty="0" smtClean="0"/>
              <a:t>]=data;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9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609600"/>
            <a:ext cx="10134600" cy="55165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//pop operation</a:t>
            </a:r>
          </a:p>
          <a:p>
            <a:pPr marL="0" indent="0">
              <a:buNone/>
            </a:pPr>
            <a:r>
              <a:rPr lang="en-US" dirty="0"/>
              <a:t>void pop()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//</a:t>
            </a:r>
            <a:r>
              <a:rPr lang="en-US" dirty="0" err="1"/>
              <a:t>int</a:t>
            </a:r>
            <a:r>
              <a:rPr lang="en-US" dirty="0"/>
              <a:t> data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if(</a:t>
            </a:r>
            <a:r>
              <a:rPr lang="en-US" dirty="0" err="1" smtClean="0"/>
              <a:t>s.tos</a:t>
            </a:r>
            <a:r>
              <a:rPr lang="en-US" dirty="0"/>
              <a:t>== -1)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 </a:t>
            </a:r>
            <a:r>
              <a:rPr lang="en-US" dirty="0" err="1" smtClean="0"/>
              <a:t>printf</a:t>
            </a:r>
            <a:r>
              <a:rPr lang="en-US" dirty="0"/>
              <a:t>("\n stack is empty");</a:t>
            </a:r>
          </a:p>
          <a:p>
            <a:pPr marL="0" indent="0">
              <a:buNone/>
            </a:pPr>
            <a:r>
              <a:rPr lang="en-US" dirty="0" smtClean="0"/>
              <a:t>   else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 </a:t>
            </a:r>
            <a:r>
              <a:rPr lang="en-US" dirty="0" err="1" smtClean="0"/>
              <a:t>printf</a:t>
            </a:r>
            <a:r>
              <a:rPr lang="en-US" dirty="0"/>
              <a:t>("\n the popped value is :%d", </a:t>
            </a:r>
            <a:r>
              <a:rPr lang="en-US" dirty="0" err="1"/>
              <a:t>s.item</a:t>
            </a:r>
            <a:r>
              <a:rPr lang="en-US" dirty="0"/>
              <a:t>[</a:t>
            </a:r>
            <a:r>
              <a:rPr lang="en-US" dirty="0" err="1"/>
              <a:t>s.tos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 </a:t>
            </a:r>
            <a:r>
              <a:rPr lang="en-US" dirty="0" err="1" smtClean="0"/>
              <a:t>s.tos</a:t>
            </a:r>
            <a:r>
              <a:rPr lang="en-US" dirty="0" smtClean="0"/>
              <a:t>-</a:t>
            </a:r>
            <a:r>
              <a:rPr lang="en-US" dirty="0"/>
              <a:t>-;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576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762000"/>
            <a:ext cx="9372600" cy="5410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//display data item in stack</a:t>
            </a:r>
          </a:p>
          <a:p>
            <a:pPr marL="0" indent="0">
              <a:buNone/>
            </a:pPr>
            <a:r>
              <a:rPr lang="en-US" dirty="0"/>
              <a:t>void display()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  if(</a:t>
            </a:r>
            <a:r>
              <a:rPr lang="en-US" dirty="0" err="1" smtClean="0"/>
              <a:t>s.tos</a:t>
            </a:r>
            <a:r>
              <a:rPr lang="en-US" dirty="0" smtClean="0"/>
              <a:t> </a:t>
            </a:r>
            <a:r>
              <a:rPr lang="en-US" dirty="0"/>
              <a:t>== -1</a:t>
            </a:r>
            <a:r>
              <a:rPr lang="en-US" dirty="0" smtClean="0"/>
              <a:t>)    </a:t>
            </a:r>
            <a:r>
              <a:rPr lang="en-US" dirty="0"/>
              <a:t>// to check stack is empty or not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   </a:t>
            </a:r>
            <a:r>
              <a:rPr lang="en-US" dirty="0" err="1" smtClean="0"/>
              <a:t>printf</a:t>
            </a:r>
            <a:r>
              <a:rPr lang="en-US" dirty="0"/>
              <a:t>("\n sorry stack is an empty");</a:t>
            </a:r>
          </a:p>
          <a:p>
            <a:pPr marL="0" indent="0">
              <a:buNone/>
            </a:pPr>
            <a:r>
              <a:rPr lang="en-US" dirty="0" smtClean="0"/>
              <a:t>    else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  </a:t>
            </a:r>
            <a:r>
              <a:rPr lang="en-US" dirty="0" err="1" smtClean="0"/>
              <a:t>printf</a:t>
            </a:r>
            <a:r>
              <a:rPr lang="en-US" dirty="0"/>
              <a:t>("\n the data item is :");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for(</a:t>
            </a:r>
            <a:r>
              <a:rPr lang="en-US" dirty="0" err="1" smtClean="0"/>
              <a:t>i</a:t>
            </a:r>
            <a:r>
              <a:rPr lang="en-US" dirty="0" smtClean="0"/>
              <a:t>=</a:t>
            </a:r>
            <a:r>
              <a:rPr lang="en-US" dirty="0" err="1" smtClean="0"/>
              <a:t>s.tos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&gt;=0; </a:t>
            </a:r>
            <a:r>
              <a:rPr lang="en-US" dirty="0" err="1"/>
              <a:t>i</a:t>
            </a:r>
            <a:r>
              <a:rPr lang="en-US" dirty="0"/>
              <a:t>--)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       </a:t>
            </a:r>
            <a:r>
              <a:rPr lang="en-US" dirty="0" err="1" smtClean="0"/>
              <a:t>printf</a:t>
            </a:r>
            <a:r>
              <a:rPr lang="en-US" dirty="0"/>
              <a:t>("%d\t", </a:t>
            </a:r>
            <a:r>
              <a:rPr lang="en-US" dirty="0" err="1"/>
              <a:t>s.item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2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98438"/>
            <a:ext cx="94488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Using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838200"/>
            <a:ext cx="7772400" cy="5410200"/>
          </a:xfrm>
        </p:spPr>
        <p:txBody>
          <a:bodyPr numCol="1"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//array implementation stack</a:t>
            </a:r>
            <a:r>
              <a:rPr lang="en-US" dirty="0" smtClean="0"/>
              <a:t> using pointer</a:t>
            </a:r>
          </a:p>
          <a:p>
            <a:pPr marL="0" indent="0" algn="just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conio.h</a:t>
            </a:r>
            <a:r>
              <a:rPr lang="en-US" dirty="0" smtClean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stdlib.h</a:t>
            </a:r>
            <a:r>
              <a:rPr lang="en-US" dirty="0" smtClean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#define max 10</a:t>
            </a:r>
          </a:p>
          <a:p>
            <a:pPr marL="0" indent="0" algn="just">
              <a:buNone/>
            </a:pPr>
            <a:r>
              <a:rPr lang="en-US" dirty="0" smtClean="0"/>
              <a:t>void push();</a:t>
            </a:r>
          </a:p>
          <a:p>
            <a:pPr marL="0" indent="0" algn="just">
              <a:buNone/>
            </a:pPr>
            <a:r>
              <a:rPr lang="en-US" dirty="0" smtClean="0"/>
              <a:t>void pop();</a:t>
            </a:r>
          </a:p>
          <a:p>
            <a:pPr marL="0" indent="0" algn="just">
              <a:buNone/>
            </a:pPr>
            <a:r>
              <a:rPr lang="en-US" dirty="0" smtClean="0"/>
              <a:t>void display();</a:t>
            </a:r>
          </a:p>
          <a:p>
            <a:pPr marL="0" indent="0" algn="just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stack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tos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item[max];</a:t>
            </a:r>
          </a:p>
          <a:p>
            <a:pPr marL="0" indent="0" algn="just">
              <a:buNone/>
            </a:pPr>
            <a:r>
              <a:rPr lang="en-US" dirty="0" smtClean="0"/>
              <a:t>};</a:t>
            </a:r>
          </a:p>
          <a:p>
            <a:pPr marL="0" indent="0" algn="just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stack *s;</a:t>
            </a:r>
          </a:p>
        </p:txBody>
      </p:sp>
    </p:spTree>
    <p:extLst>
      <p:ext uri="{BB962C8B-B14F-4D97-AF65-F5344CB8AC3E}">
        <p14:creationId xmlns:p14="http://schemas.microsoft.com/office/powerpoint/2010/main" val="212021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choice;</a:t>
            </a:r>
          </a:p>
          <a:p>
            <a:pPr marL="0" indent="0" algn="just">
              <a:buNone/>
            </a:pPr>
            <a:r>
              <a:rPr lang="en-US" dirty="0"/>
              <a:t> s=(</a:t>
            </a:r>
            <a:r>
              <a:rPr lang="en-US" dirty="0" err="1"/>
              <a:t>struct</a:t>
            </a:r>
            <a:r>
              <a:rPr lang="en-US" dirty="0"/>
              <a:t> stack*)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stack));   //memory allocation</a:t>
            </a:r>
          </a:p>
          <a:p>
            <a:pPr marL="0" indent="0" algn="just">
              <a:buNone/>
            </a:pPr>
            <a:r>
              <a:rPr lang="en-US" dirty="0"/>
              <a:t> s-&gt;</a:t>
            </a:r>
            <a:r>
              <a:rPr lang="en-US" dirty="0" err="1"/>
              <a:t>tos</a:t>
            </a:r>
            <a:r>
              <a:rPr lang="en-US" dirty="0"/>
              <a:t> = -1;      //stack is empty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("\n 1. push");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("\n 2. pop");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("\n 3. display");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("\n 4. exit</a:t>
            </a:r>
            <a:r>
              <a:rPr lang="en-US" dirty="0" smtClean="0"/>
              <a:t>");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429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381000"/>
            <a:ext cx="8458200" cy="6019800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do</a:t>
            </a:r>
          </a:p>
          <a:p>
            <a:pPr marL="0" indent="0">
              <a:buNone/>
            </a:pP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("\n enter your choice:");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scanf</a:t>
            </a:r>
            <a:r>
              <a:rPr lang="en-US" dirty="0" smtClean="0"/>
              <a:t>("%d", &amp;choice);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switch(choice)</a:t>
            </a:r>
          </a:p>
          <a:p>
            <a:pPr marL="0" indent="0">
              <a:buNone/>
            </a:pPr>
            <a:r>
              <a:rPr lang="en-US" dirty="0" smtClean="0"/>
              <a:t>    {</a:t>
            </a:r>
          </a:p>
          <a:p>
            <a:pPr marL="0" indent="0">
              <a:buNone/>
            </a:pPr>
            <a:r>
              <a:rPr lang="en-US" dirty="0" smtClean="0"/>
              <a:t>      case 1:</a:t>
            </a:r>
          </a:p>
          <a:p>
            <a:pPr marL="0" indent="0">
              <a:buNone/>
            </a:pPr>
            <a:r>
              <a:rPr lang="en-US" dirty="0" smtClean="0"/>
              <a:t>        push();</a:t>
            </a:r>
          </a:p>
          <a:p>
            <a:pPr marL="0" indent="0">
              <a:buNone/>
            </a:pPr>
            <a:r>
              <a:rPr lang="en-US" dirty="0" smtClean="0"/>
              <a:t>      break;</a:t>
            </a:r>
          </a:p>
          <a:p>
            <a:pPr marL="0" indent="0">
              <a:buNone/>
            </a:pPr>
            <a:r>
              <a:rPr lang="en-US" dirty="0" smtClean="0"/>
              <a:t>     case 2:</a:t>
            </a:r>
          </a:p>
          <a:p>
            <a:pPr marL="0" indent="0">
              <a:buNone/>
            </a:pPr>
            <a:r>
              <a:rPr lang="en-US" dirty="0" smtClean="0"/>
              <a:t>      pop();</a:t>
            </a:r>
          </a:p>
          <a:p>
            <a:pPr marL="0" indent="0">
              <a:buNone/>
            </a:pPr>
            <a:r>
              <a:rPr lang="en-US" dirty="0" smtClean="0"/>
              <a:t>    break;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case 3:</a:t>
            </a:r>
          </a:p>
          <a:p>
            <a:pPr marL="0" indent="0">
              <a:buNone/>
            </a:pPr>
            <a:r>
              <a:rPr lang="en-US" dirty="0" smtClean="0"/>
              <a:t>     display();</a:t>
            </a:r>
          </a:p>
          <a:p>
            <a:pPr marL="0" indent="0">
              <a:buNone/>
            </a:pPr>
            <a:r>
              <a:rPr lang="en-US" dirty="0" smtClean="0"/>
              <a:t>    break;</a:t>
            </a:r>
          </a:p>
          <a:p>
            <a:pPr marL="0" indent="0">
              <a:buNone/>
            </a:pPr>
            <a:r>
              <a:rPr lang="en-US" dirty="0" smtClean="0"/>
              <a:t>   case 4:</a:t>
            </a:r>
          </a:p>
          <a:p>
            <a:pPr marL="0" indent="0">
              <a:buNone/>
            </a:pPr>
            <a:r>
              <a:rPr lang="en-US" dirty="0" smtClean="0"/>
              <a:t>      exit(1);</a:t>
            </a:r>
          </a:p>
          <a:p>
            <a:pPr marL="0" indent="0">
              <a:buNone/>
            </a:pPr>
            <a:r>
              <a:rPr lang="en-US" dirty="0" smtClean="0"/>
              <a:t>  }</a:t>
            </a:r>
          </a:p>
          <a:p>
            <a:pPr marL="0" indent="0">
              <a:buNone/>
            </a:pPr>
            <a:r>
              <a:rPr lang="en-US" dirty="0" smtClean="0"/>
              <a:t> }while(choice!=4);</a:t>
            </a:r>
          </a:p>
          <a:p>
            <a:pPr marL="0" indent="0">
              <a:buNone/>
            </a:pPr>
            <a:r>
              <a:rPr lang="en-US" dirty="0" err="1" smtClean="0"/>
              <a:t>getch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0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457200"/>
            <a:ext cx="8229600" cy="579120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//push operation</a:t>
            </a:r>
          </a:p>
          <a:p>
            <a:pPr marL="0" indent="0">
              <a:buNone/>
            </a:pPr>
            <a:r>
              <a:rPr lang="en-US" sz="2000" dirty="0"/>
              <a:t>void push()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data;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//</a:t>
            </a:r>
            <a:r>
              <a:rPr lang="en-US" sz="2000" dirty="0"/>
              <a:t>check stack is full or not</a:t>
            </a:r>
          </a:p>
          <a:p>
            <a:pPr marL="0" indent="0">
              <a:buNone/>
            </a:pPr>
            <a:r>
              <a:rPr lang="en-US" sz="2000" dirty="0" smtClean="0"/>
              <a:t> if(s-</a:t>
            </a:r>
            <a:r>
              <a:rPr lang="en-US" sz="2000" dirty="0"/>
              <a:t>&gt;</a:t>
            </a:r>
            <a:r>
              <a:rPr lang="en-US" sz="2000" dirty="0" err="1"/>
              <a:t>tos</a:t>
            </a:r>
            <a:r>
              <a:rPr lang="en-US" sz="2000" dirty="0"/>
              <a:t> == max-1)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  </a:t>
            </a:r>
            <a:r>
              <a:rPr lang="en-US" sz="2000" dirty="0" err="1" smtClean="0"/>
              <a:t>printf</a:t>
            </a:r>
            <a:r>
              <a:rPr lang="en-US" sz="2000" dirty="0"/>
              <a:t>("\n sorry stack is full");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else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</a:t>
            </a:r>
            <a:r>
              <a:rPr lang="en-US" sz="2000" dirty="0" err="1" smtClean="0"/>
              <a:t>printf</a:t>
            </a:r>
            <a:r>
              <a:rPr lang="en-US" sz="2000" dirty="0"/>
              <a:t>("\n enter a value:");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</a:t>
            </a:r>
            <a:r>
              <a:rPr lang="en-US" sz="2000" dirty="0" err="1" smtClean="0"/>
              <a:t>scanf</a:t>
            </a:r>
            <a:r>
              <a:rPr lang="en-US" sz="2000" dirty="0"/>
              <a:t>("%d", &amp;data);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 s-</a:t>
            </a:r>
            <a:r>
              <a:rPr lang="en-US" sz="2000" dirty="0"/>
              <a:t>&gt;</a:t>
            </a:r>
            <a:r>
              <a:rPr lang="en-US" sz="2000" dirty="0" err="1"/>
              <a:t>tos</a:t>
            </a:r>
            <a:r>
              <a:rPr lang="en-US" sz="2000" dirty="0"/>
              <a:t>=s-&gt;tos+1;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 s-</a:t>
            </a:r>
            <a:r>
              <a:rPr lang="en-US" sz="2000" dirty="0"/>
              <a:t>&gt;item[s-&gt;</a:t>
            </a:r>
            <a:r>
              <a:rPr lang="en-US" sz="2000" dirty="0" err="1"/>
              <a:t>tos</a:t>
            </a:r>
            <a:r>
              <a:rPr lang="en-US" sz="2000" dirty="0"/>
              <a:t>]=data;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6560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609600"/>
            <a:ext cx="8915400" cy="55165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//pop operation</a:t>
            </a:r>
          </a:p>
          <a:p>
            <a:pPr marL="0" indent="0">
              <a:buNone/>
            </a:pPr>
            <a:r>
              <a:rPr lang="en-US" dirty="0"/>
              <a:t>void pop()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//</a:t>
            </a:r>
            <a:r>
              <a:rPr lang="en-US" dirty="0" err="1"/>
              <a:t>int</a:t>
            </a:r>
            <a:r>
              <a:rPr lang="en-US" dirty="0"/>
              <a:t> data;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if(s-&gt;</a:t>
            </a:r>
            <a:r>
              <a:rPr lang="en-US" dirty="0" err="1"/>
              <a:t>tos</a:t>
            </a:r>
            <a:r>
              <a:rPr lang="en-US" dirty="0"/>
              <a:t>== -1)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("\n stack is empty");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("\n the popped value is :%d", s-&gt;item[s-&gt;</a:t>
            </a:r>
            <a:r>
              <a:rPr lang="en-US" dirty="0" err="1"/>
              <a:t>tos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s-&gt;</a:t>
            </a:r>
            <a:r>
              <a:rPr lang="en-US" dirty="0" err="1"/>
              <a:t>tos</a:t>
            </a:r>
            <a:r>
              <a:rPr lang="en-US" dirty="0"/>
              <a:t>--;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83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685800"/>
            <a:ext cx="7086600" cy="55165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0000"/>
                </a:solidFill>
              </a:rPr>
              <a:t>//display data item in stack</a:t>
            </a:r>
          </a:p>
          <a:p>
            <a:pPr marL="0" indent="0">
              <a:buNone/>
            </a:pPr>
            <a:r>
              <a:rPr lang="en-US" dirty="0"/>
              <a:t>void display()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if(s-</a:t>
            </a:r>
            <a:r>
              <a:rPr lang="en-US" dirty="0"/>
              <a:t>&gt;</a:t>
            </a:r>
            <a:r>
              <a:rPr lang="en-US" dirty="0" err="1"/>
              <a:t>tos</a:t>
            </a:r>
            <a:r>
              <a:rPr lang="en-US" dirty="0"/>
              <a:t> == -1) // to check empty or not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/>
              <a:t>("\n sorry stack is an empty");</a:t>
            </a:r>
          </a:p>
          <a:p>
            <a:pPr marL="0" indent="0">
              <a:buNone/>
            </a:pPr>
            <a:r>
              <a:rPr lang="en-US" dirty="0" smtClean="0"/>
              <a:t> else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("\n the data item is :");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for(</a:t>
            </a:r>
            <a:r>
              <a:rPr lang="en-US" dirty="0" err="1" smtClean="0"/>
              <a:t>i</a:t>
            </a:r>
            <a:r>
              <a:rPr lang="en-US" dirty="0" smtClean="0"/>
              <a:t>=s-</a:t>
            </a:r>
            <a:r>
              <a:rPr lang="en-US" dirty="0"/>
              <a:t>&gt;</a:t>
            </a:r>
            <a:r>
              <a:rPr lang="en-US" dirty="0" err="1"/>
              <a:t>tos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&gt;=0; </a:t>
            </a:r>
            <a:r>
              <a:rPr lang="en-US" dirty="0" err="1"/>
              <a:t>i</a:t>
            </a:r>
            <a:r>
              <a:rPr lang="en-US" dirty="0"/>
              <a:t>--)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("%d\t", s-&gt;item[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559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9296400" cy="9445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Infix, Prefix and Postfix </a:t>
            </a:r>
            <a:r>
              <a:rPr lang="en-US" b="1" dirty="0" smtClean="0">
                <a:solidFill>
                  <a:srgbClr val="C00000"/>
                </a:solidFill>
              </a:rPr>
              <a:t>Notation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1"/>
            <a:ext cx="10058400" cy="4830763"/>
          </a:xfrm>
        </p:spPr>
        <p:txBody>
          <a:bodyPr/>
          <a:lstStyle/>
          <a:p>
            <a:r>
              <a:rPr lang="en-US" dirty="0"/>
              <a:t>One of the applications of the stack is to evaluate the expression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We can represent </a:t>
            </a:r>
            <a:r>
              <a:rPr lang="en-US" dirty="0" smtClean="0"/>
              <a:t>the expression </a:t>
            </a:r>
            <a:r>
              <a:rPr lang="en-US" dirty="0"/>
              <a:t>following </a:t>
            </a:r>
            <a:r>
              <a:rPr lang="en-US" dirty="0">
                <a:solidFill>
                  <a:srgbClr val="C00000"/>
                </a:solidFill>
              </a:rPr>
              <a:t>three types</a:t>
            </a:r>
            <a:r>
              <a:rPr lang="en-US" dirty="0"/>
              <a:t> of </a:t>
            </a:r>
            <a:r>
              <a:rPr lang="en-US" dirty="0" smtClean="0"/>
              <a:t>notation: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Infix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Prefix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Postfix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10210800" cy="5181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Infix </a:t>
            </a:r>
            <a:r>
              <a:rPr lang="en-US" b="1" u="sng" dirty="0" smtClean="0"/>
              <a:t>expression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an ordinary mathematical notation of expression </a:t>
            </a:r>
            <a:r>
              <a:rPr lang="en-US" dirty="0" smtClean="0"/>
              <a:t>where operator </a:t>
            </a:r>
            <a:r>
              <a:rPr lang="en-US" dirty="0"/>
              <a:t>is written in </a:t>
            </a:r>
            <a:r>
              <a:rPr lang="en-US" i="1" dirty="0"/>
              <a:t>between the operands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>
                <a:solidFill>
                  <a:srgbClr val="7030A0"/>
                </a:solidFill>
              </a:rPr>
              <a:t>Example</a:t>
            </a:r>
            <a:r>
              <a:rPr lang="en-US" b="1" dirty="0">
                <a:solidFill>
                  <a:srgbClr val="7030A0"/>
                </a:solidFill>
              </a:rPr>
              <a:t>: A+B.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Here </a:t>
            </a:r>
            <a:r>
              <a:rPr lang="en-US" dirty="0"/>
              <a:t>‘</a:t>
            </a:r>
            <a:r>
              <a:rPr lang="en-US" b="1" i="1" dirty="0"/>
              <a:t>+</a:t>
            </a:r>
            <a:r>
              <a:rPr lang="en-US" dirty="0"/>
              <a:t>’ is </a:t>
            </a:r>
            <a:r>
              <a:rPr lang="en-US" dirty="0" smtClean="0"/>
              <a:t>an</a:t>
            </a:r>
            <a:r>
              <a:rPr lang="en-US" dirty="0"/>
              <a:t> </a:t>
            </a:r>
            <a:r>
              <a:rPr lang="en-US" b="1" i="1" dirty="0" smtClean="0"/>
              <a:t>operator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i="1" dirty="0"/>
              <a:t>A</a:t>
            </a:r>
            <a:r>
              <a:rPr lang="en-US" dirty="0"/>
              <a:t> and </a:t>
            </a:r>
            <a:r>
              <a:rPr lang="en-US" b="1" i="1" dirty="0"/>
              <a:t>B</a:t>
            </a:r>
            <a:r>
              <a:rPr lang="en-US" dirty="0"/>
              <a:t> are called </a:t>
            </a:r>
            <a:r>
              <a:rPr lang="en-US" b="1" i="1" dirty="0" smtClean="0"/>
              <a:t>operands</a:t>
            </a:r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Prefix notation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 </a:t>
            </a:r>
            <a:r>
              <a:rPr lang="en-US" dirty="0"/>
              <a:t>prefix notation the operator precedes the two operands.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is the </a:t>
            </a:r>
            <a:r>
              <a:rPr lang="en-US" i="1" dirty="0"/>
              <a:t>operator is written before the operands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also called </a:t>
            </a:r>
            <a:r>
              <a:rPr lang="en-US" b="1" dirty="0">
                <a:solidFill>
                  <a:srgbClr val="FF0000"/>
                </a:solidFill>
              </a:rPr>
              <a:t>polish notation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smtClean="0">
                <a:solidFill>
                  <a:srgbClr val="7030A0"/>
                </a:solidFill>
              </a:rPr>
              <a:t>Example</a:t>
            </a:r>
            <a:r>
              <a:rPr lang="en-US" b="1" dirty="0">
                <a:solidFill>
                  <a:srgbClr val="7030A0"/>
                </a:solidFill>
              </a:rPr>
              <a:t>: +AB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31836"/>
            <a:ext cx="10972800" cy="5211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Postfix notation</a:t>
            </a:r>
            <a:endParaRPr lang="en-US" dirty="0"/>
          </a:p>
          <a:p>
            <a:r>
              <a:rPr lang="en-US" dirty="0"/>
              <a:t>In postfix notation the operators are written after the operands so it is called the postfix notation (post mean after). </a:t>
            </a:r>
          </a:p>
          <a:p>
            <a:r>
              <a:rPr lang="en-US" dirty="0"/>
              <a:t>In this notation the operator follows the two operands.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7030A0"/>
                </a:solidFill>
              </a:rPr>
              <a:t>Example: AB+</a:t>
            </a:r>
          </a:p>
          <a:p>
            <a:pPr marL="0" indent="0">
              <a:buNone/>
            </a:pPr>
            <a:r>
              <a:rPr lang="en-US" b="1" dirty="0"/>
              <a:t>Examples.</a:t>
            </a:r>
            <a:endParaRPr lang="en-US" dirty="0"/>
          </a:p>
          <a:p>
            <a:r>
              <a:rPr lang="en-US" dirty="0"/>
              <a:t>A + B (Infix) </a:t>
            </a:r>
          </a:p>
          <a:p>
            <a:r>
              <a:rPr lang="en-US" dirty="0"/>
              <a:t>+ AB (Prefix) </a:t>
            </a:r>
          </a:p>
          <a:p>
            <a:r>
              <a:rPr lang="en-US" dirty="0"/>
              <a:t>AB + (Postfix)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33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143000"/>
            <a:ext cx="10134600" cy="4038600"/>
          </a:xfrm>
        </p:spPr>
        <p:txBody>
          <a:bodyPr/>
          <a:lstStyle/>
          <a:p>
            <a:r>
              <a:rPr lang="en-US" dirty="0"/>
              <a:t>Both prefix and postfix are </a:t>
            </a:r>
            <a:r>
              <a:rPr lang="en-US" dirty="0">
                <a:solidFill>
                  <a:srgbClr val="FF0000"/>
                </a:solidFill>
              </a:rPr>
              <a:t>parenthesis free </a:t>
            </a:r>
            <a:r>
              <a:rPr lang="en-US" dirty="0"/>
              <a:t>expressions. </a:t>
            </a:r>
            <a:endParaRPr lang="en-US" dirty="0" smtClean="0"/>
          </a:p>
          <a:p>
            <a:pPr marL="0" indent="0">
              <a:buNone/>
            </a:pPr>
            <a:r>
              <a:rPr lang="en-US" u="sng" dirty="0" err="1" smtClean="0">
                <a:solidFill>
                  <a:srgbClr val="7030A0"/>
                </a:solidFill>
              </a:rPr>
              <a:t>Eg</a:t>
            </a:r>
            <a:r>
              <a:rPr lang="en-US" u="sng" dirty="0" smtClean="0">
                <a:solidFill>
                  <a:srgbClr val="7030A0"/>
                </a:solidFill>
              </a:rPr>
              <a:t>.</a:t>
            </a:r>
          </a:p>
          <a:p>
            <a:r>
              <a:rPr lang="en-US" dirty="0" smtClean="0"/>
              <a:t>(A </a:t>
            </a:r>
            <a:r>
              <a:rPr lang="en-US" dirty="0"/>
              <a:t>+ B) * C	Infix form</a:t>
            </a:r>
          </a:p>
          <a:p>
            <a:r>
              <a:rPr lang="en-US" dirty="0" smtClean="0"/>
              <a:t>*+ </a:t>
            </a:r>
            <a:r>
              <a:rPr lang="en-US" dirty="0"/>
              <a:t>A B C	</a:t>
            </a:r>
            <a:r>
              <a:rPr lang="en-US" dirty="0" smtClean="0"/>
              <a:t>	Prefix </a:t>
            </a:r>
            <a:r>
              <a:rPr lang="en-US" dirty="0"/>
              <a:t>form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B + C *	</a:t>
            </a:r>
            <a:r>
              <a:rPr lang="en-US" dirty="0" smtClean="0"/>
              <a:t>	Postfix </a:t>
            </a:r>
            <a:r>
              <a:rPr lang="en-US" dirty="0"/>
              <a:t>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6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Converting an Infix Expression to 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First convert the sub-expression to postfix that is to be evaluated first and repeat this process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 + (B * C)	</a:t>
            </a:r>
            <a:r>
              <a:rPr lang="en-US" i="1" dirty="0" smtClean="0">
                <a:solidFill>
                  <a:schemeClr val="hlink"/>
                </a:solidFill>
              </a:rPr>
              <a:t>parenthesis for emphasis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 + (BC*)	</a:t>
            </a:r>
            <a:r>
              <a:rPr lang="en-US" i="1" dirty="0" smtClean="0">
                <a:solidFill>
                  <a:schemeClr val="hlink"/>
                </a:solidFill>
              </a:rPr>
              <a:t>convert the multiplication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 (BC*) +	</a:t>
            </a:r>
            <a:r>
              <a:rPr lang="en-US" i="1" dirty="0" smtClean="0">
                <a:solidFill>
                  <a:schemeClr val="hlink"/>
                </a:solidFill>
              </a:rPr>
              <a:t>convert the addition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ABC*+		</a:t>
            </a:r>
            <a:r>
              <a:rPr lang="en-US" i="1" dirty="0" smtClean="0">
                <a:solidFill>
                  <a:schemeClr val="hlink"/>
                </a:solidFill>
              </a:rPr>
              <a:t>postfix 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4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9982200" cy="79216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Converting an Infix Expression to 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103632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First</a:t>
            </a:r>
            <a:r>
              <a:rPr lang="en-US" dirty="0"/>
              <a:t> </a:t>
            </a:r>
            <a:r>
              <a:rPr lang="en-US" b="1" dirty="0"/>
              <a:t>convert</a:t>
            </a:r>
            <a:r>
              <a:rPr lang="en-US" dirty="0"/>
              <a:t>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sub-expression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postfix</a:t>
            </a:r>
            <a:r>
              <a:rPr lang="en-US" dirty="0"/>
              <a:t> </a:t>
            </a:r>
            <a:r>
              <a:rPr lang="en-US" b="1" dirty="0"/>
              <a:t>that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be</a:t>
            </a:r>
            <a:r>
              <a:rPr lang="en-US" dirty="0"/>
              <a:t> </a:t>
            </a:r>
            <a:r>
              <a:rPr lang="en-US" b="1" dirty="0"/>
              <a:t>evaluated</a:t>
            </a:r>
            <a:r>
              <a:rPr lang="en-US" dirty="0"/>
              <a:t> </a:t>
            </a:r>
            <a:r>
              <a:rPr lang="en-US" b="1" dirty="0"/>
              <a:t>first</a:t>
            </a:r>
            <a:r>
              <a:rPr lang="en-US" dirty="0"/>
              <a:t>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b="1" dirty="0"/>
              <a:t>repeat</a:t>
            </a:r>
            <a:r>
              <a:rPr lang="en-US" dirty="0"/>
              <a:t> </a:t>
            </a:r>
            <a:r>
              <a:rPr lang="en-US" b="1" dirty="0"/>
              <a:t>this</a:t>
            </a:r>
            <a:r>
              <a:rPr lang="en-US" dirty="0"/>
              <a:t> </a:t>
            </a:r>
            <a:r>
              <a:rPr lang="en-US" b="1" dirty="0"/>
              <a:t>process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You </a:t>
            </a:r>
            <a:r>
              <a:rPr lang="en-US" dirty="0"/>
              <a:t>substitute intermediate postfix sub-expression by any variable whenever necessary that makes it easy to convert.</a:t>
            </a:r>
          </a:p>
          <a:p>
            <a:r>
              <a:rPr lang="en-US" dirty="0" smtClean="0"/>
              <a:t>Remember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to convert an infix expression to its postfix equivalent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first convert the </a:t>
            </a:r>
            <a:r>
              <a:rPr lang="en-US" dirty="0">
                <a:solidFill>
                  <a:srgbClr val="FF0000"/>
                </a:solidFill>
              </a:rPr>
              <a:t>innermost parenthesis</a:t>
            </a:r>
            <a:r>
              <a:rPr lang="en-US" dirty="0"/>
              <a:t> to postfix, resulting as a new operand</a:t>
            </a:r>
          </a:p>
          <a:p>
            <a:r>
              <a:rPr lang="en-US" dirty="0" smtClean="0"/>
              <a:t>In </a:t>
            </a:r>
            <a:r>
              <a:rPr lang="en-US" dirty="0"/>
              <a:t>this fashion parenthesis can be </a:t>
            </a:r>
            <a:r>
              <a:rPr lang="en-US" dirty="0">
                <a:solidFill>
                  <a:srgbClr val="FF0000"/>
                </a:solidFill>
              </a:rPr>
              <a:t>successively eliminated </a:t>
            </a:r>
            <a:r>
              <a:rPr lang="en-US" dirty="0"/>
              <a:t>until the entire expression is converted</a:t>
            </a:r>
          </a:p>
          <a:p>
            <a:r>
              <a:rPr lang="en-US" dirty="0" smtClean="0"/>
              <a:t>The </a:t>
            </a:r>
            <a:r>
              <a:rPr lang="en-US" dirty="0"/>
              <a:t>last pair of parenthesis to be opened within a group of parenthesis encloses the first expression within the group to be transformed</a:t>
            </a:r>
          </a:p>
          <a:p>
            <a:r>
              <a:rPr lang="en-US" dirty="0" smtClean="0"/>
              <a:t>This </a:t>
            </a:r>
            <a:r>
              <a:rPr lang="en-US" dirty="0"/>
              <a:t>last in, first-out behavior suggests the use of a </a:t>
            </a:r>
            <a:r>
              <a:rPr lang="en-US" dirty="0" smtClean="0"/>
              <a:t>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05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Precedence </a:t>
            </a:r>
            <a:r>
              <a:rPr lang="en-US" b="1" dirty="0" smtClean="0"/>
              <a:t>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066800"/>
            <a:ext cx="9677400" cy="518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While converting infix to postfix you have to consider the </a:t>
            </a:r>
            <a:r>
              <a:rPr lang="en-US" b="1" dirty="0"/>
              <a:t>precedence</a:t>
            </a:r>
            <a:r>
              <a:rPr lang="en-US" dirty="0"/>
              <a:t> </a:t>
            </a:r>
            <a:r>
              <a:rPr lang="en-US" b="1" dirty="0" smtClean="0"/>
              <a:t>rule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. Exponentiation </a:t>
            </a:r>
            <a:r>
              <a:rPr lang="en-US" sz="1700" dirty="0">
                <a:solidFill>
                  <a:srgbClr val="FF0000"/>
                </a:solidFill>
              </a:rPr>
              <a:t>( the expression A$B is A raised to the B power, so that 3$2=9)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smtClean="0">
                <a:solidFill>
                  <a:srgbClr val="FF0000"/>
                </a:solidFill>
              </a:rPr>
              <a:t>Multiplication/Division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 3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smtClean="0">
                <a:solidFill>
                  <a:srgbClr val="FF0000"/>
                </a:solidFill>
              </a:rPr>
              <a:t>Addition/Subtraction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  <a:p>
            <a:r>
              <a:rPr lang="en-US" dirty="0"/>
              <a:t>When un-parenthesized operators of the same precedence are scanned, the order </a:t>
            </a:r>
            <a:r>
              <a:rPr lang="en-US" dirty="0" smtClean="0"/>
              <a:t>is</a:t>
            </a:r>
            <a:r>
              <a:rPr lang="en-US" dirty="0"/>
              <a:t> </a:t>
            </a:r>
            <a:r>
              <a:rPr lang="en-US" dirty="0" smtClean="0"/>
              <a:t>assumed </a:t>
            </a:r>
            <a:r>
              <a:rPr lang="en-US" dirty="0"/>
              <a:t>to be left to right except in the case </a:t>
            </a:r>
            <a:r>
              <a:rPr lang="en-US" dirty="0" smtClean="0"/>
              <a:t>of exponentiation</a:t>
            </a:r>
            <a:r>
              <a:rPr lang="en-US" dirty="0"/>
              <a:t>, where the order </a:t>
            </a:r>
            <a:r>
              <a:rPr lang="en-US" dirty="0" smtClean="0"/>
              <a:t>is assumed </a:t>
            </a:r>
            <a:r>
              <a:rPr lang="en-US" dirty="0"/>
              <a:t>to be from right to left.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</a:t>
            </a:r>
          </a:p>
          <a:p>
            <a:r>
              <a:rPr lang="en-US" dirty="0"/>
              <a:t>A+B+C means (A+B)+C </a:t>
            </a:r>
            <a:endParaRPr lang="en-US" dirty="0" smtClean="0"/>
          </a:p>
          <a:p>
            <a:r>
              <a:rPr lang="en-US" dirty="0" smtClean="0"/>
              <a:t>A$B$C </a:t>
            </a:r>
            <a:r>
              <a:rPr lang="en-US" dirty="0"/>
              <a:t>means A$(B$C)</a:t>
            </a:r>
          </a:p>
        </p:txBody>
      </p:sp>
    </p:spTree>
    <p:extLst>
      <p:ext uri="{BB962C8B-B14F-4D97-AF65-F5344CB8AC3E}">
        <p14:creationId xmlns:p14="http://schemas.microsoft.com/office/powerpoint/2010/main" val="231743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1"/>
            <a:ext cx="8229600" cy="5516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using parenthesis we can </a:t>
            </a:r>
            <a:r>
              <a:rPr lang="en-US" dirty="0">
                <a:solidFill>
                  <a:srgbClr val="FF0000"/>
                </a:solidFill>
              </a:rPr>
              <a:t>override</a:t>
            </a:r>
            <a:r>
              <a:rPr lang="en-US" dirty="0"/>
              <a:t> the default precedence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Consider an example that illustrate the converting of infix to postfix expression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A + (B* C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Use the following </a:t>
            </a:r>
            <a:r>
              <a:rPr lang="en-US" b="1" dirty="0"/>
              <a:t>rule</a:t>
            </a:r>
            <a:r>
              <a:rPr lang="en-US" dirty="0"/>
              <a:t> to convert it in postfix</a:t>
            </a:r>
            <a:r>
              <a:rPr lang="en-US" dirty="0" smtClean="0"/>
              <a:t>: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 Parenthesis for </a:t>
            </a:r>
            <a:r>
              <a:rPr lang="en-US" dirty="0" smtClean="0">
                <a:solidFill>
                  <a:srgbClr val="FF0000"/>
                </a:solidFill>
              </a:rPr>
              <a:t>emphasis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 Convert the </a:t>
            </a:r>
            <a:r>
              <a:rPr lang="en-US" dirty="0" smtClean="0">
                <a:solidFill>
                  <a:srgbClr val="FF0000"/>
                </a:solidFill>
              </a:rPr>
              <a:t>multiplication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3. Convert the </a:t>
            </a:r>
            <a:r>
              <a:rPr lang="en-US" dirty="0" smtClean="0">
                <a:solidFill>
                  <a:srgbClr val="FF0000"/>
                </a:solidFill>
              </a:rPr>
              <a:t>addition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 Post-fix 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0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/>
              <a:t>Illustration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+ (B * </a:t>
            </a:r>
            <a:r>
              <a:rPr lang="en-US" dirty="0" smtClean="0"/>
              <a:t>C)		Infix </a:t>
            </a:r>
            <a:r>
              <a:rPr lang="en-US" dirty="0"/>
              <a:t>form</a:t>
            </a:r>
          </a:p>
          <a:p>
            <a:pPr marL="0" indent="0">
              <a:buNone/>
            </a:pPr>
            <a:r>
              <a:rPr lang="en-US" dirty="0"/>
              <a:t>A + (B * C)	</a:t>
            </a:r>
            <a:r>
              <a:rPr lang="en-US" dirty="0" smtClean="0"/>
              <a:t>	Parenthesis </a:t>
            </a:r>
            <a:r>
              <a:rPr lang="en-US" dirty="0"/>
              <a:t>for emphasis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+ (BC*)	</a:t>
            </a:r>
            <a:r>
              <a:rPr lang="en-US" dirty="0" smtClean="0"/>
              <a:t>	Convert </a:t>
            </a:r>
            <a:r>
              <a:rPr lang="en-US" dirty="0"/>
              <a:t>the multiplication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(BC*) +	</a:t>
            </a:r>
            <a:r>
              <a:rPr lang="en-US" dirty="0" smtClean="0"/>
              <a:t>	Convert </a:t>
            </a:r>
            <a:r>
              <a:rPr lang="en-US" dirty="0"/>
              <a:t>the addition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ABC</a:t>
            </a:r>
            <a:r>
              <a:rPr lang="en-US" dirty="0"/>
              <a:t>*+ </a:t>
            </a:r>
            <a:r>
              <a:rPr lang="en-US" dirty="0" smtClean="0"/>
              <a:t>		Post-fix </a:t>
            </a:r>
            <a:r>
              <a:rPr lang="en-US" dirty="0"/>
              <a:t>form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7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(A + B) * ((C - D) + E) / F  	Infix form</a:t>
            </a:r>
          </a:p>
          <a:p>
            <a:r>
              <a:rPr lang="en-US" dirty="0" smtClean="0"/>
              <a:t>(AB+) * ((C – D) + E) / F</a:t>
            </a:r>
          </a:p>
          <a:p>
            <a:r>
              <a:rPr lang="en-US" dirty="0" smtClean="0"/>
              <a:t>(AB+) * ((CD-) + E) / F</a:t>
            </a:r>
          </a:p>
          <a:p>
            <a:r>
              <a:rPr lang="en-US" dirty="0" smtClean="0"/>
              <a:t>(AB+) * (CD-E+) / F</a:t>
            </a:r>
          </a:p>
          <a:p>
            <a:r>
              <a:rPr lang="en-US" dirty="0" smtClean="0"/>
              <a:t>(AB+CD-E+*) / F</a:t>
            </a:r>
          </a:p>
          <a:p>
            <a:r>
              <a:rPr lang="en-US" dirty="0" smtClean="0"/>
              <a:t>AB+CD-E+*F/ 	Postfix 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6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work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371600"/>
            <a:ext cx="8229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998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33400"/>
            <a:ext cx="9067800" cy="8683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/>
              <a:t>Algorithm to convert infix to postfix notation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52600"/>
            <a:ext cx="100584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 here two stacks </a:t>
            </a:r>
            <a:r>
              <a:rPr lang="en-US" dirty="0" err="1">
                <a:solidFill>
                  <a:srgbClr val="FF0000"/>
                </a:solidFill>
              </a:rPr>
              <a:t>opstack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poststack</a:t>
            </a:r>
            <a:r>
              <a:rPr lang="en-US" dirty="0"/>
              <a:t> are used and </a:t>
            </a:r>
            <a:r>
              <a:rPr lang="en-US" dirty="0" err="1">
                <a:solidFill>
                  <a:srgbClr val="FF0000"/>
                </a:solidFill>
              </a:rPr>
              <a:t>otos</a:t>
            </a:r>
            <a:r>
              <a:rPr lang="en-US" dirty="0"/>
              <a:t> &amp; </a:t>
            </a:r>
            <a:r>
              <a:rPr lang="en-US" dirty="0" err="1">
                <a:solidFill>
                  <a:srgbClr val="FF0000"/>
                </a:solidFill>
              </a:rPr>
              <a:t>ptos</a:t>
            </a:r>
            <a:r>
              <a:rPr lang="en-US" dirty="0"/>
              <a:t> represents the </a:t>
            </a:r>
            <a:r>
              <a:rPr lang="en-US" dirty="0" err="1"/>
              <a:t>opstack</a:t>
            </a:r>
            <a:r>
              <a:rPr lang="en-US" dirty="0"/>
              <a:t> top and </a:t>
            </a:r>
            <a:r>
              <a:rPr lang="en-US" dirty="0" err="1"/>
              <a:t>poststack</a:t>
            </a:r>
            <a:r>
              <a:rPr lang="en-US" dirty="0"/>
              <a:t> top respectively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otos</a:t>
            </a:r>
            <a:r>
              <a:rPr lang="en-US" dirty="0" smtClean="0">
                <a:solidFill>
                  <a:srgbClr val="FF0000"/>
                </a:solidFill>
              </a:rPr>
              <a:t> -&gt; </a:t>
            </a:r>
            <a:r>
              <a:rPr lang="en-US" dirty="0" err="1" smtClean="0">
                <a:solidFill>
                  <a:srgbClr val="0070C0"/>
                </a:solidFill>
              </a:rPr>
              <a:t>opstack</a:t>
            </a:r>
            <a:r>
              <a:rPr lang="en-US" dirty="0" smtClean="0">
                <a:solidFill>
                  <a:srgbClr val="0070C0"/>
                </a:solidFill>
              </a:rPr>
              <a:t> top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Ptos</a:t>
            </a:r>
            <a:r>
              <a:rPr lang="en-US" dirty="0" smtClean="0">
                <a:solidFill>
                  <a:srgbClr val="FF0000"/>
                </a:solidFill>
              </a:rPr>
              <a:t> -&gt; </a:t>
            </a:r>
            <a:r>
              <a:rPr lang="en-US" dirty="0" err="1" smtClean="0">
                <a:solidFill>
                  <a:srgbClr val="0070C0"/>
                </a:solidFill>
              </a:rPr>
              <a:t>poststack</a:t>
            </a:r>
            <a:r>
              <a:rPr lang="en-US" dirty="0" smtClean="0">
                <a:solidFill>
                  <a:srgbClr val="0070C0"/>
                </a:solidFill>
              </a:rPr>
              <a:t> top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89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33400"/>
            <a:ext cx="8229600" cy="5867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1.Scan </a:t>
            </a:r>
            <a:r>
              <a:rPr lang="en-US" dirty="0"/>
              <a:t>one character at a time of an </a:t>
            </a:r>
            <a:r>
              <a:rPr lang="en-US" dirty="0">
                <a:solidFill>
                  <a:srgbClr val="0070C0"/>
                </a:solidFill>
              </a:rPr>
              <a:t>infix expression</a:t>
            </a:r>
            <a:r>
              <a:rPr lang="en-US" dirty="0"/>
              <a:t> from left to right </a:t>
            </a:r>
            <a:r>
              <a:rPr lang="en-US" dirty="0" smtClean="0"/>
              <a:t>2.opstack = the </a:t>
            </a:r>
            <a:r>
              <a:rPr lang="en-US" dirty="0"/>
              <a:t>empty stack</a:t>
            </a:r>
          </a:p>
          <a:p>
            <a:pPr marL="0" indent="0">
              <a:buNone/>
            </a:pPr>
            <a:r>
              <a:rPr lang="en-US" dirty="0" smtClean="0"/>
              <a:t>3.Repeat </a:t>
            </a:r>
            <a:r>
              <a:rPr lang="en-US" dirty="0"/>
              <a:t>till there is data in </a:t>
            </a:r>
            <a:r>
              <a:rPr lang="en-US" dirty="0">
                <a:solidFill>
                  <a:srgbClr val="0070C0"/>
                </a:solidFill>
              </a:rPr>
              <a:t>infix expression</a:t>
            </a:r>
          </a:p>
          <a:p>
            <a:pPr marL="0" indent="0">
              <a:buNone/>
            </a:pPr>
            <a:r>
              <a:rPr lang="en-US" dirty="0" smtClean="0"/>
              <a:t>	3.1 </a:t>
            </a:r>
            <a:r>
              <a:rPr lang="en-US" dirty="0"/>
              <a:t>if scanned character is </a:t>
            </a:r>
            <a:r>
              <a:rPr lang="en-US" dirty="0">
                <a:solidFill>
                  <a:srgbClr val="FF0000"/>
                </a:solidFill>
              </a:rPr>
              <a:t>‘(‘</a:t>
            </a:r>
            <a:r>
              <a:rPr lang="en-US" dirty="0"/>
              <a:t> then push it to </a:t>
            </a:r>
            <a:r>
              <a:rPr lang="en-US" dirty="0" err="1">
                <a:solidFill>
                  <a:srgbClr val="0070C0"/>
                </a:solidFill>
              </a:rPr>
              <a:t>opstack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smtClean="0"/>
              <a:t>	3.2 </a:t>
            </a:r>
            <a:r>
              <a:rPr lang="en-US" dirty="0"/>
              <a:t>if scanned character is </a:t>
            </a:r>
            <a:r>
              <a:rPr lang="en-US" dirty="0">
                <a:solidFill>
                  <a:srgbClr val="0070C0"/>
                </a:solidFill>
              </a:rPr>
              <a:t>operand </a:t>
            </a:r>
            <a:r>
              <a:rPr lang="en-US" dirty="0"/>
              <a:t>then push it </a:t>
            </a:r>
            <a:r>
              <a:rPr lang="en-US" dirty="0" smtClean="0"/>
              <a:t>to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	</a:t>
            </a:r>
            <a:r>
              <a:rPr lang="en-US" dirty="0" err="1" smtClean="0">
                <a:solidFill>
                  <a:srgbClr val="0070C0"/>
                </a:solidFill>
              </a:rPr>
              <a:t>poststack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3.3 </a:t>
            </a:r>
            <a:r>
              <a:rPr lang="en-US" dirty="0"/>
              <a:t>if scanned character is </a:t>
            </a:r>
            <a:r>
              <a:rPr lang="en-US" dirty="0">
                <a:solidFill>
                  <a:srgbClr val="0070C0"/>
                </a:solidFill>
              </a:rPr>
              <a:t>operator</a:t>
            </a:r>
            <a:r>
              <a:rPr lang="en-US" dirty="0"/>
              <a:t> then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if(</a:t>
            </a:r>
            <a:r>
              <a:rPr lang="en-US" dirty="0" err="1" smtClean="0">
                <a:solidFill>
                  <a:srgbClr val="FF0000"/>
                </a:solidFill>
              </a:rPr>
              <a:t>opstack</a:t>
            </a:r>
            <a:r>
              <a:rPr lang="en-US" dirty="0">
                <a:solidFill>
                  <a:srgbClr val="FF0000"/>
                </a:solidFill>
              </a:rPr>
              <a:t>!=-1)</a:t>
            </a:r>
          </a:p>
          <a:p>
            <a:pPr marL="0" indent="0">
              <a:buNone/>
            </a:pPr>
            <a:r>
              <a:rPr lang="en-US" dirty="0" smtClean="0"/>
              <a:t>	while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(precedence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opstack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otos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])&gt;precedence(scan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	character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))</a:t>
            </a:r>
            <a:r>
              <a:rPr lang="en-US" dirty="0"/>
              <a:t> then pop and push it into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poststack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otherwise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	push </a:t>
            </a:r>
            <a:r>
              <a:rPr lang="en-US" dirty="0"/>
              <a:t>into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opstack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/>
              <a:t>	3.4 </a:t>
            </a:r>
            <a:r>
              <a:rPr lang="en-US" dirty="0"/>
              <a:t>if scanned character is</a:t>
            </a:r>
            <a:r>
              <a:rPr lang="en-US" dirty="0">
                <a:solidFill>
                  <a:srgbClr val="00B050"/>
                </a:solidFill>
              </a:rPr>
              <a:t> ‘)’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then</a:t>
            </a:r>
          </a:p>
          <a:p>
            <a:pPr marL="0" indent="0">
              <a:buNone/>
            </a:pPr>
            <a:r>
              <a:rPr lang="en-US" dirty="0" smtClean="0"/>
              <a:t>	pop </a:t>
            </a:r>
            <a:r>
              <a:rPr lang="en-US" dirty="0"/>
              <a:t>and push into </a:t>
            </a:r>
            <a:r>
              <a:rPr lang="en-US" dirty="0" err="1"/>
              <a:t>poststack</a:t>
            </a:r>
            <a:r>
              <a:rPr lang="en-US" dirty="0"/>
              <a:t> until ‘(‘ is not found and </a:t>
            </a:r>
            <a:r>
              <a:rPr lang="en-US" dirty="0">
                <a:solidFill>
                  <a:srgbClr val="00B050"/>
                </a:solidFill>
              </a:rPr>
              <a:t>ignore </a:t>
            </a:r>
            <a:r>
              <a:rPr lang="en-US" dirty="0" smtClean="0">
                <a:solidFill>
                  <a:srgbClr val="00B050"/>
                </a:solidFill>
              </a:rPr>
              <a:t>	both </a:t>
            </a:r>
            <a:r>
              <a:rPr lang="en-US" dirty="0">
                <a:solidFill>
                  <a:srgbClr val="00B050"/>
                </a:solidFill>
              </a:rPr>
              <a:t>symbols 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smtClean="0"/>
              <a:t>4.pop </a:t>
            </a:r>
            <a:r>
              <a:rPr lang="en-US" dirty="0"/>
              <a:t>and push into </a:t>
            </a:r>
            <a:r>
              <a:rPr lang="en-US" dirty="0" err="1">
                <a:solidFill>
                  <a:srgbClr val="00B050"/>
                </a:solidFill>
              </a:rPr>
              <a:t>poststack</a:t>
            </a:r>
            <a:r>
              <a:rPr lang="en-US" dirty="0"/>
              <a:t> until </a:t>
            </a:r>
            <a:r>
              <a:rPr lang="en-US" dirty="0" err="1">
                <a:solidFill>
                  <a:srgbClr val="00B050"/>
                </a:solidFill>
              </a:rPr>
              <a:t>opstack</a:t>
            </a:r>
            <a:r>
              <a:rPr lang="en-US" dirty="0"/>
              <a:t> is not empty.</a:t>
            </a:r>
          </a:p>
          <a:p>
            <a:pPr marL="0" indent="0">
              <a:buNone/>
            </a:pPr>
            <a:r>
              <a:rPr lang="en-US" dirty="0" smtClean="0"/>
              <a:t>5.Return</a:t>
            </a:r>
          </a:p>
          <a:p>
            <a:pPr marL="0" indent="0">
              <a:buNone/>
            </a:pPr>
            <a:r>
              <a:rPr lang="en-US" b="1" i="1" dirty="0" err="1" smtClean="0">
                <a:solidFill>
                  <a:srgbClr val="00B050"/>
                </a:solidFill>
              </a:rPr>
              <a:t>Opstack</a:t>
            </a:r>
            <a:r>
              <a:rPr lang="en-US" b="1" i="1" dirty="0" smtClean="0">
                <a:solidFill>
                  <a:srgbClr val="00B050"/>
                </a:solidFill>
              </a:rPr>
              <a:t> =operator stack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5204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Eg</a:t>
            </a:r>
            <a:r>
              <a:rPr lang="en-US" dirty="0" smtClean="0"/>
              <a:t>. converting infix to post 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762000"/>
            <a:ext cx="8229600" cy="5715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A+B-C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A+B*C/D-E</a:t>
            </a:r>
            <a:r>
              <a:rPr lang="en-US" sz="2800" i="1" dirty="0">
                <a:solidFill>
                  <a:srgbClr val="FF0000"/>
                </a:solidFill>
              </a:rPr>
              <a:t> Convert into post fix</a:t>
            </a:r>
            <a:endParaRPr lang="en-US" i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297294"/>
              </p:ext>
            </p:extLst>
          </p:nvPr>
        </p:nvGraphicFramePr>
        <p:xfrm>
          <a:off x="3505200" y="990600"/>
          <a:ext cx="6096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2438400"/>
                <a:gridCol w="12192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scan</a:t>
                      </a:r>
                      <a:r>
                        <a:rPr lang="en-US" baseline="0" dirty="0" smtClean="0"/>
                        <a:t> line/</a:t>
                      </a:r>
                      <a:r>
                        <a:rPr lang="en-US" baseline="0" dirty="0" err="1" smtClean="0"/>
                        <a:t>ip</a:t>
                      </a:r>
                      <a:r>
                        <a:rPr lang="en-US" baseline="0" dirty="0" smtClean="0"/>
                        <a:t> 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Poststack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opstack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-----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+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+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+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AB+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AB+C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</a:t>
                      </a:r>
                      <a:endParaRPr lang="en-US" b="1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---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AB+C-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87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446608"/>
              </p:ext>
            </p:extLst>
          </p:nvPr>
        </p:nvGraphicFramePr>
        <p:xfrm>
          <a:off x="2133600" y="1559560"/>
          <a:ext cx="76962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872"/>
                <a:gridCol w="2645128"/>
                <a:gridCol w="2343150"/>
                <a:gridCol w="19240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Scan</a:t>
                      </a:r>
                      <a:r>
                        <a:rPr lang="en-US" baseline="0" dirty="0" smtClean="0"/>
                        <a:t> line/</a:t>
                      </a:r>
                      <a:r>
                        <a:rPr lang="en-US" baseline="0" dirty="0" err="1" smtClean="0"/>
                        <a:t>ip</a:t>
                      </a:r>
                      <a:r>
                        <a:rPr lang="en-US" baseline="0" dirty="0" smtClean="0"/>
                        <a:t> 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Postfix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opstack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---------------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+*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+*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ABC*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ABC*D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ABC*D/+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ABC*D/+E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---------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ABC*D/+E-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09800" y="304800"/>
            <a:ext cx="632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A+B*C/D-E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7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Eg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A+B*(C+D)</a:t>
            </a:r>
          </a:p>
          <a:p>
            <a:r>
              <a:rPr lang="en-US" dirty="0" smtClean="0"/>
              <a:t>(A*B-(C-D))/(E+F)</a:t>
            </a:r>
          </a:p>
          <a:p>
            <a:r>
              <a:rPr lang="en-US" dirty="0" smtClean="0"/>
              <a:t>(A+B)*C+D/(E+F*G)-H</a:t>
            </a:r>
          </a:p>
          <a:p>
            <a:r>
              <a:rPr lang="en-US" dirty="0" smtClean="0"/>
              <a:t>(A+B)-C*D/(E-F/G)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7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22238"/>
            <a:ext cx="8229600" cy="4873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/>
              <a:t>Trace of Conversion Algorithm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0"/>
            <a:ext cx="82296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	((A-(B+C))*D)$(E+F)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10316"/>
            <a:ext cx="10058400" cy="6000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09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2800" b="1" dirty="0"/>
              <a:t>Converting an Infix expression to Prefix expression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85801"/>
            <a:ext cx="8229600" cy="5440363"/>
          </a:xfrm>
        </p:spPr>
        <p:txBody>
          <a:bodyPr/>
          <a:lstStyle/>
          <a:p>
            <a:r>
              <a:rPr lang="en-US" dirty="0"/>
              <a:t>The precedence rule for converting from an expression from infix to prefix are identical.</a:t>
            </a:r>
          </a:p>
          <a:p>
            <a:r>
              <a:rPr lang="en-US" b="1" dirty="0">
                <a:solidFill>
                  <a:srgbClr val="FF0000"/>
                </a:solidFill>
              </a:rPr>
              <a:t>A+B-C </a:t>
            </a:r>
            <a:r>
              <a:rPr lang="en-US" b="1" dirty="0" smtClean="0">
                <a:solidFill>
                  <a:srgbClr val="FF0000"/>
                </a:solidFill>
              </a:rPr>
              <a:t> is  -+ABC</a:t>
            </a:r>
          </a:p>
          <a:p>
            <a:pPr marL="0" indent="0">
              <a:buNone/>
            </a:pPr>
            <a:r>
              <a:rPr lang="en-US" dirty="0" smtClean="0"/>
              <a:t>	A+B-C </a:t>
            </a:r>
            <a:r>
              <a:rPr lang="en-US" dirty="0"/>
              <a:t>(infix)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= (+</a:t>
            </a:r>
            <a:r>
              <a:rPr lang="en-US" dirty="0"/>
              <a:t>AB)-C</a:t>
            </a:r>
          </a:p>
          <a:p>
            <a:pPr marL="0" indent="0">
              <a:buNone/>
            </a:pPr>
            <a:r>
              <a:rPr lang="en-US" dirty="0" smtClean="0"/>
              <a:t>	= -+</a:t>
            </a:r>
            <a:r>
              <a:rPr lang="en-US" dirty="0"/>
              <a:t>ABC (prefix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i="1" dirty="0"/>
              <a:t>example</a:t>
            </a:r>
            <a:r>
              <a:rPr lang="en-US" i="1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B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b="1" dirty="0"/>
              <a:t>–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F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(G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H)</a:t>
            </a:r>
            <a:r>
              <a:rPr lang="en-US" dirty="0"/>
              <a:t>	infix </a:t>
            </a:r>
            <a:r>
              <a:rPr lang="en-US" dirty="0" smtClean="0"/>
              <a:t>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95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803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B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b="1" dirty="0"/>
              <a:t>–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F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(G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H)</a:t>
            </a:r>
            <a:r>
              <a:rPr lang="en-US" dirty="0"/>
              <a:t>	infix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=A</a:t>
            </a:r>
            <a:r>
              <a:rPr lang="en-US" dirty="0" smtClean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B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b="1" dirty="0"/>
              <a:t>–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F</a:t>
            </a:r>
            <a:r>
              <a:rPr lang="en-US" dirty="0"/>
              <a:t> </a:t>
            </a:r>
            <a:r>
              <a:rPr lang="en-US" b="1" dirty="0"/>
              <a:t>/(+GH)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=$AB*</a:t>
            </a:r>
            <a:r>
              <a:rPr lang="en-US" dirty="0"/>
              <a:t>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b="1" dirty="0"/>
              <a:t>–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F</a:t>
            </a:r>
            <a:r>
              <a:rPr lang="en-US" dirty="0"/>
              <a:t> </a:t>
            </a:r>
            <a:r>
              <a:rPr lang="en-US" b="1" dirty="0"/>
              <a:t>/(+GH)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=*$</a:t>
            </a:r>
            <a:r>
              <a:rPr lang="en-US" b="1" dirty="0"/>
              <a:t>ABC-D+E/F/(+GH)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=*$</a:t>
            </a:r>
            <a:r>
              <a:rPr lang="en-US" b="1" dirty="0"/>
              <a:t>ABC-D+(/EF)/(+GH)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=*$</a:t>
            </a:r>
            <a:r>
              <a:rPr lang="en-US" b="1" dirty="0"/>
              <a:t>ABC-D+//EF+GH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b="1" dirty="0"/>
              <a:t>(-*$ABCD)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(//EF+GH)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=+-*$ABCD//EF+GH</a:t>
            </a:r>
            <a:r>
              <a:rPr lang="en-US" dirty="0"/>
              <a:t>	which is in prefix form.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3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11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Algorithm infix to prefix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762000"/>
            <a:ext cx="82296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1.Scan one character at a time of an infix expression from right to left. 2.opstack = the empty stack</a:t>
            </a:r>
          </a:p>
          <a:p>
            <a:pPr marL="0" indent="0">
              <a:buNone/>
            </a:pPr>
            <a:r>
              <a:rPr lang="en-US" sz="2400" b="1" dirty="0"/>
              <a:t>3.Repeat till there is data in infix expression</a:t>
            </a:r>
          </a:p>
          <a:p>
            <a:pPr marL="0" indent="0">
              <a:buNone/>
            </a:pPr>
            <a:r>
              <a:rPr lang="en-US" sz="2400" b="1" dirty="0"/>
              <a:t>	3.1 if scanned character is ‘)’ then push it to (operator stack) </a:t>
            </a:r>
            <a:r>
              <a:rPr lang="en-US" sz="2400" b="1" dirty="0" err="1"/>
              <a:t>opstack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	3.2 if scanned character is operand then push it to</a:t>
            </a:r>
          </a:p>
          <a:p>
            <a:pPr marL="0" indent="0">
              <a:buNone/>
            </a:pPr>
            <a:r>
              <a:rPr lang="en-US" sz="2400" b="1" dirty="0"/>
              <a:t>	 	</a:t>
            </a:r>
            <a:r>
              <a:rPr lang="en-US" sz="2400" b="1" dirty="0" err="1"/>
              <a:t>prestack</a:t>
            </a:r>
            <a:r>
              <a:rPr lang="en-US" sz="2400" b="1" dirty="0"/>
              <a:t> (Prefix stack) 	</a:t>
            </a:r>
          </a:p>
          <a:p>
            <a:pPr marL="0" indent="0">
              <a:buNone/>
            </a:pPr>
            <a:r>
              <a:rPr lang="en-US" sz="2400" b="1" dirty="0"/>
              <a:t>	3.3 if scanned character is operator then</a:t>
            </a:r>
          </a:p>
          <a:p>
            <a:pPr marL="0" indent="0">
              <a:buNone/>
            </a:pPr>
            <a:r>
              <a:rPr lang="en-US" sz="2400" b="1" dirty="0"/>
              <a:t>	 if(</a:t>
            </a:r>
            <a:r>
              <a:rPr lang="en-US" sz="2400" b="1" dirty="0" err="1"/>
              <a:t>opstack</a:t>
            </a:r>
            <a:r>
              <a:rPr lang="en-US" sz="2400" b="1" dirty="0"/>
              <a:t>!=-1)</a:t>
            </a:r>
          </a:p>
          <a:p>
            <a:pPr marL="0" indent="0">
              <a:buNone/>
            </a:pPr>
            <a:r>
              <a:rPr lang="en-US" sz="2400" b="1" dirty="0"/>
              <a:t>		while(precedence (</a:t>
            </a:r>
            <a:r>
              <a:rPr lang="en-US" sz="2400" b="1" dirty="0" err="1"/>
              <a:t>opstack</a:t>
            </a:r>
            <a:r>
              <a:rPr lang="en-US" sz="2400" b="1" dirty="0"/>
              <a:t>[</a:t>
            </a:r>
            <a:r>
              <a:rPr lang="en-US" sz="2400" b="1" dirty="0" err="1"/>
              <a:t>otos</a:t>
            </a:r>
            <a:r>
              <a:rPr lang="en-US" sz="2400" b="1" dirty="0"/>
              <a:t>])&gt;precedence(scan character)) then pop and push it into </a:t>
            </a:r>
            <a:r>
              <a:rPr lang="en-US" sz="2400" b="1" dirty="0" err="1"/>
              <a:t>prestack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	otherwise</a:t>
            </a:r>
          </a:p>
          <a:p>
            <a:pPr marL="0" indent="0">
              <a:buNone/>
            </a:pPr>
            <a:r>
              <a:rPr lang="en-US" sz="2400" b="1" dirty="0"/>
              <a:t>		push into </a:t>
            </a:r>
            <a:r>
              <a:rPr lang="en-US" sz="2400" b="1" dirty="0" err="1"/>
              <a:t>opstack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291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3.4 if scanned character is ‘(’ then</a:t>
            </a:r>
          </a:p>
          <a:p>
            <a:pPr marL="0" indent="0">
              <a:buNone/>
            </a:pPr>
            <a:r>
              <a:rPr lang="en-US" b="1" dirty="0"/>
              <a:t>	pop and push into </a:t>
            </a:r>
            <a:r>
              <a:rPr lang="en-US" b="1" dirty="0" err="1"/>
              <a:t>prestack</a:t>
            </a:r>
            <a:r>
              <a:rPr lang="en-US" b="1" dirty="0"/>
              <a:t> until ‘)’ is not found and ignore 	both 	symbols </a:t>
            </a:r>
          </a:p>
          <a:p>
            <a:pPr marL="0" indent="0">
              <a:buNone/>
            </a:pPr>
            <a:r>
              <a:rPr lang="en-US" b="1" dirty="0"/>
              <a:t>4.pop and push into </a:t>
            </a:r>
            <a:r>
              <a:rPr lang="en-US" b="1" dirty="0" err="1"/>
              <a:t>prestack</a:t>
            </a:r>
            <a:r>
              <a:rPr lang="en-US" b="1" dirty="0"/>
              <a:t> until </a:t>
            </a:r>
            <a:r>
              <a:rPr lang="en-US" b="1" dirty="0" err="1"/>
              <a:t>opstack</a:t>
            </a:r>
            <a:r>
              <a:rPr lang="en-US" b="1" dirty="0"/>
              <a:t> is not empty.</a:t>
            </a:r>
          </a:p>
          <a:p>
            <a:pPr marL="0" indent="0">
              <a:buNone/>
            </a:pPr>
            <a:r>
              <a:rPr lang="en-US" b="1" dirty="0"/>
              <a:t>5.Pop and print from prefix stack to get prefix.</a:t>
            </a:r>
          </a:p>
          <a:p>
            <a:pPr marL="0" indent="0">
              <a:buNone/>
            </a:pPr>
            <a:r>
              <a:rPr lang="en-US" b="1" i="1" dirty="0" err="1"/>
              <a:t>Opstack</a:t>
            </a:r>
            <a:r>
              <a:rPr lang="en-US" b="1" i="1" dirty="0"/>
              <a:t> =operator stack</a:t>
            </a:r>
          </a:p>
          <a:p>
            <a:pPr marL="0" indent="0">
              <a:buNone/>
            </a:pPr>
            <a:r>
              <a:rPr lang="en-US" b="1" dirty="0"/>
              <a:t>A $ B * C – D + E / F / (G + 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1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368222"/>
              </p:ext>
            </p:extLst>
          </p:nvPr>
        </p:nvGraphicFramePr>
        <p:xfrm>
          <a:off x="2743200" y="152400"/>
          <a:ext cx="70866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442"/>
                <a:gridCol w="1742758"/>
                <a:gridCol w="3121479"/>
                <a:gridCol w="1602921"/>
              </a:tblGrid>
              <a:tr h="152400">
                <a:tc>
                  <a:txBody>
                    <a:bodyPr/>
                    <a:lstStyle/>
                    <a:p>
                      <a:r>
                        <a:rPr lang="en-US" dirty="0" smtClean="0"/>
                        <a:t>SN.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Scan</a:t>
                      </a:r>
                      <a:r>
                        <a:rPr lang="en-US" baseline="0" dirty="0" smtClean="0"/>
                        <a:t> 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Prestack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opstack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----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)+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)+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------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//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//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HG+FE//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HG+FE//D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HG+FE//D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+-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HG+FE//DC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+-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HG+FE//DC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+-*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HG+FE//DCB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+-*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HG+FE//DCB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+-*$</a:t>
                      </a:r>
                      <a:endParaRPr lang="en-US" dirty="0"/>
                    </a:p>
                  </a:txBody>
                  <a:tcPr/>
                </a:tc>
              </a:tr>
              <a:tr h="337312"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HG+FE//DCBA$*-+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35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Evaluating the Postfix </a:t>
            </a:r>
            <a:r>
              <a:rPr lang="en-US" b="1" u="sng" dirty="0" smtClean="0"/>
              <a:t>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operator in a postfix expression refers to the previous two operands in the </a:t>
            </a:r>
            <a:r>
              <a:rPr lang="en-US" dirty="0" smtClean="0"/>
              <a:t>expression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488" y="2743200"/>
            <a:ext cx="8070112" cy="185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686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4638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procedure: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334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Each time we read an operand we push it onto a stack.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we reach an operator, </a:t>
            </a:r>
            <a:r>
              <a:rPr lang="en-US" dirty="0" smtClean="0"/>
              <a:t>its</a:t>
            </a:r>
            <a:r>
              <a:rPr lang="en-US" dirty="0"/>
              <a:t> </a:t>
            </a:r>
            <a:r>
              <a:rPr lang="en-US" dirty="0" smtClean="0"/>
              <a:t>operands </a:t>
            </a:r>
            <a:r>
              <a:rPr lang="en-US" dirty="0"/>
              <a:t>will be the top two elements on the stack.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then pop these two </a:t>
            </a:r>
            <a:r>
              <a:rPr lang="en-US" dirty="0" smtClean="0"/>
              <a:t>elements</a:t>
            </a:r>
            <a:r>
              <a:rPr lang="en-US" dirty="0"/>
              <a:t> </a:t>
            </a:r>
          </a:p>
          <a:p>
            <a:r>
              <a:rPr lang="en-US" dirty="0"/>
              <a:t>perform the indicated operation on them and push the result on the stack so that it </a:t>
            </a:r>
            <a:r>
              <a:rPr lang="en-US" dirty="0" smtClean="0"/>
              <a:t>will</a:t>
            </a:r>
            <a:r>
              <a:rPr lang="en-US" dirty="0"/>
              <a:t> </a:t>
            </a:r>
            <a:r>
              <a:rPr lang="en-US" dirty="0" smtClean="0"/>
              <a:t>be </a:t>
            </a:r>
            <a:r>
              <a:rPr lang="en-US" dirty="0"/>
              <a:t>available for use as an operand of the next operator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Example</a:t>
            </a:r>
          </a:p>
          <a:p>
            <a:pPr marL="0" indent="0">
              <a:buNone/>
            </a:pPr>
            <a:r>
              <a:rPr lang="en-US" dirty="0"/>
              <a:t>3 4 5 * +</a:t>
            </a:r>
          </a:p>
          <a:p>
            <a:pPr marL="0" indent="0">
              <a:buNone/>
            </a:pPr>
            <a:r>
              <a:rPr lang="en-US" dirty="0"/>
              <a:t>=3 20 +</a:t>
            </a:r>
          </a:p>
          <a:p>
            <a:pPr marL="0" indent="0">
              <a:buNone/>
            </a:pPr>
            <a:r>
              <a:rPr lang="en-US" dirty="0"/>
              <a:t>=23 (answer)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20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1"/>
            <a:ext cx="8229600" cy="5516563"/>
          </a:xfrm>
        </p:spPr>
        <p:txBody>
          <a:bodyPr/>
          <a:lstStyle/>
          <a:p>
            <a:r>
              <a:rPr lang="en-US" b="1" dirty="0"/>
              <a:t>Evaluating</a:t>
            </a:r>
            <a:r>
              <a:rPr lang="en-US" dirty="0"/>
              <a:t>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given</a:t>
            </a:r>
            <a:r>
              <a:rPr lang="en-US" dirty="0"/>
              <a:t> </a:t>
            </a:r>
            <a:r>
              <a:rPr lang="en-US" b="1" dirty="0"/>
              <a:t>postfix</a:t>
            </a:r>
            <a:r>
              <a:rPr lang="en-US" dirty="0"/>
              <a:t> </a:t>
            </a:r>
            <a:r>
              <a:rPr lang="en-US" b="1" dirty="0"/>
              <a:t>expression: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6</a:t>
            </a:r>
            <a:r>
              <a:rPr lang="en-US" dirty="0" smtClean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-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8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 smtClean="0"/>
              <a:t>+  = 52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=6</a:t>
            </a:r>
            <a:r>
              <a:rPr lang="en-US" dirty="0"/>
              <a:t> </a:t>
            </a:r>
            <a:r>
              <a:rPr lang="en-US" b="1" dirty="0"/>
              <a:t>5</a:t>
            </a:r>
            <a:r>
              <a:rPr lang="en-US" dirty="0"/>
              <a:t> </a:t>
            </a:r>
            <a:r>
              <a:rPr lang="en-US" b="1" dirty="0"/>
              <a:t>-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8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=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8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=1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4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=1</a:t>
            </a:r>
            <a:r>
              <a:rPr lang="en-US" dirty="0" smtClean="0"/>
              <a:t> </a:t>
            </a:r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=7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=</a:t>
            </a:r>
            <a:r>
              <a:rPr lang="en-US" b="1" dirty="0"/>
              <a:t>49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+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b="1" dirty="0"/>
              <a:t>52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5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3200" b="1" dirty="0"/>
              <a:t>Algorithm to evaluate the postfix expression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5626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Scan </a:t>
            </a:r>
            <a:r>
              <a:rPr lang="en-US" dirty="0"/>
              <a:t>one character at a time from </a:t>
            </a:r>
            <a:r>
              <a:rPr lang="en-US" dirty="0">
                <a:solidFill>
                  <a:srgbClr val="FF0000"/>
                </a:solidFill>
              </a:rPr>
              <a:t>left to right</a:t>
            </a:r>
            <a:r>
              <a:rPr lang="en-US" dirty="0"/>
              <a:t> of given postfix expression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1.1 </a:t>
            </a:r>
            <a:r>
              <a:rPr lang="en-US" dirty="0"/>
              <a:t>if scanned </a:t>
            </a:r>
            <a:r>
              <a:rPr lang="en-US" dirty="0">
                <a:solidFill>
                  <a:srgbClr val="FF0000"/>
                </a:solidFill>
              </a:rPr>
              <a:t>symbol</a:t>
            </a:r>
            <a:r>
              <a:rPr lang="en-US" dirty="0"/>
              <a:t> is operand </a:t>
            </a:r>
            <a:r>
              <a:rPr lang="en-US" dirty="0" smtClean="0"/>
              <a:t>then read </a:t>
            </a:r>
            <a:r>
              <a:rPr lang="en-US" dirty="0"/>
              <a:t>its </a:t>
            </a:r>
            <a:r>
              <a:rPr lang="en-US" dirty="0" smtClean="0"/>
              <a:t>	       corresponding </a:t>
            </a:r>
            <a:r>
              <a:rPr lang="en-US" dirty="0"/>
              <a:t>value and push it into </a:t>
            </a:r>
            <a:r>
              <a:rPr lang="en-US" dirty="0" smtClean="0"/>
              <a:t>		       </a:t>
            </a:r>
            <a:r>
              <a:rPr lang="en-US" dirty="0" err="1" smtClean="0">
                <a:solidFill>
                  <a:srgbClr val="FF0000"/>
                </a:solidFill>
              </a:rPr>
              <a:t>vstack</a:t>
            </a:r>
            <a:r>
              <a:rPr lang="en-US" dirty="0" smtClean="0"/>
              <a:t>  (value stack)</a:t>
            </a:r>
          </a:p>
          <a:p>
            <a:pPr marL="0" indent="0">
              <a:buNone/>
            </a:pPr>
            <a:r>
              <a:rPr lang="en-US" dirty="0" smtClean="0"/>
              <a:t>	1.2 </a:t>
            </a:r>
            <a:r>
              <a:rPr lang="en-US" dirty="0"/>
              <a:t>if scanned symbol is operator then</a:t>
            </a:r>
          </a:p>
          <a:p>
            <a:pPr marL="0" indent="0">
              <a:buNone/>
            </a:pPr>
            <a:r>
              <a:rPr lang="en-US" dirty="0" smtClean="0"/>
              <a:t>		– </a:t>
            </a:r>
            <a:r>
              <a:rPr lang="en-US" dirty="0"/>
              <a:t>pop and place into </a:t>
            </a:r>
            <a:r>
              <a:rPr lang="en-US" dirty="0">
                <a:solidFill>
                  <a:srgbClr val="FF0000"/>
                </a:solidFill>
              </a:rPr>
              <a:t>op2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– pop </a:t>
            </a:r>
            <a:r>
              <a:rPr lang="en-US" dirty="0"/>
              <a:t>and place into  </a:t>
            </a:r>
            <a:r>
              <a:rPr lang="en-US" dirty="0" smtClean="0">
                <a:solidFill>
                  <a:srgbClr val="FF0000"/>
                </a:solidFill>
              </a:rPr>
              <a:t>op1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		– </a:t>
            </a:r>
            <a:r>
              <a:rPr lang="en-US" dirty="0"/>
              <a:t>compute </a:t>
            </a:r>
            <a:r>
              <a:rPr lang="en-US" dirty="0" smtClean="0"/>
              <a:t>result </a:t>
            </a:r>
            <a:r>
              <a:rPr lang="en-US" b="1" dirty="0" smtClean="0"/>
              <a:t>(op1 </a:t>
            </a:r>
            <a:r>
              <a:rPr lang="en-US" b="1" dirty="0" err="1" smtClean="0"/>
              <a:t>opr</a:t>
            </a:r>
            <a:r>
              <a:rPr lang="en-US" b="1" dirty="0" smtClean="0"/>
              <a:t> op2)</a:t>
            </a:r>
            <a:r>
              <a:rPr lang="en-US" dirty="0" smtClean="0"/>
              <a:t> </a:t>
            </a:r>
            <a:r>
              <a:rPr lang="en-US" dirty="0"/>
              <a:t>according to given </a:t>
            </a:r>
            <a:r>
              <a:rPr lang="en-US" dirty="0" smtClean="0"/>
              <a:t>		   operator and </a:t>
            </a:r>
            <a:r>
              <a:rPr lang="en-US" dirty="0"/>
              <a:t>push result into </a:t>
            </a:r>
            <a:r>
              <a:rPr lang="en-US" dirty="0" err="1"/>
              <a:t>vstack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smtClean="0"/>
              <a:t>pop </a:t>
            </a:r>
            <a:r>
              <a:rPr lang="en-US" dirty="0"/>
              <a:t>and </a:t>
            </a:r>
            <a:r>
              <a:rPr lang="en-US" dirty="0" smtClean="0"/>
              <a:t>display </a:t>
            </a:r>
            <a:r>
              <a:rPr lang="en-US" dirty="0"/>
              <a:t>which is required </a:t>
            </a:r>
            <a:r>
              <a:rPr lang="en-US" dirty="0" smtClean="0"/>
              <a:t>value </a:t>
            </a:r>
            <a:r>
              <a:rPr lang="en-US" dirty="0"/>
              <a:t>of the  </a:t>
            </a:r>
            <a:r>
              <a:rPr lang="en-US" dirty="0" smtClean="0"/>
              <a:t>     given postfix </a:t>
            </a:r>
            <a:r>
              <a:rPr lang="en-US" dirty="0"/>
              <a:t>expression</a:t>
            </a:r>
          </a:p>
          <a:p>
            <a:pPr marL="0" indent="0">
              <a:buNone/>
            </a:pPr>
            <a:r>
              <a:rPr lang="en-US" dirty="0" smtClean="0"/>
              <a:t>3. return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71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Trace of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762000"/>
            <a:ext cx="8382000" cy="5638800"/>
          </a:xfrm>
        </p:spPr>
        <p:txBody>
          <a:bodyPr/>
          <a:lstStyle/>
          <a:p>
            <a:r>
              <a:rPr lang="en-US" b="1" dirty="0"/>
              <a:t>ABC+*CBA-+*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	- 123</a:t>
            </a:r>
            <a:r>
              <a:rPr lang="en-US" b="1" dirty="0"/>
              <a:t>+*321-</a:t>
            </a:r>
            <a:r>
              <a:rPr lang="en-US" b="1" dirty="0" smtClean="0"/>
              <a:t>+*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10285"/>
              </p:ext>
            </p:extLst>
          </p:nvPr>
        </p:nvGraphicFramePr>
        <p:xfrm>
          <a:off x="2286000" y="2819401"/>
          <a:ext cx="7620001" cy="8108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191"/>
                <a:gridCol w="995578"/>
                <a:gridCol w="1148744"/>
                <a:gridCol w="1322332"/>
                <a:gridCol w="1396362"/>
                <a:gridCol w="1610794"/>
              </a:tblGrid>
              <a:tr h="685800">
                <a:tc>
                  <a:txBody>
                    <a:bodyPr/>
                    <a:lstStyle/>
                    <a:p>
                      <a:pPr marL="53975" marR="70485" algn="ctr">
                        <a:lnSpc>
                          <a:spcPct val="97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Scanned char</a:t>
                      </a:r>
                      <a:r>
                        <a:rPr lang="en-US" sz="1800" spc="-10" dirty="0">
                          <a:effectLst/>
                        </a:rPr>
                        <a:t>a</a:t>
                      </a:r>
                      <a:r>
                        <a:rPr lang="en-US" sz="1800" dirty="0">
                          <a:effectLst/>
                        </a:rPr>
                        <a:t>cter</a:t>
                      </a:r>
                    </a:p>
                    <a:p>
                      <a:pPr marL="53975" marR="70485" algn="ctr">
                        <a:lnSpc>
                          <a:spcPct val="97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</a:t>
                      </a:r>
                      <a:r>
                        <a:rPr lang="en-US" sz="1800" spc="-5" dirty="0">
                          <a:effectLst/>
                        </a:rPr>
                        <a:t>l</a:t>
                      </a:r>
                      <a:r>
                        <a:rPr lang="en-US" sz="1800" dirty="0">
                          <a:effectLst/>
                        </a:rPr>
                        <a:t>ue</a:t>
                      </a:r>
                    </a:p>
                    <a:p>
                      <a:pPr marL="685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Op2</a:t>
                      </a:r>
                    </a:p>
                    <a:p>
                      <a:pPr marL="1447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Op1</a:t>
                      </a:r>
                    </a:p>
                    <a:p>
                      <a:pPr marL="1447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Resul</a:t>
                      </a:r>
                      <a:r>
                        <a:rPr lang="en-US" sz="1800" spc="-5" dirty="0">
                          <a:effectLst/>
                        </a:rPr>
                        <a:t>t</a:t>
                      </a:r>
                      <a:endParaRPr lang="en-US" sz="1800" dirty="0">
                        <a:effectLst/>
                      </a:endParaRPr>
                    </a:p>
                    <a:p>
                      <a:pPr marL="685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vsta</a:t>
                      </a:r>
                      <a:r>
                        <a:rPr lang="en-US" sz="1800" spc="-5" dirty="0" err="1">
                          <a:effectLst/>
                        </a:rPr>
                        <a:t>c</a:t>
                      </a:r>
                      <a:r>
                        <a:rPr lang="en-US" sz="1800" dirty="0" err="1">
                          <a:effectLst/>
                        </a:rPr>
                        <a:t>k</a:t>
                      </a:r>
                      <a:endParaRPr lang="en-US" sz="1800" dirty="0">
                        <a:effectLst/>
                      </a:endParaRPr>
                    </a:p>
                    <a:p>
                      <a:pPr marL="69215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30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125188"/>
              </p:ext>
            </p:extLst>
          </p:nvPr>
        </p:nvGraphicFramePr>
        <p:xfrm>
          <a:off x="2438401" y="304800"/>
          <a:ext cx="7315199" cy="6213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344"/>
                <a:gridCol w="955755"/>
                <a:gridCol w="1102794"/>
                <a:gridCol w="1269438"/>
                <a:gridCol w="1340506"/>
                <a:gridCol w="1546362"/>
              </a:tblGrid>
              <a:tr h="457196">
                <a:tc>
                  <a:txBody>
                    <a:bodyPr/>
                    <a:lstStyle/>
                    <a:p>
                      <a:pPr marL="53975" marR="70485" algn="ctr">
                        <a:lnSpc>
                          <a:spcPct val="97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Scanned </a:t>
                      </a:r>
                      <a:r>
                        <a:rPr lang="en-US" sz="1400" dirty="0" smtClean="0">
                          <a:effectLst/>
                        </a:rPr>
                        <a:t>char</a:t>
                      </a:r>
                      <a:r>
                        <a:rPr lang="en-US" sz="1400" spc="-10" dirty="0" smtClean="0">
                          <a:effectLst/>
                        </a:rPr>
                        <a:t>a</a:t>
                      </a:r>
                      <a:r>
                        <a:rPr lang="en-US" sz="1400" dirty="0" smtClean="0">
                          <a:effectLst/>
                        </a:rPr>
                        <a:t>cter</a:t>
                      </a:r>
                    </a:p>
                    <a:p>
                      <a:pPr marL="53975" marR="70485" algn="ctr">
                        <a:lnSpc>
                          <a:spcPct val="97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Va</a:t>
                      </a:r>
                      <a:r>
                        <a:rPr lang="en-US" sz="1400" spc="-5" dirty="0" smtClean="0">
                          <a:effectLst/>
                        </a:rPr>
                        <a:t>l</a:t>
                      </a:r>
                      <a:r>
                        <a:rPr lang="en-US" sz="1400" dirty="0" smtClean="0">
                          <a:effectLst/>
                        </a:rPr>
                        <a:t>ue</a:t>
                      </a:r>
                      <a:endParaRPr lang="en-US" sz="1400" dirty="0">
                        <a:effectLst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Op2</a:t>
                      </a:r>
                      <a:endParaRPr lang="en-US" sz="1400" dirty="0">
                        <a:effectLst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Op1</a:t>
                      </a:r>
                      <a:endParaRPr lang="en-US" sz="1400" dirty="0">
                        <a:effectLst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Resul</a:t>
                      </a:r>
                      <a:r>
                        <a:rPr lang="en-US" sz="1400" spc="-5" dirty="0" smtClean="0">
                          <a:effectLst/>
                        </a:rPr>
                        <a:t>t</a:t>
                      </a:r>
                      <a:endParaRPr lang="en-US" sz="1400" dirty="0">
                        <a:effectLst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115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effectLst/>
                        </a:rPr>
                        <a:t>vsta</a:t>
                      </a:r>
                      <a:r>
                        <a:rPr lang="en-US" sz="1400" spc="-5" dirty="0" err="1" smtClean="0">
                          <a:effectLst/>
                        </a:rPr>
                        <a:t>c</a:t>
                      </a:r>
                      <a:r>
                        <a:rPr lang="en-US" sz="1400" dirty="0" err="1" smtClean="0">
                          <a:effectLst/>
                        </a:rPr>
                        <a:t>k</a:t>
                      </a:r>
                      <a:endParaRPr lang="en-US" sz="1400" dirty="0">
                        <a:effectLst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…..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1 2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…..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1 2 3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1 5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5 3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5 3 2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5 3 2 1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5 3 1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5 4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7242"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…….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20</a:t>
                      </a:r>
                    </a:p>
                    <a:p>
                      <a:pPr marL="68580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20</a:t>
                      </a:r>
                    </a:p>
                    <a:p>
                      <a:pPr marL="69215" marR="0">
                        <a:lnSpc>
                          <a:spcPct val="95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45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/>
              <a:t>Evaluating the Prefix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762000"/>
            <a:ext cx="8534400" cy="5715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To evaluate the prefix expression we use two stacks and some time it is called </a:t>
            </a:r>
            <a:r>
              <a:rPr lang="en-US" dirty="0" smtClean="0"/>
              <a:t>two stack</a:t>
            </a:r>
            <a:r>
              <a:rPr lang="en-US" dirty="0"/>
              <a:t> </a:t>
            </a:r>
            <a:r>
              <a:rPr lang="en-US" dirty="0" smtClean="0"/>
              <a:t>algorithms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One </a:t>
            </a:r>
            <a:r>
              <a:rPr lang="en-US" dirty="0"/>
              <a:t>stack is used to store operators and another is used to store </a:t>
            </a:r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dirty="0" smtClean="0"/>
              <a:t>operands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Consider </a:t>
            </a:r>
            <a:r>
              <a:rPr lang="en-US" dirty="0"/>
              <a:t>an example for </a:t>
            </a:r>
            <a:r>
              <a:rPr lang="en-US" dirty="0" smtClean="0"/>
              <a:t>this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+ 5 *3 2 </a:t>
            </a:r>
            <a:r>
              <a:rPr lang="en-US" dirty="0" smtClean="0"/>
              <a:t>	prefix expression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= +5 6 =</a:t>
            </a:r>
            <a:r>
              <a:rPr lang="en-US" dirty="0" smtClean="0"/>
              <a:t>11</a:t>
            </a:r>
          </a:p>
          <a:p>
            <a:r>
              <a:rPr lang="en-US" b="1" dirty="0"/>
              <a:t>Illustration</a:t>
            </a:r>
            <a:r>
              <a:rPr lang="en-US" dirty="0"/>
              <a:t>: Evaluate the given prefix expression</a:t>
            </a:r>
          </a:p>
          <a:p>
            <a:r>
              <a:rPr lang="en-US" dirty="0"/>
              <a:t>/ + 5 3 – 4 2</a:t>
            </a:r>
            <a:r>
              <a:rPr lang="en-US"/>
              <a:t>	</a:t>
            </a:r>
            <a:endParaRPr lang="en-US" smtClean="0"/>
          </a:p>
          <a:p>
            <a:r>
              <a:rPr lang="en-US" smtClean="0"/>
              <a:t>prefix </a:t>
            </a:r>
            <a:r>
              <a:rPr lang="en-US" dirty="0"/>
              <a:t>equivalent to (5+3)/(4-2</a:t>
            </a:r>
            <a:r>
              <a:rPr lang="en-US" dirty="0" smtClean="0"/>
              <a:t>) </a:t>
            </a:r>
            <a:r>
              <a:rPr lang="en-US" dirty="0"/>
              <a:t>infix notation = / 8 – 4 2</a:t>
            </a:r>
          </a:p>
          <a:p>
            <a:r>
              <a:rPr lang="en-US" dirty="0"/>
              <a:t>= / 8 2 =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9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Program to evaluate postfix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838200"/>
            <a:ext cx="8229600" cy="5791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/*program</a:t>
            </a:r>
            <a:r>
              <a:rPr lang="en-US" dirty="0"/>
              <a:t>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b="1" dirty="0"/>
              <a:t>evaluating</a:t>
            </a:r>
            <a:r>
              <a:rPr lang="en-US" dirty="0"/>
              <a:t> </a:t>
            </a:r>
            <a:r>
              <a:rPr lang="en-US" b="1" dirty="0"/>
              <a:t>postfix</a:t>
            </a:r>
            <a:r>
              <a:rPr lang="en-US" dirty="0"/>
              <a:t> </a:t>
            </a:r>
            <a:r>
              <a:rPr lang="en-US" b="1" dirty="0"/>
              <a:t>expression*/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</a:t>
            </a:r>
            <a:r>
              <a:rPr lang="en-US" dirty="0"/>
              <a:t>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#include&lt;</a:t>
            </a:r>
            <a:r>
              <a:rPr lang="en-US" dirty="0" err="1"/>
              <a:t>math.h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</a:t>
            </a:r>
            <a:r>
              <a:rPr lang="en-US" dirty="0"/>
              <a:t>include&lt;</a:t>
            </a:r>
            <a:r>
              <a:rPr lang="en-US" dirty="0" err="1"/>
              <a:t>string.h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/>
              <a:t>push(</a:t>
            </a:r>
            <a:r>
              <a:rPr lang="en-US" dirty="0" err="1"/>
              <a:t>int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pop();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vstack</a:t>
            </a:r>
            <a:r>
              <a:rPr lang="en-US" dirty="0"/>
              <a:t>[100];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tos</a:t>
            </a:r>
            <a:r>
              <a:rPr lang="en-US" dirty="0"/>
              <a:t>=-1;</a:t>
            </a:r>
          </a:p>
          <a:p>
            <a:pPr marL="0" indent="0">
              <a:buNone/>
            </a:pPr>
            <a:r>
              <a:rPr lang="en-US" dirty="0"/>
              <a:t>void main()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i,res,l,op1,op2,value[100];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char </a:t>
            </a:r>
            <a:r>
              <a:rPr lang="en-US" dirty="0"/>
              <a:t>postfix[100],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clrscr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("Enter a valid postfix\n");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gets(postfix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	l=</a:t>
            </a:r>
            <a:r>
              <a:rPr lang="en-US" dirty="0" err="1" smtClean="0"/>
              <a:t>strlen</a:t>
            </a:r>
            <a:r>
              <a:rPr lang="en-US" dirty="0" smtClean="0"/>
              <a:t>(postfix</a:t>
            </a:r>
            <a:r>
              <a:rPr lang="en-US" dirty="0"/>
              <a:t>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0535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381000"/>
            <a:ext cx="8610600" cy="62484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600" dirty="0"/>
              <a:t>for(i=0;i&lt;=l-1;i++) </a:t>
            </a:r>
          </a:p>
          <a:p>
            <a:pPr marL="0" indent="0">
              <a:buNone/>
            </a:pPr>
            <a:r>
              <a:rPr lang="en-US" sz="1600" dirty="0"/>
              <a:t>	{</a:t>
            </a:r>
          </a:p>
          <a:p>
            <a:pPr marL="0" indent="0">
              <a:buNone/>
            </a:pPr>
            <a:r>
              <a:rPr lang="en-US" sz="1600" dirty="0"/>
              <a:t>	  if(</a:t>
            </a:r>
            <a:r>
              <a:rPr lang="en-US" sz="1600" dirty="0" err="1"/>
              <a:t>isalpha</a:t>
            </a:r>
            <a:r>
              <a:rPr lang="en-US" sz="1600" dirty="0"/>
              <a:t>(postfix[i])) </a:t>
            </a:r>
          </a:p>
          <a:p>
            <a:pPr marL="0" indent="0">
              <a:buNone/>
            </a:pPr>
            <a:r>
              <a:rPr lang="en-US" sz="1600" dirty="0"/>
              <a:t>	   {</a:t>
            </a:r>
          </a:p>
          <a:p>
            <a:pPr marL="0" indent="0">
              <a:buNone/>
            </a:pPr>
            <a:r>
              <a:rPr lang="en-US" sz="1600" dirty="0"/>
              <a:t>		</a:t>
            </a:r>
            <a:r>
              <a:rPr lang="en-US" sz="1600" dirty="0" err="1"/>
              <a:t>printf</a:t>
            </a:r>
            <a:r>
              <a:rPr lang="en-US" sz="1600" dirty="0"/>
              <a:t>("Enter value of %c", postfix[i]); </a:t>
            </a:r>
          </a:p>
          <a:p>
            <a:pPr marL="0" indent="0">
              <a:buNone/>
            </a:pPr>
            <a:r>
              <a:rPr lang="en-US" sz="1600" dirty="0"/>
              <a:t>		</a:t>
            </a:r>
            <a:r>
              <a:rPr lang="en-US" sz="1600" dirty="0" err="1"/>
              <a:t>scanf</a:t>
            </a:r>
            <a:r>
              <a:rPr lang="en-US" sz="1600" dirty="0"/>
              <a:t>("%d", &amp;value[i]); </a:t>
            </a:r>
          </a:p>
          <a:p>
            <a:pPr marL="0" indent="0">
              <a:buNone/>
            </a:pPr>
            <a:r>
              <a:rPr lang="en-US" sz="1600" dirty="0"/>
              <a:t>		push(value[i]);</a:t>
            </a:r>
          </a:p>
          <a:p>
            <a:pPr marL="0" indent="0">
              <a:buNone/>
            </a:pPr>
            <a:r>
              <a:rPr lang="en-US" sz="1600" dirty="0"/>
              <a:t>	  } </a:t>
            </a:r>
          </a:p>
          <a:p>
            <a:pPr marL="0" indent="0">
              <a:buNone/>
            </a:pPr>
            <a:r>
              <a:rPr lang="en-US" sz="1600" dirty="0"/>
              <a:t>	else </a:t>
            </a:r>
          </a:p>
          <a:p>
            <a:pPr marL="0" indent="0">
              <a:buNone/>
            </a:pPr>
            <a:r>
              <a:rPr lang="en-US" sz="1600" dirty="0"/>
              <a:t>	{</a:t>
            </a:r>
          </a:p>
          <a:p>
            <a:pPr marL="0" indent="0">
              <a:buNone/>
            </a:pPr>
            <a:r>
              <a:rPr lang="en-US" sz="1600" dirty="0" err="1"/>
              <a:t>ch</a:t>
            </a:r>
            <a:r>
              <a:rPr lang="en-US" sz="1600" dirty="0"/>
              <a:t>=postfix[i]; </a:t>
            </a:r>
          </a:p>
          <a:p>
            <a:pPr marL="0" indent="0">
              <a:buNone/>
            </a:pPr>
            <a:r>
              <a:rPr lang="en-US" sz="1600" dirty="0"/>
              <a:t>op2=pop(); </a:t>
            </a:r>
          </a:p>
          <a:p>
            <a:pPr marL="0" indent="0">
              <a:buNone/>
            </a:pPr>
            <a:r>
              <a:rPr lang="en-US" sz="1600" dirty="0"/>
              <a:t>op1=pop();</a:t>
            </a:r>
          </a:p>
          <a:p>
            <a:pPr marL="0" indent="0">
              <a:buNone/>
            </a:pPr>
            <a:r>
              <a:rPr lang="en-US" sz="1600" dirty="0"/>
              <a:t> switch(</a:t>
            </a:r>
            <a:r>
              <a:rPr lang="en-US" sz="1600" dirty="0" err="1"/>
              <a:t>ch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	case '+': </a:t>
            </a:r>
          </a:p>
          <a:p>
            <a:pPr marL="0" indent="0">
              <a:buNone/>
            </a:pPr>
            <a:r>
              <a:rPr lang="en-US" sz="1600" dirty="0"/>
              <a:t>	push(op1+op2); </a:t>
            </a:r>
          </a:p>
          <a:p>
            <a:pPr marL="0" indent="0">
              <a:buNone/>
            </a:pPr>
            <a:r>
              <a:rPr lang="en-US" sz="1600" dirty="0"/>
              <a:t>	break;</a:t>
            </a:r>
          </a:p>
          <a:p>
            <a:pPr marL="0" indent="0">
              <a:buNone/>
            </a:pPr>
            <a:r>
              <a:rPr lang="en-US" sz="1600" dirty="0"/>
              <a:t>	case'-':</a:t>
            </a:r>
          </a:p>
          <a:p>
            <a:pPr marL="0" indent="0">
              <a:buNone/>
            </a:pPr>
            <a:r>
              <a:rPr lang="en-US" sz="1600" dirty="0"/>
              <a:t>	push(op1-op2); </a:t>
            </a:r>
          </a:p>
          <a:p>
            <a:pPr marL="0" indent="0">
              <a:buNone/>
            </a:pPr>
            <a:r>
              <a:rPr lang="en-US" sz="1600" dirty="0"/>
              <a:t>	break;</a:t>
            </a:r>
          </a:p>
          <a:p>
            <a:pPr marL="0" indent="0">
              <a:buNone/>
            </a:pPr>
            <a:r>
              <a:rPr lang="en-US" sz="1600" dirty="0"/>
              <a:t>	case'*': </a:t>
            </a:r>
          </a:p>
          <a:p>
            <a:pPr marL="0" indent="0">
              <a:buNone/>
            </a:pPr>
            <a:r>
              <a:rPr lang="en-US" sz="1600" dirty="0"/>
              <a:t>	push(op1*op2); </a:t>
            </a:r>
          </a:p>
          <a:p>
            <a:pPr marL="0" indent="0">
              <a:buNone/>
            </a:pPr>
            <a:r>
              <a:rPr lang="en-US" sz="1600" dirty="0"/>
              <a:t>	break;</a:t>
            </a:r>
          </a:p>
          <a:p>
            <a:pPr marL="0" indent="0">
              <a:buNone/>
            </a:pPr>
            <a:r>
              <a:rPr lang="en-US" sz="1600" dirty="0"/>
              <a:t>	case'/': </a:t>
            </a:r>
          </a:p>
          <a:p>
            <a:pPr marL="0" indent="0">
              <a:buNone/>
            </a:pPr>
            <a:r>
              <a:rPr lang="en-US" sz="1600" dirty="0"/>
              <a:t>	push(op1/op2); </a:t>
            </a:r>
          </a:p>
          <a:p>
            <a:pPr marL="0" indent="0">
              <a:buNone/>
            </a:pPr>
            <a:r>
              <a:rPr lang="en-US" sz="1600" dirty="0"/>
              <a:t>	break;</a:t>
            </a:r>
          </a:p>
          <a:p>
            <a:pPr marL="0" indent="0">
              <a:buNone/>
            </a:pPr>
            <a:r>
              <a:rPr lang="en-US" sz="1600" dirty="0"/>
              <a:t>	case'$': </a:t>
            </a:r>
          </a:p>
          <a:p>
            <a:pPr marL="0" indent="0">
              <a:buNone/>
            </a:pPr>
            <a:r>
              <a:rPr lang="en-US" sz="1600" dirty="0"/>
              <a:t>	push(</a:t>
            </a:r>
            <a:r>
              <a:rPr lang="en-US" sz="1600" dirty="0" err="1"/>
              <a:t>pow</a:t>
            </a:r>
            <a:r>
              <a:rPr lang="en-US" sz="1600" dirty="0"/>
              <a:t>(op1,op2)); </a:t>
            </a:r>
          </a:p>
          <a:p>
            <a:pPr marL="0" indent="0">
              <a:buNone/>
            </a:pPr>
            <a:r>
              <a:rPr lang="en-US" sz="1600" dirty="0"/>
              <a:t>	break;</a:t>
            </a:r>
          </a:p>
          <a:p>
            <a:pPr marL="0" indent="0">
              <a:buNone/>
            </a:pPr>
            <a:r>
              <a:rPr lang="en-US" sz="1600" dirty="0"/>
              <a:t>	case'%': </a:t>
            </a:r>
          </a:p>
          <a:p>
            <a:pPr marL="0" indent="0">
              <a:buNone/>
            </a:pPr>
            <a:r>
              <a:rPr lang="en-US" sz="1600" dirty="0"/>
              <a:t>	push(op1%op2); </a:t>
            </a:r>
          </a:p>
          <a:p>
            <a:pPr marL="0" indent="0">
              <a:buNone/>
            </a:pPr>
            <a:r>
              <a:rPr lang="en-US" sz="1600" dirty="0"/>
              <a:t>	break;</a:t>
            </a:r>
          </a:p>
          <a:p>
            <a:pPr marL="0" indent="0">
              <a:buNone/>
            </a:pPr>
            <a:r>
              <a:rPr lang="en-US" sz="1600" dirty="0"/>
              <a:t>} }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 err="1"/>
              <a:t>printf</a:t>
            </a:r>
            <a:r>
              <a:rPr lang="en-US" sz="1600" dirty="0"/>
              <a:t>("The </a:t>
            </a:r>
            <a:r>
              <a:rPr lang="en-US" sz="1600" dirty="0" err="1"/>
              <a:t>reault</a:t>
            </a:r>
            <a:r>
              <a:rPr lang="en-US" sz="1600" dirty="0"/>
              <a:t> is:"); res=pop(); </a:t>
            </a:r>
            <a:r>
              <a:rPr lang="en-US" sz="1600" dirty="0" err="1"/>
              <a:t>printf</a:t>
            </a:r>
            <a:r>
              <a:rPr lang="en-US" sz="1600" dirty="0"/>
              <a:t>("%d", res);</a:t>
            </a:r>
          </a:p>
          <a:p>
            <a:pPr marL="0" indent="0">
              <a:buNone/>
            </a:pPr>
            <a:r>
              <a:rPr lang="en-US" sz="1600" dirty="0"/>
              <a:t> </a:t>
            </a:r>
            <a:r>
              <a:rPr lang="en-US" sz="1600" dirty="0" err="1"/>
              <a:t>getch</a:t>
            </a:r>
            <a:r>
              <a:rPr lang="en-US" sz="1600" dirty="0"/>
              <a:t>(); 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341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81001"/>
            <a:ext cx="8229600" cy="5745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/********insertion function**********/ </a:t>
            </a:r>
          </a:p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/>
              <a:t>push(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vstack</a:t>
            </a:r>
            <a:r>
              <a:rPr lang="en-US" dirty="0"/>
              <a:t>[++</a:t>
            </a:r>
            <a:r>
              <a:rPr lang="en-US" dirty="0" err="1"/>
              <a:t>tos</a:t>
            </a:r>
            <a:r>
              <a:rPr lang="en-US" dirty="0"/>
              <a:t>]=</a:t>
            </a:r>
            <a:r>
              <a:rPr lang="en-US" dirty="0" err="1"/>
              <a:t>val</a:t>
            </a:r>
            <a:r>
              <a:rPr lang="en-US" dirty="0"/>
              <a:t>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/*********</a:t>
            </a:r>
            <a:r>
              <a:rPr lang="en-US" dirty="0"/>
              <a:t>deletion function</a:t>
            </a:r>
            <a:r>
              <a:rPr lang="en-US" dirty="0" smtClean="0"/>
              <a:t>************/ 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pop()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n; n=</a:t>
            </a:r>
            <a:r>
              <a:rPr lang="en-US" dirty="0" err="1"/>
              <a:t>vstack</a:t>
            </a:r>
            <a:r>
              <a:rPr lang="en-US" dirty="0"/>
              <a:t>[</a:t>
            </a:r>
            <a:r>
              <a:rPr lang="en-US" dirty="0" err="1"/>
              <a:t>tos</a:t>
            </a:r>
            <a:r>
              <a:rPr lang="en-US" dirty="0"/>
              <a:t>--];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return(n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100" dirty="0"/>
              <a:t>/*program to convert infix to postfix expression*/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486400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math.h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ctype.h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precedency(char);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i,otos</a:t>
            </a:r>
            <a:r>
              <a:rPr lang="en-US" dirty="0"/>
              <a:t>=-1, </a:t>
            </a:r>
            <a:r>
              <a:rPr lang="en-US" dirty="0" err="1"/>
              <a:t>ptos</a:t>
            </a:r>
            <a:r>
              <a:rPr lang="en-US" dirty="0"/>
              <a:t>=-1, l,  l1;</a:t>
            </a:r>
          </a:p>
          <a:p>
            <a:pPr marL="0" indent="0">
              <a:buNone/>
            </a:pPr>
            <a:r>
              <a:rPr lang="en-US" dirty="0"/>
              <a:t>char infix[100],</a:t>
            </a:r>
            <a:r>
              <a:rPr lang="en-US" dirty="0" err="1"/>
              <a:t>poststack</a:t>
            </a:r>
            <a:r>
              <a:rPr lang="en-US" dirty="0"/>
              <a:t>[100],</a:t>
            </a:r>
            <a:r>
              <a:rPr lang="en-US" dirty="0" err="1"/>
              <a:t>opstack</a:t>
            </a:r>
            <a:r>
              <a:rPr lang="en-US" dirty="0"/>
              <a:t>[100];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a valid infix\n");</a:t>
            </a:r>
          </a:p>
          <a:p>
            <a:pPr marL="0" indent="0">
              <a:buNone/>
            </a:pPr>
            <a:r>
              <a:rPr lang="en-US" dirty="0"/>
              <a:t>gets(infix);</a:t>
            </a:r>
          </a:p>
          <a:p>
            <a:pPr marL="0" indent="0">
              <a:buNone/>
            </a:pPr>
            <a:r>
              <a:rPr lang="en-US" dirty="0"/>
              <a:t>l=</a:t>
            </a:r>
            <a:r>
              <a:rPr lang="en-US" dirty="0" err="1"/>
              <a:t>strlen</a:t>
            </a:r>
            <a:r>
              <a:rPr lang="en-US" dirty="0"/>
              <a:t>(infix);</a:t>
            </a:r>
          </a:p>
          <a:p>
            <a:pPr marL="0" indent="0">
              <a:buNone/>
            </a:pPr>
            <a:r>
              <a:rPr lang="en-US" dirty="0"/>
              <a:t>l1=l;</a:t>
            </a:r>
          </a:p>
          <a:p>
            <a:pPr marL="0" indent="0">
              <a:buNone/>
            </a:pPr>
            <a:r>
              <a:rPr lang="en-US" dirty="0"/>
              <a:t>for(i=0;i&lt;=l-1;i++)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if(infix[i]=='(')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opstack</a:t>
            </a:r>
            <a:r>
              <a:rPr lang="en-US" dirty="0"/>
              <a:t>[++</a:t>
            </a:r>
            <a:r>
              <a:rPr lang="en-US" dirty="0" err="1"/>
              <a:t>otos</a:t>
            </a:r>
            <a:r>
              <a:rPr lang="en-US" dirty="0"/>
              <a:t>]=infix[i];</a:t>
            </a:r>
          </a:p>
          <a:p>
            <a:pPr marL="0" indent="0">
              <a:buNone/>
            </a:pPr>
            <a:r>
              <a:rPr lang="en-US" dirty="0" smtClean="0"/>
              <a:t>	l1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else if(</a:t>
            </a:r>
            <a:r>
              <a:rPr lang="en-US" dirty="0" err="1"/>
              <a:t>isalpha</a:t>
            </a:r>
            <a:r>
              <a:rPr lang="en-US" dirty="0"/>
              <a:t>(infix[i]))</a:t>
            </a:r>
          </a:p>
          <a:p>
            <a:pPr marL="0" indent="0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poststack</a:t>
            </a:r>
            <a:r>
              <a:rPr lang="en-US" dirty="0"/>
              <a:t>[++</a:t>
            </a:r>
            <a:r>
              <a:rPr lang="en-US" dirty="0" err="1"/>
              <a:t>ptos</a:t>
            </a:r>
            <a:r>
              <a:rPr lang="en-US" dirty="0"/>
              <a:t>]=infix[i];</a:t>
            </a:r>
          </a:p>
          <a:p>
            <a:pPr marL="0" indent="0">
              <a:buNone/>
            </a:pPr>
            <a:r>
              <a:rPr lang="en-US" dirty="0" smtClean="0"/>
              <a:t> 	}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5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0"/>
            <a:ext cx="8229600" cy="5943600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else if (infix[i]==')')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l1++;</a:t>
            </a:r>
          </a:p>
          <a:p>
            <a:pPr marL="0" indent="0">
              <a:buNone/>
            </a:pPr>
            <a:r>
              <a:rPr lang="en-US" dirty="0"/>
              <a:t>while(</a:t>
            </a:r>
            <a:r>
              <a:rPr lang="en-US" dirty="0" err="1"/>
              <a:t>opstack</a:t>
            </a:r>
            <a:r>
              <a:rPr lang="en-US" dirty="0"/>
              <a:t>[</a:t>
            </a:r>
            <a:r>
              <a:rPr lang="en-US" dirty="0" err="1"/>
              <a:t>otos</a:t>
            </a:r>
            <a:r>
              <a:rPr lang="en-US" dirty="0"/>
              <a:t>]!='(')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 smtClean="0"/>
              <a:t>poststack</a:t>
            </a:r>
            <a:r>
              <a:rPr lang="en-US" dirty="0"/>
              <a:t>[++</a:t>
            </a:r>
            <a:r>
              <a:rPr lang="en-US" dirty="0" err="1"/>
              <a:t>ptos</a:t>
            </a:r>
            <a:r>
              <a:rPr lang="en-US" dirty="0"/>
              <a:t>]=</a:t>
            </a:r>
            <a:r>
              <a:rPr lang="en-US" dirty="0" err="1"/>
              <a:t>opstack</a:t>
            </a:r>
            <a:r>
              <a:rPr lang="en-US" dirty="0"/>
              <a:t>[</a:t>
            </a:r>
            <a:r>
              <a:rPr lang="en-US" dirty="0" err="1"/>
              <a:t>otos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otos</a:t>
            </a:r>
            <a:r>
              <a:rPr lang="en-US" dirty="0"/>
              <a:t>--;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otos</a:t>
            </a:r>
            <a:r>
              <a:rPr lang="en-US" dirty="0"/>
              <a:t>--;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 </a:t>
            </a:r>
            <a:r>
              <a:rPr lang="en-US" dirty="0" smtClean="0"/>
              <a:t>	//</a:t>
            </a:r>
            <a:r>
              <a:rPr lang="en-US" dirty="0"/>
              <a:t>operators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if(precedency(</a:t>
            </a:r>
            <a:r>
              <a:rPr lang="en-US" dirty="0" err="1"/>
              <a:t>opstack</a:t>
            </a:r>
            <a:r>
              <a:rPr lang="en-US" dirty="0"/>
              <a:t>[</a:t>
            </a:r>
            <a:r>
              <a:rPr lang="en-US" dirty="0" err="1"/>
              <a:t>otos</a:t>
            </a:r>
            <a:r>
              <a:rPr lang="en-US" dirty="0"/>
              <a:t>])&gt;precedency(infix[i]))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 smtClean="0"/>
              <a:t>poststack</a:t>
            </a:r>
            <a:r>
              <a:rPr lang="en-US" dirty="0"/>
              <a:t>[++</a:t>
            </a:r>
            <a:r>
              <a:rPr lang="en-US" dirty="0" err="1"/>
              <a:t>ptos</a:t>
            </a:r>
            <a:r>
              <a:rPr lang="en-US" dirty="0"/>
              <a:t>]=</a:t>
            </a:r>
            <a:r>
              <a:rPr lang="en-US" dirty="0" err="1"/>
              <a:t>opstack</a:t>
            </a:r>
            <a:r>
              <a:rPr lang="en-US" dirty="0"/>
              <a:t>[</a:t>
            </a:r>
            <a:r>
              <a:rPr lang="en-US" dirty="0" err="1"/>
              <a:t>otos</a:t>
            </a:r>
            <a:r>
              <a:rPr lang="en-US" dirty="0"/>
              <a:t>--];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opstack</a:t>
            </a:r>
            <a:r>
              <a:rPr lang="en-US" dirty="0"/>
              <a:t>[++</a:t>
            </a:r>
            <a:r>
              <a:rPr lang="en-US" dirty="0" err="1"/>
              <a:t>otos</a:t>
            </a:r>
            <a:r>
              <a:rPr lang="en-US" dirty="0"/>
              <a:t>]=infix[i];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opstack</a:t>
            </a:r>
            <a:r>
              <a:rPr lang="en-US" dirty="0"/>
              <a:t>[++</a:t>
            </a:r>
            <a:r>
              <a:rPr lang="en-US" dirty="0" err="1"/>
              <a:t>otos</a:t>
            </a:r>
            <a:r>
              <a:rPr lang="en-US" dirty="0"/>
              <a:t>]=infix[i];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while(</a:t>
            </a:r>
            <a:r>
              <a:rPr lang="en-US" dirty="0" err="1"/>
              <a:t>otos</a:t>
            </a:r>
            <a:r>
              <a:rPr lang="en-US" dirty="0"/>
              <a:t>!=-1)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poststack</a:t>
            </a:r>
            <a:r>
              <a:rPr lang="en-US" dirty="0"/>
              <a:t>[++</a:t>
            </a:r>
            <a:r>
              <a:rPr lang="en-US" dirty="0" err="1"/>
              <a:t>ptos</a:t>
            </a:r>
            <a:r>
              <a:rPr lang="en-US" dirty="0"/>
              <a:t>]=</a:t>
            </a:r>
            <a:r>
              <a:rPr lang="en-US" dirty="0" err="1"/>
              <a:t>opstack</a:t>
            </a:r>
            <a:r>
              <a:rPr lang="en-US" dirty="0"/>
              <a:t>[</a:t>
            </a:r>
            <a:r>
              <a:rPr lang="en-US" dirty="0" err="1"/>
              <a:t>otos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otos</a:t>
            </a:r>
            <a:r>
              <a:rPr lang="en-US" dirty="0" smtClean="0"/>
              <a:t>-</a:t>
            </a:r>
            <a:r>
              <a:rPr lang="en-US" dirty="0"/>
              <a:t>-;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/**for displaying**/</a:t>
            </a:r>
          </a:p>
          <a:p>
            <a:pPr marL="0" indent="0">
              <a:buNone/>
            </a:pPr>
            <a:r>
              <a:rPr lang="en-US" dirty="0"/>
              <a:t>for(i=0;i&lt;l1;i++)</a:t>
            </a:r>
          </a:p>
          <a:p>
            <a:pPr marL="0" indent="0">
              <a:buNone/>
            </a:pPr>
            <a:r>
              <a:rPr lang="en-US" dirty="0" smtClean="0"/>
              <a:t> 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("%c",</a:t>
            </a:r>
            <a:r>
              <a:rPr lang="en-US" dirty="0" err="1"/>
              <a:t>poststack</a:t>
            </a:r>
            <a:r>
              <a:rPr lang="en-US" dirty="0"/>
              <a:t>[i]);</a:t>
            </a:r>
          </a:p>
          <a:p>
            <a:pPr marL="0" indent="0">
              <a:buNone/>
            </a:pPr>
            <a:r>
              <a:rPr lang="en-US" dirty="0" smtClean="0"/>
              <a:t>   }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36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04800"/>
            <a:ext cx="8229600" cy="609600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/*precedency function*/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precedency(char </a:t>
            </a:r>
            <a:r>
              <a:rPr lang="en-US" dirty="0" err="1"/>
              <a:t>ch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switch(</a:t>
            </a:r>
            <a:r>
              <a:rPr lang="en-US" dirty="0" err="1"/>
              <a:t>ch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case '$':</a:t>
            </a:r>
          </a:p>
          <a:p>
            <a:pPr marL="0" indent="0">
              <a:buNone/>
            </a:pPr>
            <a:r>
              <a:rPr lang="en-US" dirty="0"/>
              <a:t>return(4);</a:t>
            </a:r>
          </a:p>
          <a:p>
            <a:pPr marL="0" indent="0">
              <a:buNone/>
            </a:pPr>
            <a:r>
              <a:rPr lang="en-US" dirty="0"/>
              <a:t>// break;</a:t>
            </a:r>
          </a:p>
          <a:p>
            <a:pPr marL="0" indent="0">
              <a:buNone/>
            </a:pPr>
            <a:r>
              <a:rPr lang="en-US" dirty="0"/>
              <a:t>case'*':</a:t>
            </a:r>
          </a:p>
          <a:p>
            <a:pPr marL="0" indent="0">
              <a:buNone/>
            </a:pPr>
            <a:r>
              <a:rPr lang="en-US" dirty="0"/>
              <a:t>case'/':</a:t>
            </a:r>
          </a:p>
          <a:p>
            <a:pPr marL="0" indent="0">
              <a:buNone/>
            </a:pPr>
            <a:r>
              <a:rPr lang="en-US" dirty="0"/>
              <a:t>return(3); // break;</a:t>
            </a:r>
          </a:p>
          <a:p>
            <a:pPr marL="0" indent="0">
              <a:buNone/>
            </a:pPr>
            <a:r>
              <a:rPr lang="en-US" dirty="0"/>
              <a:t>case'+':</a:t>
            </a:r>
          </a:p>
          <a:p>
            <a:pPr marL="0" indent="0">
              <a:buNone/>
            </a:pPr>
            <a:r>
              <a:rPr lang="en-US" dirty="0"/>
              <a:t>case'-':</a:t>
            </a:r>
          </a:p>
          <a:p>
            <a:pPr marL="0" indent="0">
              <a:buNone/>
            </a:pPr>
            <a:r>
              <a:rPr lang="en-US" dirty="0"/>
              <a:t>return(2); // break;</a:t>
            </a:r>
          </a:p>
          <a:p>
            <a:pPr marL="0" indent="0">
              <a:buNone/>
            </a:pPr>
            <a:r>
              <a:rPr lang="en-US" dirty="0"/>
              <a:t>default:</a:t>
            </a:r>
          </a:p>
          <a:p>
            <a:pPr marL="0" indent="0">
              <a:buNone/>
            </a:pPr>
            <a:r>
              <a:rPr lang="en-US" dirty="0"/>
              <a:t>return(1);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6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11129</TotalTime>
  <Words>2441</Words>
  <Application>Microsoft Office PowerPoint</Application>
  <PresentationFormat>Widescreen</PresentationFormat>
  <Paragraphs>947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BatangChe</vt:lpstr>
      <vt:lpstr>Calibri</vt:lpstr>
      <vt:lpstr>Times New Roman</vt:lpstr>
      <vt:lpstr>Wingdings</vt:lpstr>
      <vt:lpstr>Office Theme</vt:lpstr>
      <vt:lpstr>Stack</vt:lpstr>
      <vt:lpstr>Stack</vt:lpstr>
      <vt:lpstr>PowerPoint Presentation</vt:lpstr>
      <vt:lpstr>Applications of Stack:</vt:lpstr>
      <vt:lpstr>Stack Operations</vt:lpstr>
      <vt:lpstr>The Stack ADT</vt:lpstr>
      <vt:lpstr>Implementation of Stack</vt:lpstr>
      <vt:lpstr>Array Implementation of stack</vt:lpstr>
      <vt:lpstr>Eg.</vt:lpstr>
      <vt:lpstr>PowerPoint Presentation</vt:lpstr>
      <vt:lpstr>Algorithm to pop data item form stack</vt:lpstr>
      <vt:lpstr>The PUSH and POP functions</vt:lpstr>
      <vt:lpstr>Push  (using pointer)</vt:lpstr>
      <vt:lpstr>POP function</vt:lpstr>
      <vt:lpstr>Stack implementation in array</vt:lpstr>
      <vt:lpstr>PowerPoint Presentation</vt:lpstr>
      <vt:lpstr>PowerPoint Presentation</vt:lpstr>
      <vt:lpstr>PowerPoint Presentation</vt:lpstr>
      <vt:lpstr>PowerPoint Presentation</vt:lpstr>
      <vt:lpstr>Using Pointer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Infix, Prefix and Postfix Notation</vt:lpstr>
      <vt:lpstr>PowerPoint Presentation</vt:lpstr>
      <vt:lpstr>PowerPoint Presentation</vt:lpstr>
      <vt:lpstr>Cont..</vt:lpstr>
      <vt:lpstr>Converting an Infix Expression to Postfix</vt:lpstr>
      <vt:lpstr>Converting an Infix Expression to Postfix</vt:lpstr>
      <vt:lpstr>Precedence rule</vt:lpstr>
      <vt:lpstr>PowerPoint Presentation</vt:lpstr>
      <vt:lpstr>Illustration</vt:lpstr>
      <vt:lpstr> Examples</vt:lpstr>
      <vt:lpstr>Home work</vt:lpstr>
      <vt:lpstr>Algorithm to convert infix to postfix notation</vt:lpstr>
      <vt:lpstr>PowerPoint Presentation</vt:lpstr>
      <vt:lpstr>Eg. converting infix to post fix</vt:lpstr>
      <vt:lpstr>PowerPoint Presentation</vt:lpstr>
      <vt:lpstr>Eg.</vt:lpstr>
      <vt:lpstr>Trace of Conversion Algorithm</vt:lpstr>
      <vt:lpstr>Converting an Infix expression to Prefix expression </vt:lpstr>
      <vt:lpstr>A $ B * C – D + E / F / (G + H) infix </vt:lpstr>
      <vt:lpstr>Algorithm infix to prefix</vt:lpstr>
      <vt:lpstr>PowerPoint Presentation</vt:lpstr>
      <vt:lpstr>PowerPoint Presentation</vt:lpstr>
      <vt:lpstr>Evaluating the Postfix expression</vt:lpstr>
      <vt:lpstr>procedure:</vt:lpstr>
      <vt:lpstr>PowerPoint Presentation</vt:lpstr>
      <vt:lpstr>Algorithm to evaluate the postfix expression</vt:lpstr>
      <vt:lpstr>Trace of Evaluation</vt:lpstr>
      <vt:lpstr>PowerPoint Presentation</vt:lpstr>
      <vt:lpstr>Evaluating the Prefix Expression</vt:lpstr>
      <vt:lpstr>Program to evaluate postfix expression</vt:lpstr>
      <vt:lpstr>PowerPoint Presentation</vt:lpstr>
      <vt:lpstr>PowerPoint Presentation</vt:lpstr>
      <vt:lpstr>/*program to convert infix to postfix expression*/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</dc:title>
  <dc:creator>User</dc:creator>
  <cp:lastModifiedBy>Microsoft account</cp:lastModifiedBy>
  <cp:revision>253</cp:revision>
  <dcterms:created xsi:type="dcterms:W3CDTF">2015-06-23T06:35:23Z</dcterms:created>
  <dcterms:modified xsi:type="dcterms:W3CDTF">2022-07-18T06:06:24Z</dcterms:modified>
</cp:coreProperties>
</file>